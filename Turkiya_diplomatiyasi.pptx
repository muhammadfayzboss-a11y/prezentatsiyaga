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x="12192000" cy="6858000"/>
  <p:notesSz cx="6858000" cy="9144000"/>
  <p:defaultTextStyle>
    <a:lvl1pPr>
      <a:defRPr sz="1800"/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4" name="TextBox 4"/>
          <p:cNvSpPr/>
          <p:nvPr/>
        </p:nvSpPr>
        <p:spPr>
          <a:xfrm>
            <a:off x="914400" y="1417320"/>
            <a:ext cx="6949440" cy="2194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buNone/>
            </a:pPr>
            <a:r>
              <a:rPr lang="uz-Latn-UZ" sz="4600" b="1" i="0" dirty="0">
                <a:solidFill>
                  <a:srgbClr val="FFFFFF"/>
                </a:solidFill>
                <a:latin typeface="Calibri"/>
                <a:cs typeface="Calibri"/>
              </a:rPr>
              <a:t>Turkiya Respublikasining diplomatik faoliyati</a:t>
            </a:r>
            <a:endParaRPr lang="uz-Latn-UZ" sz="1800" dirty="0"/>
          </a:p>
        </p:txBody>
      </p:sp>
      <p:sp>
        <p:nvSpPr>
          <p:cNvPr id="5" name="Shape 5"/>
          <p:cNvSpPr/>
          <p:nvPr/>
        </p:nvSpPr>
        <p:spPr>
          <a:xfrm>
            <a:off x="914400" y="3794760"/>
            <a:ext cx="128016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6" name="TextBox 6"/>
          <p:cNvSpPr/>
          <p:nvPr/>
        </p:nvSpPr>
        <p:spPr>
          <a:xfrm>
            <a:off x="914400" y="4069080"/>
            <a:ext cx="69494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200" b="0" i="0" dirty="0">
                <a:solidFill>
                  <a:srgbClr val="CBD5E1"/>
                </a:solidFill>
                <a:latin typeface="Calibri"/>
                <a:cs typeface="Calibri"/>
              </a:rPr>
              <a:t>Tarix, tamoyillar, hamkorlik yo‘nalishlari va zamonaviy tendensiyalar</a:t>
            </a:r>
            <a:endParaRPr lang="uz-Latn-UZ" sz="1800" dirty="0"/>
          </a:p>
        </p:txBody>
      </p:sp>
      <p:sp>
        <p:nvSpPr>
          <p:cNvPr id="7" name="TextBox 7"/>
          <p:cNvSpPr/>
          <p:nvPr/>
        </p:nvSpPr>
        <p:spPr>
          <a:xfrm>
            <a:off x="914400" y="5669280"/>
            <a:ext cx="69494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600" b="0" i="0" dirty="0">
                <a:solidFill>
                  <a:srgbClr val="CBD5E1"/>
                </a:solidFill>
                <a:latin typeface="Calibri"/>
                <a:cs typeface="Calibri"/>
              </a:rPr>
              <a:t>Guruh taqdimoti  •  5 nafar ma’ruzachi  •  2026-yil</a:t>
            </a:r>
            <a:endParaRPr lang="uz-Latn-UZ" sz="1800" dirty="0"/>
          </a:p>
        </p:txBody>
      </p:sp>
      <p:sp>
        <p:nvSpPr>
          <p:cNvPr id="8" name="Flag 8"/>
          <p:cNvSpPr/>
          <p:nvPr/>
        </p:nvSpPr>
        <p:spPr>
          <a:xfrm>
            <a:off x="8229600" y="2240280"/>
            <a:ext cx="3291840" cy="2194560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9" name="Crescent 9"/>
          <p:cNvSpPr/>
          <p:nvPr/>
        </p:nvSpPr>
        <p:spPr>
          <a:xfrm>
            <a:off x="8778240" y="2788920"/>
            <a:ext cx="1097280" cy="10972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" name="Crescent 10"/>
          <p:cNvSpPr/>
          <p:nvPr/>
        </p:nvSpPr>
        <p:spPr>
          <a:xfrm>
            <a:off x="9025128" y="2898648"/>
            <a:ext cx="877824" cy="877824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1" name="Star 11"/>
          <p:cNvSpPr/>
          <p:nvPr/>
        </p:nvSpPr>
        <p:spPr>
          <a:xfrm rot="16200000">
            <a:off x="9783348" y="3063240"/>
            <a:ext cx="548640" cy="548640"/>
          </a:xfrm>
          <a:prstGeom prst="star5">
            <a:avLst/>
          </a:prstGeom>
          <a:solidFill>
            <a:srgbClr val="FFFFFF"/>
          </a:solidFill>
          <a:ln>
            <a:noFill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548640" y="457200"/>
            <a:ext cx="9144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4" name="TextBox 4"/>
          <p:cNvSpPr/>
          <p:nvPr/>
        </p:nvSpPr>
        <p:spPr>
          <a:xfrm>
            <a:off x="777240" y="384048"/>
            <a:ext cx="88696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800" b="1" i="0" dirty="0">
                <a:solidFill>
                  <a:srgbClr val="14213D"/>
                </a:solidFill>
                <a:latin typeface="Calibri"/>
                <a:cs typeface="Calibri"/>
              </a:rPr>
              <a:t>Taqdimot rejasi</a:t>
            </a:r>
            <a:endParaRPr lang="uz-Latn-UZ" sz="1800" dirty="0"/>
          </a:p>
        </p:txBody>
      </p:sp>
      <p:cxnSp>
        <p:nvCxnSpPr>
          <p:cNvPr id="5" name="Line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1D5DB"/>
            </a:solidFill>
          </a:ln>
        </p:spPr>
      </p:cxnSp>
      <p:sp>
        <p:nvSpPr>
          <p:cNvPr id="6" name="TextBox 6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6B7280"/>
                </a:solidFill>
                <a:latin typeface="Calibri"/>
                <a:cs typeface="Calibri"/>
              </a:rPr>
              <a:t>Turkiya Respublikasining diplomatik faoliyati</a:t>
            </a:r>
            <a:endParaRPr lang="uz-Latn-UZ" sz="1800" dirty="0"/>
          </a:p>
        </p:txBody>
      </p:sp>
      <p:sp>
        <p:nvSpPr>
          <p:cNvPr id="7" name="TextBox 7"/>
          <p:cNvSpPr/>
          <p:nvPr/>
        </p:nvSpPr>
        <p:spPr>
          <a:xfrm>
            <a:off x="9811512" y="63550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6B7280"/>
                </a:solidFill>
                <a:latin typeface="Calibri"/>
                <a:cs typeface="Calibri"/>
              </a:rPr>
              <a:t>2 / 19</a:t>
            </a:r>
            <a:endParaRPr lang="uz-Latn-UZ" sz="1800" dirty="0"/>
          </a:p>
        </p:txBody>
      </p:sp>
      <p:sp>
        <p:nvSpPr>
          <p:cNvPr id="8" name="Shape 8"/>
          <p:cNvSpPr/>
          <p:nvPr/>
        </p:nvSpPr>
        <p:spPr>
          <a:xfrm>
            <a:off x="0" y="6748272"/>
            <a:ext cx="12192000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9" name="Shape 9"/>
          <p:cNvSpPr/>
          <p:nvPr/>
        </p:nvSpPr>
        <p:spPr>
          <a:xfrm>
            <a:off x="640080" y="1737360"/>
            <a:ext cx="548640" cy="54864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2200" b="1" i="0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  <a:endParaRPr lang="uz-Latn-UZ" sz="1800" dirty="0"/>
          </a:p>
        </p:txBody>
      </p:sp>
      <p:sp>
        <p:nvSpPr>
          <p:cNvPr id="10" name="TextBox 10"/>
          <p:cNvSpPr/>
          <p:nvPr/>
        </p:nvSpPr>
        <p:spPr>
          <a:xfrm>
            <a:off x="1417320" y="1645920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100" b="1" i="0" dirty="0">
                <a:solidFill>
                  <a:srgbClr val="14213D"/>
                </a:solidFill>
                <a:latin typeface="Calibri"/>
                <a:cs typeface="Calibri"/>
              </a:rPr>
              <a:t>Tarixiy asoslar va tashqi siyosat tizimi</a:t>
            </a:r>
            <a:endParaRPr lang="uz-Latn-UZ" sz="1800" dirty="0"/>
          </a:p>
        </p:txBody>
      </p:sp>
      <p:sp>
        <p:nvSpPr>
          <p:cNvPr id="11" name="TextBox 11"/>
          <p:cNvSpPr/>
          <p:nvPr/>
        </p:nvSpPr>
        <p:spPr>
          <a:xfrm>
            <a:off x="1417320" y="2039112"/>
            <a:ext cx="78638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500" b="0" i="0" dirty="0">
                <a:solidFill>
                  <a:srgbClr val="6B7280"/>
                </a:solidFill>
                <a:latin typeface="Calibri"/>
                <a:cs typeface="Calibri"/>
              </a:rPr>
              <a:t>Lozannadan BMTgacha  •  Tamoyillar va institutlar</a:t>
            </a:r>
            <a:endParaRPr lang="uz-Latn-UZ" sz="1800" dirty="0"/>
          </a:p>
        </p:txBody>
      </p:sp>
      <p:sp>
        <p:nvSpPr>
          <p:cNvPr id="12" name="Shape 12"/>
          <p:cNvSpPr/>
          <p:nvPr/>
        </p:nvSpPr>
        <p:spPr>
          <a:xfrm>
            <a:off x="9921240" y="1801368"/>
            <a:ext cx="1719072" cy="42062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400" b="1" i="0" dirty="0">
                <a:solidFill>
                  <a:srgbClr val="14213D"/>
                </a:solidFill>
                <a:latin typeface="Calibri"/>
                <a:cs typeface="Calibri"/>
              </a:rPr>
              <a:t>1-ma’ruzachi</a:t>
            </a:r>
            <a:endParaRPr lang="uz-Latn-UZ" sz="1800" dirty="0"/>
          </a:p>
        </p:txBody>
      </p:sp>
      <p:cxnSp>
        <p:nvCxnSpPr>
          <p:cNvPr id="13" name="Line 13"/>
          <p:cNvCxnSpPr/>
          <p:nvPr/>
        </p:nvCxnSpPr>
        <p:spPr>
          <a:xfrm>
            <a:off x="1417320" y="2468880"/>
            <a:ext cx="10222992" cy="0"/>
          </a:xfrm>
          <a:prstGeom prst="line">
            <a:avLst/>
          </a:prstGeom>
          <a:ln w="12700">
            <a:solidFill>
              <a:srgbClr val="F3F4F6"/>
            </a:solidFill>
          </a:ln>
        </p:spPr>
      </p:cxnSp>
      <p:sp>
        <p:nvSpPr>
          <p:cNvPr id="14" name="Shape 14"/>
          <p:cNvSpPr/>
          <p:nvPr/>
        </p:nvSpPr>
        <p:spPr>
          <a:xfrm>
            <a:off x="640080" y="2651760"/>
            <a:ext cx="548640" cy="54864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2200" b="1" i="0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  <a:endParaRPr lang="uz-Latn-UZ" sz="1800" dirty="0"/>
          </a:p>
        </p:txBody>
      </p:sp>
      <p:sp>
        <p:nvSpPr>
          <p:cNvPr id="15" name="TextBox 15"/>
          <p:cNvSpPr/>
          <p:nvPr/>
        </p:nvSpPr>
        <p:spPr>
          <a:xfrm>
            <a:off x="1417320" y="2560320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100" b="1" i="0" dirty="0">
                <a:solidFill>
                  <a:srgbClr val="14213D"/>
                </a:solidFill>
                <a:latin typeface="Calibri"/>
                <a:cs typeface="Calibri"/>
              </a:rPr>
              <a:t>G‘arb bilan munosabatlar: NATO, AQSh va YeI</a:t>
            </a:r>
            <a:endParaRPr lang="uz-Latn-UZ" sz="1800" dirty="0"/>
          </a:p>
        </p:txBody>
      </p:sp>
      <p:sp>
        <p:nvSpPr>
          <p:cNvPr id="16" name="TextBox 16"/>
          <p:cNvSpPr/>
          <p:nvPr/>
        </p:nvSpPr>
        <p:spPr>
          <a:xfrm>
            <a:off x="1417320" y="2953512"/>
            <a:ext cx="78638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500" b="0" i="0" dirty="0">
                <a:solidFill>
                  <a:srgbClr val="6B7280"/>
                </a:solidFill>
                <a:latin typeface="Calibri"/>
                <a:cs typeface="Calibri"/>
              </a:rPr>
              <a:t>NATO va AQSh  •  Yevropa Ittifoqiga a’zolik yo‘li</a:t>
            </a:r>
            <a:endParaRPr lang="uz-Latn-UZ" sz="1800" dirty="0"/>
          </a:p>
        </p:txBody>
      </p:sp>
      <p:sp>
        <p:nvSpPr>
          <p:cNvPr id="17" name="Shape 17"/>
          <p:cNvSpPr/>
          <p:nvPr/>
        </p:nvSpPr>
        <p:spPr>
          <a:xfrm>
            <a:off x="9921240" y="2715768"/>
            <a:ext cx="1719072" cy="42062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400" b="1" i="0" dirty="0">
                <a:solidFill>
                  <a:srgbClr val="14213D"/>
                </a:solidFill>
                <a:latin typeface="Calibri"/>
                <a:cs typeface="Calibri"/>
              </a:rPr>
              <a:t>2-ma’ruzachi</a:t>
            </a:r>
            <a:endParaRPr lang="uz-Latn-UZ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1417320" y="3383280"/>
            <a:ext cx="10222992" cy="0"/>
          </a:xfrm>
          <a:prstGeom prst="line">
            <a:avLst/>
          </a:prstGeom>
          <a:ln w="12700">
            <a:solidFill>
              <a:srgbClr val="F3F4F6"/>
            </a:solidFill>
          </a:ln>
        </p:spPr>
      </p:cxnSp>
      <p:sp>
        <p:nvSpPr>
          <p:cNvPr id="19" name="Shape 19"/>
          <p:cNvSpPr/>
          <p:nvPr/>
        </p:nvSpPr>
        <p:spPr>
          <a:xfrm>
            <a:off x="640080" y="3566160"/>
            <a:ext cx="548640" cy="54864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2200" b="1" i="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  <a:endParaRPr lang="uz-Latn-UZ" sz="1800" dirty="0"/>
          </a:p>
        </p:txBody>
      </p:sp>
      <p:sp>
        <p:nvSpPr>
          <p:cNvPr id="20" name="TextBox 20"/>
          <p:cNvSpPr/>
          <p:nvPr/>
        </p:nvSpPr>
        <p:spPr>
          <a:xfrm>
            <a:off x="1417320" y="3474720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100" b="1" i="0" dirty="0">
                <a:solidFill>
                  <a:srgbClr val="14213D"/>
                </a:solidFill>
                <a:latin typeface="Calibri"/>
                <a:cs typeface="Calibri"/>
              </a:rPr>
              <a:t>Turkiy dunyo va O‘zbekiston bilan hamkorlik</a:t>
            </a:r>
            <a:endParaRPr lang="uz-Latn-UZ" sz="1800" dirty="0"/>
          </a:p>
        </p:txBody>
      </p:sp>
      <p:sp>
        <p:nvSpPr>
          <p:cNvPr id="21" name="TextBox 21"/>
          <p:cNvSpPr/>
          <p:nvPr/>
        </p:nvSpPr>
        <p:spPr>
          <a:xfrm>
            <a:off x="1417320" y="3867912"/>
            <a:ext cx="78638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500" b="0" i="0" dirty="0">
                <a:solidFill>
                  <a:srgbClr val="6B7280"/>
                </a:solidFill>
                <a:latin typeface="Calibri"/>
                <a:cs typeface="Calibri"/>
              </a:rPr>
              <a:t>Turkiy davlatlar tashkiloti  •  O‘zbekiston – Turkiya munosabatlari</a:t>
            </a:r>
            <a:endParaRPr lang="uz-Latn-UZ" sz="1800" dirty="0"/>
          </a:p>
        </p:txBody>
      </p:sp>
      <p:sp>
        <p:nvSpPr>
          <p:cNvPr id="22" name="Shape 22"/>
          <p:cNvSpPr/>
          <p:nvPr/>
        </p:nvSpPr>
        <p:spPr>
          <a:xfrm>
            <a:off x="9921240" y="3630168"/>
            <a:ext cx="1719072" cy="42062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400" b="1" i="0" dirty="0">
                <a:solidFill>
                  <a:srgbClr val="14213D"/>
                </a:solidFill>
                <a:latin typeface="Calibri"/>
                <a:cs typeface="Calibri"/>
              </a:rPr>
              <a:t>3-ma’ruzachi</a:t>
            </a:r>
            <a:endParaRPr lang="uz-Latn-UZ" sz="1800" dirty="0"/>
          </a:p>
        </p:txBody>
      </p:sp>
      <p:cxnSp>
        <p:nvCxnSpPr>
          <p:cNvPr id="23" name="Line 23"/>
          <p:cNvCxnSpPr/>
          <p:nvPr/>
        </p:nvCxnSpPr>
        <p:spPr>
          <a:xfrm>
            <a:off x="1417320" y="4297680"/>
            <a:ext cx="10222992" cy="0"/>
          </a:xfrm>
          <a:prstGeom prst="line">
            <a:avLst/>
          </a:prstGeom>
          <a:ln w="12700">
            <a:solidFill>
              <a:srgbClr val="F3F4F6"/>
            </a:solidFill>
          </a:ln>
        </p:spPr>
      </p:cxnSp>
      <p:sp>
        <p:nvSpPr>
          <p:cNvPr id="24" name="Shape 24"/>
          <p:cNvSpPr/>
          <p:nvPr/>
        </p:nvSpPr>
        <p:spPr>
          <a:xfrm>
            <a:off x="640080" y="4480560"/>
            <a:ext cx="548640" cy="54864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2200" b="1" i="0" dirty="0">
                <a:solidFill>
                  <a:srgbClr val="FFFFFF"/>
                </a:solidFill>
                <a:latin typeface="Calibri"/>
                <a:cs typeface="Calibri"/>
              </a:rPr>
              <a:t>4</a:t>
            </a:r>
            <a:endParaRPr lang="uz-Latn-UZ" sz="1800" dirty="0"/>
          </a:p>
        </p:txBody>
      </p:sp>
      <p:sp>
        <p:nvSpPr>
          <p:cNvPr id="25" name="TextBox 25"/>
          <p:cNvSpPr/>
          <p:nvPr/>
        </p:nvSpPr>
        <p:spPr>
          <a:xfrm>
            <a:off x="1417320" y="4389120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100" b="1" i="0" dirty="0">
                <a:solidFill>
                  <a:srgbClr val="14213D"/>
                </a:solidFill>
                <a:latin typeface="Calibri"/>
                <a:cs typeface="Calibri"/>
              </a:rPr>
              <a:t>Mintaqaviy diplomatiya va vositachilik</a:t>
            </a:r>
            <a:endParaRPr lang="uz-Latn-UZ" sz="1800" dirty="0"/>
          </a:p>
        </p:txBody>
      </p:sp>
      <p:sp>
        <p:nvSpPr>
          <p:cNvPr id="26" name="TextBox 26"/>
          <p:cNvSpPr/>
          <p:nvPr/>
        </p:nvSpPr>
        <p:spPr>
          <a:xfrm>
            <a:off x="1417320" y="4782312"/>
            <a:ext cx="78638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500" b="0" i="0" dirty="0">
                <a:solidFill>
                  <a:srgbClr val="6B7280"/>
                </a:solidFill>
                <a:latin typeface="Calibri"/>
                <a:cs typeface="Calibri"/>
              </a:rPr>
              <a:t>Asosiy mintaqaviy yo‘nalishlar  •  Tinchlik vositachisi sifatida Turkiya</a:t>
            </a:r>
            <a:endParaRPr lang="uz-Latn-UZ" sz="1800" dirty="0"/>
          </a:p>
        </p:txBody>
      </p:sp>
      <p:sp>
        <p:nvSpPr>
          <p:cNvPr id="27" name="Shape 27"/>
          <p:cNvSpPr/>
          <p:nvPr/>
        </p:nvSpPr>
        <p:spPr>
          <a:xfrm>
            <a:off x="9921240" y="4544568"/>
            <a:ext cx="1719072" cy="42062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400" b="1" i="0" dirty="0">
                <a:solidFill>
                  <a:srgbClr val="14213D"/>
                </a:solidFill>
                <a:latin typeface="Calibri"/>
                <a:cs typeface="Calibri"/>
              </a:rPr>
              <a:t>4-ma’ruzachi</a:t>
            </a:r>
            <a:endParaRPr lang="uz-Latn-UZ" sz="1800" dirty="0"/>
          </a:p>
        </p:txBody>
      </p:sp>
      <p:cxnSp>
        <p:nvCxnSpPr>
          <p:cNvPr id="28" name="Line 28"/>
          <p:cNvCxnSpPr/>
          <p:nvPr/>
        </p:nvCxnSpPr>
        <p:spPr>
          <a:xfrm>
            <a:off x="1417320" y="5212080"/>
            <a:ext cx="10222992" cy="0"/>
          </a:xfrm>
          <a:prstGeom prst="line">
            <a:avLst/>
          </a:prstGeom>
          <a:ln w="12700">
            <a:solidFill>
              <a:srgbClr val="F3F4F6"/>
            </a:solidFill>
          </a:ln>
        </p:spPr>
      </p:cxnSp>
      <p:sp>
        <p:nvSpPr>
          <p:cNvPr id="29" name="Shape 29"/>
          <p:cNvSpPr/>
          <p:nvPr/>
        </p:nvSpPr>
        <p:spPr>
          <a:xfrm>
            <a:off x="640080" y="5394960"/>
            <a:ext cx="548640" cy="54864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2200" b="1" i="0" dirty="0">
                <a:solidFill>
                  <a:srgbClr val="FFFFFF"/>
                </a:solidFill>
                <a:latin typeface="Calibri"/>
                <a:cs typeface="Calibri"/>
              </a:rPr>
              <a:t>5</a:t>
            </a:r>
            <a:endParaRPr lang="uz-Latn-UZ" sz="1800" dirty="0"/>
          </a:p>
        </p:txBody>
      </p:sp>
      <p:sp>
        <p:nvSpPr>
          <p:cNvPr id="30" name="TextBox 30"/>
          <p:cNvSpPr/>
          <p:nvPr/>
        </p:nvSpPr>
        <p:spPr>
          <a:xfrm>
            <a:off x="1417320" y="5303520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100" b="1" i="0" dirty="0">
                <a:solidFill>
                  <a:srgbClr val="14213D"/>
                </a:solidFill>
                <a:latin typeface="Calibri"/>
                <a:cs typeface="Calibri"/>
              </a:rPr>
              <a:t>Yumshoq kuch, iqtisodiy diplomatiya va xulosa</a:t>
            </a:r>
            <a:endParaRPr lang="uz-Latn-UZ" sz="1800" dirty="0"/>
          </a:p>
        </p:txBody>
      </p:sp>
      <p:sp>
        <p:nvSpPr>
          <p:cNvPr id="31" name="TextBox 31"/>
          <p:cNvSpPr/>
          <p:nvPr/>
        </p:nvSpPr>
        <p:spPr>
          <a:xfrm>
            <a:off x="1417320" y="5696712"/>
            <a:ext cx="78638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500" b="0" i="0" dirty="0">
                <a:solidFill>
                  <a:srgbClr val="6B7280"/>
                </a:solidFill>
                <a:latin typeface="Calibri"/>
                <a:cs typeface="Calibri"/>
              </a:rPr>
              <a:t>Raqamlarda Turkiya diplomatiyasi  •  Muammolar va xulosa</a:t>
            </a:r>
            <a:endParaRPr lang="uz-Latn-UZ" sz="1800" dirty="0"/>
          </a:p>
        </p:txBody>
      </p:sp>
      <p:sp>
        <p:nvSpPr>
          <p:cNvPr id="32" name="Shape 32"/>
          <p:cNvSpPr/>
          <p:nvPr/>
        </p:nvSpPr>
        <p:spPr>
          <a:xfrm>
            <a:off x="9921240" y="5458968"/>
            <a:ext cx="1719072" cy="42062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400" b="1" i="0" dirty="0">
                <a:solidFill>
                  <a:srgbClr val="14213D"/>
                </a:solidFill>
                <a:latin typeface="Calibri"/>
                <a:cs typeface="Calibri"/>
              </a:rPr>
              <a:t>5-ma’ruzachi</a:t>
            </a:r>
            <a:endParaRPr lang="uz-Latn-UZ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4" name="TextBox 4"/>
          <p:cNvSpPr/>
          <p:nvPr/>
        </p:nvSpPr>
        <p:spPr>
          <a:xfrm>
            <a:off x="914400" y="1097280"/>
            <a:ext cx="292608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3000" b="1" i="0" dirty="0">
                <a:solidFill>
                  <a:srgbClr val="C8102E"/>
                </a:solidFill>
                <a:latin typeface="Calibri"/>
                <a:cs typeface="Calibri"/>
              </a:rPr>
              <a:t>01</a:t>
            </a:r>
            <a:endParaRPr lang="uz-Latn-UZ" sz="1800" dirty="0"/>
          </a:p>
        </p:txBody>
      </p:sp>
      <p:sp>
        <p:nvSpPr>
          <p:cNvPr id="5" name="Shape 5"/>
          <p:cNvSpPr/>
          <p:nvPr/>
        </p:nvSpPr>
        <p:spPr>
          <a:xfrm>
            <a:off x="914400" y="3429000"/>
            <a:ext cx="2103120" cy="502920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800" b="1" i="0" dirty="0">
                <a:solidFill>
                  <a:srgbClr val="FFFFFF"/>
                </a:solidFill>
                <a:latin typeface="Calibri"/>
                <a:cs typeface="Calibri"/>
              </a:rPr>
              <a:t>1-ma’ruzachi</a:t>
            </a:r>
            <a:endParaRPr lang="uz-Latn-UZ" sz="1800" dirty="0"/>
          </a:p>
        </p:txBody>
      </p:sp>
      <p:sp>
        <p:nvSpPr>
          <p:cNvPr id="6" name="TextBox 6"/>
          <p:cNvSpPr/>
          <p:nvPr/>
        </p:nvSpPr>
        <p:spPr>
          <a:xfrm>
            <a:off x="4206240" y="1371600"/>
            <a:ext cx="7498080" cy="2103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buNone/>
            </a:pPr>
            <a:r>
              <a:rPr lang="uz-Latn-UZ" sz="4000" b="1" i="0" dirty="0">
                <a:solidFill>
                  <a:srgbClr val="FFFFFF"/>
                </a:solidFill>
                <a:latin typeface="Calibri"/>
                <a:cs typeface="Calibri"/>
              </a:rPr>
              <a:t>Tarixiy asoslar va tashqi siyosat tizimi</a:t>
            </a:r>
            <a:endParaRPr lang="uz-Latn-UZ" sz="1800" dirty="0"/>
          </a:p>
        </p:txBody>
      </p:sp>
      <p:sp>
        <p:nvSpPr>
          <p:cNvPr id="7" name="Shape 7"/>
          <p:cNvSpPr/>
          <p:nvPr/>
        </p:nvSpPr>
        <p:spPr>
          <a:xfrm>
            <a:off x="4206240" y="3703320"/>
            <a:ext cx="109728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8" name="TextBox 8"/>
          <p:cNvSpPr/>
          <p:nvPr/>
        </p:nvSpPr>
        <p:spPr>
          <a:xfrm>
            <a:off x="4206240" y="3977640"/>
            <a:ext cx="749808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320040" indent="-320040" algn="l">
              <a:spcBef>
                <a:spcPts val="8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200" b="0" i="0" dirty="0">
                <a:solidFill>
                  <a:srgbClr val="CBD5E1"/>
                </a:solidFill>
                <a:latin typeface="Calibri"/>
                <a:cs typeface="Calibri"/>
              </a:rPr>
              <a:t>Lozannadan BMTgacha</a:t>
            </a:r>
            <a:endParaRPr lang="uz-Latn-UZ" sz="1800" dirty="0"/>
          </a:p>
          <a:p>
            <a:pPr marL="320040" indent="-320040" algn="l">
              <a:spcBef>
                <a:spcPts val="8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200" b="0" i="0" dirty="0">
                <a:solidFill>
                  <a:srgbClr val="CBD5E1"/>
                </a:solidFill>
                <a:latin typeface="Calibri"/>
                <a:cs typeface="Calibri"/>
              </a:rPr>
              <a:t>Tamoyillar va institutlar</a:t>
            </a:r>
            <a:endParaRPr lang="uz-Latn-UZ" sz="1800" dirty="0"/>
          </a:p>
        </p:txBody>
      </p:sp>
      <p:sp>
        <p:nvSpPr>
          <p:cNvPr id="9" name="TextBox 9"/>
          <p:cNvSpPr/>
          <p:nvPr/>
        </p:nvSpPr>
        <p:spPr>
          <a:xfrm>
            <a:off x="9811512" y="63550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CBD5E1"/>
                </a:solidFill>
                <a:latin typeface="Calibri"/>
                <a:cs typeface="Calibri"/>
              </a:rPr>
              <a:t>3 / 19</a:t>
            </a:r>
            <a:endParaRPr lang="uz-Latn-UZ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548640" y="457200"/>
            <a:ext cx="9144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4" name="TextBox 4"/>
          <p:cNvSpPr/>
          <p:nvPr/>
        </p:nvSpPr>
        <p:spPr>
          <a:xfrm>
            <a:off x="777240" y="384048"/>
            <a:ext cx="88696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800" b="1" i="0" dirty="0">
                <a:solidFill>
                  <a:srgbClr val="14213D"/>
                </a:solidFill>
                <a:latin typeface="Calibri"/>
                <a:cs typeface="Calibri"/>
              </a:rPr>
              <a:t>Tarixiy asoslar: Lozannadan BMTgacha</a:t>
            </a:r>
            <a:endParaRPr lang="uz-Latn-UZ" sz="1800" dirty="0"/>
          </a:p>
        </p:txBody>
      </p:sp>
      <p:sp>
        <p:nvSpPr>
          <p:cNvPr id="5" name="Shape 5"/>
          <p:cNvSpPr/>
          <p:nvPr/>
        </p:nvSpPr>
        <p:spPr>
          <a:xfrm>
            <a:off x="9921240" y="530352"/>
            <a:ext cx="1719072" cy="512064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500" b="1" i="0" dirty="0">
                <a:solidFill>
                  <a:srgbClr val="FFFFFF"/>
                </a:solidFill>
                <a:latin typeface="Calibri"/>
                <a:cs typeface="Calibri"/>
              </a:rPr>
              <a:t>1-ma’ruzachi</a:t>
            </a:r>
            <a:endParaRPr lang="uz-Latn-UZ" sz="1800" dirty="0"/>
          </a:p>
        </p:txBody>
      </p:sp>
      <p:cxnSp>
        <p:nvCxnSpPr>
          <p:cNvPr id="6" name="Line 6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1D5DB"/>
            </a:solidFill>
          </a:ln>
        </p:spPr>
      </p:cxnSp>
      <p:sp>
        <p:nvSpPr>
          <p:cNvPr id="7" name="TextBox 7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6B7280"/>
                </a:solidFill>
                <a:latin typeface="Calibri"/>
                <a:cs typeface="Calibri"/>
              </a:rPr>
              <a:t>Turkiya Respublikasining diplomatik faoliyati</a:t>
            </a:r>
            <a:endParaRPr lang="uz-Latn-UZ" sz="1800" dirty="0"/>
          </a:p>
        </p:txBody>
      </p:sp>
      <p:sp>
        <p:nvSpPr>
          <p:cNvPr id="8" name="TextBox 8"/>
          <p:cNvSpPr/>
          <p:nvPr/>
        </p:nvSpPr>
        <p:spPr>
          <a:xfrm>
            <a:off x="9811512" y="63550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6B7280"/>
                </a:solidFill>
                <a:latin typeface="Calibri"/>
                <a:cs typeface="Calibri"/>
              </a:rPr>
              <a:t>4 / 19</a:t>
            </a:r>
            <a:endParaRPr lang="uz-Latn-UZ" sz="1800" dirty="0"/>
          </a:p>
        </p:txBody>
      </p:sp>
      <p:sp>
        <p:nvSpPr>
          <p:cNvPr id="9" name="Shape 9"/>
          <p:cNvSpPr/>
          <p:nvPr/>
        </p:nvSpPr>
        <p:spPr>
          <a:xfrm>
            <a:off x="0" y="6748272"/>
            <a:ext cx="12192000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0" name="Shape 10"/>
          <p:cNvSpPr/>
          <p:nvPr/>
        </p:nvSpPr>
        <p:spPr>
          <a:xfrm>
            <a:off x="731520" y="2761488"/>
            <a:ext cx="10725912" cy="54864"/>
          </a:xfrm>
          <a:prstGeom prst="rect">
            <a:avLst/>
          </a:prstGeom>
          <a:solidFill>
            <a:srgbClr val="D1D5DB"/>
          </a:solidFill>
          <a:ln>
            <a:noFill/>
          </a:ln>
        </p:spPr>
      </p:sp>
      <p:sp>
        <p:nvSpPr>
          <p:cNvPr id="11" name="TextBox 11"/>
          <p:cNvSpPr/>
          <p:nvPr/>
        </p:nvSpPr>
        <p:spPr>
          <a:xfrm>
            <a:off x="731520" y="1874520"/>
            <a:ext cx="214518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2800" b="1" i="0" dirty="0">
                <a:solidFill>
                  <a:srgbClr val="C8102E"/>
                </a:solidFill>
                <a:latin typeface="Calibri"/>
                <a:cs typeface="Calibri"/>
              </a:rPr>
              <a:t>1923</a:t>
            </a:r>
            <a:endParaRPr lang="uz-Latn-UZ" sz="1800" dirty="0"/>
          </a:p>
        </p:txBody>
      </p:sp>
      <p:sp>
        <p:nvSpPr>
          <p:cNvPr id="12" name="Shape 12"/>
          <p:cNvSpPr/>
          <p:nvPr/>
        </p:nvSpPr>
        <p:spPr>
          <a:xfrm>
            <a:off x="1648663" y="263347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102E"/>
            </a:solidFill>
          </a:ln>
        </p:spPr>
      </p:sp>
      <p:sp>
        <p:nvSpPr>
          <p:cNvPr id="13" name="Shape 13"/>
          <p:cNvSpPr/>
          <p:nvPr/>
        </p:nvSpPr>
        <p:spPr>
          <a:xfrm>
            <a:off x="1721815" y="2706624"/>
            <a:ext cx="164592" cy="164592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4" name="TextBox 14"/>
          <p:cNvSpPr/>
          <p:nvPr/>
        </p:nvSpPr>
        <p:spPr>
          <a:xfrm>
            <a:off x="822960" y="3154680"/>
            <a:ext cx="1962302" cy="1737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600" b="0" i="0" dirty="0">
                <a:solidFill>
                  <a:srgbClr val="1F2937"/>
                </a:solidFill>
                <a:latin typeface="Calibri"/>
                <a:cs typeface="Calibri"/>
              </a:rPr>
              <a:t>Lozanna tinchlik shartnomasi; Respublika e’lon qilindi</a:t>
            </a:r>
            <a:endParaRPr lang="uz-Latn-UZ" sz="1800" dirty="0"/>
          </a:p>
        </p:txBody>
      </p:sp>
      <p:sp>
        <p:nvSpPr>
          <p:cNvPr id="15" name="TextBox 15"/>
          <p:cNvSpPr/>
          <p:nvPr/>
        </p:nvSpPr>
        <p:spPr>
          <a:xfrm>
            <a:off x="2876702" y="1874520"/>
            <a:ext cx="214518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2800" b="1" i="0" dirty="0">
                <a:solidFill>
                  <a:srgbClr val="C8102E"/>
                </a:solidFill>
                <a:latin typeface="Calibri"/>
                <a:cs typeface="Calibri"/>
              </a:rPr>
              <a:t>1932</a:t>
            </a:r>
            <a:endParaRPr lang="uz-Latn-UZ" sz="1800" dirty="0"/>
          </a:p>
        </p:txBody>
      </p:sp>
      <p:sp>
        <p:nvSpPr>
          <p:cNvPr id="16" name="Shape 16"/>
          <p:cNvSpPr/>
          <p:nvPr/>
        </p:nvSpPr>
        <p:spPr>
          <a:xfrm>
            <a:off x="3793846" y="263347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102E"/>
            </a:solidFill>
          </a:ln>
        </p:spPr>
      </p:sp>
      <p:sp>
        <p:nvSpPr>
          <p:cNvPr id="17" name="Shape 17"/>
          <p:cNvSpPr/>
          <p:nvPr/>
        </p:nvSpPr>
        <p:spPr>
          <a:xfrm>
            <a:off x="3866998" y="2706624"/>
            <a:ext cx="164592" cy="164592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8" name="TextBox 18"/>
          <p:cNvSpPr/>
          <p:nvPr/>
        </p:nvSpPr>
        <p:spPr>
          <a:xfrm>
            <a:off x="2968142" y="3154680"/>
            <a:ext cx="1962302" cy="1737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600" b="0" i="0" dirty="0">
                <a:solidFill>
                  <a:srgbClr val="1F2937"/>
                </a:solidFill>
                <a:latin typeface="Calibri"/>
                <a:cs typeface="Calibri"/>
              </a:rPr>
              <a:t>Millatlar Ligasiga a’zo bo‘ldi</a:t>
            </a:r>
            <a:endParaRPr lang="uz-Latn-UZ" sz="1800" dirty="0"/>
          </a:p>
        </p:txBody>
      </p:sp>
      <p:sp>
        <p:nvSpPr>
          <p:cNvPr id="19" name="TextBox 19"/>
          <p:cNvSpPr/>
          <p:nvPr/>
        </p:nvSpPr>
        <p:spPr>
          <a:xfrm>
            <a:off x="5021885" y="1874520"/>
            <a:ext cx="214518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2800" b="1" i="0" dirty="0">
                <a:solidFill>
                  <a:srgbClr val="C8102E"/>
                </a:solidFill>
                <a:latin typeface="Calibri"/>
                <a:cs typeface="Calibri"/>
              </a:rPr>
              <a:t>1936</a:t>
            </a:r>
            <a:endParaRPr lang="uz-Latn-UZ" sz="1800" dirty="0"/>
          </a:p>
        </p:txBody>
      </p:sp>
      <p:sp>
        <p:nvSpPr>
          <p:cNvPr id="20" name="Shape 20"/>
          <p:cNvSpPr/>
          <p:nvPr/>
        </p:nvSpPr>
        <p:spPr>
          <a:xfrm>
            <a:off x="5939028" y="263347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102E"/>
            </a:solidFill>
          </a:ln>
        </p:spPr>
      </p:sp>
      <p:sp>
        <p:nvSpPr>
          <p:cNvPr id="21" name="Shape 21"/>
          <p:cNvSpPr/>
          <p:nvPr/>
        </p:nvSpPr>
        <p:spPr>
          <a:xfrm>
            <a:off x="6012180" y="2706624"/>
            <a:ext cx="164592" cy="164592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22" name="TextBox 22"/>
          <p:cNvSpPr/>
          <p:nvPr/>
        </p:nvSpPr>
        <p:spPr>
          <a:xfrm>
            <a:off x="5113325" y="3154680"/>
            <a:ext cx="1962302" cy="1737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600" b="0" i="0" dirty="0">
                <a:solidFill>
                  <a:srgbClr val="1F2937"/>
                </a:solidFill>
                <a:latin typeface="Calibri"/>
                <a:cs typeface="Calibri"/>
              </a:rPr>
              <a:t>Montrö konvensiyasi: bo‘g‘ozlar ustidan nazorat</a:t>
            </a:r>
            <a:endParaRPr lang="uz-Latn-UZ" sz="1800" dirty="0"/>
          </a:p>
        </p:txBody>
      </p:sp>
      <p:sp>
        <p:nvSpPr>
          <p:cNvPr id="23" name="TextBox 23"/>
          <p:cNvSpPr/>
          <p:nvPr/>
        </p:nvSpPr>
        <p:spPr>
          <a:xfrm>
            <a:off x="7167067" y="1874520"/>
            <a:ext cx="214518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2800" b="1" i="0" dirty="0">
                <a:solidFill>
                  <a:srgbClr val="C8102E"/>
                </a:solidFill>
                <a:latin typeface="Calibri"/>
                <a:cs typeface="Calibri"/>
              </a:rPr>
              <a:t>1945</a:t>
            </a:r>
            <a:endParaRPr lang="uz-Latn-UZ" sz="1800" dirty="0"/>
          </a:p>
        </p:txBody>
      </p:sp>
      <p:sp>
        <p:nvSpPr>
          <p:cNvPr id="24" name="Shape 24"/>
          <p:cNvSpPr/>
          <p:nvPr/>
        </p:nvSpPr>
        <p:spPr>
          <a:xfrm>
            <a:off x="8084210" y="263347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102E"/>
            </a:solidFill>
          </a:ln>
        </p:spPr>
      </p:sp>
      <p:sp>
        <p:nvSpPr>
          <p:cNvPr id="25" name="Shape 25"/>
          <p:cNvSpPr/>
          <p:nvPr/>
        </p:nvSpPr>
        <p:spPr>
          <a:xfrm>
            <a:off x="8157362" y="2706624"/>
            <a:ext cx="164592" cy="164592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26" name="TextBox 26"/>
          <p:cNvSpPr/>
          <p:nvPr/>
        </p:nvSpPr>
        <p:spPr>
          <a:xfrm>
            <a:off x="7258507" y="3154680"/>
            <a:ext cx="1962302" cy="1737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600" b="0" i="0" dirty="0">
                <a:solidFill>
                  <a:srgbClr val="1F2937"/>
                </a:solidFill>
                <a:latin typeface="Calibri"/>
                <a:cs typeface="Calibri"/>
              </a:rPr>
              <a:t>BMTning asoschi a’zolaridan biri</a:t>
            </a:r>
            <a:endParaRPr lang="uz-Latn-UZ" sz="1800" dirty="0"/>
          </a:p>
        </p:txBody>
      </p:sp>
      <p:sp>
        <p:nvSpPr>
          <p:cNvPr id="27" name="TextBox 27"/>
          <p:cNvSpPr/>
          <p:nvPr/>
        </p:nvSpPr>
        <p:spPr>
          <a:xfrm>
            <a:off x="9312250" y="1874520"/>
            <a:ext cx="214518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2800" b="1" i="0" dirty="0">
                <a:solidFill>
                  <a:srgbClr val="C8102E"/>
                </a:solidFill>
                <a:latin typeface="Calibri"/>
                <a:cs typeface="Calibri"/>
              </a:rPr>
              <a:t>1949</a:t>
            </a:r>
            <a:endParaRPr lang="uz-Latn-UZ" sz="1800" dirty="0"/>
          </a:p>
        </p:txBody>
      </p:sp>
      <p:sp>
        <p:nvSpPr>
          <p:cNvPr id="28" name="Shape 28"/>
          <p:cNvSpPr/>
          <p:nvPr/>
        </p:nvSpPr>
        <p:spPr>
          <a:xfrm>
            <a:off x="10229393" y="263347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102E"/>
            </a:solidFill>
          </a:ln>
        </p:spPr>
      </p:sp>
      <p:sp>
        <p:nvSpPr>
          <p:cNvPr id="29" name="Shape 29"/>
          <p:cNvSpPr/>
          <p:nvPr/>
        </p:nvSpPr>
        <p:spPr>
          <a:xfrm>
            <a:off x="10302545" y="2706624"/>
            <a:ext cx="164592" cy="164592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30" name="TextBox 30"/>
          <p:cNvSpPr/>
          <p:nvPr/>
        </p:nvSpPr>
        <p:spPr>
          <a:xfrm>
            <a:off x="9403690" y="3154680"/>
            <a:ext cx="1962302" cy="1737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600" b="0" i="0" dirty="0">
                <a:solidFill>
                  <a:srgbClr val="1F2937"/>
                </a:solidFill>
                <a:latin typeface="Calibri"/>
                <a:cs typeface="Calibri"/>
              </a:rPr>
              <a:t>Yevropa Kengashiga a’zo bo‘ldi</a:t>
            </a:r>
            <a:endParaRPr lang="uz-Latn-UZ" sz="1800" dirty="0"/>
          </a:p>
        </p:txBody>
      </p:sp>
      <p:sp>
        <p:nvSpPr>
          <p:cNvPr id="31" name="Shape 31"/>
          <p:cNvSpPr/>
          <p:nvPr/>
        </p:nvSpPr>
        <p:spPr>
          <a:xfrm>
            <a:off x="548640" y="5074920"/>
            <a:ext cx="11091672" cy="1005840"/>
          </a:xfrm>
          <a:prstGeom prst="rect">
            <a:avLst/>
          </a:prstGeom>
          <a:solidFill>
            <a:srgbClr val="F3F4F6"/>
          </a:solidFill>
          <a:ln>
            <a:noFill/>
          </a:ln>
        </p:spPr>
      </p:sp>
      <p:sp>
        <p:nvSpPr>
          <p:cNvPr id="32" name="Shape 32"/>
          <p:cNvSpPr/>
          <p:nvPr/>
        </p:nvSpPr>
        <p:spPr>
          <a:xfrm>
            <a:off x="548640" y="5074920"/>
            <a:ext cx="82296" cy="1005840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33" name="TextBox 33"/>
          <p:cNvSpPr/>
          <p:nvPr/>
        </p:nvSpPr>
        <p:spPr>
          <a:xfrm>
            <a:off x="868680" y="5120640"/>
            <a:ext cx="106070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800" b="0" i="1" dirty="0">
                <a:solidFill>
                  <a:srgbClr val="14213D"/>
                </a:solidFill>
                <a:latin typeface="Calibri"/>
                <a:cs typeface="Calibri"/>
              </a:rPr>
              <a:t>Asosiy tamoyil — Mustafo Kamol Otaturkning «Yurtda tinchlik, dunyoda tinchlik» shiori.</a:t>
            </a:r>
            <a:endParaRPr lang="uz-Latn-UZ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548640" y="457200"/>
            <a:ext cx="9144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4" name="TextBox 4"/>
          <p:cNvSpPr/>
          <p:nvPr/>
        </p:nvSpPr>
        <p:spPr>
          <a:xfrm>
            <a:off x="777240" y="384048"/>
            <a:ext cx="88696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800" b="1" i="0" dirty="0">
                <a:solidFill>
                  <a:srgbClr val="14213D"/>
                </a:solidFill>
                <a:latin typeface="Calibri"/>
                <a:cs typeface="Calibri"/>
              </a:rPr>
              <a:t>Tashqi siyosat tamoyillari va institutlari</a:t>
            </a:r>
            <a:endParaRPr lang="uz-Latn-UZ" sz="1800" dirty="0"/>
          </a:p>
        </p:txBody>
      </p:sp>
      <p:sp>
        <p:nvSpPr>
          <p:cNvPr id="5" name="Shape 5"/>
          <p:cNvSpPr/>
          <p:nvPr/>
        </p:nvSpPr>
        <p:spPr>
          <a:xfrm>
            <a:off x="9921240" y="530352"/>
            <a:ext cx="1719072" cy="512064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500" b="1" i="0" dirty="0">
                <a:solidFill>
                  <a:srgbClr val="FFFFFF"/>
                </a:solidFill>
                <a:latin typeface="Calibri"/>
                <a:cs typeface="Calibri"/>
              </a:rPr>
              <a:t>1-ma’ruzachi</a:t>
            </a:r>
            <a:endParaRPr lang="uz-Latn-UZ" sz="1800" dirty="0"/>
          </a:p>
        </p:txBody>
      </p:sp>
      <p:cxnSp>
        <p:nvCxnSpPr>
          <p:cNvPr id="6" name="Line 6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1D5DB"/>
            </a:solidFill>
          </a:ln>
        </p:spPr>
      </p:cxnSp>
      <p:sp>
        <p:nvSpPr>
          <p:cNvPr id="7" name="TextBox 7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6B7280"/>
                </a:solidFill>
                <a:latin typeface="Calibri"/>
                <a:cs typeface="Calibri"/>
              </a:rPr>
              <a:t>Turkiya Respublikasining diplomatik faoliyati</a:t>
            </a:r>
            <a:endParaRPr lang="uz-Latn-UZ" sz="1800" dirty="0"/>
          </a:p>
        </p:txBody>
      </p:sp>
      <p:sp>
        <p:nvSpPr>
          <p:cNvPr id="8" name="TextBox 8"/>
          <p:cNvSpPr/>
          <p:nvPr/>
        </p:nvSpPr>
        <p:spPr>
          <a:xfrm>
            <a:off x="9811512" y="63550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6B7280"/>
                </a:solidFill>
                <a:latin typeface="Calibri"/>
                <a:cs typeface="Calibri"/>
              </a:rPr>
              <a:t>5 / 19</a:t>
            </a:r>
            <a:endParaRPr lang="uz-Latn-UZ" sz="1800" dirty="0"/>
          </a:p>
        </p:txBody>
      </p:sp>
      <p:sp>
        <p:nvSpPr>
          <p:cNvPr id="9" name="Shape 9"/>
          <p:cNvSpPr/>
          <p:nvPr/>
        </p:nvSpPr>
        <p:spPr>
          <a:xfrm>
            <a:off x="0" y="6748272"/>
            <a:ext cx="12192000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0" name="Shape 10"/>
          <p:cNvSpPr/>
          <p:nvPr/>
        </p:nvSpPr>
        <p:spPr>
          <a:xfrm>
            <a:off x="548640" y="1600200"/>
            <a:ext cx="5408676" cy="4526280"/>
          </a:xfrm>
          <a:prstGeom prst="rect">
            <a:avLst/>
          </a:prstGeom>
          <a:solidFill>
            <a:srgbClr val="F3F4F6"/>
          </a:solidFill>
          <a:ln>
            <a:noFill/>
          </a:ln>
        </p:spPr>
      </p:sp>
      <p:sp>
        <p:nvSpPr>
          <p:cNvPr id="11" name="Shape 11"/>
          <p:cNvSpPr/>
          <p:nvPr/>
        </p:nvSpPr>
        <p:spPr>
          <a:xfrm>
            <a:off x="548640" y="1600200"/>
            <a:ext cx="5408676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2" name="TextBox 12"/>
          <p:cNvSpPr/>
          <p:nvPr/>
        </p:nvSpPr>
        <p:spPr>
          <a:xfrm>
            <a:off x="822960" y="1874520"/>
            <a:ext cx="486003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400" b="1" i="0" dirty="0">
                <a:solidFill>
                  <a:srgbClr val="14213D"/>
                </a:solidFill>
                <a:latin typeface="Calibri"/>
                <a:cs typeface="Calibri"/>
              </a:rPr>
              <a:t>Asosiy tamoyillar</a:t>
            </a:r>
            <a:endParaRPr lang="uz-Latn-UZ" sz="1800" dirty="0"/>
          </a:p>
        </p:txBody>
      </p:sp>
      <p:cxnSp>
        <p:nvCxnSpPr>
          <p:cNvPr id="13" name="Line 13"/>
          <p:cNvCxnSpPr/>
          <p:nvPr/>
        </p:nvCxnSpPr>
        <p:spPr>
          <a:xfrm>
            <a:off x="822960" y="2514600"/>
            <a:ext cx="4860036" cy="0"/>
          </a:xfrm>
          <a:prstGeom prst="line">
            <a:avLst/>
          </a:prstGeom>
          <a:ln w="12700">
            <a:solidFill>
              <a:srgbClr val="D1D5DB"/>
            </a:solidFill>
          </a:ln>
        </p:spPr>
      </p:cxnSp>
      <p:sp>
        <p:nvSpPr>
          <p:cNvPr id="14" name="TextBox 14"/>
          <p:cNvSpPr/>
          <p:nvPr/>
        </p:nvSpPr>
        <p:spPr>
          <a:xfrm>
            <a:off x="822960" y="2606040"/>
            <a:ext cx="4860036" cy="3337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Milliy manfaatlar va hududiy yaxlitlik</a:t>
            </a:r>
            <a:endParaRPr lang="uz-Latn-UZ" sz="1800" dirty="0"/>
          </a:p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Ko‘p vektorli, faol diplomatiya</a:t>
            </a:r>
            <a:endParaRPr lang="uz-Latn-UZ" sz="1800" dirty="0"/>
          </a:p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Xalqaro huquq va BMT Nizomiga sodiqlik</a:t>
            </a:r>
            <a:endParaRPr lang="uz-Latn-UZ" sz="1800" dirty="0"/>
          </a:p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Mintaqaviy barqarorlik va tinchlik</a:t>
            </a:r>
            <a:endParaRPr lang="uz-Latn-UZ" sz="1800" dirty="0"/>
          </a:p>
        </p:txBody>
      </p:sp>
      <p:sp>
        <p:nvSpPr>
          <p:cNvPr id="15" name="Shape 15"/>
          <p:cNvSpPr/>
          <p:nvPr/>
        </p:nvSpPr>
        <p:spPr>
          <a:xfrm>
            <a:off x="6231636" y="1600200"/>
            <a:ext cx="5408676" cy="4526280"/>
          </a:xfrm>
          <a:prstGeom prst="rect">
            <a:avLst/>
          </a:prstGeom>
          <a:solidFill>
            <a:srgbClr val="F3F4F6"/>
          </a:solidFill>
          <a:ln>
            <a:noFill/>
          </a:ln>
        </p:spPr>
      </p:sp>
      <p:sp>
        <p:nvSpPr>
          <p:cNvPr id="16" name="Shape 16"/>
          <p:cNvSpPr/>
          <p:nvPr/>
        </p:nvSpPr>
        <p:spPr>
          <a:xfrm>
            <a:off x="6231636" y="1600200"/>
            <a:ext cx="5408676" cy="82296"/>
          </a:xfrm>
          <a:prstGeom prst="rect">
            <a:avLst/>
          </a:prstGeom>
          <a:solidFill>
            <a:srgbClr val="14213D"/>
          </a:solidFill>
          <a:ln>
            <a:noFill/>
          </a:ln>
        </p:spPr>
      </p:sp>
      <p:sp>
        <p:nvSpPr>
          <p:cNvPr id="17" name="TextBox 17"/>
          <p:cNvSpPr/>
          <p:nvPr/>
        </p:nvSpPr>
        <p:spPr>
          <a:xfrm>
            <a:off x="6505956" y="1874520"/>
            <a:ext cx="486003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400" b="1" i="0" dirty="0">
                <a:solidFill>
                  <a:srgbClr val="14213D"/>
                </a:solidFill>
                <a:latin typeface="Calibri"/>
                <a:cs typeface="Calibri"/>
              </a:rPr>
              <a:t>Asosiy institutlar</a:t>
            </a:r>
            <a:endParaRPr lang="uz-Latn-UZ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505956" y="2514600"/>
            <a:ext cx="4860036" cy="0"/>
          </a:xfrm>
          <a:prstGeom prst="line">
            <a:avLst/>
          </a:prstGeom>
          <a:ln w="12700">
            <a:solidFill>
              <a:srgbClr val="D1D5DB"/>
            </a:solidFill>
          </a:ln>
        </p:spPr>
      </p:cxnSp>
      <p:sp>
        <p:nvSpPr>
          <p:cNvPr id="19" name="TextBox 19"/>
          <p:cNvSpPr/>
          <p:nvPr/>
        </p:nvSpPr>
        <p:spPr>
          <a:xfrm>
            <a:off x="6505956" y="2606040"/>
            <a:ext cx="4860036" cy="3337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Prezident — tashqi siyosat yo‘nalishini belgilaydi</a:t>
            </a:r>
            <a:endParaRPr lang="uz-Latn-UZ" sz="1800" dirty="0"/>
          </a:p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Tashqi ishlar vazirligi (Dışişleri Bakanlığı)</a:t>
            </a:r>
            <a:endParaRPr lang="uz-Latn-UZ" sz="1800" dirty="0"/>
          </a:p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TIKA — hamkorlik va rivojlanish agentligi</a:t>
            </a:r>
            <a:endParaRPr lang="uz-Latn-UZ" sz="1800" dirty="0"/>
          </a:p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Yunus Emre instituti, Maarif fondi</a:t>
            </a:r>
            <a:endParaRPr lang="uz-Latn-UZ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4" name="TextBox 4"/>
          <p:cNvSpPr/>
          <p:nvPr/>
        </p:nvSpPr>
        <p:spPr>
          <a:xfrm>
            <a:off x="914400" y="1097280"/>
            <a:ext cx="292608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3000" b="1" i="0" dirty="0">
                <a:solidFill>
                  <a:srgbClr val="C8102E"/>
                </a:solidFill>
                <a:latin typeface="Calibri"/>
                <a:cs typeface="Calibri"/>
              </a:rPr>
              <a:t>02</a:t>
            </a:r>
            <a:endParaRPr lang="uz-Latn-UZ" sz="1800" dirty="0"/>
          </a:p>
        </p:txBody>
      </p:sp>
      <p:sp>
        <p:nvSpPr>
          <p:cNvPr id="5" name="Shape 5"/>
          <p:cNvSpPr/>
          <p:nvPr/>
        </p:nvSpPr>
        <p:spPr>
          <a:xfrm>
            <a:off x="914400" y="3429000"/>
            <a:ext cx="2103120" cy="502920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800" b="1" i="0" dirty="0">
                <a:solidFill>
                  <a:srgbClr val="FFFFFF"/>
                </a:solidFill>
                <a:latin typeface="Calibri"/>
                <a:cs typeface="Calibri"/>
              </a:rPr>
              <a:t>2-ma’ruzachi</a:t>
            </a:r>
            <a:endParaRPr lang="uz-Latn-UZ" sz="1800" dirty="0"/>
          </a:p>
        </p:txBody>
      </p:sp>
      <p:sp>
        <p:nvSpPr>
          <p:cNvPr id="6" name="TextBox 6"/>
          <p:cNvSpPr/>
          <p:nvPr/>
        </p:nvSpPr>
        <p:spPr>
          <a:xfrm>
            <a:off x="4206240" y="1371600"/>
            <a:ext cx="7498080" cy="2103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buNone/>
            </a:pPr>
            <a:r>
              <a:rPr lang="uz-Latn-UZ" sz="4000" b="1" i="0" dirty="0">
                <a:solidFill>
                  <a:srgbClr val="FFFFFF"/>
                </a:solidFill>
                <a:latin typeface="Calibri"/>
                <a:cs typeface="Calibri"/>
              </a:rPr>
              <a:t>G‘arb bilan munosabatlar: NATO, AQSh va Yevropa Ittifoqi</a:t>
            </a:r>
            <a:endParaRPr lang="uz-Latn-UZ" sz="1800" dirty="0"/>
          </a:p>
        </p:txBody>
      </p:sp>
      <p:sp>
        <p:nvSpPr>
          <p:cNvPr id="7" name="Shape 7"/>
          <p:cNvSpPr/>
          <p:nvPr/>
        </p:nvSpPr>
        <p:spPr>
          <a:xfrm>
            <a:off x="4206240" y="3703320"/>
            <a:ext cx="109728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8" name="TextBox 8"/>
          <p:cNvSpPr/>
          <p:nvPr/>
        </p:nvSpPr>
        <p:spPr>
          <a:xfrm>
            <a:off x="4206240" y="3977640"/>
            <a:ext cx="749808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320040" indent="-320040" algn="l">
              <a:spcBef>
                <a:spcPts val="8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200" b="0" i="0" dirty="0">
                <a:solidFill>
                  <a:srgbClr val="CBD5E1"/>
                </a:solidFill>
                <a:latin typeface="Calibri"/>
                <a:cs typeface="Calibri"/>
              </a:rPr>
              <a:t>NATO va AQSh</a:t>
            </a:r>
            <a:endParaRPr lang="uz-Latn-UZ" sz="1800" dirty="0"/>
          </a:p>
          <a:p>
            <a:pPr marL="320040" indent="-320040" algn="l">
              <a:spcBef>
                <a:spcPts val="8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200" b="0" i="0" dirty="0">
                <a:solidFill>
                  <a:srgbClr val="CBD5E1"/>
                </a:solidFill>
                <a:latin typeface="Calibri"/>
                <a:cs typeface="Calibri"/>
              </a:rPr>
              <a:t>Yevropa Ittifoqiga a’zolik yo‘li</a:t>
            </a:r>
            <a:endParaRPr lang="uz-Latn-UZ" sz="1800" dirty="0"/>
          </a:p>
        </p:txBody>
      </p:sp>
      <p:sp>
        <p:nvSpPr>
          <p:cNvPr id="9" name="TextBox 9"/>
          <p:cNvSpPr/>
          <p:nvPr/>
        </p:nvSpPr>
        <p:spPr>
          <a:xfrm>
            <a:off x="9811512" y="63550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CBD5E1"/>
                </a:solidFill>
                <a:latin typeface="Calibri"/>
                <a:cs typeface="Calibri"/>
              </a:rPr>
              <a:t>6 / 19</a:t>
            </a:r>
            <a:endParaRPr lang="uz-Latn-UZ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548640" y="457200"/>
            <a:ext cx="9144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4" name="TextBox 4"/>
          <p:cNvSpPr/>
          <p:nvPr/>
        </p:nvSpPr>
        <p:spPr>
          <a:xfrm>
            <a:off x="777240" y="384048"/>
            <a:ext cx="88696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800" b="1" i="0" dirty="0">
                <a:solidFill>
                  <a:srgbClr val="14213D"/>
                </a:solidFill>
                <a:latin typeface="Calibri"/>
                <a:cs typeface="Calibri"/>
              </a:rPr>
              <a:t>NATO va AQSh bilan munosabatlar</a:t>
            </a:r>
            <a:endParaRPr lang="uz-Latn-UZ" sz="1800" dirty="0"/>
          </a:p>
        </p:txBody>
      </p:sp>
      <p:sp>
        <p:nvSpPr>
          <p:cNvPr id="5" name="Shape 5"/>
          <p:cNvSpPr/>
          <p:nvPr/>
        </p:nvSpPr>
        <p:spPr>
          <a:xfrm>
            <a:off x="9921240" y="530352"/>
            <a:ext cx="1719072" cy="512064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500" b="1" i="0" dirty="0">
                <a:solidFill>
                  <a:srgbClr val="FFFFFF"/>
                </a:solidFill>
                <a:latin typeface="Calibri"/>
                <a:cs typeface="Calibri"/>
              </a:rPr>
              <a:t>2-ma’ruzachi</a:t>
            </a:r>
            <a:endParaRPr lang="uz-Latn-UZ" sz="1800" dirty="0"/>
          </a:p>
        </p:txBody>
      </p:sp>
      <p:cxnSp>
        <p:nvCxnSpPr>
          <p:cNvPr id="6" name="Line 6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1D5DB"/>
            </a:solidFill>
          </a:ln>
        </p:spPr>
      </p:cxnSp>
      <p:sp>
        <p:nvSpPr>
          <p:cNvPr id="7" name="TextBox 7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6B7280"/>
                </a:solidFill>
                <a:latin typeface="Calibri"/>
                <a:cs typeface="Calibri"/>
              </a:rPr>
              <a:t>Turkiya Respublikasining diplomatik faoliyati</a:t>
            </a:r>
            <a:endParaRPr lang="uz-Latn-UZ" sz="1800" dirty="0"/>
          </a:p>
        </p:txBody>
      </p:sp>
      <p:sp>
        <p:nvSpPr>
          <p:cNvPr id="8" name="TextBox 8"/>
          <p:cNvSpPr/>
          <p:nvPr/>
        </p:nvSpPr>
        <p:spPr>
          <a:xfrm>
            <a:off x="9811512" y="63550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6B7280"/>
                </a:solidFill>
                <a:latin typeface="Calibri"/>
                <a:cs typeface="Calibri"/>
              </a:rPr>
              <a:t>7 / 19</a:t>
            </a:r>
            <a:endParaRPr lang="uz-Latn-UZ" sz="1800" dirty="0"/>
          </a:p>
        </p:txBody>
      </p:sp>
      <p:sp>
        <p:nvSpPr>
          <p:cNvPr id="9" name="Shape 9"/>
          <p:cNvSpPr/>
          <p:nvPr/>
        </p:nvSpPr>
        <p:spPr>
          <a:xfrm>
            <a:off x="0" y="6748272"/>
            <a:ext cx="12192000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0" name="Shape 10"/>
          <p:cNvSpPr/>
          <p:nvPr/>
        </p:nvSpPr>
        <p:spPr>
          <a:xfrm>
            <a:off x="658368" y="1755648"/>
            <a:ext cx="182880" cy="1828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1" name="TextBox 11"/>
          <p:cNvSpPr/>
          <p:nvPr/>
        </p:nvSpPr>
        <p:spPr>
          <a:xfrm>
            <a:off x="1051560" y="1627632"/>
            <a:ext cx="10561320" cy="678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000" b="1" i="0" dirty="0">
                <a:solidFill>
                  <a:srgbClr val="14213D"/>
                </a:solidFill>
                <a:latin typeface="Calibri"/>
                <a:cs typeface="Calibri"/>
              </a:rPr>
              <a:t>1952-yil: </a:t>
            </a: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Turkiya NATOga a’zo bo‘ldi; bungacha Koreya urushida qatnashgan.</a:t>
            </a:r>
            <a:endParaRPr lang="uz-Latn-UZ" sz="1800" dirty="0"/>
          </a:p>
        </p:txBody>
      </p:sp>
      <p:cxnSp>
        <p:nvCxnSpPr>
          <p:cNvPr id="12" name="Line 12"/>
          <p:cNvCxnSpPr/>
          <p:nvPr/>
        </p:nvCxnSpPr>
        <p:spPr>
          <a:xfrm>
            <a:off x="1051560" y="2324100"/>
            <a:ext cx="10588752" cy="0"/>
          </a:xfrm>
          <a:prstGeom prst="line">
            <a:avLst/>
          </a:prstGeom>
          <a:ln w="12700">
            <a:solidFill>
              <a:srgbClr val="F3F4F6"/>
            </a:solidFill>
          </a:ln>
        </p:spPr>
      </p:cxnSp>
      <p:sp>
        <p:nvSpPr>
          <p:cNvPr id="13" name="Shape 13"/>
          <p:cNvSpPr/>
          <p:nvPr/>
        </p:nvSpPr>
        <p:spPr>
          <a:xfrm>
            <a:off x="658368" y="2525268"/>
            <a:ext cx="182880" cy="1828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4" name="TextBox 14"/>
          <p:cNvSpPr/>
          <p:nvPr/>
        </p:nvSpPr>
        <p:spPr>
          <a:xfrm>
            <a:off x="1051560" y="2397252"/>
            <a:ext cx="10561320" cy="678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000" b="1" i="0" dirty="0">
                <a:solidFill>
                  <a:srgbClr val="14213D"/>
                </a:solidFill>
                <a:latin typeface="Calibri"/>
                <a:cs typeface="Calibri"/>
              </a:rPr>
              <a:t>Harbiy salohiyat: </a:t>
            </a: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NATOdagi eng yirik qurolli kuchlardan biri, janubi-sharqiy qanot tayanchi.</a:t>
            </a:r>
            <a:endParaRPr lang="uz-Latn-UZ" sz="1800" dirty="0"/>
          </a:p>
        </p:txBody>
      </p:sp>
      <p:cxnSp>
        <p:nvCxnSpPr>
          <p:cNvPr id="15" name="Line 15"/>
          <p:cNvCxnSpPr/>
          <p:nvPr/>
        </p:nvCxnSpPr>
        <p:spPr>
          <a:xfrm>
            <a:off x="1051560" y="3093720"/>
            <a:ext cx="10588752" cy="0"/>
          </a:xfrm>
          <a:prstGeom prst="line">
            <a:avLst/>
          </a:prstGeom>
          <a:ln w="12700">
            <a:solidFill>
              <a:srgbClr val="F3F4F6"/>
            </a:solidFill>
          </a:ln>
        </p:spPr>
      </p:cxnSp>
      <p:sp>
        <p:nvSpPr>
          <p:cNvPr id="16" name="Shape 16"/>
          <p:cNvSpPr/>
          <p:nvPr/>
        </p:nvSpPr>
        <p:spPr>
          <a:xfrm>
            <a:off x="658368" y="3294888"/>
            <a:ext cx="182880" cy="1828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7" name="TextBox 17"/>
          <p:cNvSpPr/>
          <p:nvPr/>
        </p:nvSpPr>
        <p:spPr>
          <a:xfrm>
            <a:off x="1051560" y="3166872"/>
            <a:ext cx="10561320" cy="678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000" b="1" i="0" dirty="0">
                <a:solidFill>
                  <a:srgbClr val="14213D"/>
                </a:solidFill>
                <a:latin typeface="Calibri"/>
                <a:cs typeface="Calibri"/>
              </a:rPr>
              <a:t>AQSh bilan: </a:t>
            </a: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strategik ittifoq; İncirlik aviabazasi — hamkorlik ramzi.</a:t>
            </a:r>
            <a:endParaRPr lang="uz-Latn-UZ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1051560" y="3863340"/>
            <a:ext cx="10588752" cy="0"/>
          </a:xfrm>
          <a:prstGeom prst="line">
            <a:avLst/>
          </a:prstGeom>
          <a:ln w="12700">
            <a:solidFill>
              <a:srgbClr val="F3F4F6"/>
            </a:solidFill>
          </a:ln>
        </p:spPr>
      </p:cxnSp>
      <p:sp>
        <p:nvSpPr>
          <p:cNvPr id="19" name="Shape 19"/>
          <p:cNvSpPr/>
          <p:nvPr/>
        </p:nvSpPr>
        <p:spPr>
          <a:xfrm>
            <a:off x="658368" y="4064508"/>
            <a:ext cx="182880" cy="1828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20" name="TextBox 20"/>
          <p:cNvSpPr/>
          <p:nvPr/>
        </p:nvSpPr>
        <p:spPr>
          <a:xfrm>
            <a:off x="1051560" y="3936492"/>
            <a:ext cx="10561320" cy="678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000" b="1" i="0" dirty="0">
                <a:solidFill>
                  <a:srgbClr val="14213D"/>
                </a:solidFill>
                <a:latin typeface="Calibri"/>
                <a:cs typeface="Calibri"/>
              </a:rPr>
              <a:t>Kelishmovchiliklar: </a:t>
            </a: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S-400 xaridi (2019) va F-35 dasturidan chetlatilish.</a:t>
            </a:r>
            <a:endParaRPr lang="uz-Latn-UZ" sz="1800" dirty="0"/>
          </a:p>
        </p:txBody>
      </p:sp>
      <p:cxnSp>
        <p:nvCxnSpPr>
          <p:cNvPr id="21" name="Line 21"/>
          <p:cNvCxnSpPr/>
          <p:nvPr/>
        </p:nvCxnSpPr>
        <p:spPr>
          <a:xfrm>
            <a:off x="1051560" y="4632960"/>
            <a:ext cx="10588752" cy="0"/>
          </a:xfrm>
          <a:prstGeom prst="line">
            <a:avLst/>
          </a:prstGeom>
          <a:ln w="12700">
            <a:solidFill>
              <a:srgbClr val="F3F4F6"/>
            </a:solidFill>
          </a:ln>
        </p:spPr>
      </p:cxnSp>
      <p:sp>
        <p:nvSpPr>
          <p:cNvPr id="22" name="Shape 22"/>
          <p:cNvSpPr/>
          <p:nvPr/>
        </p:nvSpPr>
        <p:spPr>
          <a:xfrm>
            <a:off x="658368" y="4834128"/>
            <a:ext cx="182880" cy="1828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23" name="TextBox 23"/>
          <p:cNvSpPr/>
          <p:nvPr/>
        </p:nvSpPr>
        <p:spPr>
          <a:xfrm>
            <a:off x="1051560" y="4706112"/>
            <a:ext cx="10561320" cy="678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000" b="1" i="0" dirty="0">
                <a:solidFill>
                  <a:srgbClr val="14213D"/>
                </a:solidFill>
                <a:latin typeface="Calibri"/>
                <a:cs typeface="Calibri"/>
              </a:rPr>
              <a:t>Kengayish: </a:t>
            </a: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Finlyandiya (2023) va Shvetsiya (2024) a’zoligini ratifikatsiya qildi.</a:t>
            </a:r>
            <a:endParaRPr lang="uz-Latn-UZ" sz="1800" dirty="0"/>
          </a:p>
        </p:txBody>
      </p:sp>
      <p:cxnSp>
        <p:nvCxnSpPr>
          <p:cNvPr id="24" name="Line 24"/>
          <p:cNvCxnSpPr/>
          <p:nvPr/>
        </p:nvCxnSpPr>
        <p:spPr>
          <a:xfrm>
            <a:off x="1051560" y="5402580"/>
            <a:ext cx="10588752" cy="0"/>
          </a:xfrm>
          <a:prstGeom prst="line">
            <a:avLst/>
          </a:prstGeom>
          <a:ln w="12700">
            <a:solidFill>
              <a:srgbClr val="F3F4F6"/>
            </a:solidFill>
          </a:ln>
        </p:spPr>
      </p:cxnSp>
      <p:sp>
        <p:nvSpPr>
          <p:cNvPr id="25" name="Shape 25"/>
          <p:cNvSpPr/>
          <p:nvPr/>
        </p:nvSpPr>
        <p:spPr>
          <a:xfrm>
            <a:off x="658368" y="5603748"/>
            <a:ext cx="182880" cy="1828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26" name="TextBox 26"/>
          <p:cNvSpPr/>
          <p:nvPr/>
        </p:nvSpPr>
        <p:spPr>
          <a:xfrm>
            <a:off x="1051560" y="5475732"/>
            <a:ext cx="10561320" cy="678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000" b="1" i="0" dirty="0">
                <a:solidFill>
                  <a:srgbClr val="14213D"/>
                </a:solidFill>
                <a:latin typeface="Calibri"/>
                <a:cs typeface="Calibri"/>
              </a:rPr>
              <a:t>2026-yil: </a:t>
            </a: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NATO sammiti mezboni — Anqara.</a:t>
            </a:r>
            <a:endParaRPr lang="uz-Latn-UZ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548640" y="457200"/>
            <a:ext cx="9144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4" name="TextBox 4"/>
          <p:cNvSpPr/>
          <p:nvPr/>
        </p:nvSpPr>
        <p:spPr>
          <a:xfrm>
            <a:off x="777240" y="384048"/>
            <a:ext cx="88696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800" b="1" i="0" dirty="0">
                <a:solidFill>
                  <a:srgbClr val="14213D"/>
                </a:solidFill>
                <a:latin typeface="Calibri"/>
                <a:cs typeface="Calibri"/>
              </a:rPr>
              <a:t>Yevropa Ittifoqiga a’zolik yo‘li</a:t>
            </a:r>
            <a:endParaRPr lang="uz-Latn-UZ" sz="1800" dirty="0"/>
          </a:p>
        </p:txBody>
      </p:sp>
      <p:sp>
        <p:nvSpPr>
          <p:cNvPr id="5" name="Shape 5"/>
          <p:cNvSpPr/>
          <p:nvPr/>
        </p:nvSpPr>
        <p:spPr>
          <a:xfrm>
            <a:off x="9921240" y="530352"/>
            <a:ext cx="1719072" cy="512064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500" b="1" i="0" dirty="0">
                <a:solidFill>
                  <a:srgbClr val="FFFFFF"/>
                </a:solidFill>
                <a:latin typeface="Calibri"/>
                <a:cs typeface="Calibri"/>
              </a:rPr>
              <a:t>2-ma’ruzachi</a:t>
            </a:r>
            <a:endParaRPr lang="uz-Latn-UZ" sz="1800" dirty="0"/>
          </a:p>
        </p:txBody>
      </p:sp>
      <p:cxnSp>
        <p:nvCxnSpPr>
          <p:cNvPr id="6" name="Line 6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1D5DB"/>
            </a:solidFill>
          </a:ln>
        </p:spPr>
      </p:cxnSp>
      <p:sp>
        <p:nvSpPr>
          <p:cNvPr id="7" name="TextBox 7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6B7280"/>
                </a:solidFill>
                <a:latin typeface="Calibri"/>
                <a:cs typeface="Calibri"/>
              </a:rPr>
              <a:t>Turkiya Respublikasining diplomatik faoliyati</a:t>
            </a:r>
            <a:endParaRPr lang="uz-Latn-UZ" sz="1800" dirty="0"/>
          </a:p>
        </p:txBody>
      </p:sp>
      <p:sp>
        <p:nvSpPr>
          <p:cNvPr id="8" name="TextBox 8"/>
          <p:cNvSpPr/>
          <p:nvPr/>
        </p:nvSpPr>
        <p:spPr>
          <a:xfrm>
            <a:off x="9811512" y="63550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6B7280"/>
                </a:solidFill>
                <a:latin typeface="Calibri"/>
                <a:cs typeface="Calibri"/>
              </a:rPr>
              <a:t>8 / 19</a:t>
            </a:r>
            <a:endParaRPr lang="uz-Latn-UZ" sz="1800" dirty="0"/>
          </a:p>
        </p:txBody>
      </p:sp>
      <p:sp>
        <p:nvSpPr>
          <p:cNvPr id="9" name="Shape 9"/>
          <p:cNvSpPr/>
          <p:nvPr/>
        </p:nvSpPr>
        <p:spPr>
          <a:xfrm>
            <a:off x="0" y="6748272"/>
            <a:ext cx="12192000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0" name="Shape 10"/>
          <p:cNvSpPr/>
          <p:nvPr/>
        </p:nvSpPr>
        <p:spPr>
          <a:xfrm>
            <a:off x="731520" y="2761488"/>
            <a:ext cx="10725912" cy="54864"/>
          </a:xfrm>
          <a:prstGeom prst="rect">
            <a:avLst/>
          </a:prstGeom>
          <a:solidFill>
            <a:srgbClr val="D1D5DB"/>
          </a:solidFill>
          <a:ln>
            <a:noFill/>
          </a:ln>
        </p:spPr>
      </p:sp>
      <p:sp>
        <p:nvSpPr>
          <p:cNvPr id="11" name="TextBox 11"/>
          <p:cNvSpPr/>
          <p:nvPr/>
        </p:nvSpPr>
        <p:spPr>
          <a:xfrm>
            <a:off x="731520" y="1874520"/>
            <a:ext cx="178765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2800" b="1" i="0" dirty="0">
                <a:solidFill>
                  <a:srgbClr val="C8102E"/>
                </a:solidFill>
                <a:latin typeface="Calibri"/>
                <a:cs typeface="Calibri"/>
              </a:rPr>
              <a:t>1959</a:t>
            </a:r>
            <a:endParaRPr lang="uz-Latn-UZ" sz="1800" dirty="0"/>
          </a:p>
        </p:txBody>
      </p:sp>
      <p:sp>
        <p:nvSpPr>
          <p:cNvPr id="12" name="Shape 12"/>
          <p:cNvSpPr/>
          <p:nvPr/>
        </p:nvSpPr>
        <p:spPr>
          <a:xfrm>
            <a:off x="1469898" y="263347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102E"/>
            </a:solidFill>
          </a:ln>
        </p:spPr>
      </p:sp>
      <p:sp>
        <p:nvSpPr>
          <p:cNvPr id="13" name="Shape 13"/>
          <p:cNvSpPr/>
          <p:nvPr/>
        </p:nvSpPr>
        <p:spPr>
          <a:xfrm>
            <a:off x="1543050" y="2706624"/>
            <a:ext cx="164592" cy="164592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4" name="TextBox 14"/>
          <p:cNvSpPr/>
          <p:nvPr/>
        </p:nvSpPr>
        <p:spPr>
          <a:xfrm>
            <a:off x="822960" y="3154680"/>
            <a:ext cx="1604772" cy="1737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600" b="0" i="0" dirty="0">
                <a:solidFill>
                  <a:srgbClr val="1F2937"/>
                </a:solidFill>
                <a:latin typeface="Calibri"/>
                <a:cs typeface="Calibri"/>
              </a:rPr>
              <a:t>YeIH (EEC)ga assotsiatsiya arizasi</a:t>
            </a:r>
            <a:endParaRPr lang="uz-Latn-UZ" sz="1800" dirty="0"/>
          </a:p>
        </p:txBody>
      </p:sp>
      <p:sp>
        <p:nvSpPr>
          <p:cNvPr id="15" name="TextBox 15"/>
          <p:cNvSpPr/>
          <p:nvPr/>
        </p:nvSpPr>
        <p:spPr>
          <a:xfrm>
            <a:off x="2519172" y="1874520"/>
            <a:ext cx="178765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2800" b="1" i="0" dirty="0">
                <a:solidFill>
                  <a:srgbClr val="C8102E"/>
                </a:solidFill>
                <a:latin typeface="Calibri"/>
                <a:cs typeface="Calibri"/>
              </a:rPr>
              <a:t>1963</a:t>
            </a:r>
            <a:endParaRPr lang="uz-Latn-UZ" sz="1800" dirty="0"/>
          </a:p>
        </p:txBody>
      </p:sp>
      <p:sp>
        <p:nvSpPr>
          <p:cNvPr id="16" name="Shape 16"/>
          <p:cNvSpPr/>
          <p:nvPr/>
        </p:nvSpPr>
        <p:spPr>
          <a:xfrm>
            <a:off x="3257550" y="263347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102E"/>
            </a:solidFill>
          </a:ln>
        </p:spPr>
      </p:sp>
      <p:sp>
        <p:nvSpPr>
          <p:cNvPr id="17" name="Shape 17"/>
          <p:cNvSpPr/>
          <p:nvPr/>
        </p:nvSpPr>
        <p:spPr>
          <a:xfrm>
            <a:off x="3330702" y="2706624"/>
            <a:ext cx="164592" cy="164592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8" name="TextBox 18"/>
          <p:cNvSpPr/>
          <p:nvPr/>
        </p:nvSpPr>
        <p:spPr>
          <a:xfrm>
            <a:off x="2610612" y="3154680"/>
            <a:ext cx="1604772" cy="1737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600" b="0" i="0" dirty="0">
                <a:solidFill>
                  <a:srgbClr val="1F2937"/>
                </a:solidFill>
                <a:latin typeface="Calibri"/>
                <a:cs typeface="Calibri"/>
              </a:rPr>
              <a:t>Anqara shartnomasi imzolandi</a:t>
            </a:r>
            <a:endParaRPr lang="uz-Latn-UZ" sz="1800" dirty="0"/>
          </a:p>
        </p:txBody>
      </p:sp>
      <p:sp>
        <p:nvSpPr>
          <p:cNvPr id="19" name="TextBox 19"/>
          <p:cNvSpPr/>
          <p:nvPr/>
        </p:nvSpPr>
        <p:spPr>
          <a:xfrm>
            <a:off x="4306824" y="1874520"/>
            <a:ext cx="178765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2800" b="1" i="0" dirty="0">
                <a:solidFill>
                  <a:srgbClr val="C8102E"/>
                </a:solidFill>
                <a:latin typeface="Calibri"/>
                <a:cs typeface="Calibri"/>
              </a:rPr>
              <a:t>1987</a:t>
            </a:r>
            <a:endParaRPr lang="uz-Latn-UZ" sz="1800" dirty="0"/>
          </a:p>
        </p:txBody>
      </p:sp>
      <p:sp>
        <p:nvSpPr>
          <p:cNvPr id="20" name="Shape 20"/>
          <p:cNvSpPr/>
          <p:nvPr/>
        </p:nvSpPr>
        <p:spPr>
          <a:xfrm>
            <a:off x="5045202" y="263347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102E"/>
            </a:solidFill>
          </a:ln>
        </p:spPr>
      </p:sp>
      <p:sp>
        <p:nvSpPr>
          <p:cNvPr id="21" name="Shape 21"/>
          <p:cNvSpPr/>
          <p:nvPr/>
        </p:nvSpPr>
        <p:spPr>
          <a:xfrm>
            <a:off x="5118354" y="2706624"/>
            <a:ext cx="164592" cy="164592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22" name="TextBox 22"/>
          <p:cNvSpPr/>
          <p:nvPr/>
        </p:nvSpPr>
        <p:spPr>
          <a:xfrm>
            <a:off x="4398264" y="3154680"/>
            <a:ext cx="1604772" cy="1737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600" b="0" i="0" dirty="0">
                <a:solidFill>
                  <a:srgbClr val="1F2937"/>
                </a:solidFill>
                <a:latin typeface="Calibri"/>
                <a:cs typeface="Calibri"/>
              </a:rPr>
              <a:t>To‘liq a’zolik uchun ariza</a:t>
            </a:r>
            <a:endParaRPr lang="uz-Latn-UZ" sz="1800" dirty="0"/>
          </a:p>
        </p:txBody>
      </p:sp>
      <p:sp>
        <p:nvSpPr>
          <p:cNvPr id="23" name="TextBox 23"/>
          <p:cNvSpPr/>
          <p:nvPr/>
        </p:nvSpPr>
        <p:spPr>
          <a:xfrm>
            <a:off x="6094476" y="1874520"/>
            <a:ext cx="178765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2800" b="1" i="0" dirty="0">
                <a:solidFill>
                  <a:srgbClr val="C8102E"/>
                </a:solidFill>
                <a:latin typeface="Calibri"/>
                <a:cs typeface="Calibri"/>
              </a:rPr>
              <a:t>1996</a:t>
            </a:r>
            <a:endParaRPr lang="uz-Latn-UZ" sz="1800" dirty="0"/>
          </a:p>
        </p:txBody>
      </p:sp>
      <p:sp>
        <p:nvSpPr>
          <p:cNvPr id="24" name="Shape 24"/>
          <p:cNvSpPr/>
          <p:nvPr/>
        </p:nvSpPr>
        <p:spPr>
          <a:xfrm>
            <a:off x="6832854" y="263347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102E"/>
            </a:solidFill>
          </a:ln>
        </p:spPr>
      </p:sp>
      <p:sp>
        <p:nvSpPr>
          <p:cNvPr id="25" name="Shape 25"/>
          <p:cNvSpPr/>
          <p:nvPr/>
        </p:nvSpPr>
        <p:spPr>
          <a:xfrm>
            <a:off x="6906006" y="2706624"/>
            <a:ext cx="164592" cy="164592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26" name="TextBox 26"/>
          <p:cNvSpPr/>
          <p:nvPr/>
        </p:nvSpPr>
        <p:spPr>
          <a:xfrm>
            <a:off x="6185916" y="3154680"/>
            <a:ext cx="1604772" cy="1737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600" b="0" i="0" dirty="0">
                <a:solidFill>
                  <a:srgbClr val="1F2937"/>
                </a:solidFill>
                <a:latin typeface="Calibri"/>
                <a:cs typeface="Calibri"/>
              </a:rPr>
              <a:t>Bojxona ittifoqi kuchga kirdi</a:t>
            </a:r>
            <a:endParaRPr lang="uz-Latn-UZ" sz="1800" dirty="0"/>
          </a:p>
        </p:txBody>
      </p:sp>
      <p:sp>
        <p:nvSpPr>
          <p:cNvPr id="27" name="TextBox 27"/>
          <p:cNvSpPr/>
          <p:nvPr/>
        </p:nvSpPr>
        <p:spPr>
          <a:xfrm>
            <a:off x="7882128" y="1874520"/>
            <a:ext cx="178765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2800" b="1" i="0" dirty="0">
                <a:solidFill>
                  <a:srgbClr val="C8102E"/>
                </a:solidFill>
                <a:latin typeface="Calibri"/>
                <a:cs typeface="Calibri"/>
              </a:rPr>
              <a:t>1999</a:t>
            </a:r>
            <a:endParaRPr lang="uz-Latn-UZ" sz="1800" dirty="0"/>
          </a:p>
        </p:txBody>
      </p:sp>
      <p:sp>
        <p:nvSpPr>
          <p:cNvPr id="28" name="Shape 28"/>
          <p:cNvSpPr/>
          <p:nvPr/>
        </p:nvSpPr>
        <p:spPr>
          <a:xfrm>
            <a:off x="8620506" y="263347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102E"/>
            </a:solidFill>
          </a:ln>
        </p:spPr>
      </p:sp>
      <p:sp>
        <p:nvSpPr>
          <p:cNvPr id="29" name="Shape 29"/>
          <p:cNvSpPr/>
          <p:nvPr/>
        </p:nvSpPr>
        <p:spPr>
          <a:xfrm>
            <a:off x="8693658" y="2706624"/>
            <a:ext cx="164592" cy="164592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30" name="TextBox 30"/>
          <p:cNvSpPr/>
          <p:nvPr/>
        </p:nvSpPr>
        <p:spPr>
          <a:xfrm>
            <a:off x="7973568" y="3154680"/>
            <a:ext cx="1604772" cy="1737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600" b="0" i="0" dirty="0">
                <a:solidFill>
                  <a:srgbClr val="1F2937"/>
                </a:solidFill>
                <a:latin typeface="Calibri"/>
                <a:cs typeface="Calibri"/>
              </a:rPr>
              <a:t>Rasmiy nomzod maqomi</a:t>
            </a:r>
            <a:endParaRPr lang="uz-Latn-UZ" sz="1800" dirty="0"/>
          </a:p>
        </p:txBody>
      </p:sp>
      <p:sp>
        <p:nvSpPr>
          <p:cNvPr id="31" name="TextBox 31"/>
          <p:cNvSpPr/>
          <p:nvPr/>
        </p:nvSpPr>
        <p:spPr>
          <a:xfrm>
            <a:off x="9669780" y="1874520"/>
            <a:ext cx="178765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2800" b="1" i="0" dirty="0">
                <a:solidFill>
                  <a:srgbClr val="C8102E"/>
                </a:solidFill>
                <a:latin typeface="Calibri"/>
                <a:cs typeface="Calibri"/>
              </a:rPr>
              <a:t>2005</a:t>
            </a:r>
            <a:endParaRPr lang="uz-Latn-UZ" sz="1800" dirty="0"/>
          </a:p>
        </p:txBody>
      </p:sp>
      <p:sp>
        <p:nvSpPr>
          <p:cNvPr id="32" name="Shape 32"/>
          <p:cNvSpPr/>
          <p:nvPr/>
        </p:nvSpPr>
        <p:spPr>
          <a:xfrm>
            <a:off x="10408158" y="263347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8102E"/>
            </a:solidFill>
          </a:ln>
        </p:spPr>
      </p:sp>
      <p:sp>
        <p:nvSpPr>
          <p:cNvPr id="33" name="Shape 33"/>
          <p:cNvSpPr/>
          <p:nvPr/>
        </p:nvSpPr>
        <p:spPr>
          <a:xfrm>
            <a:off x="10481310" y="2706624"/>
            <a:ext cx="164592" cy="164592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34" name="TextBox 34"/>
          <p:cNvSpPr/>
          <p:nvPr/>
        </p:nvSpPr>
        <p:spPr>
          <a:xfrm>
            <a:off x="9761220" y="3154680"/>
            <a:ext cx="1604772" cy="1737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600" b="0" i="0" dirty="0">
                <a:solidFill>
                  <a:srgbClr val="1F2937"/>
                </a:solidFill>
                <a:latin typeface="Calibri"/>
                <a:cs typeface="Calibri"/>
              </a:rPr>
              <a:t>A’zolik muzokaralari boshlandi</a:t>
            </a:r>
            <a:endParaRPr lang="uz-Latn-UZ" sz="1800" dirty="0"/>
          </a:p>
        </p:txBody>
      </p:sp>
      <p:sp>
        <p:nvSpPr>
          <p:cNvPr id="35" name="Shape 35"/>
          <p:cNvSpPr/>
          <p:nvPr/>
        </p:nvSpPr>
        <p:spPr>
          <a:xfrm>
            <a:off x="548640" y="5074920"/>
            <a:ext cx="11091672" cy="1005840"/>
          </a:xfrm>
          <a:prstGeom prst="rect">
            <a:avLst/>
          </a:prstGeom>
          <a:solidFill>
            <a:srgbClr val="F3F4F6"/>
          </a:solidFill>
          <a:ln>
            <a:noFill/>
          </a:ln>
        </p:spPr>
      </p:sp>
      <p:sp>
        <p:nvSpPr>
          <p:cNvPr id="36" name="Shape 36"/>
          <p:cNvSpPr/>
          <p:nvPr/>
        </p:nvSpPr>
        <p:spPr>
          <a:xfrm>
            <a:off x="548640" y="5074920"/>
            <a:ext cx="82296" cy="1005840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37" name="TextBox 37"/>
          <p:cNvSpPr/>
          <p:nvPr/>
        </p:nvSpPr>
        <p:spPr>
          <a:xfrm>
            <a:off x="868680" y="5120640"/>
            <a:ext cx="1060704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800" b="0" i="1" dirty="0">
                <a:solidFill>
                  <a:srgbClr val="14213D"/>
                </a:solidFill>
                <a:latin typeface="Calibri"/>
                <a:cs typeface="Calibri"/>
              </a:rPr>
              <a:t>Hozirgi holat: muzokaralar 2018-yildan amalda to‘xtagan, ammo savdo va migratsiya bo‘yicha hamkorlik davom etmoqda.</a:t>
            </a:r>
            <a:endParaRPr lang="uz-Latn-UZ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4" name="TextBox 4"/>
          <p:cNvSpPr/>
          <p:nvPr/>
        </p:nvSpPr>
        <p:spPr>
          <a:xfrm>
            <a:off x="914400" y="1097280"/>
            <a:ext cx="292608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3000" b="1" i="0" dirty="0">
                <a:solidFill>
                  <a:srgbClr val="C8102E"/>
                </a:solidFill>
                <a:latin typeface="Calibri"/>
                <a:cs typeface="Calibri"/>
              </a:rPr>
              <a:t>03</a:t>
            </a:r>
            <a:endParaRPr lang="uz-Latn-UZ" sz="1800" dirty="0"/>
          </a:p>
        </p:txBody>
      </p:sp>
      <p:sp>
        <p:nvSpPr>
          <p:cNvPr id="5" name="Shape 5"/>
          <p:cNvSpPr/>
          <p:nvPr/>
        </p:nvSpPr>
        <p:spPr>
          <a:xfrm>
            <a:off x="914400" y="3429000"/>
            <a:ext cx="2103120" cy="502920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800" b="1" i="0" dirty="0">
                <a:solidFill>
                  <a:srgbClr val="FFFFFF"/>
                </a:solidFill>
                <a:latin typeface="Calibri"/>
                <a:cs typeface="Calibri"/>
              </a:rPr>
              <a:t>3-ma’ruzachi</a:t>
            </a:r>
            <a:endParaRPr lang="uz-Latn-UZ" sz="1800" dirty="0"/>
          </a:p>
        </p:txBody>
      </p:sp>
      <p:sp>
        <p:nvSpPr>
          <p:cNvPr id="6" name="TextBox 6"/>
          <p:cNvSpPr/>
          <p:nvPr/>
        </p:nvSpPr>
        <p:spPr>
          <a:xfrm>
            <a:off x="4206240" y="1371600"/>
            <a:ext cx="7498080" cy="2103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buNone/>
            </a:pPr>
            <a:r>
              <a:rPr lang="uz-Latn-UZ" sz="4000" b="1" i="0" dirty="0">
                <a:solidFill>
                  <a:srgbClr val="FFFFFF"/>
                </a:solidFill>
                <a:latin typeface="Calibri"/>
                <a:cs typeface="Calibri"/>
              </a:rPr>
              <a:t>Turkiy dunyo va O‘zbekiston bilan hamkorlik</a:t>
            </a:r>
            <a:endParaRPr lang="uz-Latn-UZ" sz="1800" dirty="0"/>
          </a:p>
        </p:txBody>
      </p:sp>
      <p:sp>
        <p:nvSpPr>
          <p:cNvPr id="7" name="Shape 7"/>
          <p:cNvSpPr/>
          <p:nvPr/>
        </p:nvSpPr>
        <p:spPr>
          <a:xfrm>
            <a:off x="4206240" y="3703320"/>
            <a:ext cx="109728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8" name="TextBox 8"/>
          <p:cNvSpPr/>
          <p:nvPr/>
        </p:nvSpPr>
        <p:spPr>
          <a:xfrm>
            <a:off x="4206240" y="3977640"/>
            <a:ext cx="749808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320040" indent="-320040" algn="l">
              <a:spcBef>
                <a:spcPts val="8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200" b="0" i="0" dirty="0">
                <a:solidFill>
                  <a:srgbClr val="CBD5E1"/>
                </a:solidFill>
                <a:latin typeface="Calibri"/>
                <a:cs typeface="Calibri"/>
              </a:rPr>
              <a:t>Turkiy davlatlar tashkiloti</a:t>
            </a:r>
            <a:endParaRPr lang="uz-Latn-UZ" sz="1800" dirty="0"/>
          </a:p>
          <a:p>
            <a:pPr marL="320040" indent="-320040" algn="l">
              <a:spcBef>
                <a:spcPts val="8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200" b="0" i="0" dirty="0">
                <a:solidFill>
                  <a:srgbClr val="CBD5E1"/>
                </a:solidFill>
                <a:latin typeface="Calibri"/>
                <a:cs typeface="Calibri"/>
              </a:rPr>
              <a:t>O‘zbekiston – Turkiya munosabatlari</a:t>
            </a:r>
            <a:endParaRPr lang="uz-Latn-UZ" sz="1800" dirty="0"/>
          </a:p>
        </p:txBody>
      </p:sp>
      <p:sp>
        <p:nvSpPr>
          <p:cNvPr id="9" name="TextBox 9"/>
          <p:cNvSpPr/>
          <p:nvPr/>
        </p:nvSpPr>
        <p:spPr>
          <a:xfrm>
            <a:off x="9811512" y="63550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CBD5E1"/>
                </a:solidFill>
                <a:latin typeface="Calibri"/>
                <a:cs typeface="Calibri"/>
              </a:rPr>
              <a:t>9 / 19</a:t>
            </a:r>
            <a:endParaRPr lang="uz-Latn-UZ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548640" y="457200"/>
            <a:ext cx="9144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4" name="TextBox 4"/>
          <p:cNvSpPr/>
          <p:nvPr/>
        </p:nvSpPr>
        <p:spPr>
          <a:xfrm>
            <a:off x="777240" y="384048"/>
            <a:ext cx="88696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800" b="1" i="0" dirty="0">
                <a:solidFill>
                  <a:srgbClr val="14213D"/>
                </a:solidFill>
                <a:latin typeface="Calibri"/>
                <a:cs typeface="Calibri"/>
              </a:rPr>
              <a:t>Turkiy davlatlar tashkiloti (TDT)</a:t>
            </a:r>
            <a:endParaRPr lang="uz-Latn-UZ" sz="1800" dirty="0"/>
          </a:p>
        </p:txBody>
      </p:sp>
      <p:sp>
        <p:nvSpPr>
          <p:cNvPr id="5" name="Shape 5"/>
          <p:cNvSpPr/>
          <p:nvPr/>
        </p:nvSpPr>
        <p:spPr>
          <a:xfrm>
            <a:off x="9921240" y="530352"/>
            <a:ext cx="1719072" cy="512064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500" b="1" i="0" dirty="0">
                <a:solidFill>
                  <a:srgbClr val="FFFFFF"/>
                </a:solidFill>
                <a:latin typeface="Calibri"/>
                <a:cs typeface="Calibri"/>
              </a:rPr>
              <a:t>3-ma’ruzachi</a:t>
            </a:r>
            <a:endParaRPr lang="uz-Latn-UZ" sz="1800" dirty="0"/>
          </a:p>
        </p:txBody>
      </p:sp>
      <p:cxnSp>
        <p:nvCxnSpPr>
          <p:cNvPr id="6" name="Line 6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1D5DB"/>
            </a:solidFill>
          </a:ln>
        </p:spPr>
      </p:cxnSp>
      <p:sp>
        <p:nvSpPr>
          <p:cNvPr id="7" name="TextBox 7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6B7280"/>
                </a:solidFill>
                <a:latin typeface="Calibri"/>
                <a:cs typeface="Calibri"/>
              </a:rPr>
              <a:t>Turkiya Respublikasining diplomatik faoliyati</a:t>
            </a:r>
            <a:endParaRPr lang="uz-Latn-UZ" sz="1800" dirty="0"/>
          </a:p>
        </p:txBody>
      </p:sp>
      <p:sp>
        <p:nvSpPr>
          <p:cNvPr id="8" name="TextBox 8"/>
          <p:cNvSpPr/>
          <p:nvPr/>
        </p:nvSpPr>
        <p:spPr>
          <a:xfrm>
            <a:off x="9811512" y="63550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6B7280"/>
                </a:solidFill>
                <a:latin typeface="Calibri"/>
                <a:cs typeface="Calibri"/>
              </a:rPr>
              <a:t>10 / 19</a:t>
            </a:r>
            <a:endParaRPr lang="uz-Latn-UZ" sz="1800" dirty="0"/>
          </a:p>
        </p:txBody>
      </p:sp>
      <p:sp>
        <p:nvSpPr>
          <p:cNvPr id="9" name="Shape 9"/>
          <p:cNvSpPr/>
          <p:nvPr/>
        </p:nvSpPr>
        <p:spPr>
          <a:xfrm>
            <a:off x="0" y="6748272"/>
            <a:ext cx="12192000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0" name="Shape 10"/>
          <p:cNvSpPr/>
          <p:nvPr/>
        </p:nvSpPr>
        <p:spPr>
          <a:xfrm>
            <a:off x="548640" y="1600200"/>
            <a:ext cx="3514344" cy="4526280"/>
          </a:xfrm>
          <a:prstGeom prst="rect">
            <a:avLst/>
          </a:prstGeom>
          <a:solidFill>
            <a:srgbClr val="F3F4F6"/>
          </a:solidFill>
          <a:ln>
            <a:noFill/>
          </a:ln>
        </p:spPr>
      </p:sp>
      <p:sp>
        <p:nvSpPr>
          <p:cNvPr id="11" name="Shape 11"/>
          <p:cNvSpPr/>
          <p:nvPr/>
        </p:nvSpPr>
        <p:spPr>
          <a:xfrm>
            <a:off x="548640" y="1600200"/>
            <a:ext cx="3514344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2" name="TextBox 12"/>
          <p:cNvSpPr/>
          <p:nvPr/>
        </p:nvSpPr>
        <p:spPr>
          <a:xfrm>
            <a:off x="822960" y="1874520"/>
            <a:ext cx="296570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200" b="1" i="0" dirty="0">
                <a:solidFill>
                  <a:srgbClr val="14213D"/>
                </a:solidFill>
                <a:latin typeface="Calibri"/>
                <a:cs typeface="Calibri"/>
              </a:rPr>
              <a:t>Tarixi</a:t>
            </a:r>
            <a:endParaRPr lang="uz-Latn-UZ" sz="1800" dirty="0"/>
          </a:p>
        </p:txBody>
      </p:sp>
      <p:cxnSp>
        <p:nvCxnSpPr>
          <p:cNvPr id="13" name="Line 13"/>
          <p:cNvCxnSpPr/>
          <p:nvPr/>
        </p:nvCxnSpPr>
        <p:spPr>
          <a:xfrm>
            <a:off x="822960" y="2514600"/>
            <a:ext cx="2965704" cy="0"/>
          </a:xfrm>
          <a:prstGeom prst="line">
            <a:avLst/>
          </a:prstGeom>
          <a:ln w="12700">
            <a:solidFill>
              <a:srgbClr val="D1D5DB"/>
            </a:solidFill>
          </a:ln>
        </p:spPr>
      </p:cxnSp>
      <p:sp>
        <p:nvSpPr>
          <p:cNvPr id="14" name="TextBox 14"/>
          <p:cNvSpPr/>
          <p:nvPr/>
        </p:nvSpPr>
        <p:spPr>
          <a:xfrm>
            <a:off x="822960" y="2606040"/>
            <a:ext cx="2965704" cy="3337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1800" b="0" i="0" dirty="0">
                <a:solidFill>
                  <a:srgbClr val="1F2937"/>
                </a:solidFill>
                <a:latin typeface="Calibri"/>
                <a:cs typeface="Calibri"/>
              </a:rPr>
              <a:t>2009 — Naxchivon kelishuvi: Turkiy kengash tuzildi</a:t>
            </a:r>
            <a:endParaRPr lang="uz-Latn-UZ" sz="1800" dirty="0"/>
          </a:p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1800" b="0" i="0" dirty="0">
                <a:solidFill>
                  <a:srgbClr val="1F2937"/>
                </a:solidFill>
                <a:latin typeface="Calibri"/>
                <a:cs typeface="Calibri"/>
              </a:rPr>
              <a:t>2021 — Istanbul sammiti: TDT nomini oldi</a:t>
            </a:r>
            <a:endParaRPr lang="uz-Latn-UZ" sz="1800" dirty="0"/>
          </a:p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1800" b="0" i="0" dirty="0">
                <a:solidFill>
                  <a:srgbClr val="1F2937"/>
                </a:solidFill>
                <a:latin typeface="Calibri"/>
                <a:cs typeface="Calibri"/>
              </a:rPr>
              <a:t>Kotibiyati — Istanbulda</a:t>
            </a:r>
            <a:endParaRPr lang="uz-Latn-UZ" sz="1800" dirty="0"/>
          </a:p>
        </p:txBody>
      </p:sp>
      <p:sp>
        <p:nvSpPr>
          <p:cNvPr id="15" name="Shape 15"/>
          <p:cNvSpPr/>
          <p:nvPr/>
        </p:nvSpPr>
        <p:spPr>
          <a:xfrm>
            <a:off x="4337304" y="1600200"/>
            <a:ext cx="3514344" cy="4526280"/>
          </a:xfrm>
          <a:prstGeom prst="rect">
            <a:avLst/>
          </a:prstGeom>
          <a:solidFill>
            <a:srgbClr val="F3F4F6"/>
          </a:solidFill>
          <a:ln>
            <a:noFill/>
          </a:ln>
        </p:spPr>
      </p:sp>
      <p:sp>
        <p:nvSpPr>
          <p:cNvPr id="16" name="Shape 16"/>
          <p:cNvSpPr/>
          <p:nvPr/>
        </p:nvSpPr>
        <p:spPr>
          <a:xfrm>
            <a:off x="4337304" y="1600200"/>
            <a:ext cx="3514344" cy="82296"/>
          </a:xfrm>
          <a:prstGeom prst="rect">
            <a:avLst/>
          </a:prstGeom>
          <a:solidFill>
            <a:srgbClr val="14213D"/>
          </a:solidFill>
          <a:ln>
            <a:noFill/>
          </a:ln>
        </p:spPr>
      </p:sp>
      <p:sp>
        <p:nvSpPr>
          <p:cNvPr id="17" name="TextBox 17"/>
          <p:cNvSpPr/>
          <p:nvPr/>
        </p:nvSpPr>
        <p:spPr>
          <a:xfrm>
            <a:off x="4611624" y="1874520"/>
            <a:ext cx="296570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200" b="1" i="0" dirty="0">
                <a:solidFill>
                  <a:srgbClr val="14213D"/>
                </a:solidFill>
                <a:latin typeface="Calibri"/>
                <a:cs typeface="Calibri"/>
              </a:rPr>
              <a:t>A’zolar</a:t>
            </a:r>
            <a:endParaRPr lang="uz-Latn-UZ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4611624" y="2514600"/>
            <a:ext cx="2965704" cy="0"/>
          </a:xfrm>
          <a:prstGeom prst="line">
            <a:avLst/>
          </a:prstGeom>
          <a:ln w="12700">
            <a:solidFill>
              <a:srgbClr val="D1D5DB"/>
            </a:solidFill>
          </a:ln>
        </p:spPr>
      </p:cxnSp>
      <p:sp>
        <p:nvSpPr>
          <p:cNvPr id="19" name="TextBox 19"/>
          <p:cNvSpPr/>
          <p:nvPr/>
        </p:nvSpPr>
        <p:spPr>
          <a:xfrm>
            <a:off x="4611624" y="2606040"/>
            <a:ext cx="2965704" cy="3337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1800" b="0" i="0" dirty="0">
                <a:solidFill>
                  <a:srgbClr val="1F2937"/>
                </a:solidFill>
                <a:latin typeface="Calibri"/>
                <a:cs typeface="Calibri"/>
              </a:rPr>
              <a:t>Turkiya, Ozarbayjon, Qozog‘iston</a:t>
            </a:r>
            <a:endParaRPr lang="uz-Latn-UZ" sz="1800" dirty="0"/>
          </a:p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1800" b="0" i="0" dirty="0">
                <a:solidFill>
                  <a:srgbClr val="1F2937"/>
                </a:solidFill>
                <a:latin typeface="Calibri"/>
                <a:cs typeface="Calibri"/>
              </a:rPr>
              <a:t>Qirg‘iziston, O‘zbekiston (2019-yildan)</a:t>
            </a:r>
            <a:endParaRPr lang="uz-Latn-UZ" sz="1800" dirty="0"/>
          </a:p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1800" b="0" i="0" dirty="0">
                <a:solidFill>
                  <a:srgbClr val="1F2937"/>
                </a:solidFill>
                <a:latin typeface="Calibri"/>
                <a:cs typeface="Calibri"/>
              </a:rPr>
              <a:t>Kuzatuvchilar: Vengriya, Turkmaniston, SKTR</a:t>
            </a:r>
            <a:endParaRPr lang="uz-Latn-UZ" sz="1800" dirty="0"/>
          </a:p>
        </p:txBody>
      </p:sp>
      <p:sp>
        <p:nvSpPr>
          <p:cNvPr id="20" name="Shape 20"/>
          <p:cNvSpPr/>
          <p:nvPr/>
        </p:nvSpPr>
        <p:spPr>
          <a:xfrm>
            <a:off x="8125968" y="1600200"/>
            <a:ext cx="3514344" cy="4526280"/>
          </a:xfrm>
          <a:prstGeom prst="rect">
            <a:avLst/>
          </a:prstGeom>
          <a:solidFill>
            <a:srgbClr val="F3F4F6"/>
          </a:solidFill>
          <a:ln>
            <a:noFill/>
          </a:ln>
        </p:spPr>
      </p:sp>
      <p:sp>
        <p:nvSpPr>
          <p:cNvPr id="21" name="Shape 21"/>
          <p:cNvSpPr/>
          <p:nvPr/>
        </p:nvSpPr>
        <p:spPr>
          <a:xfrm>
            <a:off x="8125968" y="1600200"/>
            <a:ext cx="3514344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22" name="TextBox 22"/>
          <p:cNvSpPr/>
          <p:nvPr/>
        </p:nvSpPr>
        <p:spPr>
          <a:xfrm>
            <a:off x="8400288" y="1874520"/>
            <a:ext cx="2965704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200" b="1" i="0" dirty="0">
                <a:solidFill>
                  <a:srgbClr val="14213D"/>
                </a:solidFill>
                <a:latin typeface="Calibri"/>
                <a:cs typeface="Calibri"/>
              </a:rPr>
              <a:t>Hamkorlik tuzilmalari</a:t>
            </a:r>
            <a:endParaRPr lang="uz-Latn-UZ" sz="1800" dirty="0"/>
          </a:p>
        </p:txBody>
      </p:sp>
      <p:cxnSp>
        <p:nvCxnSpPr>
          <p:cNvPr id="23" name="Line 23"/>
          <p:cNvCxnSpPr/>
          <p:nvPr/>
        </p:nvCxnSpPr>
        <p:spPr>
          <a:xfrm>
            <a:off x="8400288" y="2514600"/>
            <a:ext cx="2965704" cy="0"/>
          </a:xfrm>
          <a:prstGeom prst="line">
            <a:avLst/>
          </a:prstGeom>
          <a:ln w="12700">
            <a:solidFill>
              <a:srgbClr val="D1D5DB"/>
            </a:solidFill>
          </a:ln>
        </p:spPr>
      </p:cxnSp>
      <p:sp>
        <p:nvSpPr>
          <p:cNvPr id="24" name="TextBox 24"/>
          <p:cNvSpPr/>
          <p:nvPr/>
        </p:nvSpPr>
        <p:spPr>
          <a:xfrm>
            <a:off x="8400288" y="2606040"/>
            <a:ext cx="2965704" cy="3337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1800" b="0" i="0" dirty="0">
                <a:solidFill>
                  <a:srgbClr val="1F2937"/>
                </a:solidFill>
                <a:latin typeface="Calibri"/>
                <a:cs typeface="Calibri"/>
              </a:rPr>
              <a:t>TURKSOY — madaniyat</a:t>
            </a:r>
            <a:endParaRPr lang="uz-Latn-UZ" sz="1800" dirty="0"/>
          </a:p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1800" b="0" i="0" dirty="0">
                <a:solidFill>
                  <a:srgbClr val="1F2937"/>
                </a:solidFill>
                <a:latin typeface="Calibri"/>
                <a:cs typeface="Calibri"/>
              </a:rPr>
              <a:t>TURKPA — parlamentlararo assambleya</a:t>
            </a:r>
            <a:endParaRPr lang="uz-Latn-UZ" sz="1800" dirty="0"/>
          </a:p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1800" b="0" i="0" dirty="0">
                <a:solidFill>
                  <a:srgbClr val="1F2937"/>
                </a:solidFill>
                <a:latin typeface="Calibri"/>
                <a:cs typeface="Calibri"/>
              </a:rPr>
              <a:t>Turkiy akademiya va Turkiy investitsiya fondi</a:t>
            </a:r>
            <a:endParaRPr lang="uz-Latn-UZ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548640" y="457200"/>
            <a:ext cx="9144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4" name="TextBox 4"/>
          <p:cNvSpPr/>
          <p:nvPr/>
        </p:nvSpPr>
        <p:spPr>
          <a:xfrm>
            <a:off x="777240" y="384048"/>
            <a:ext cx="88696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800" b="1" i="0" dirty="0">
                <a:solidFill>
                  <a:srgbClr val="14213D"/>
                </a:solidFill>
                <a:latin typeface="Calibri"/>
                <a:cs typeface="Calibri"/>
              </a:rPr>
              <a:t>O‘zbekiston – Turkiya munosabatlari</a:t>
            </a:r>
            <a:endParaRPr lang="uz-Latn-UZ" sz="1800" dirty="0"/>
          </a:p>
        </p:txBody>
      </p:sp>
      <p:sp>
        <p:nvSpPr>
          <p:cNvPr id="5" name="Shape 5"/>
          <p:cNvSpPr/>
          <p:nvPr/>
        </p:nvSpPr>
        <p:spPr>
          <a:xfrm>
            <a:off x="9921240" y="530352"/>
            <a:ext cx="1719072" cy="512064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500" b="1" i="0" dirty="0">
                <a:solidFill>
                  <a:srgbClr val="FFFFFF"/>
                </a:solidFill>
                <a:latin typeface="Calibri"/>
                <a:cs typeface="Calibri"/>
              </a:rPr>
              <a:t>3-ma’ruzachi</a:t>
            </a:r>
            <a:endParaRPr lang="uz-Latn-UZ" sz="1800" dirty="0"/>
          </a:p>
        </p:txBody>
      </p:sp>
      <p:cxnSp>
        <p:nvCxnSpPr>
          <p:cNvPr id="6" name="Line 6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1D5DB"/>
            </a:solidFill>
          </a:ln>
        </p:spPr>
      </p:cxnSp>
      <p:sp>
        <p:nvSpPr>
          <p:cNvPr id="7" name="TextBox 7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6B7280"/>
                </a:solidFill>
                <a:latin typeface="Calibri"/>
                <a:cs typeface="Calibri"/>
              </a:rPr>
              <a:t>Turkiya Respublikasining diplomatik faoliyati</a:t>
            </a:r>
            <a:endParaRPr lang="uz-Latn-UZ" sz="1800" dirty="0"/>
          </a:p>
        </p:txBody>
      </p:sp>
      <p:sp>
        <p:nvSpPr>
          <p:cNvPr id="8" name="TextBox 8"/>
          <p:cNvSpPr/>
          <p:nvPr/>
        </p:nvSpPr>
        <p:spPr>
          <a:xfrm>
            <a:off x="9811512" y="63550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6B7280"/>
                </a:solidFill>
                <a:latin typeface="Calibri"/>
                <a:cs typeface="Calibri"/>
              </a:rPr>
              <a:t>11 / 19</a:t>
            </a:r>
            <a:endParaRPr lang="uz-Latn-UZ" sz="1800" dirty="0"/>
          </a:p>
        </p:txBody>
      </p:sp>
      <p:sp>
        <p:nvSpPr>
          <p:cNvPr id="9" name="Shape 9"/>
          <p:cNvSpPr/>
          <p:nvPr/>
        </p:nvSpPr>
        <p:spPr>
          <a:xfrm>
            <a:off x="0" y="6748272"/>
            <a:ext cx="12192000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0" name="Shape 10"/>
          <p:cNvSpPr/>
          <p:nvPr/>
        </p:nvSpPr>
        <p:spPr>
          <a:xfrm>
            <a:off x="658368" y="1755648"/>
            <a:ext cx="182880" cy="1828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1" name="TextBox 11"/>
          <p:cNvSpPr/>
          <p:nvPr/>
        </p:nvSpPr>
        <p:spPr>
          <a:xfrm>
            <a:off x="1051560" y="1627632"/>
            <a:ext cx="10561320" cy="678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000" b="1" i="0" dirty="0">
                <a:solidFill>
                  <a:srgbClr val="14213D"/>
                </a:solidFill>
                <a:latin typeface="Calibri"/>
                <a:cs typeface="Calibri"/>
              </a:rPr>
              <a:t>16.12.1991: </a:t>
            </a: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Turkiya O‘zbekiston mustaqilligini birinchilardan bo‘lib tan oldi.</a:t>
            </a:r>
            <a:endParaRPr lang="uz-Latn-UZ" sz="1800" dirty="0"/>
          </a:p>
        </p:txBody>
      </p:sp>
      <p:cxnSp>
        <p:nvCxnSpPr>
          <p:cNvPr id="12" name="Line 12"/>
          <p:cNvCxnSpPr/>
          <p:nvPr/>
        </p:nvCxnSpPr>
        <p:spPr>
          <a:xfrm>
            <a:off x="1051560" y="2324100"/>
            <a:ext cx="10588752" cy="0"/>
          </a:xfrm>
          <a:prstGeom prst="line">
            <a:avLst/>
          </a:prstGeom>
          <a:ln w="12700">
            <a:solidFill>
              <a:srgbClr val="F3F4F6"/>
            </a:solidFill>
          </a:ln>
        </p:spPr>
      </p:cxnSp>
      <p:sp>
        <p:nvSpPr>
          <p:cNvPr id="13" name="Shape 13"/>
          <p:cNvSpPr/>
          <p:nvPr/>
        </p:nvSpPr>
        <p:spPr>
          <a:xfrm>
            <a:off x="658368" y="2525268"/>
            <a:ext cx="182880" cy="1828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4" name="TextBox 14"/>
          <p:cNvSpPr/>
          <p:nvPr/>
        </p:nvSpPr>
        <p:spPr>
          <a:xfrm>
            <a:off x="1051560" y="2397252"/>
            <a:ext cx="10561320" cy="678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000" b="1" i="0" dirty="0">
                <a:solidFill>
                  <a:srgbClr val="14213D"/>
                </a:solidFill>
                <a:latin typeface="Calibri"/>
                <a:cs typeface="Calibri"/>
              </a:rPr>
              <a:t>04.03.1992: </a:t>
            </a: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ikki davlat o‘rtasida diplomatik munosabatlar o‘rnatildi.</a:t>
            </a:r>
            <a:endParaRPr lang="uz-Latn-UZ" sz="1800" dirty="0"/>
          </a:p>
        </p:txBody>
      </p:sp>
      <p:cxnSp>
        <p:nvCxnSpPr>
          <p:cNvPr id="15" name="Line 15"/>
          <p:cNvCxnSpPr/>
          <p:nvPr/>
        </p:nvCxnSpPr>
        <p:spPr>
          <a:xfrm>
            <a:off x="1051560" y="3093720"/>
            <a:ext cx="10588752" cy="0"/>
          </a:xfrm>
          <a:prstGeom prst="line">
            <a:avLst/>
          </a:prstGeom>
          <a:ln w="12700">
            <a:solidFill>
              <a:srgbClr val="F3F4F6"/>
            </a:solidFill>
          </a:ln>
        </p:spPr>
      </p:cxnSp>
      <p:sp>
        <p:nvSpPr>
          <p:cNvPr id="16" name="Shape 16"/>
          <p:cNvSpPr/>
          <p:nvPr/>
        </p:nvSpPr>
        <p:spPr>
          <a:xfrm>
            <a:off x="658368" y="3294888"/>
            <a:ext cx="182880" cy="1828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7" name="TextBox 17"/>
          <p:cNvSpPr/>
          <p:nvPr/>
        </p:nvSpPr>
        <p:spPr>
          <a:xfrm>
            <a:off x="1051560" y="3166872"/>
            <a:ext cx="10561320" cy="678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000" b="1" i="0" dirty="0">
                <a:solidFill>
                  <a:srgbClr val="14213D"/>
                </a:solidFill>
                <a:latin typeface="Calibri"/>
                <a:cs typeface="Calibri"/>
              </a:rPr>
              <a:t>2017-yil: </a:t>
            </a: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Oliy darajadagi strategik hamkorlik kengashi tashkil etildi.</a:t>
            </a:r>
            <a:endParaRPr lang="uz-Latn-UZ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1051560" y="3863340"/>
            <a:ext cx="10588752" cy="0"/>
          </a:xfrm>
          <a:prstGeom prst="line">
            <a:avLst/>
          </a:prstGeom>
          <a:ln w="12700">
            <a:solidFill>
              <a:srgbClr val="F3F4F6"/>
            </a:solidFill>
          </a:ln>
        </p:spPr>
      </p:cxnSp>
      <p:sp>
        <p:nvSpPr>
          <p:cNvPr id="19" name="Shape 19"/>
          <p:cNvSpPr/>
          <p:nvPr/>
        </p:nvSpPr>
        <p:spPr>
          <a:xfrm>
            <a:off x="658368" y="4064508"/>
            <a:ext cx="182880" cy="1828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20" name="TextBox 20"/>
          <p:cNvSpPr/>
          <p:nvPr/>
        </p:nvSpPr>
        <p:spPr>
          <a:xfrm>
            <a:off x="1051560" y="3936492"/>
            <a:ext cx="10561320" cy="678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000" b="1" i="0" dirty="0">
                <a:solidFill>
                  <a:srgbClr val="14213D"/>
                </a:solidFill>
                <a:latin typeface="Calibri"/>
                <a:cs typeface="Calibri"/>
              </a:rPr>
              <a:t>2022-yil: </a:t>
            </a: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munosabatlar kompleks strategik sheriklik darajasiga ko‘tarildi.</a:t>
            </a:r>
            <a:endParaRPr lang="uz-Latn-UZ" sz="1800" dirty="0"/>
          </a:p>
        </p:txBody>
      </p:sp>
      <p:cxnSp>
        <p:nvCxnSpPr>
          <p:cNvPr id="21" name="Line 21"/>
          <p:cNvCxnSpPr/>
          <p:nvPr/>
        </p:nvCxnSpPr>
        <p:spPr>
          <a:xfrm>
            <a:off x="1051560" y="4632960"/>
            <a:ext cx="10588752" cy="0"/>
          </a:xfrm>
          <a:prstGeom prst="line">
            <a:avLst/>
          </a:prstGeom>
          <a:ln w="12700">
            <a:solidFill>
              <a:srgbClr val="F3F4F6"/>
            </a:solidFill>
          </a:ln>
        </p:spPr>
      </p:cxnSp>
      <p:sp>
        <p:nvSpPr>
          <p:cNvPr id="22" name="Shape 22"/>
          <p:cNvSpPr/>
          <p:nvPr/>
        </p:nvSpPr>
        <p:spPr>
          <a:xfrm>
            <a:off x="658368" y="4834128"/>
            <a:ext cx="182880" cy="1828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23" name="TextBox 23"/>
          <p:cNvSpPr/>
          <p:nvPr/>
        </p:nvSpPr>
        <p:spPr>
          <a:xfrm>
            <a:off x="1051560" y="4706112"/>
            <a:ext cx="10561320" cy="678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000" b="1" i="0" dirty="0">
                <a:solidFill>
                  <a:srgbClr val="14213D"/>
                </a:solidFill>
                <a:latin typeface="Calibri"/>
                <a:cs typeface="Calibri"/>
              </a:rPr>
              <a:t>Iqtisodiyot: </a:t>
            </a: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savdo, investitsiyalar, qurilish va to‘qimachilikda keng hamkorlik.</a:t>
            </a:r>
            <a:endParaRPr lang="uz-Latn-UZ" sz="1800" dirty="0"/>
          </a:p>
        </p:txBody>
      </p:sp>
      <p:cxnSp>
        <p:nvCxnSpPr>
          <p:cNvPr id="24" name="Line 24"/>
          <p:cNvCxnSpPr/>
          <p:nvPr/>
        </p:nvCxnSpPr>
        <p:spPr>
          <a:xfrm>
            <a:off x="1051560" y="5402580"/>
            <a:ext cx="10588752" cy="0"/>
          </a:xfrm>
          <a:prstGeom prst="line">
            <a:avLst/>
          </a:prstGeom>
          <a:ln w="12700">
            <a:solidFill>
              <a:srgbClr val="F3F4F6"/>
            </a:solidFill>
          </a:ln>
        </p:spPr>
      </p:cxnSp>
      <p:sp>
        <p:nvSpPr>
          <p:cNvPr id="25" name="Shape 25"/>
          <p:cNvSpPr/>
          <p:nvPr/>
        </p:nvSpPr>
        <p:spPr>
          <a:xfrm>
            <a:off x="658368" y="5603748"/>
            <a:ext cx="182880" cy="1828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26" name="TextBox 26"/>
          <p:cNvSpPr/>
          <p:nvPr/>
        </p:nvSpPr>
        <p:spPr>
          <a:xfrm>
            <a:off x="1051560" y="5475732"/>
            <a:ext cx="10561320" cy="678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000" b="1" i="0" dirty="0">
                <a:solidFill>
                  <a:srgbClr val="14213D"/>
                </a:solidFill>
                <a:latin typeface="Calibri"/>
                <a:cs typeface="Calibri"/>
              </a:rPr>
              <a:t>Gumanitar soha: </a:t>
            </a: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ta’lim, turizm, madaniyat; ko‘plab qo‘shma loyihalar.</a:t>
            </a:r>
            <a:endParaRPr lang="uz-Latn-UZ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4" name="TextBox 4"/>
          <p:cNvSpPr/>
          <p:nvPr/>
        </p:nvSpPr>
        <p:spPr>
          <a:xfrm>
            <a:off x="914400" y="1097280"/>
            <a:ext cx="292608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3000" b="1" i="0" dirty="0">
                <a:solidFill>
                  <a:srgbClr val="C8102E"/>
                </a:solidFill>
                <a:latin typeface="Calibri"/>
                <a:cs typeface="Calibri"/>
              </a:rPr>
              <a:t>04</a:t>
            </a:r>
            <a:endParaRPr lang="uz-Latn-UZ" sz="1800" dirty="0"/>
          </a:p>
        </p:txBody>
      </p:sp>
      <p:sp>
        <p:nvSpPr>
          <p:cNvPr id="5" name="Shape 5"/>
          <p:cNvSpPr/>
          <p:nvPr/>
        </p:nvSpPr>
        <p:spPr>
          <a:xfrm>
            <a:off x="914400" y="3429000"/>
            <a:ext cx="2103120" cy="502920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800" b="1" i="0" dirty="0">
                <a:solidFill>
                  <a:srgbClr val="FFFFFF"/>
                </a:solidFill>
                <a:latin typeface="Calibri"/>
                <a:cs typeface="Calibri"/>
              </a:rPr>
              <a:t>4-ma’ruzachi</a:t>
            </a:r>
            <a:endParaRPr lang="uz-Latn-UZ" sz="1800" dirty="0"/>
          </a:p>
        </p:txBody>
      </p:sp>
      <p:sp>
        <p:nvSpPr>
          <p:cNvPr id="6" name="TextBox 6"/>
          <p:cNvSpPr/>
          <p:nvPr/>
        </p:nvSpPr>
        <p:spPr>
          <a:xfrm>
            <a:off x="4206240" y="1371600"/>
            <a:ext cx="7498080" cy="2103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buNone/>
            </a:pPr>
            <a:r>
              <a:rPr lang="uz-Latn-UZ" sz="4000" b="1" i="0" dirty="0">
                <a:solidFill>
                  <a:srgbClr val="FFFFFF"/>
                </a:solidFill>
                <a:latin typeface="Calibri"/>
                <a:cs typeface="Calibri"/>
              </a:rPr>
              <a:t>Mintaqaviy diplomatiya va vositachilik</a:t>
            </a:r>
            <a:endParaRPr lang="uz-Latn-UZ" sz="1800" dirty="0"/>
          </a:p>
        </p:txBody>
      </p:sp>
      <p:sp>
        <p:nvSpPr>
          <p:cNvPr id="7" name="Shape 7"/>
          <p:cNvSpPr/>
          <p:nvPr/>
        </p:nvSpPr>
        <p:spPr>
          <a:xfrm>
            <a:off x="4206240" y="3703320"/>
            <a:ext cx="109728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8" name="TextBox 8"/>
          <p:cNvSpPr/>
          <p:nvPr/>
        </p:nvSpPr>
        <p:spPr>
          <a:xfrm>
            <a:off x="4206240" y="3977640"/>
            <a:ext cx="749808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320040" indent="-320040" algn="l">
              <a:spcBef>
                <a:spcPts val="8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200" b="0" i="0" dirty="0">
                <a:solidFill>
                  <a:srgbClr val="CBD5E1"/>
                </a:solidFill>
                <a:latin typeface="Calibri"/>
                <a:cs typeface="Calibri"/>
              </a:rPr>
              <a:t>Asosiy mintaqaviy yo‘nalishlar</a:t>
            </a:r>
            <a:endParaRPr lang="uz-Latn-UZ" sz="1800" dirty="0"/>
          </a:p>
          <a:p>
            <a:pPr marL="320040" indent="-320040" algn="l">
              <a:spcBef>
                <a:spcPts val="8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200" b="0" i="0" dirty="0">
                <a:solidFill>
                  <a:srgbClr val="CBD5E1"/>
                </a:solidFill>
                <a:latin typeface="Calibri"/>
                <a:cs typeface="Calibri"/>
              </a:rPr>
              <a:t>Tinchlik vositachisi sifatida Turkiya</a:t>
            </a:r>
            <a:endParaRPr lang="uz-Latn-UZ" sz="1800" dirty="0"/>
          </a:p>
        </p:txBody>
      </p:sp>
      <p:sp>
        <p:nvSpPr>
          <p:cNvPr id="9" name="TextBox 9"/>
          <p:cNvSpPr/>
          <p:nvPr/>
        </p:nvSpPr>
        <p:spPr>
          <a:xfrm>
            <a:off x="9811512" y="63550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CBD5E1"/>
                </a:solidFill>
                <a:latin typeface="Calibri"/>
                <a:cs typeface="Calibri"/>
              </a:rPr>
              <a:t>12 / 19</a:t>
            </a:r>
            <a:endParaRPr lang="uz-Latn-UZ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548640" y="457200"/>
            <a:ext cx="9144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4" name="TextBox 4"/>
          <p:cNvSpPr/>
          <p:nvPr/>
        </p:nvSpPr>
        <p:spPr>
          <a:xfrm>
            <a:off x="777240" y="384048"/>
            <a:ext cx="88696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800" b="1" i="0" dirty="0">
                <a:solidFill>
                  <a:srgbClr val="14213D"/>
                </a:solidFill>
                <a:latin typeface="Calibri"/>
                <a:cs typeface="Calibri"/>
              </a:rPr>
              <a:t>Asosiy mintaqaviy yo‘nalishlar</a:t>
            </a:r>
            <a:endParaRPr lang="uz-Latn-UZ" sz="1800" dirty="0"/>
          </a:p>
        </p:txBody>
      </p:sp>
      <p:sp>
        <p:nvSpPr>
          <p:cNvPr id="5" name="Shape 5"/>
          <p:cNvSpPr/>
          <p:nvPr/>
        </p:nvSpPr>
        <p:spPr>
          <a:xfrm>
            <a:off x="9921240" y="530352"/>
            <a:ext cx="1719072" cy="512064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500" b="1" i="0" dirty="0">
                <a:solidFill>
                  <a:srgbClr val="FFFFFF"/>
                </a:solidFill>
                <a:latin typeface="Calibri"/>
                <a:cs typeface="Calibri"/>
              </a:rPr>
              <a:t>4-ma’ruzachi</a:t>
            </a:r>
            <a:endParaRPr lang="uz-Latn-UZ" sz="1800" dirty="0"/>
          </a:p>
        </p:txBody>
      </p:sp>
      <p:cxnSp>
        <p:nvCxnSpPr>
          <p:cNvPr id="6" name="Line 6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1D5DB"/>
            </a:solidFill>
          </a:ln>
        </p:spPr>
      </p:cxnSp>
      <p:sp>
        <p:nvSpPr>
          <p:cNvPr id="7" name="TextBox 7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6B7280"/>
                </a:solidFill>
                <a:latin typeface="Calibri"/>
                <a:cs typeface="Calibri"/>
              </a:rPr>
              <a:t>Turkiya Respublikasining diplomatik faoliyati</a:t>
            </a:r>
            <a:endParaRPr lang="uz-Latn-UZ" sz="1800" dirty="0"/>
          </a:p>
        </p:txBody>
      </p:sp>
      <p:sp>
        <p:nvSpPr>
          <p:cNvPr id="8" name="TextBox 8"/>
          <p:cNvSpPr/>
          <p:nvPr/>
        </p:nvSpPr>
        <p:spPr>
          <a:xfrm>
            <a:off x="9811512" y="63550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6B7280"/>
                </a:solidFill>
                <a:latin typeface="Calibri"/>
                <a:cs typeface="Calibri"/>
              </a:rPr>
              <a:t>13 / 19</a:t>
            </a:r>
            <a:endParaRPr lang="uz-Latn-UZ" sz="1800" dirty="0"/>
          </a:p>
        </p:txBody>
      </p:sp>
      <p:sp>
        <p:nvSpPr>
          <p:cNvPr id="9" name="Shape 9"/>
          <p:cNvSpPr/>
          <p:nvPr/>
        </p:nvSpPr>
        <p:spPr>
          <a:xfrm>
            <a:off x="0" y="6748272"/>
            <a:ext cx="12192000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0" name="Shape 10"/>
          <p:cNvSpPr/>
          <p:nvPr/>
        </p:nvSpPr>
        <p:spPr>
          <a:xfrm>
            <a:off x="548640" y="1600200"/>
            <a:ext cx="5408676" cy="2125980"/>
          </a:xfrm>
          <a:prstGeom prst="rect">
            <a:avLst/>
          </a:prstGeom>
          <a:solidFill>
            <a:srgbClr val="F3F4F6"/>
          </a:solidFill>
          <a:ln>
            <a:noFill/>
          </a:ln>
        </p:spPr>
      </p:sp>
      <p:sp>
        <p:nvSpPr>
          <p:cNvPr id="11" name="Shape 11"/>
          <p:cNvSpPr/>
          <p:nvPr/>
        </p:nvSpPr>
        <p:spPr>
          <a:xfrm>
            <a:off x="548640" y="1600200"/>
            <a:ext cx="82296" cy="2125980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2" name="TextBox 12"/>
          <p:cNvSpPr/>
          <p:nvPr/>
        </p:nvSpPr>
        <p:spPr>
          <a:xfrm>
            <a:off x="868680" y="1783080"/>
            <a:ext cx="486003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100" b="1" i="0" dirty="0">
                <a:solidFill>
                  <a:srgbClr val="14213D"/>
                </a:solidFill>
                <a:latin typeface="Calibri"/>
                <a:cs typeface="Calibri"/>
              </a:rPr>
              <a:t>Janubiy Kavkaz</a:t>
            </a:r>
            <a:endParaRPr lang="uz-Latn-UZ" sz="1800" dirty="0"/>
          </a:p>
        </p:txBody>
      </p:sp>
      <p:sp>
        <p:nvSpPr>
          <p:cNvPr id="13" name="TextBox 13"/>
          <p:cNvSpPr/>
          <p:nvPr/>
        </p:nvSpPr>
        <p:spPr>
          <a:xfrm>
            <a:off x="868680" y="2313432"/>
            <a:ext cx="4860036" cy="1257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buNone/>
            </a:pPr>
            <a:r>
              <a:rPr lang="uz-Latn-UZ" sz="1700" b="0" i="0" dirty="0">
                <a:solidFill>
                  <a:srgbClr val="1F2937"/>
                </a:solidFill>
                <a:latin typeface="Calibri"/>
                <a:cs typeface="Calibri"/>
              </a:rPr>
              <a:t>Ozarbayjon bilan «Bir millat – ikki davlat»; 2021-yil Shusha deklaratsiyasi; Armaniston bilan normallashtirish jarayoni.</a:t>
            </a:r>
            <a:endParaRPr lang="uz-Latn-UZ" sz="1800" dirty="0"/>
          </a:p>
        </p:txBody>
      </p:sp>
      <p:sp>
        <p:nvSpPr>
          <p:cNvPr id="14" name="Shape 14"/>
          <p:cNvSpPr/>
          <p:nvPr/>
        </p:nvSpPr>
        <p:spPr>
          <a:xfrm>
            <a:off x="6231636" y="1600200"/>
            <a:ext cx="5408676" cy="2125980"/>
          </a:xfrm>
          <a:prstGeom prst="rect">
            <a:avLst/>
          </a:prstGeom>
          <a:solidFill>
            <a:srgbClr val="F3F4F6"/>
          </a:solidFill>
          <a:ln>
            <a:noFill/>
          </a:ln>
        </p:spPr>
      </p:sp>
      <p:sp>
        <p:nvSpPr>
          <p:cNvPr id="15" name="Shape 15"/>
          <p:cNvSpPr/>
          <p:nvPr/>
        </p:nvSpPr>
        <p:spPr>
          <a:xfrm>
            <a:off x="6231636" y="1600200"/>
            <a:ext cx="82296" cy="2125980"/>
          </a:xfrm>
          <a:prstGeom prst="rect">
            <a:avLst/>
          </a:prstGeom>
          <a:solidFill>
            <a:srgbClr val="14213D"/>
          </a:solidFill>
          <a:ln>
            <a:noFill/>
          </a:ln>
        </p:spPr>
      </p:sp>
      <p:sp>
        <p:nvSpPr>
          <p:cNvPr id="16" name="TextBox 16"/>
          <p:cNvSpPr/>
          <p:nvPr/>
        </p:nvSpPr>
        <p:spPr>
          <a:xfrm>
            <a:off x="6551676" y="1783080"/>
            <a:ext cx="486003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100" b="1" i="0" dirty="0">
                <a:solidFill>
                  <a:srgbClr val="14213D"/>
                </a:solidFill>
                <a:latin typeface="Calibri"/>
                <a:cs typeface="Calibri"/>
              </a:rPr>
              <a:t>Yaqin Sharq</a:t>
            </a:r>
            <a:endParaRPr lang="uz-Latn-UZ" sz="1800" dirty="0"/>
          </a:p>
        </p:txBody>
      </p:sp>
      <p:sp>
        <p:nvSpPr>
          <p:cNvPr id="17" name="TextBox 17"/>
          <p:cNvSpPr/>
          <p:nvPr/>
        </p:nvSpPr>
        <p:spPr>
          <a:xfrm>
            <a:off x="6551676" y="2313432"/>
            <a:ext cx="4860036" cy="1257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buNone/>
            </a:pPr>
            <a:r>
              <a:rPr lang="uz-Latn-UZ" sz="1700" b="0" i="0" dirty="0">
                <a:solidFill>
                  <a:srgbClr val="1F2937"/>
                </a:solidFill>
                <a:latin typeface="Calibri"/>
                <a:cs typeface="Calibri"/>
              </a:rPr>
              <a:t>Suriya va Falastin masalalarida faol pozitsiya; Fors ko‘rfazi davlatlari va Misr bilan munosabatlar tiklandi.</a:t>
            </a:r>
            <a:endParaRPr lang="uz-Latn-UZ" sz="1800" dirty="0"/>
          </a:p>
        </p:txBody>
      </p:sp>
      <p:sp>
        <p:nvSpPr>
          <p:cNvPr id="18" name="Shape 18"/>
          <p:cNvSpPr/>
          <p:nvPr/>
        </p:nvSpPr>
        <p:spPr>
          <a:xfrm>
            <a:off x="548640" y="4000500"/>
            <a:ext cx="5408676" cy="2125980"/>
          </a:xfrm>
          <a:prstGeom prst="rect">
            <a:avLst/>
          </a:prstGeom>
          <a:solidFill>
            <a:srgbClr val="F3F4F6"/>
          </a:solidFill>
          <a:ln>
            <a:noFill/>
          </a:ln>
        </p:spPr>
      </p:sp>
      <p:sp>
        <p:nvSpPr>
          <p:cNvPr id="19" name="Shape 19"/>
          <p:cNvSpPr/>
          <p:nvPr/>
        </p:nvSpPr>
        <p:spPr>
          <a:xfrm>
            <a:off x="548640" y="4000500"/>
            <a:ext cx="82296" cy="2125980"/>
          </a:xfrm>
          <a:prstGeom prst="rect">
            <a:avLst/>
          </a:prstGeom>
          <a:solidFill>
            <a:srgbClr val="14213D"/>
          </a:solidFill>
          <a:ln>
            <a:noFill/>
          </a:ln>
        </p:spPr>
      </p:sp>
      <p:sp>
        <p:nvSpPr>
          <p:cNvPr id="20" name="TextBox 20"/>
          <p:cNvSpPr/>
          <p:nvPr/>
        </p:nvSpPr>
        <p:spPr>
          <a:xfrm>
            <a:off x="868680" y="4183380"/>
            <a:ext cx="486003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100" b="1" i="0" dirty="0">
                <a:solidFill>
                  <a:srgbClr val="14213D"/>
                </a:solidFill>
                <a:latin typeface="Calibri"/>
                <a:cs typeface="Calibri"/>
              </a:rPr>
              <a:t>Bolqon va Qora dengiz</a:t>
            </a:r>
            <a:endParaRPr lang="uz-Latn-UZ" sz="1800" dirty="0"/>
          </a:p>
        </p:txBody>
      </p:sp>
      <p:sp>
        <p:nvSpPr>
          <p:cNvPr id="21" name="TextBox 21"/>
          <p:cNvSpPr/>
          <p:nvPr/>
        </p:nvSpPr>
        <p:spPr>
          <a:xfrm>
            <a:off x="868680" y="4713732"/>
            <a:ext cx="4860036" cy="1257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buNone/>
            </a:pPr>
            <a:r>
              <a:rPr lang="uz-Latn-UZ" sz="1700" b="0" i="0" dirty="0">
                <a:solidFill>
                  <a:srgbClr val="1F2937"/>
                </a:solidFill>
                <a:latin typeface="Calibri"/>
                <a:cs typeface="Calibri"/>
              </a:rPr>
              <a:t>Bosniya va Kosovoni qo‘llab-quvvatlash; Montrö konvensiyasi asosida bo‘g‘ozlar rejimi.</a:t>
            </a:r>
            <a:endParaRPr lang="uz-Latn-UZ" sz="1800" dirty="0"/>
          </a:p>
        </p:txBody>
      </p:sp>
      <p:sp>
        <p:nvSpPr>
          <p:cNvPr id="22" name="Shape 22"/>
          <p:cNvSpPr/>
          <p:nvPr/>
        </p:nvSpPr>
        <p:spPr>
          <a:xfrm>
            <a:off x="6231636" y="4000500"/>
            <a:ext cx="5408676" cy="2125980"/>
          </a:xfrm>
          <a:prstGeom prst="rect">
            <a:avLst/>
          </a:prstGeom>
          <a:solidFill>
            <a:srgbClr val="F3F4F6"/>
          </a:solidFill>
          <a:ln>
            <a:noFill/>
          </a:ln>
        </p:spPr>
      </p:sp>
      <p:sp>
        <p:nvSpPr>
          <p:cNvPr id="23" name="Shape 23"/>
          <p:cNvSpPr/>
          <p:nvPr/>
        </p:nvSpPr>
        <p:spPr>
          <a:xfrm>
            <a:off x="6231636" y="4000500"/>
            <a:ext cx="82296" cy="2125980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24" name="TextBox 24"/>
          <p:cNvSpPr/>
          <p:nvPr/>
        </p:nvSpPr>
        <p:spPr>
          <a:xfrm>
            <a:off x="6551676" y="4183380"/>
            <a:ext cx="486003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100" b="1" i="0" dirty="0">
                <a:solidFill>
                  <a:srgbClr val="14213D"/>
                </a:solidFill>
                <a:latin typeface="Calibri"/>
                <a:cs typeface="Calibri"/>
              </a:rPr>
              <a:t>Afrika va Osiyo</a:t>
            </a:r>
            <a:endParaRPr lang="uz-Latn-UZ" sz="1800" dirty="0"/>
          </a:p>
        </p:txBody>
      </p:sp>
      <p:sp>
        <p:nvSpPr>
          <p:cNvPr id="25" name="TextBox 25"/>
          <p:cNvSpPr/>
          <p:nvPr/>
        </p:nvSpPr>
        <p:spPr>
          <a:xfrm>
            <a:off x="6551676" y="4713732"/>
            <a:ext cx="4860036" cy="1257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buNone/>
            </a:pPr>
            <a:r>
              <a:rPr lang="uz-Latn-UZ" sz="1700" b="0" i="0" dirty="0">
                <a:solidFill>
                  <a:srgbClr val="1F2937"/>
                </a:solidFill>
                <a:latin typeface="Calibri"/>
                <a:cs typeface="Calibri"/>
              </a:rPr>
              <a:t>Turkiya–Afrika sammitlari (2008, 2014, 2021); «Yana Osiyo» tashabbusi (2019).</a:t>
            </a:r>
            <a:endParaRPr lang="uz-Latn-UZ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548640" y="457200"/>
            <a:ext cx="9144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4" name="TextBox 4"/>
          <p:cNvSpPr/>
          <p:nvPr/>
        </p:nvSpPr>
        <p:spPr>
          <a:xfrm>
            <a:off x="777240" y="384048"/>
            <a:ext cx="88696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800" b="1" i="0" dirty="0">
                <a:solidFill>
                  <a:srgbClr val="14213D"/>
                </a:solidFill>
                <a:latin typeface="Calibri"/>
                <a:cs typeface="Calibri"/>
              </a:rPr>
              <a:t>Tinchlik vositachisi sifatida Turkiya</a:t>
            </a:r>
            <a:endParaRPr lang="uz-Latn-UZ" sz="1800" dirty="0"/>
          </a:p>
        </p:txBody>
      </p:sp>
      <p:sp>
        <p:nvSpPr>
          <p:cNvPr id="5" name="Shape 5"/>
          <p:cNvSpPr/>
          <p:nvPr/>
        </p:nvSpPr>
        <p:spPr>
          <a:xfrm>
            <a:off x="9921240" y="530352"/>
            <a:ext cx="1719072" cy="512064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500" b="1" i="0" dirty="0">
                <a:solidFill>
                  <a:srgbClr val="FFFFFF"/>
                </a:solidFill>
                <a:latin typeface="Calibri"/>
                <a:cs typeface="Calibri"/>
              </a:rPr>
              <a:t>4-ma’ruzachi</a:t>
            </a:r>
            <a:endParaRPr lang="uz-Latn-UZ" sz="1800" dirty="0"/>
          </a:p>
        </p:txBody>
      </p:sp>
      <p:cxnSp>
        <p:nvCxnSpPr>
          <p:cNvPr id="6" name="Line 6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1D5DB"/>
            </a:solidFill>
          </a:ln>
        </p:spPr>
      </p:cxnSp>
      <p:sp>
        <p:nvSpPr>
          <p:cNvPr id="7" name="TextBox 7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6B7280"/>
                </a:solidFill>
                <a:latin typeface="Calibri"/>
                <a:cs typeface="Calibri"/>
              </a:rPr>
              <a:t>Turkiya Respublikasining diplomatik faoliyati</a:t>
            </a:r>
            <a:endParaRPr lang="uz-Latn-UZ" sz="1800" dirty="0"/>
          </a:p>
        </p:txBody>
      </p:sp>
      <p:sp>
        <p:nvSpPr>
          <p:cNvPr id="8" name="TextBox 8"/>
          <p:cNvSpPr/>
          <p:nvPr/>
        </p:nvSpPr>
        <p:spPr>
          <a:xfrm>
            <a:off x="9811512" y="63550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6B7280"/>
                </a:solidFill>
                <a:latin typeface="Calibri"/>
                <a:cs typeface="Calibri"/>
              </a:rPr>
              <a:t>14 / 19</a:t>
            </a:r>
            <a:endParaRPr lang="uz-Latn-UZ" sz="1800" dirty="0"/>
          </a:p>
        </p:txBody>
      </p:sp>
      <p:sp>
        <p:nvSpPr>
          <p:cNvPr id="9" name="Shape 9"/>
          <p:cNvSpPr/>
          <p:nvPr/>
        </p:nvSpPr>
        <p:spPr>
          <a:xfrm>
            <a:off x="0" y="6748272"/>
            <a:ext cx="12192000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0" name="Shape 10"/>
          <p:cNvSpPr/>
          <p:nvPr/>
        </p:nvSpPr>
        <p:spPr>
          <a:xfrm>
            <a:off x="658368" y="1755648"/>
            <a:ext cx="182880" cy="1828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1" name="TextBox 11"/>
          <p:cNvSpPr/>
          <p:nvPr/>
        </p:nvSpPr>
        <p:spPr>
          <a:xfrm>
            <a:off x="1051560" y="1627632"/>
            <a:ext cx="10561320" cy="678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000" b="1" i="0" dirty="0">
                <a:solidFill>
                  <a:srgbClr val="14213D"/>
                </a:solidFill>
                <a:latin typeface="Calibri"/>
                <a:cs typeface="Calibri"/>
              </a:rPr>
              <a:t>BMT tashabbusi: </a:t>
            </a: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Finlyandiya bilan «Vositachilik do‘stlari» guruhi hamraisi (2010).</a:t>
            </a:r>
            <a:endParaRPr lang="uz-Latn-UZ" sz="1800" dirty="0"/>
          </a:p>
        </p:txBody>
      </p:sp>
      <p:cxnSp>
        <p:nvCxnSpPr>
          <p:cNvPr id="12" name="Line 12"/>
          <p:cNvCxnSpPr/>
          <p:nvPr/>
        </p:nvCxnSpPr>
        <p:spPr>
          <a:xfrm>
            <a:off x="1051560" y="2324100"/>
            <a:ext cx="10588752" cy="0"/>
          </a:xfrm>
          <a:prstGeom prst="line">
            <a:avLst/>
          </a:prstGeom>
          <a:ln w="12700">
            <a:solidFill>
              <a:srgbClr val="F3F4F6"/>
            </a:solidFill>
          </a:ln>
        </p:spPr>
      </p:cxnSp>
      <p:sp>
        <p:nvSpPr>
          <p:cNvPr id="13" name="Shape 13"/>
          <p:cNvSpPr/>
          <p:nvPr/>
        </p:nvSpPr>
        <p:spPr>
          <a:xfrm>
            <a:off x="658368" y="2525268"/>
            <a:ext cx="182880" cy="1828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4" name="TextBox 14"/>
          <p:cNvSpPr/>
          <p:nvPr/>
        </p:nvSpPr>
        <p:spPr>
          <a:xfrm>
            <a:off x="1051560" y="2397252"/>
            <a:ext cx="10561320" cy="678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000" b="1" i="0" dirty="0">
                <a:solidFill>
                  <a:srgbClr val="14213D"/>
                </a:solidFill>
                <a:latin typeface="Calibri"/>
                <a:cs typeface="Calibri"/>
              </a:rPr>
              <a:t>Mart 2022: </a:t>
            </a: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Antaliya va Istanbulda Rossiya – Ukraina muzokaralariga mezbonlik.</a:t>
            </a:r>
            <a:endParaRPr lang="uz-Latn-UZ" sz="1800" dirty="0"/>
          </a:p>
        </p:txBody>
      </p:sp>
      <p:cxnSp>
        <p:nvCxnSpPr>
          <p:cNvPr id="15" name="Line 15"/>
          <p:cNvCxnSpPr/>
          <p:nvPr/>
        </p:nvCxnSpPr>
        <p:spPr>
          <a:xfrm>
            <a:off x="1051560" y="3093720"/>
            <a:ext cx="10588752" cy="0"/>
          </a:xfrm>
          <a:prstGeom prst="line">
            <a:avLst/>
          </a:prstGeom>
          <a:ln w="12700">
            <a:solidFill>
              <a:srgbClr val="F3F4F6"/>
            </a:solidFill>
          </a:ln>
        </p:spPr>
      </p:cxnSp>
      <p:sp>
        <p:nvSpPr>
          <p:cNvPr id="16" name="Shape 16"/>
          <p:cNvSpPr/>
          <p:nvPr/>
        </p:nvSpPr>
        <p:spPr>
          <a:xfrm>
            <a:off x="658368" y="3294888"/>
            <a:ext cx="182880" cy="1828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7" name="TextBox 17"/>
          <p:cNvSpPr/>
          <p:nvPr/>
        </p:nvSpPr>
        <p:spPr>
          <a:xfrm>
            <a:off x="1051560" y="3166872"/>
            <a:ext cx="10561320" cy="678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000" b="1" i="0" dirty="0">
                <a:solidFill>
                  <a:srgbClr val="14213D"/>
                </a:solidFill>
                <a:latin typeface="Calibri"/>
                <a:cs typeface="Calibri"/>
              </a:rPr>
              <a:t>Iyul 2022: </a:t>
            </a: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BMT bilan birga Qora dengiz don tashabbusi — ~33 mln tonna don eksporti.</a:t>
            </a:r>
            <a:endParaRPr lang="uz-Latn-UZ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1051560" y="3863340"/>
            <a:ext cx="10588752" cy="0"/>
          </a:xfrm>
          <a:prstGeom prst="line">
            <a:avLst/>
          </a:prstGeom>
          <a:ln w="12700">
            <a:solidFill>
              <a:srgbClr val="F3F4F6"/>
            </a:solidFill>
          </a:ln>
        </p:spPr>
      </p:cxnSp>
      <p:sp>
        <p:nvSpPr>
          <p:cNvPr id="19" name="Shape 19"/>
          <p:cNvSpPr/>
          <p:nvPr/>
        </p:nvSpPr>
        <p:spPr>
          <a:xfrm>
            <a:off x="658368" y="4064508"/>
            <a:ext cx="182880" cy="1828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20" name="TextBox 20"/>
          <p:cNvSpPr/>
          <p:nvPr/>
        </p:nvSpPr>
        <p:spPr>
          <a:xfrm>
            <a:off x="1051560" y="3936492"/>
            <a:ext cx="10561320" cy="678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000" b="1" i="0" dirty="0">
                <a:solidFill>
                  <a:srgbClr val="14213D"/>
                </a:solidFill>
                <a:latin typeface="Calibri"/>
                <a:cs typeface="Calibri"/>
              </a:rPr>
              <a:t>Avgust 2024: </a:t>
            </a: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Anqarada Rossiya va G‘arb o‘rtasida mahbuslar almashinuvi.</a:t>
            </a:r>
            <a:endParaRPr lang="uz-Latn-UZ" sz="1800" dirty="0"/>
          </a:p>
        </p:txBody>
      </p:sp>
      <p:cxnSp>
        <p:nvCxnSpPr>
          <p:cNvPr id="21" name="Line 21"/>
          <p:cNvCxnSpPr/>
          <p:nvPr/>
        </p:nvCxnSpPr>
        <p:spPr>
          <a:xfrm>
            <a:off x="1051560" y="4632960"/>
            <a:ext cx="10588752" cy="0"/>
          </a:xfrm>
          <a:prstGeom prst="line">
            <a:avLst/>
          </a:prstGeom>
          <a:ln w="12700">
            <a:solidFill>
              <a:srgbClr val="F3F4F6"/>
            </a:solidFill>
          </a:ln>
        </p:spPr>
      </p:cxnSp>
      <p:sp>
        <p:nvSpPr>
          <p:cNvPr id="22" name="Shape 22"/>
          <p:cNvSpPr/>
          <p:nvPr/>
        </p:nvSpPr>
        <p:spPr>
          <a:xfrm>
            <a:off x="658368" y="4834128"/>
            <a:ext cx="182880" cy="1828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23" name="TextBox 23"/>
          <p:cNvSpPr/>
          <p:nvPr/>
        </p:nvSpPr>
        <p:spPr>
          <a:xfrm>
            <a:off x="1051560" y="4706112"/>
            <a:ext cx="10561320" cy="678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000" b="1" i="0" dirty="0">
                <a:solidFill>
                  <a:srgbClr val="14213D"/>
                </a:solidFill>
                <a:latin typeface="Calibri"/>
                <a:cs typeface="Calibri"/>
              </a:rPr>
              <a:t>2025-yil: </a:t>
            </a: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Istanbulda Rossiya – Ukraina to‘g‘ridan-to‘g‘ri muzokaralari.</a:t>
            </a:r>
            <a:endParaRPr lang="uz-Latn-UZ" sz="1800" dirty="0"/>
          </a:p>
        </p:txBody>
      </p:sp>
      <p:cxnSp>
        <p:nvCxnSpPr>
          <p:cNvPr id="24" name="Line 24"/>
          <p:cNvCxnSpPr/>
          <p:nvPr/>
        </p:nvCxnSpPr>
        <p:spPr>
          <a:xfrm>
            <a:off x="1051560" y="5402580"/>
            <a:ext cx="10588752" cy="0"/>
          </a:xfrm>
          <a:prstGeom prst="line">
            <a:avLst/>
          </a:prstGeom>
          <a:ln w="12700">
            <a:solidFill>
              <a:srgbClr val="F3F4F6"/>
            </a:solidFill>
          </a:ln>
        </p:spPr>
      </p:cxnSp>
      <p:sp>
        <p:nvSpPr>
          <p:cNvPr id="25" name="Shape 25"/>
          <p:cNvSpPr/>
          <p:nvPr/>
        </p:nvSpPr>
        <p:spPr>
          <a:xfrm>
            <a:off x="658368" y="5603748"/>
            <a:ext cx="182880" cy="1828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26" name="TextBox 26"/>
          <p:cNvSpPr/>
          <p:nvPr/>
        </p:nvSpPr>
        <p:spPr>
          <a:xfrm>
            <a:off x="1051560" y="5475732"/>
            <a:ext cx="10561320" cy="678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000" b="1" i="0" dirty="0">
                <a:solidFill>
                  <a:srgbClr val="14213D"/>
                </a:solidFill>
                <a:latin typeface="Calibri"/>
                <a:cs typeface="Calibri"/>
              </a:rPr>
              <a:t>Antaliya diplomatiya forumi: </a:t>
            </a: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2021-yildan har yili o‘tkaziladi.</a:t>
            </a:r>
            <a:endParaRPr lang="uz-Latn-UZ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4" name="TextBox 4"/>
          <p:cNvSpPr/>
          <p:nvPr/>
        </p:nvSpPr>
        <p:spPr>
          <a:xfrm>
            <a:off x="914400" y="1097280"/>
            <a:ext cx="292608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3000" b="1" i="0" dirty="0">
                <a:solidFill>
                  <a:srgbClr val="C8102E"/>
                </a:solidFill>
                <a:latin typeface="Calibri"/>
                <a:cs typeface="Calibri"/>
              </a:rPr>
              <a:t>05</a:t>
            </a:r>
            <a:endParaRPr lang="uz-Latn-UZ" sz="1800" dirty="0"/>
          </a:p>
        </p:txBody>
      </p:sp>
      <p:sp>
        <p:nvSpPr>
          <p:cNvPr id="5" name="Shape 5"/>
          <p:cNvSpPr/>
          <p:nvPr/>
        </p:nvSpPr>
        <p:spPr>
          <a:xfrm>
            <a:off x="914400" y="3429000"/>
            <a:ext cx="2103120" cy="502920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800" b="1" i="0" dirty="0">
                <a:solidFill>
                  <a:srgbClr val="FFFFFF"/>
                </a:solidFill>
                <a:latin typeface="Calibri"/>
                <a:cs typeface="Calibri"/>
              </a:rPr>
              <a:t>5-ma’ruzachi</a:t>
            </a:r>
            <a:endParaRPr lang="uz-Latn-UZ" sz="1800" dirty="0"/>
          </a:p>
        </p:txBody>
      </p:sp>
      <p:sp>
        <p:nvSpPr>
          <p:cNvPr id="6" name="TextBox 6"/>
          <p:cNvSpPr/>
          <p:nvPr/>
        </p:nvSpPr>
        <p:spPr>
          <a:xfrm>
            <a:off x="4206240" y="1371600"/>
            <a:ext cx="7498080" cy="2103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buNone/>
            </a:pPr>
            <a:r>
              <a:rPr lang="uz-Latn-UZ" sz="4000" b="1" i="0" dirty="0">
                <a:solidFill>
                  <a:srgbClr val="FFFFFF"/>
                </a:solidFill>
                <a:latin typeface="Calibri"/>
                <a:cs typeface="Calibri"/>
              </a:rPr>
              <a:t>Yumshoq kuch, iqtisodiy diplomatiya va xulosa</a:t>
            </a:r>
            <a:endParaRPr lang="uz-Latn-UZ" sz="1800" dirty="0"/>
          </a:p>
        </p:txBody>
      </p:sp>
      <p:sp>
        <p:nvSpPr>
          <p:cNvPr id="7" name="Shape 7"/>
          <p:cNvSpPr/>
          <p:nvPr/>
        </p:nvSpPr>
        <p:spPr>
          <a:xfrm>
            <a:off x="4206240" y="3703320"/>
            <a:ext cx="1097280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8" name="TextBox 8"/>
          <p:cNvSpPr/>
          <p:nvPr/>
        </p:nvSpPr>
        <p:spPr>
          <a:xfrm>
            <a:off x="4206240" y="3977640"/>
            <a:ext cx="749808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320040" indent="-320040" algn="l">
              <a:spcBef>
                <a:spcPts val="8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200" b="0" i="0" dirty="0">
                <a:solidFill>
                  <a:srgbClr val="CBD5E1"/>
                </a:solidFill>
                <a:latin typeface="Calibri"/>
                <a:cs typeface="Calibri"/>
              </a:rPr>
              <a:t>Raqamlarda Turkiya diplomatiyasi</a:t>
            </a:r>
            <a:endParaRPr lang="uz-Latn-UZ" sz="1800" dirty="0"/>
          </a:p>
          <a:p>
            <a:pPr marL="320040" indent="-320040" algn="l">
              <a:spcBef>
                <a:spcPts val="8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200" b="0" i="0" dirty="0">
                <a:solidFill>
                  <a:srgbClr val="CBD5E1"/>
                </a:solidFill>
                <a:latin typeface="Calibri"/>
                <a:cs typeface="Calibri"/>
              </a:rPr>
              <a:t>Muammolar va xulosa</a:t>
            </a:r>
            <a:endParaRPr lang="uz-Latn-UZ" sz="1800" dirty="0"/>
          </a:p>
        </p:txBody>
      </p:sp>
      <p:sp>
        <p:nvSpPr>
          <p:cNvPr id="9" name="TextBox 9"/>
          <p:cNvSpPr/>
          <p:nvPr/>
        </p:nvSpPr>
        <p:spPr>
          <a:xfrm>
            <a:off x="9811512" y="63550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CBD5E1"/>
                </a:solidFill>
                <a:latin typeface="Calibri"/>
                <a:cs typeface="Calibri"/>
              </a:rPr>
              <a:t>15 / 19</a:t>
            </a:r>
            <a:endParaRPr lang="uz-Latn-UZ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548640" y="457200"/>
            <a:ext cx="9144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4" name="TextBox 4"/>
          <p:cNvSpPr/>
          <p:nvPr/>
        </p:nvSpPr>
        <p:spPr>
          <a:xfrm>
            <a:off x="777240" y="384048"/>
            <a:ext cx="88696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800" b="1" i="0" dirty="0">
                <a:solidFill>
                  <a:srgbClr val="14213D"/>
                </a:solidFill>
                <a:latin typeface="Calibri"/>
                <a:cs typeface="Calibri"/>
              </a:rPr>
              <a:t>Raqamlarda Turkiya diplomatiyasi</a:t>
            </a:r>
            <a:endParaRPr lang="uz-Latn-UZ" sz="1800" dirty="0"/>
          </a:p>
        </p:txBody>
      </p:sp>
      <p:sp>
        <p:nvSpPr>
          <p:cNvPr id="5" name="Shape 5"/>
          <p:cNvSpPr/>
          <p:nvPr/>
        </p:nvSpPr>
        <p:spPr>
          <a:xfrm>
            <a:off x="9921240" y="530352"/>
            <a:ext cx="1719072" cy="512064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500" b="1" i="0" dirty="0">
                <a:solidFill>
                  <a:srgbClr val="FFFFFF"/>
                </a:solidFill>
                <a:latin typeface="Calibri"/>
                <a:cs typeface="Calibri"/>
              </a:rPr>
              <a:t>5-ma’ruzachi</a:t>
            </a:r>
            <a:endParaRPr lang="uz-Latn-UZ" sz="1800" dirty="0"/>
          </a:p>
        </p:txBody>
      </p:sp>
      <p:cxnSp>
        <p:nvCxnSpPr>
          <p:cNvPr id="6" name="Line 6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1D5DB"/>
            </a:solidFill>
          </a:ln>
        </p:spPr>
      </p:cxnSp>
      <p:sp>
        <p:nvSpPr>
          <p:cNvPr id="7" name="TextBox 7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6B7280"/>
                </a:solidFill>
                <a:latin typeface="Calibri"/>
                <a:cs typeface="Calibri"/>
              </a:rPr>
              <a:t>Turkiya Respublikasining diplomatik faoliyati</a:t>
            </a:r>
            <a:endParaRPr lang="uz-Latn-UZ" sz="1800" dirty="0"/>
          </a:p>
        </p:txBody>
      </p:sp>
      <p:sp>
        <p:nvSpPr>
          <p:cNvPr id="8" name="TextBox 8"/>
          <p:cNvSpPr/>
          <p:nvPr/>
        </p:nvSpPr>
        <p:spPr>
          <a:xfrm>
            <a:off x="9811512" y="63550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6B7280"/>
                </a:solidFill>
                <a:latin typeface="Calibri"/>
                <a:cs typeface="Calibri"/>
              </a:rPr>
              <a:t>16 / 19</a:t>
            </a:r>
            <a:endParaRPr lang="uz-Latn-UZ" sz="1800" dirty="0"/>
          </a:p>
        </p:txBody>
      </p:sp>
      <p:sp>
        <p:nvSpPr>
          <p:cNvPr id="9" name="Shape 9"/>
          <p:cNvSpPr/>
          <p:nvPr/>
        </p:nvSpPr>
        <p:spPr>
          <a:xfrm>
            <a:off x="0" y="6748272"/>
            <a:ext cx="12192000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0" name="Shape 10"/>
          <p:cNvSpPr/>
          <p:nvPr/>
        </p:nvSpPr>
        <p:spPr>
          <a:xfrm>
            <a:off x="548640" y="1600200"/>
            <a:ext cx="2601468" cy="2011680"/>
          </a:xfrm>
          <a:prstGeom prst="rect">
            <a:avLst/>
          </a:prstGeom>
          <a:solidFill>
            <a:srgbClr val="14213D"/>
          </a:solidFill>
          <a:ln>
            <a:noFill/>
          </a:ln>
        </p:spPr>
      </p:sp>
      <p:sp>
        <p:nvSpPr>
          <p:cNvPr id="11" name="TextBox 11"/>
          <p:cNvSpPr/>
          <p:nvPr/>
        </p:nvSpPr>
        <p:spPr>
          <a:xfrm>
            <a:off x="731520" y="1691640"/>
            <a:ext cx="2235708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4600" b="1" i="0" dirty="0">
                <a:solidFill>
                  <a:srgbClr val="FFFFFF"/>
                </a:solidFill>
                <a:latin typeface="Calibri"/>
                <a:cs typeface="Calibri"/>
              </a:rPr>
              <a:t>250+</a:t>
            </a:r>
            <a:endParaRPr lang="uz-Latn-UZ" sz="1800" dirty="0"/>
          </a:p>
        </p:txBody>
      </p:sp>
      <p:sp>
        <p:nvSpPr>
          <p:cNvPr id="12" name="TextBox 12"/>
          <p:cNvSpPr/>
          <p:nvPr/>
        </p:nvSpPr>
        <p:spPr>
          <a:xfrm>
            <a:off x="731520" y="2560320"/>
            <a:ext cx="2235708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500" b="0" i="0" dirty="0">
                <a:solidFill>
                  <a:srgbClr val="FFFFFF"/>
                </a:solidFill>
                <a:latin typeface="Calibri"/>
                <a:cs typeface="Calibri"/>
              </a:rPr>
              <a:t>diplomatik vakolatxona (Lowy, 2024 — dunyoda 3-o‘rin)</a:t>
            </a:r>
            <a:endParaRPr lang="uz-Latn-UZ" sz="1800" dirty="0"/>
          </a:p>
        </p:txBody>
      </p:sp>
      <p:sp>
        <p:nvSpPr>
          <p:cNvPr id="13" name="Shape 13"/>
          <p:cNvSpPr/>
          <p:nvPr/>
        </p:nvSpPr>
        <p:spPr>
          <a:xfrm>
            <a:off x="3378708" y="1600200"/>
            <a:ext cx="2601468" cy="2011680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4" name="TextBox 14"/>
          <p:cNvSpPr/>
          <p:nvPr/>
        </p:nvSpPr>
        <p:spPr>
          <a:xfrm>
            <a:off x="3561588" y="1691640"/>
            <a:ext cx="2235708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4600" b="1" i="0" dirty="0">
                <a:solidFill>
                  <a:srgbClr val="FFFFFF"/>
                </a:solidFill>
                <a:latin typeface="Calibri"/>
                <a:cs typeface="Calibri"/>
              </a:rPr>
              <a:t>60+</a:t>
            </a:r>
            <a:endParaRPr lang="uz-Latn-UZ" sz="1800" dirty="0"/>
          </a:p>
        </p:txBody>
      </p:sp>
      <p:sp>
        <p:nvSpPr>
          <p:cNvPr id="15" name="TextBox 15"/>
          <p:cNvSpPr/>
          <p:nvPr/>
        </p:nvSpPr>
        <p:spPr>
          <a:xfrm>
            <a:off x="3561588" y="2560320"/>
            <a:ext cx="2235708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500" b="0" i="0" dirty="0">
                <a:solidFill>
                  <a:srgbClr val="FFFFFF"/>
                </a:solidFill>
                <a:latin typeface="Calibri"/>
                <a:cs typeface="Calibri"/>
              </a:rPr>
              <a:t>mamlakatda TIKA idoralari</a:t>
            </a:r>
            <a:endParaRPr lang="uz-Latn-UZ" sz="1800" dirty="0"/>
          </a:p>
        </p:txBody>
      </p:sp>
      <p:sp>
        <p:nvSpPr>
          <p:cNvPr id="16" name="Shape 16"/>
          <p:cNvSpPr/>
          <p:nvPr/>
        </p:nvSpPr>
        <p:spPr>
          <a:xfrm>
            <a:off x="6208776" y="1600200"/>
            <a:ext cx="2601468" cy="2011680"/>
          </a:xfrm>
          <a:prstGeom prst="rect">
            <a:avLst/>
          </a:prstGeom>
          <a:solidFill>
            <a:srgbClr val="14213D"/>
          </a:solidFill>
          <a:ln>
            <a:noFill/>
          </a:ln>
        </p:spPr>
      </p:sp>
      <p:sp>
        <p:nvSpPr>
          <p:cNvPr id="17" name="TextBox 17"/>
          <p:cNvSpPr/>
          <p:nvPr/>
        </p:nvSpPr>
        <p:spPr>
          <a:xfrm>
            <a:off x="6391656" y="1691640"/>
            <a:ext cx="2235708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4600" b="1" i="0" dirty="0">
                <a:solidFill>
                  <a:srgbClr val="FFFFFF"/>
                </a:solidFill>
                <a:latin typeface="Calibri"/>
                <a:cs typeface="Calibri"/>
              </a:rPr>
              <a:t>261,8</a:t>
            </a:r>
            <a:endParaRPr lang="uz-Latn-UZ" sz="1800" dirty="0"/>
          </a:p>
        </p:txBody>
      </p:sp>
      <p:sp>
        <p:nvSpPr>
          <p:cNvPr id="18" name="TextBox 18"/>
          <p:cNvSpPr/>
          <p:nvPr/>
        </p:nvSpPr>
        <p:spPr>
          <a:xfrm>
            <a:off x="6391656" y="2560320"/>
            <a:ext cx="2235708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500" b="0" i="0" dirty="0">
                <a:solidFill>
                  <a:srgbClr val="FFFFFF"/>
                </a:solidFill>
                <a:latin typeface="Calibri"/>
                <a:cs typeface="Calibri"/>
              </a:rPr>
              <a:t>mlrd $ — eksport hajmi (2024)</a:t>
            </a:r>
            <a:endParaRPr lang="uz-Latn-UZ" sz="1800" dirty="0"/>
          </a:p>
        </p:txBody>
      </p:sp>
      <p:sp>
        <p:nvSpPr>
          <p:cNvPr id="19" name="Shape 19"/>
          <p:cNvSpPr/>
          <p:nvPr/>
        </p:nvSpPr>
        <p:spPr>
          <a:xfrm>
            <a:off x="9038844" y="1600200"/>
            <a:ext cx="2601468" cy="2011680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20" name="TextBox 20"/>
          <p:cNvSpPr/>
          <p:nvPr/>
        </p:nvSpPr>
        <p:spPr>
          <a:xfrm>
            <a:off x="9221724" y="1691640"/>
            <a:ext cx="2235708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4600" b="1" i="0" dirty="0">
                <a:solidFill>
                  <a:srgbClr val="FFFFFF"/>
                </a:solidFill>
                <a:latin typeface="Calibri"/>
                <a:cs typeface="Calibri"/>
              </a:rPr>
              <a:t>7,1</a:t>
            </a:r>
            <a:endParaRPr lang="uz-Latn-UZ" sz="1800" dirty="0"/>
          </a:p>
        </p:txBody>
      </p:sp>
      <p:sp>
        <p:nvSpPr>
          <p:cNvPr id="21" name="TextBox 21"/>
          <p:cNvSpPr/>
          <p:nvPr/>
        </p:nvSpPr>
        <p:spPr>
          <a:xfrm>
            <a:off x="9221724" y="2560320"/>
            <a:ext cx="2235708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500" b="0" i="0" dirty="0">
                <a:solidFill>
                  <a:srgbClr val="FFFFFF"/>
                </a:solidFill>
                <a:latin typeface="Calibri"/>
                <a:cs typeface="Calibri"/>
              </a:rPr>
              <a:t>mlrd $ — mudofaa sanoati eksporti (2024)</a:t>
            </a:r>
            <a:endParaRPr lang="uz-Latn-UZ" sz="1800" dirty="0"/>
          </a:p>
        </p:txBody>
      </p:sp>
      <p:sp>
        <p:nvSpPr>
          <p:cNvPr id="22" name="Shape 22"/>
          <p:cNvSpPr/>
          <p:nvPr/>
        </p:nvSpPr>
        <p:spPr>
          <a:xfrm>
            <a:off x="658368" y="4114800"/>
            <a:ext cx="182880" cy="1828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23" name="TextBox 23"/>
          <p:cNvSpPr/>
          <p:nvPr/>
        </p:nvSpPr>
        <p:spPr>
          <a:xfrm>
            <a:off x="1051560" y="3986784"/>
            <a:ext cx="1056132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000" b="1" i="0" dirty="0">
                <a:solidFill>
                  <a:srgbClr val="14213D"/>
                </a:solidFill>
                <a:latin typeface="Calibri"/>
                <a:cs typeface="Calibri"/>
              </a:rPr>
              <a:t>Yumshoq kuch: </a:t>
            </a: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Yunus Emre instituti, «Türkiye Bursları» grantlari, seriallar, Turkish Airlines.</a:t>
            </a:r>
            <a:endParaRPr lang="uz-Latn-UZ" sz="1800" dirty="0"/>
          </a:p>
        </p:txBody>
      </p:sp>
      <p:cxnSp>
        <p:nvCxnSpPr>
          <p:cNvPr id="24" name="Line 24"/>
          <p:cNvCxnSpPr/>
          <p:nvPr/>
        </p:nvCxnSpPr>
        <p:spPr>
          <a:xfrm>
            <a:off x="1051560" y="4965192"/>
            <a:ext cx="10588752" cy="0"/>
          </a:xfrm>
          <a:prstGeom prst="line">
            <a:avLst/>
          </a:prstGeom>
          <a:ln w="12700">
            <a:solidFill>
              <a:srgbClr val="F3F4F6"/>
            </a:solidFill>
          </a:ln>
        </p:spPr>
      </p:cxnSp>
      <p:sp>
        <p:nvSpPr>
          <p:cNvPr id="25" name="Shape 25"/>
          <p:cNvSpPr/>
          <p:nvPr/>
        </p:nvSpPr>
        <p:spPr>
          <a:xfrm>
            <a:off x="658368" y="5166360"/>
            <a:ext cx="182880" cy="182880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26" name="TextBox 26"/>
          <p:cNvSpPr/>
          <p:nvPr/>
        </p:nvSpPr>
        <p:spPr>
          <a:xfrm>
            <a:off x="1051560" y="5038344"/>
            <a:ext cx="1056132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000" b="1" i="0" dirty="0">
                <a:solidFill>
                  <a:srgbClr val="14213D"/>
                </a:solidFill>
                <a:latin typeface="Calibri"/>
                <a:cs typeface="Calibri"/>
              </a:rPr>
              <a:t>Gumanitar diplomatiya: </a:t>
            </a: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dunyodagi eng ko‘p qochqin qabul qilgan davlatlardan biri; AFAD.</a:t>
            </a:r>
            <a:endParaRPr lang="uz-Latn-UZ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548640" y="457200"/>
            <a:ext cx="9144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4" name="TextBox 4"/>
          <p:cNvSpPr/>
          <p:nvPr/>
        </p:nvSpPr>
        <p:spPr>
          <a:xfrm>
            <a:off x="777240" y="384048"/>
            <a:ext cx="88696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800" b="1" i="0" dirty="0">
                <a:solidFill>
                  <a:srgbClr val="14213D"/>
                </a:solidFill>
                <a:latin typeface="Calibri"/>
                <a:cs typeface="Calibri"/>
              </a:rPr>
              <a:t>Muammolar va xulosa</a:t>
            </a:r>
            <a:endParaRPr lang="uz-Latn-UZ" sz="1800" dirty="0"/>
          </a:p>
        </p:txBody>
      </p:sp>
      <p:sp>
        <p:nvSpPr>
          <p:cNvPr id="5" name="Shape 5"/>
          <p:cNvSpPr/>
          <p:nvPr/>
        </p:nvSpPr>
        <p:spPr>
          <a:xfrm>
            <a:off x="9921240" y="530352"/>
            <a:ext cx="1719072" cy="512064"/>
          </a:xfrm>
          <a:prstGeom prst="roundRect">
            <a:avLst>
              <a:gd name="adj" fmla="val 50000"/>
            </a:avLst>
          </a:prstGeom>
          <a:solidFill>
            <a:srgbClr val="14213D"/>
          </a:solidFill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1500" b="1" i="0" dirty="0">
                <a:solidFill>
                  <a:srgbClr val="FFFFFF"/>
                </a:solidFill>
                <a:latin typeface="Calibri"/>
                <a:cs typeface="Calibri"/>
              </a:rPr>
              <a:t>5-ma’ruzachi</a:t>
            </a:r>
            <a:endParaRPr lang="uz-Latn-UZ" sz="1800" dirty="0"/>
          </a:p>
        </p:txBody>
      </p:sp>
      <p:cxnSp>
        <p:nvCxnSpPr>
          <p:cNvPr id="6" name="Line 6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1D5DB"/>
            </a:solidFill>
          </a:ln>
        </p:spPr>
      </p:cxnSp>
      <p:sp>
        <p:nvSpPr>
          <p:cNvPr id="7" name="TextBox 7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6B7280"/>
                </a:solidFill>
                <a:latin typeface="Calibri"/>
                <a:cs typeface="Calibri"/>
              </a:rPr>
              <a:t>Turkiya Respublikasining diplomatik faoliyati</a:t>
            </a:r>
            <a:endParaRPr lang="uz-Latn-UZ" sz="1800" dirty="0"/>
          </a:p>
        </p:txBody>
      </p:sp>
      <p:sp>
        <p:nvSpPr>
          <p:cNvPr id="8" name="TextBox 8"/>
          <p:cNvSpPr/>
          <p:nvPr/>
        </p:nvSpPr>
        <p:spPr>
          <a:xfrm>
            <a:off x="9811512" y="63550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6B7280"/>
                </a:solidFill>
                <a:latin typeface="Calibri"/>
                <a:cs typeface="Calibri"/>
              </a:rPr>
              <a:t>17 / 19</a:t>
            </a:r>
            <a:endParaRPr lang="uz-Latn-UZ" sz="1800" dirty="0"/>
          </a:p>
        </p:txBody>
      </p:sp>
      <p:sp>
        <p:nvSpPr>
          <p:cNvPr id="9" name="Shape 9"/>
          <p:cNvSpPr/>
          <p:nvPr/>
        </p:nvSpPr>
        <p:spPr>
          <a:xfrm>
            <a:off x="0" y="6748272"/>
            <a:ext cx="12192000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0" name="Shape 10"/>
          <p:cNvSpPr/>
          <p:nvPr/>
        </p:nvSpPr>
        <p:spPr>
          <a:xfrm>
            <a:off x="548640" y="1600200"/>
            <a:ext cx="5408676" cy="4526280"/>
          </a:xfrm>
          <a:prstGeom prst="rect">
            <a:avLst/>
          </a:prstGeom>
          <a:solidFill>
            <a:srgbClr val="F3F4F6"/>
          </a:solidFill>
          <a:ln>
            <a:noFill/>
          </a:ln>
        </p:spPr>
      </p:sp>
      <p:sp>
        <p:nvSpPr>
          <p:cNvPr id="11" name="Shape 11"/>
          <p:cNvSpPr/>
          <p:nvPr/>
        </p:nvSpPr>
        <p:spPr>
          <a:xfrm>
            <a:off x="548640" y="1600200"/>
            <a:ext cx="5408676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2" name="TextBox 12"/>
          <p:cNvSpPr/>
          <p:nvPr/>
        </p:nvSpPr>
        <p:spPr>
          <a:xfrm>
            <a:off x="822960" y="1874520"/>
            <a:ext cx="486003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400" b="1" i="0" dirty="0">
                <a:solidFill>
                  <a:srgbClr val="14213D"/>
                </a:solidFill>
                <a:latin typeface="Calibri"/>
                <a:cs typeface="Calibri"/>
              </a:rPr>
              <a:t>Asosiy muammolar</a:t>
            </a:r>
            <a:endParaRPr lang="uz-Latn-UZ" sz="1800" dirty="0"/>
          </a:p>
        </p:txBody>
      </p:sp>
      <p:cxnSp>
        <p:nvCxnSpPr>
          <p:cNvPr id="13" name="Line 13"/>
          <p:cNvCxnSpPr/>
          <p:nvPr/>
        </p:nvCxnSpPr>
        <p:spPr>
          <a:xfrm>
            <a:off x="822960" y="2514600"/>
            <a:ext cx="4860036" cy="0"/>
          </a:xfrm>
          <a:prstGeom prst="line">
            <a:avLst/>
          </a:prstGeom>
          <a:ln w="12700">
            <a:solidFill>
              <a:srgbClr val="D1D5DB"/>
            </a:solidFill>
          </a:ln>
        </p:spPr>
      </p:cxnSp>
      <p:sp>
        <p:nvSpPr>
          <p:cNvPr id="14" name="TextBox 14"/>
          <p:cNvSpPr/>
          <p:nvPr/>
        </p:nvSpPr>
        <p:spPr>
          <a:xfrm>
            <a:off x="822960" y="2606040"/>
            <a:ext cx="4860036" cy="3337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Yunoniston va Kipr: Egey va Sharqiy O‘rta yer dengizi</a:t>
            </a:r>
            <a:endParaRPr lang="uz-Latn-UZ" sz="1800" dirty="0"/>
          </a:p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AQSh bilan mudofaa sohasidagi kelishmovchiliklar</a:t>
            </a:r>
            <a:endParaRPr lang="uz-Latn-UZ" sz="1800" dirty="0"/>
          </a:p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YeI bilan to‘xtab qolgan muzokaralar</a:t>
            </a:r>
            <a:endParaRPr lang="uz-Latn-UZ" sz="1800" dirty="0"/>
          </a:p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Mintaqaviy xavfsizlik va terrorizm tahdidlari</a:t>
            </a:r>
            <a:endParaRPr lang="uz-Latn-UZ" sz="1800" dirty="0"/>
          </a:p>
        </p:txBody>
      </p:sp>
      <p:sp>
        <p:nvSpPr>
          <p:cNvPr id="15" name="Shape 15"/>
          <p:cNvSpPr/>
          <p:nvPr/>
        </p:nvSpPr>
        <p:spPr>
          <a:xfrm>
            <a:off x="6231636" y="1600200"/>
            <a:ext cx="5408676" cy="4526280"/>
          </a:xfrm>
          <a:prstGeom prst="rect">
            <a:avLst/>
          </a:prstGeom>
          <a:solidFill>
            <a:srgbClr val="F3F4F6"/>
          </a:solidFill>
          <a:ln>
            <a:noFill/>
          </a:ln>
        </p:spPr>
      </p:sp>
      <p:sp>
        <p:nvSpPr>
          <p:cNvPr id="16" name="Shape 16"/>
          <p:cNvSpPr/>
          <p:nvPr/>
        </p:nvSpPr>
        <p:spPr>
          <a:xfrm>
            <a:off x="6231636" y="1600200"/>
            <a:ext cx="5408676" cy="82296"/>
          </a:xfrm>
          <a:prstGeom prst="rect">
            <a:avLst/>
          </a:prstGeom>
          <a:solidFill>
            <a:srgbClr val="14213D"/>
          </a:solidFill>
          <a:ln>
            <a:noFill/>
          </a:ln>
        </p:spPr>
      </p:sp>
      <p:sp>
        <p:nvSpPr>
          <p:cNvPr id="17" name="TextBox 17"/>
          <p:cNvSpPr/>
          <p:nvPr/>
        </p:nvSpPr>
        <p:spPr>
          <a:xfrm>
            <a:off x="6505956" y="1874520"/>
            <a:ext cx="486003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400" b="1" i="0" dirty="0">
                <a:solidFill>
                  <a:srgbClr val="14213D"/>
                </a:solidFill>
                <a:latin typeface="Calibri"/>
                <a:cs typeface="Calibri"/>
              </a:rPr>
              <a:t>Xulosa</a:t>
            </a:r>
            <a:endParaRPr lang="uz-Latn-UZ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505956" y="2514600"/>
            <a:ext cx="4860036" cy="0"/>
          </a:xfrm>
          <a:prstGeom prst="line">
            <a:avLst/>
          </a:prstGeom>
          <a:ln w="12700">
            <a:solidFill>
              <a:srgbClr val="D1D5DB"/>
            </a:solidFill>
          </a:ln>
        </p:spPr>
      </p:cxnSp>
      <p:sp>
        <p:nvSpPr>
          <p:cNvPr id="19" name="TextBox 19"/>
          <p:cNvSpPr/>
          <p:nvPr/>
        </p:nvSpPr>
        <p:spPr>
          <a:xfrm>
            <a:off x="6505956" y="2606040"/>
            <a:ext cx="4860036" cy="3337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Turkiya — Yevropa va Osiyo o‘rtasidagi ko‘prik</a:t>
            </a:r>
            <a:endParaRPr lang="uz-Latn-UZ" sz="1800" dirty="0"/>
          </a:p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Ko‘p vektorli, mustaqil tashqi siyosat</a:t>
            </a:r>
            <a:endParaRPr lang="uz-Latn-UZ" sz="1800" dirty="0"/>
          </a:p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Vositachilik va gumanitar diplomatiyada yetakchi</a:t>
            </a:r>
            <a:endParaRPr lang="uz-Latn-UZ" sz="1800" dirty="0"/>
          </a:p>
          <a:p>
            <a:pPr marL="274320" indent="-274320" algn="l">
              <a:spcBef>
                <a:spcPts val="12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2000" b="0" i="0" dirty="0">
                <a:solidFill>
                  <a:srgbClr val="1F2937"/>
                </a:solidFill>
                <a:latin typeface="Calibri"/>
                <a:cs typeface="Calibri"/>
              </a:rPr>
              <a:t>O‘zbekiston uchun muhim strategik sherik</a:t>
            </a:r>
            <a:endParaRPr lang="uz-Latn-UZ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548640" y="457200"/>
            <a:ext cx="9144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4" name="TextBox 4"/>
          <p:cNvSpPr/>
          <p:nvPr/>
        </p:nvSpPr>
        <p:spPr>
          <a:xfrm>
            <a:off x="777240" y="384048"/>
            <a:ext cx="88696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2800" b="1" i="0" dirty="0">
                <a:solidFill>
                  <a:srgbClr val="14213D"/>
                </a:solidFill>
                <a:latin typeface="Calibri"/>
                <a:cs typeface="Calibri"/>
              </a:rPr>
              <a:t>Foydalanilgan manbalar</a:t>
            </a:r>
            <a:endParaRPr lang="uz-Latn-UZ" sz="1800" dirty="0"/>
          </a:p>
        </p:txBody>
      </p:sp>
      <p:cxnSp>
        <p:nvCxnSpPr>
          <p:cNvPr id="5" name="Line 5"/>
          <p:cNvCxnSpPr/>
          <p:nvPr/>
        </p:nvCxnSpPr>
        <p:spPr>
          <a:xfrm>
            <a:off x="548640" y="1325880"/>
            <a:ext cx="11091672" cy="0"/>
          </a:xfrm>
          <a:prstGeom prst="line">
            <a:avLst/>
          </a:prstGeom>
          <a:ln w="12700">
            <a:solidFill>
              <a:srgbClr val="D1D5DB"/>
            </a:solidFill>
          </a:ln>
        </p:spPr>
      </p:cxnSp>
      <p:sp>
        <p:nvSpPr>
          <p:cNvPr id="6" name="TextBox 6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6B7280"/>
                </a:solidFill>
                <a:latin typeface="Calibri"/>
                <a:cs typeface="Calibri"/>
              </a:rPr>
              <a:t>Turkiya Respublikasining diplomatik faoliyati</a:t>
            </a:r>
            <a:endParaRPr lang="uz-Latn-UZ" sz="1800" dirty="0"/>
          </a:p>
        </p:txBody>
      </p:sp>
      <p:sp>
        <p:nvSpPr>
          <p:cNvPr id="7" name="TextBox 7"/>
          <p:cNvSpPr/>
          <p:nvPr/>
        </p:nvSpPr>
        <p:spPr>
          <a:xfrm>
            <a:off x="9811512" y="63550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uz-Latn-UZ" sz="1100" b="0" i="0" dirty="0">
                <a:solidFill>
                  <a:srgbClr val="6B7280"/>
                </a:solidFill>
                <a:latin typeface="Calibri"/>
                <a:cs typeface="Calibri"/>
              </a:rPr>
              <a:t>18 / 19</a:t>
            </a:r>
            <a:endParaRPr lang="uz-Latn-UZ" sz="1800" dirty="0"/>
          </a:p>
        </p:txBody>
      </p:sp>
      <p:sp>
        <p:nvSpPr>
          <p:cNvPr id="8" name="Shape 8"/>
          <p:cNvSpPr/>
          <p:nvPr/>
        </p:nvSpPr>
        <p:spPr>
          <a:xfrm>
            <a:off x="0" y="6748272"/>
            <a:ext cx="12192000" cy="109728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9" name="TextBox 9"/>
          <p:cNvSpPr/>
          <p:nvPr/>
        </p:nvSpPr>
        <p:spPr>
          <a:xfrm>
            <a:off x="685800" y="1600200"/>
            <a:ext cx="10881360" cy="4526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320040" indent="-320040" algn="l">
              <a:spcBef>
                <a:spcPts val="14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1800" b="0" i="0" dirty="0">
                <a:solidFill>
                  <a:srgbClr val="1F2937"/>
                </a:solidFill>
                <a:latin typeface="Calibri"/>
                <a:cs typeface="Calibri"/>
              </a:rPr>
              <a:t>Turkiya Respublikasi Tashqi ishlar vazirligi — mfa.gov.tr</a:t>
            </a:r>
            <a:endParaRPr lang="uz-Latn-UZ" sz="1800" dirty="0"/>
          </a:p>
          <a:p>
            <a:pPr marL="320040" indent="-320040" algn="l">
              <a:spcBef>
                <a:spcPts val="14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1800" b="0" i="0" dirty="0">
                <a:solidFill>
                  <a:srgbClr val="1F2937"/>
                </a:solidFill>
                <a:latin typeface="Calibri"/>
                <a:cs typeface="Calibri"/>
              </a:rPr>
              <a:t>Turkiy davlatlar tashkiloti — turkicstates.org</a:t>
            </a:r>
            <a:endParaRPr lang="uz-Latn-UZ" sz="1800" dirty="0"/>
          </a:p>
          <a:p>
            <a:pPr marL="320040" indent="-320040" algn="l">
              <a:spcBef>
                <a:spcPts val="14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1800" b="0" i="0" dirty="0">
                <a:solidFill>
                  <a:srgbClr val="1F2937"/>
                </a:solidFill>
                <a:latin typeface="Calibri"/>
                <a:cs typeface="Calibri"/>
              </a:rPr>
              <a:t>TIKA — tika.gov.tr</a:t>
            </a:r>
            <a:endParaRPr lang="uz-Latn-UZ" sz="1800" dirty="0"/>
          </a:p>
          <a:p>
            <a:pPr marL="320040" indent="-320040" algn="l">
              <a:spcBef>
                <a:spcPts val="14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1800" b="0" i="0" dirty="0">
                <a:solidFill>
                  <a:srgbClr val="1F2937"/>
                </a:solidFill>
                <a:latin typeface="Calibri"/>
                <a:cs typeface="Calibri"/>
              </a:rPr>
              <a:t>Lowy Institute, Global Diplomacy Index 2024 — globaldiplomacyindex.lowyinstitute.org</a:t>
            </a:r>
            <a:endParaRPr lang="uz-Latn-UZ" sz="1800" dirty="0"/>
          </a:p>
          <a:p>
            <a:pPr marL="320040" indent="-320040" algn="l">
              <a:spcBef>
                <a:spcPts val="14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1800" b="0" i="0" dirty="0">
                <a:solidFill>
                  <a:srgbClr val="1F2937"/>
                </a:solidFill>
                <a:latin typeface="Calibri"/>
                <a:cs typeface="Calibri"/>
              </a:rPr>
              <a:t>BMT: Black Sea Grain Initiative — un.org/en/black-sea-grain-initiative</a:t>
            </a:r>
            <a:endParaRPr lang="uz-Latn-UZ" sz="1800" dirty="0"/>
          </a:p>
          <a:p>
            <a:pPr marL="320040" indent="-320040" algn="l">
              <a:spcBef>
                <a:spcPts val="14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1800" b="0" i="0" dirty="0">
                <a:solidFill>
                  <a:srgbClr val="1F2937"/>
                </a:solidFill>
                <a:latin typeface="Calibri"/>
                <a:cs typeface="Calibri"/>
              </a:rPr>
              <a:t>O‘zbekiston Respublikasi Tashqi ishlar vazirligi — gov.uz/uz/mfa</a:t>
            </a:r>
            <a:endParaRPr lang="uz-Latn-UZ" sz="1800" dirty="0"/>
          </a:p>
          <a:p>
            <a:pPr marL="320040" indent="-320040" algn="l">
              <a:spcBef>
                <a:spcPts val="1400"/>
              </a:spcBef>
              <a:buClr>
                <a:srgbClr val="C8102E"/>
              </a:buClr>
              <a:buFont typeface="Arial"/>
              <a:buChar char="•"/>
            </a:pPr>
            <a:r>
              <a:rPr lang="uz-Latn-UZ" sz="1800" b="0" i="0" dirty="0">
                <a:solidFill>
                  <a:srgbClr val="1F2937"/>
                </a:solidFill>
                <a:latin typeface="Calibri"/>
                <a:cs typeface="Calibri"/>
              </a:rPr>
              <a:t>Turkiya Savdo vazirligi va TÜİK statistik ma’lumotlari</a:t>
            </a:r>
            <a:endParaRPr lang="uz-Latn-UZ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4" name="Flag 4"/>
          <p:cNvSpPr/>
          <p:nvPr/>
        </p:nvSpPr>
        <p:spPr>
          <a:xfrm>
            <a:off x="5273040" y="1234440"/>
            <a:ext cx="1645920" cy="1097280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5" name="Crescent 5"/>
          <p:cNvSpPr/>
          <p:nvPr/>
        </p:nvSpPr>
        <p:spPr>
          <a:xfrm>
            <a:off x="5547360" y="150876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6" name="Crescent 6"/>
          <p:cNvSpPr/>
          <p:nvPr/>
        </p:nvSpPr>
        <p:spPr>
          <a:xfrm>
            <a:off x="5670804" y="1563624"/>
            <a:ext cx="438912" cy="438912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7" name="Star 7"/>
          <p:cNvSpPr/>
          <p:nvPr/>
        </p:nvSpPr>
        <p:spPr>
          <a:xfrm rot="16200000">
            <a:off x="6049914" y="1645920"/>
            <a:ext cx="274320" cy="274320"/>
          </a:xfrm>
          <a:prstGeom prst="star5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8" name="TextBox 8"/>
          <p:cNvSpPr/>
          <p:nvPr/>
        </p:nvSpPr>
        <p:spPr>
          <a:xfrm>
            <a:off x="914400" y="2697480"/>
            <a:ext cx="1036320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5000" b="1" i="0" dirty="0">
                <a:solidFill>
                  <a:srgbClr val="FFFFFF"/>
                </a:solidFill>
                <a:latin typeface="Calibri"/>
                <a:cs typeface="Calibri"/>
              </a:rPr>
              <a:t>E’tiboringiz uchun rahmat!</a:t>
            </a:r>
            <a:endParaRPr lang="uz-Latn-UZ" sz="1800" dirty="0"/>
          </a:p>
        </p:txBody>
      </p:sp>
      <p:sp>
        <p:nvSpPr>
          <p:cNvPr id="9" name="Shape 9"/>
          <p:cNvSpPr/>
          <p:nvPr/>
        </p:nvSpPr>
        <p:spPr>
          <a:xfrm>
            <a:off x="5455920" y="3931920"/>
            <a:ext cx="128016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10" name="TextBox 10"/>
          <p:cNvSpPr/>
          <p:nvPr/>
        </p:nvSpPr>
        <p:spPr>
          <a:xfrm>
            <a:off x="914400" y="4206240"/>
            <a:ext cx="103632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uz-Latn-UZ" sz="2400" b="0" i="0" dirty="0">
                <a:solidFill>
                  <a:srgbClr val="CBD5E1"/>
                </a:solidFill>
                <a:latin typeface="Calibri"/>
                <a:cs typeface="Calibri"/>
              </a:rPr>
              <a:t>Savollaringiz bo‘lsa, marhamat</a:t>
            </a:r>
            <a:endParaRPr lang="uz-Latn-UZ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urkiya">
  <a:themeElements>
    <a:clrScheme name="Turkiya">
      <a:dk1>
        <a:srgbClr val="000000"/>
      </a:dk1>
      <a:lt1>
        <a:srgbClr val="FFFFFF"/>
      </a:lt1>
      <a:dk2>
        <a:srgbClr val="14213D"/>
      </a:dk2>
      <a:lt2>
        <a:srgbClr val="F3F4F6"/>
      </a:lt2>
      <a:accent1>
        <a:srgbClr val="C8102E"/>
      </a:accent1>
      <a:accent2>
        <a:srgbClr val="14213D"/>
      </a:accent2>
      <a:accent3>
        <a:srgbClr val="6B7280"/>
      </a:accent3>
      <a:accent4>
        <a:srgbClr val="F59E0B"/>
      </a:accent4>
      <a:accent5>
        <a:srgbClr val="10B981"/>
      </a:accent5>
      <a:accent6>
        <a:srgbClr val="3B82F6"/>
      </a:accent6>
      <a:hlink>
        <a:srgbClr val="1D4ED8"/>
      </a:hlink>
      <a:folHlink>
        <a:srgbClr val="7C3AED"/>
      </a:folHlink>
    </a:clrScheme>
    <a:fontScheme name="Turkiya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Turkiy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19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Turkiya Respublikasining diplomatik faoliyati</dc:title>
  <dc:language>uz-Latn-UZ</dc:language>
  <dcterms:created xsi:type="dcterms:W3CDTF">2026-09-27T00:00:00Z</dcterms:created>
</cp:coreProperties>
</file>