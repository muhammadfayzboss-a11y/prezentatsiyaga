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2000" cy="6858000"/>
  <p:notesSz cx="6858000" cy="9144000"/>
  <p:defaultTextStyle>
    <a:lvl1pPr>
      <a:defRPr sz="1800"/>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nchor="t"/>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nchor="t"/>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1-ma’ruzachi</a:t>
            </a:r>
          </a:p>
          <a:p>
            <a:r>
              <a:rPr lang="uz-Latn-UZ" sz="1200" dirty="0"/>
              <a:t>Assalomu alaykum, hurmatli ustoz va aziz do‘stlar! Bugun sizga «Turkiya davlatining diplomatik faoliyati» mavzusidagi taqdimotimizni havola etamiz.</a:t>
            </a:r>
          </a:p>
          <a:p>
            <a:r>
              <a:rPr lang="uz-Latn-UZ" sz="1200" dirty="0"/>
              <a:t>Taqdimotni guruhimizdagi besh nafar talaba birgalikda tayyorladi: har birimiz mavzuning bir qismini yoritamiz, oxirida esa savollaringizga javob beramiz.</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1-ma’ruzachi</a:t>
            </a:r>
          </a:p>
          <a:p>
            <a:r>
              <a:rPr lang="uz-Latn-UZ" sz="1200" dirty="0"/>
              <a:t>Taqdimotimiz besh qismdan iborat. Birinchi qismda Turkiya diplomatiyasining o‘ziga xos jihatlari, ikkinchi qismda davlatning diplomatik faoliyati yoritiladi.</a:t>
            </a:r>
          </a:p>
          <a:p>
            <a:r>
              <a:rPr lang="uz-Latn-UZ" sz="1200" dirty="0"/>
              <a:t>Uchinchi qismda Turkiya madaniyati va ijtimoiy hayotining siyosatdagi o‘rni, to‘rtinchi qismda esa Turkiya diplomatiyasining boshqa davlatlar diplomatiyasidan qaysi jihatlari bilan ajralib turishi tahlil qilinadi. Beshinchi qismda umumiy xulosa qilamiz. Birinchi qismni men boshlayman.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1-ma’ruzachi</a:t>
            </a:r>
          </a:p>
          <a:p>
            <a:r>
              <a:rPr lang="uz-Latn-UZ" sz="1200" dirty="0"/>
              <a:t>Birinchi qism — Turkiya diplomatiyasining o‘ziga xos jihatlari.</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1-ma’ruzachi</a:t>
            </a:r>
          </a:p>
          <a:p>
            <a:r>
              <a:rPr lang="uz-Latn-UZ" sz="1200" dirty="0"/>
              <a:t>Diplomatik muzokaralar har qanday davlatning tashqi siyosatida muhim rol o‘ynaydi. Turkiya diplomatiyasi o‘zining geosiyosiy o‘rni, boy tarixiy merosi va strategik tashabbuslari bilan diplomatiya dunyosida alohida ajralib turadi.</a:t>
            </a:r>
          </a:p>
          <a:p>
            <a:r>
              <a:rPr lang="uz-Latn-UZ" sz="1200" dirty="0"/>
              <a:t>Avvalo, Turkiyaning geosiyosiy o‘rniga nazar tashlaylik. Turkiya — ikki qit’ada joylashgan davlat: maydoni 783 ming kvadrat kilometrdan ortiq bo‘lib, qariyb 97 foizi Osiyodagi Anado‘lu yarim orolida, 3 foizi esa Yevropadagi Frakiyada joylashgan. Turkiya statistika institutining ma’lumotiga ko‘ra, 2025-yil oxirida mamlakat aholisi 86 milliondan oshgan.</a:t>
            </a:r>
          </a:p>
          <a:p>
            <a:r>
              <a:rPr lang="uz-Latn-UZ" sz="1200" dirty="0"/>
              <a:t>Turkiya quruqlikda sakkiz davlat — Yunoniston, Bolgariya, Gruziya, Armaniston, Ozarbayjon, Eron, Iroq va Suriya bilan chegaradosh. Mamlakatni Qora, Marmar, Egey va O‘rta yer dengizlari o‘rab turadi. Eng muhimi, Bosfor va Dardanell bo‘g‘ozlari Turkiya hududida joylashgan: Qora dengizdan O‘rta yer dengiziga chiqadigan barcha kemalar aynan shu bo‘g‘ozlardan o‘tadi. Turkiya dunyoning eng yirik iqtisodiyotlarini birlashtirgan G20 guruhining ham a’zosi.</a:t>
            </a:r>
          </a:p>
          <a:p>
            <a:r>
              <a:rPr lang="uz-Latn-UZ" sz="1200" dirty="0"/>
              <a:t>Bunday joylashuv Turkiyaga katta imkoniyat bilan birga katta mas’uliyat ham yuklaydi: Bolqon, Kavkaz, Yaqin Sharq va Qora dengiz mintaqalaridagi har bir voqea unga bevosita ta’sir qiladi. Shuning uchun Turkiya diplomatiyasining o‘ziga xos jihatlari aynan shu geografiyadan kelib chiqadi.</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1-ma’ruzachi</a:t>
            </a:r>
          </a:p>
          <a:p>
            <a:r>
              <a:rPr lang="uz-Latn-UZ" sz="1200" dirty="0"/>
              <a:t>Turkiya diplomatiyasining o‘ziga xos jihatlari quyidagilardan iborat. Turkiya G‘arb va Sharq o‘rtasida ko‘prik vazifasini o‘tab kelish bilan birga, global kuchlar — AQSh va Rossiya o‘rtasidagi qarama-qarshiliklarda bir tomonni mutlaq qo‘llab-quvvatlamay, o‘z milliy manfaatlaridan kelib chiqib, muvozanatni saqlash siyosatini yuritmoqda.</a:t>
            </a:r>
          </a:p>
          <a:p>
            <a:r>
              <a:rPr lang="uz-Latn-UZ" sz="1200" dirty="0"/>
              <a:t>Bu muvozanat amalda qanday ko‘rinadi? Bir tomondan, Turkiya 1952-yildan buyon NATO a’zosi, uning armiyasi alyansda AQShdan keyin ikkinchi o‘rinda turadi, 2026-yil iyulida esa Anqara NATO sammitiga mezbonlik qildi. Ikkinchi tomondan, Turkiya Rossiya bilan ham yaqin iqtisodiy aloqalarni saqlaydi: TurkStream gaz quvuri 2020-yilda ishga tushgan, Akkuyu atom elektr stansiyasi Rossiya ishtirokida qurilmoqda, 2019-yilda esa Turkiya Rossiyadan S-400 havo hujumidan mudofaa tizimini sotib oldi.</a:t>
            </a:r>
          </a:p>
          <a:p>
            <a:r>
              <a:rPr lang="uz-Latn-UZ" sz="1200" dirty="0"/>
              <a:t>Rossiya–Ukraina urushida ham Turkiya muvozanatni saqladi. U Ukraina hududiy yaxlitligini qo‘llab-quvvatlaydi, Qrimning anneksiya qilinishini tan olmaydi va Ukrainaga uchuvchisiz uchish apparatlari yetkazib bergan. 2022-yil fevralida Montrö konvensiyasiga asoslanib, urushayotgan davlatlarning harbiy kemalari uchun bo‘g‘ozlarni yopdi. Shu bilan birga Rossiyaga qarshi G‘arb sanksiyalariga qo‘shilmadi va Moskva bilan muloqotni to‘xtatmadi. Aynan shu siyosat Turkiyaga ikkala tomon bilan ham gaplasha oladigan kam sonli davlatlardan biri bo‘lish imkonini berdi.</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1-ma’ruzachi</a:t>
            </a:r>
          </a:p>
          <a:p>
            <a:r>
              <a:rPr lang="uz-Latn-UZ" sz="1200" dirty="0"/>
              <a:t>2022-yilda Turkiya Rossiya va Ukraina o‘rtasida g‘alla yo‘lagini ochish bo‘yicha BMTga yordam berdi. Antaliya diplomatiya forumini — ADFni tashkil etib, ziddiyatli tomonlar, ya’ni Rossiya va Ukrainaning tashqi ishlar vazirlarini bir stol atrofiga yig‘di va ishonchli vositachi rolini o‘ynadi.</a:t>
            </a:r>
          </a:p>
          <a:p>
            <a:r>
              <a:rPr lang="uz-Latn-UZ" sz="1200" dirty="0"/>
              <a:t>Aniqroq aytganda, 2022-yil 10-martda Antaliya diplomatiya forumi doirasida Rossiya tashqi ishlar vaziri Sergey Lavrov va Ukraina tashqi ishlar vaziri Dmitriy Kuleba Turkiya vositachiligida uchrashdi — bu urush boshlanganidan keyingi birinchi shunday yuqori darajadagi uchrashuv edi. 22-iyulda esa Istanbulda Qora dengiz don tashabbusi imzolandi: bir yil ichida Ukraina portlaridan qariyb 33 million tonna don eksport qilinib, jahon oziq-ovqat xavfsizligiga katta hissa qo‘shildi.</a:t>
            </a:r>
          </a:p>
          <a:p>
            <a:r>
              <a:rPr lang="uz-Latn-UZ" sz="1200" dirty="0"/>
              <a:t>Turkiyaning vositachilik faoliyati bu bilan cheklanmaydi. 2010-yilda u Finlyandiya bilan birga BMTda «Vositachilik do‘stlari» guruhini tuzgan. 2024-yil avgustida Anqarada Rossiya va G‘arb davlatlari o‘rtasida sovuq urushdan keyingi eng yirik mahbuslar almashinuvi bo‘ldi, dekabrida esa Somali va Efiopiya o‘rtasidagi nizoni yumshatgan «Anqara deklaratsiyasi» imzolandi.</a:t>
            </a:r>
          </a:p>
          <a:p>
            <a:r>
              <a:rPr lang="uz-Latn-UZ" sz="1200" dirty="0"/>
              <a:t>2025-yilda Istanbulda Rossiya va Ukraina o‘rtasida to‘g‘ridan-to‘g‘ri muzokaralar va yirik asirlar almashinuvi bo‘ldi. Oktabrda Turkiya Qatar bilan birga Afg‘oniston va Pokiston o‘rtasida o‘t ochishni to‘xtatishga vositachilik qildi, 13-oktabrda esa Misrning Sharm ash-Shayx shahrida AQSh, Misr va Qatar bilan birga G‘azo bo‘yicha tinchlik deklaratsiyasini kafil davlat sifatida imzoladi.</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1-ma’ruzachi</a:t>
            </a:r>
          </a:p>
          <a:p>
            <a:r>
              <a:rPr lang="uz-Latn-UZ" sz="1200" dirty="0"/>
              <a:t>Turkiyaning boshqa davlatlardan ajralib turadigan yana bir muhim jihati shundaki, u insonparvarlik yordamlariga katta e’tibor qaratadi. Misol uchun, Turkiya dunyodagi eng ko‘p qochqinni saqlayotgan davlatlardan biri, TIKA va Qizil Yarim Oy jamiyati orqali Afrika, Osiyo va Bolqon davlatlariga yirik iqtisodiy yordam berib kelmoqda.</a:t>
            </a:r>
          </a:p>
          <a:p>
            <a:r>
              <a:rPr lang="uz-Latn-UZ" sz="1200" dirty="0"/>
              <a:t>Raqamlarga murojaat qilsak, Suriyadagi urush yillarida Turkiya 3,7 millionga yaqin suriyalikka boshpana bergan. 2024-yil dekabridan keyin 660 mingdan ortiq suriyalik vataniga qaytgan bo‘lsa-da, 2026-yilda ham mamlakatda 2,2 millionga yaqin suriyalik vaqtinchalik himoya ostida yashamoqda. TIKA — Turkiya hamkorlik va muvofiqlashtirish agentligi 60 mamlakatda 62 ta idoraga ega va 150 dan ortiq mamlakatda loyihalar amalga oshiradi. 1868-yilda tashkil topgan Turk Qizil Yarim Oyi va AFAD favqulodda vaziyatlarda dunyoning turli burchaklariga yordam yetkazadi.</a:t>
            </a:r>
          </a:p>
          <a:p>
            <a:r>
              <a:rPr lang="uz-Latn-UZ" sz="1200" dirty="0"/>
              <a:t>Hattoki uchuvchisiz uchish apparatlari va mudofaa sanoati mahsulotlari orqali ham Turkiya Liviya, Ozarbayjon, Ukraina kabi davlatlar bilan yangi ittifoqchilik aloqalarini shakllantirib kelmoqda.</a:t>
            </a:r>
          </a:p>
          <a:p>
            <a:r>
              <a:rPr lang="uz-Latn-UZ" sz="1200" dirty="0"/>
              <a:t>Bayraktar TB2 kabi turk dronlari 2020-yilgi Qorabog‘ urushida Ozarbayjonga, Liviyada esa BMT tan olgan hukumatga yordam bergan, Ukraina ham ulardan o‘z mudofaasida foydalangan. 2025-yilda Turkiya mudofaa va aviatsiya sanoati eksporti bir yilda 48 foizga o‘sib, 10,5 milliard dollardan oshdi. Shunday qilib, mudofaa sanoati ham Turkiya diplomatiyasining yangi vositasiga aylandi. Shu bilan mening qismim yakunlandi, so‘zni ikkinchi ma’ruzachiga beraman.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2-ma’ruzachi</a:t>
            </a:r>
          </a:p>
          <a:p>
            <a:r>
              <a:rPr lang="uz-Latn-UZ" sz="1200" dirty="0"/>
              <a:t>Rahmat. Men ikkinchi qism — Turkiya davlatining diplomatik faoliyati haqida gapiraman: uning tarixiy ildizlari, xalqaro tashkilotlardagi ishtiroki, G‘arb bilan munosabatlari va Yevropa Ittifoqi yo‘li.</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2-ma’ruzachi</a:t>
            </a:r>
          </a:p>
          <a:p>
            <a:r>
              <a:rPr lang="uz-Latn-UZ" sz="1200" dirty="0"/>
              <a:t>Turkiya boy tarixiy va madaniy merosga ega davlat sifatida diplomatik muzokaralardan milliy manfaatlarini himoya qilish, mintaqaviy barqarorlikni rivojlantirish va global ta’sirini kengaytirish vositasi sifatida foydalanib kelgan.</a:t>
            </a:r>
          </a:p>
          <a:p>
            <a:r>
              <a:rPr lang="uz-Latn-UZ" sz="1200" dirty="0"/>
              <a:t>Bu an’ananing ildizlari Usmonli imperiyasiga borib taqaladi. 1793-yilda sulton Salim III davrida Londonda birinchi doimiy elchixona ochildi, 1836-yilda esa Tashqi ishlar nozirligi tashkil etildi. Milliy kurash yillarida, 1920-yilda Anqarada Turkiya Buyuk Millat Majlisi hukumati tarkibida Tashqi ishlar vazirligi tuzildi. 1921-yilda Sovet Rossiyasi bilan Moskva, Kavkaz respublikalari bilan Qars shartnomalari hamda Fransiya bilan Anqara kelishuvi imzolandi.</a:t>
            </a:r>
          </a:p>
          <a:p>
            <a:r>
              <a:rPr lang="uz-Latn-UZ" sz="1200" dirty="0"/>
              <a:t>1923-yil 24-iyulda imzolangan Lozanna tinchlik shartnomasi yangi Turkiya davlatining mustaqilligi va chegaralarini xalqaro miqyosda tan oldirdi. Mustafo Kamol Otaturkning «Yurtda tinchlik, dunyoda tinchlik» tamoyili tashqi siyosatning asosiga aylandi. 1932-yilda Turkiya Millatlar Ligasiga a’zo bo‘ldi, 1936-yilgi Montrö konvensiyasi esa bo‘g‘ozlar ustidan Turkiya nazoratini tikladi — bu hujjat bugun ham amal qiladi. Ikkinchi jahon urushida Turkiya betaraflikni saqlab, 1945-yilda BMTning asoschi a’zolaridan biri bo‘ldi.</a:t>
            </a:r>
          </a:p>
          <a:p>
            <a:r>
              <a:rPr lang="uz-Latn-UZ" sz="1200" dirty="0"/>
              <a:t>Otaturk davrida Turkiya qo‘shnilar bilan ham faol diplomatiya olib bordi: 1934-yilda Bolqon Antantasi, 1937-yilda esa Eron, Iroq va Afg‘oniston bilan Saadobod pakti tuzildi. 1939-yilda Hatay viloyati ham diplomatik muzokaralar natijasida Turkiya tarkibiga qo‘shildi.</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2-ma’ruzachi</a:t>
            </a:r>
          </a:p>
          <a:p>
            <a:r>
              <a:rPr lang="uz-Latn-UZ" sz="1200" dirty="0"/>
              <a:t>Turkiya tashqi siyosatining muhim jihati — uning ko‘p qirrali, ya’ni ko‘p tomonlama hamkorlikka sodiqligidir. Ushbu davlat BMT, NATO, IHT kabi tashkilotlarda faol ishtirok etish orqali umumiy muammolarni hal qilishga va global obro‘sini oshirishga harakat qiladi.</a:t>
            </a:r>
          </a:p>
          <a:p>
            <a:r>
              <a:rPr lang="uz-Latn-UZ" sz="1200" dirty="0"/>
              <a:t>Slaydda Turkiya a’zo bo‘lgan asosiy xalqaro tuzilmalar keltirilgan: 1945-yilda BMT, 1949-yilda Yevropa Kengashi, 1952-yilda NATO, 1961-yilda OECD, 1969-yilda Islom hamkorlik tashkiloti, 1999-yilda esa G20. Turkiya 1992-yilda Qora dengiz iqtisodiy hamkorligi tashkilotining tashabbuskori, 2009-yilda esa Turkiy kengashning asoschilaridan biri bo‘lgan. 2012-yildan u Shanxay hamkorlik tashkilotining muloqot sherigi hisoblanadi. Bu ro‘yxatning o‘zi Turkiyaning bir vaqtning o‘zida G‘arb, Sharq va Islom olami tuzilmalarida ishtirok etishini ko‘rsatadi.</a:t>
            </a:r>
          </a:p>
          <a:p>
            <a:r>
              <a:rPr lang="uz-Latn-UZ" sz="1200" dirty="0"/>
              <a:t>Turkiya BMT Xavfsizlik Kengashining doimiy bo‘lmagan a’zosi etib ham bir necha bor saylangan, oxirgi marta 2009–2010-yillarda. Bu Turkiyaning global xavfsizlik masalalarida ham faol ishtirok etishini ko‘rsatadi.</a:t>
            </a:r>
          </a:p>
          <a:p>
            <a:r>
              <a:rPr lang="uz-Latn-UZ" sz="1200" dirty="0"/>
              <a:t>Qaror qabul qilish tizimiga kelsak, 2018-yildan buyon Turkiyada prezidentlik boshqaruv tizimi amal qiladi va tashqi siyosatning asosiy yo‘nalishlarini Prezident belgilaydi. Tashqi ishlar vazirligiga 2023-yildan Hakan Fidan rahbarlik qiladi, Turkiya Buyuk Millat Majlisi esa xalqaro shartnomalarni ratifikatsiya qiladi. Turkiyaning diplomatik tarmog‘i dunyodagi eng kattalaridan biri — bu haqda to‘rtinchi qismda batafsil to‘xtalamiz.</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2-ma’ruzachi</a:t>
            </a:r>
          </a:p>
          <a:p>
            <a:r>
              <a:rPr lang="uz-Latn-UZ" sz="1200" dirty="0"/>
              <a:t>G‘arb bilan munosabatlarning asosini NATO tashkil etadi. Ikkinchi jahon urushidan keyin Sovet Ittifoqi bo‘g‘ozlarga da’vo qila boshlagach, Turkiya G‘arb bilan ittifoq yo‘lini tanladi. 1950-yilda Koreya urushiga BMT kuchlari tarkibida brigada yubordi va 1952-yil 18-fevralda Yunoniston bilan birga NATOga qabul qilindi. Bugun Izmirda NATO Quruqlikdagi qo‘shinlar qo‘mondonligi joylashgan, Turkiya esa Afg‘onistondagi ISAF missiyasiga ikki marta qo‘mondonlik qilgan. 2023–2024-yillarda Turkiya parlamenti Finlyandiya va Shvetsiyaning alyansga a’zoligini ratifikatsiya qildi.</a:t>
            </a:r>
          </a:p>
          <a:p>
            <a:r>
              <a:rPr lang="uz-Latn-UZ" sz="1200" dirty="0"/>
              <a:t>2026-yil 7–8-iyul kunlari Anqarada NATOning 36-sammiti o‘tdi — Turkiya 2004-yilgi Istanbul sammitidan keyin ikkinchi marta mezbonlik qildi. Anqara deklaratsiyasida ittifoqchilar 5-modda, ya’ni «bir ittifoqchiga hujum — barchaga hujum» tamoyiliga sodiqligini tasdiqladi, Ukrainaga 70 milliard yevro harbiy yordam va’da qilindi va 50 milliard dollardan ortiq yangi mudofaa xaridlari e’lon qilindi.</a:t>
            </a:r>
          </a:p>
          <a:p>
            <a:r>
              <a:rPr lang="uz-Latn-UZ" sz="1200" dirty="0"/>
              <a:t>AQSh bilan munosabatlar 1947-yilgi Trumen doktrinasidan boshlangan strategik ittifoqqa asoslanadi. Biroq kelishmovchiliklar ham bo‘lgan: 1975–1978-yillardagi qurol embargosi, 2003-yilda Turkiya parlamentining Iroq urushi uchun hudud bermagani, Suriyadagi YPG masalasi va, eng asosiysi, 2019-yilgi S-400 xaridi. Shundan so‘ng Turkiya F-35 dasturidan chiqarildi, 2020-yilda esa CAATSA sanksiyalari joriy etildi. 2024-yilda AQSh 40 ta F-16 sotishni ma’qulladi, 2026-yil iyulida Prezident Tramp sanksiyalarni olib tashlash va F-35 masalasini ko‘rib chiqish niyatini bildirdi, ammo S-400 masalasi hal bo‘lmaguncha bu yo‘l yopiqligicha qolmoqda.</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2-ma’ruzachi</a:t>
            </a:r>
          </a:p>
          <a:p>
            <a:r>
              <a:rPr lang="uz-Latn-UZ" sz="1200" dirty="0"/>
              <a:t>Bundan tashqari, Yevropa Ittifoqiga a’zo bo‘lishga intilishi Turkiyaga qonunchilik bazasi, siyosiy institutlari va iqtisodiy amaliyotlarini Yevropa Ittifoqi standartlariga moslashtirish imkonini beradi.</a:t>
            </a:r>
          </a:p>
          <a:p>
            <a:r>
              <a:rPr lang="uz-Latn-UZ" sz="1200" dirty="0"/>
              <a:t>Bu yo‘l 1959-yilda boshlangan: Turkiya Yevropa iqtisodiy hamjamiyatiga assotsiatsiya uchun ariza berdi. 1963-yilda Anqara shartnomasi imzolandi, 1987-yilda to‘liq a’zolik uchun ariza topshirildi. 1996-yildan Bojxona ittifoqi amal qiladi, 1999-yilda Turkiya rasmiy nomzod maqomini oldi, 2005-yilda esa a’zolik muzokaralari boshlandi. Biroq Kipr muammosi va boshqa kelishmovchiliklar tufayli muzokaralar 2018-yildan amalda to‘xtab qolgan. Shunga qaramay, Yevropa Ittifoqi Turkiyaning eng yirik savdo sherigi bo‘lib qolmoqda, 2026-yilda esa Bojxona ittifoqini yangilash va vizalarni yengillashtirish bo‘yicha yuqori darajadagi muloqotlar o‘tkazildi.</a:t>
            </a:r>
          </a:p>
          <a:p>
            <a:r>
              <a:rPr lang="uz-Latn-UZ" sz="1200" dirty="0"/>
              <a:t>2016-yilgi migratsiya kelishuvi doirasida Yevropa Ittifoqi Turkiyadagi qochqinlarni qo‘llab-quvvatlash uchun 6 milliard yevro ajratdi. Yevropa bilan mudofaa hamkorligi ham kuchaymoqda: 2025-yil oktabrida Turkiya Buyuk Britaniya bilan 20 ta Eurofighter Typhoon qiruvchi samolyoti bo‘yicha qiymati 8 milliard funt sterlinggacha bo‘lgan shartnoma imzoladi.</a:t>
            </a:r>
          </a:p>
          <a:p>
            <a:r>
              <a:rPr lang="uz-Latn-UZ" sz="1200" dirty="0"/>
              <a:t>Shuningdek, Turkiya muzokaralarda pragmatizmni qadrlaydi, mintaqaviy barqarorlikni saqlagan holda milliy manfaatlarini maksimal darajada oshirishga intiladi. Bu yondashuv orqali Turkiya qarama-qarshilikdan ko‘ra muloqot orqali murosaga erishishni maqsad qilgan.</a:t>
            </a:r>
          </a:p>
          <a:p>
            <a:r>
              <a:rPr lang="uz-Latn-UZ" sz="1200" dirty="0"/>
              <a:t>Shu bilan mening qismim yakunlandi, so‘zni uchinchi ma’ruzachiga beraman.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3-ma’ruzachi</a:t>
            </a:r>
          </a:p>
          <a:p>
            <a:r>
              <a:rPr lang="uz-Latn-UZ" sz="1200" dirty="0"/>
              <a:t>Rahmat. Men uchinchi qism — Turkiya madaniyati va ijtimoiy hayotining siyosatdagi o‘rni haqida so‘zlab beraman.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3-ma’ruzachi</a:t>
            </a:r>
          </a:p>
          <a:p>
            <a:r>
              <a:rPr lang="uz-Latn-UZ" sz="1200" dirty="0"/>
              <a:t>Turkiya — Yevropa va Osiyo chorrahasida joylashgan, boy tarixiy merosga va o‘ziga xos madaniyatga ega davlat. Turkiya siyosatining shakllanishida mamlakatning tarixi, dini, milliy qadriyatlari, oilaviy munosabatlari, ta’lim tizimi va ijtimoiy qatlamlari muhim o‘rin tutadi.</a:t>
            </a:r>
          </a:p>
          <a:p>
            <a:r>
              <a:rPr lang="uz-Latn-UZ" sz="1200" dirty="0"/>
              <a:t>Slaydda shu oltita omil keltirilgan. Tarix — bu Usmonli imperiyasi merosi va 1923-yilda tashkil topgan Respublika an’analari. Din — aholining mutlaq ko‘pchiligi musulmon, ammo Konstitutsiyaning 2-moddasiga ko‘ra Turkiya dunyoviy davlatdir. Milliy qadriyatlar — vatanparvarlik, turk tili va Otaturk merosiga hurmat. Oila — Konstitutsiyaning 41-moddasida oila turk jamiyatining asosi deb belgilangan. Ta’lim — 2012-yildan 12 yillik majburiy ta’lim joriy etilgan. Ijtimoiy qatlamlar — yirik shaharlar va viloyatlar, turli avlodlar hamda turli dunyoqarashdagi saylovchilar jamiyatning rang-barangligini tashkil etadi.</a:t>
            </a:r>
          </a:p>
          <a:p>
            <a:r>
              <a:rPr lang="uz-Latn-UZ" sz="1200" dirty="0"/>
              <a:t>Bu omillar ichki siyosatning mazmunini belgilaydi va tashqi siyosatga ham ta’sir qiladi: masalan, oila va birdamlik qadriyatlari insonparvarlik diplomatiyasida, tarixiy xotira esa qo‘shni mintaqalarga bo‘lgan qiziqishda namoyon bo‘ladi.</a:t>
            </a:r>
          </a:p>
          <a:p>
            <a:r>
              <a:rPr lang="uz-Latn-UZ" sz="1200" dirty="0"/>
              <a:t>Shuningdek, ta’lim tizimi milliy o‘zlik va fuqarolik tuyg‘usini shakllantirishda, turli ijtimoiy qatlamlarning qarashlari esa saylovlar natijalarida yaqqol namoyon bo‘ladi.</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3-ma’ruzachi</a:t>
            </a:r>
          </a:p>
          <a:p>
            <a:r>
              <a:rPr lang="uz-Latn-UZ" sz="1200" dirty="0"/>
              <a:t>Turkiya jamiyatida Usmonli imperiyasi merosi, islom dini, dunyoviylik tamoyillari va zamonaviy turmush tarzi bir-biri bilan chambarchas bog‘liq.</a:t>
            </a:r>
          </a:p>
          <a:p>
            <a:r>
              <a:rPr lang="uz-Latn-UZ" sz="1200" dirty="0"/>
              <a:t>Dunyoviylik tamoyili Otaturk islohotlari davrida shakllandi. 1922-yilda saltanat, 1924-yilda xalifalik bekor qilindi va shu yili Diniy ishlar boshqarmasi — Diyanet tashkil etildi. 1926-yilda yangi Fuqarolik kodeksi qabul qilindi, 1928-yilda lotin alifbosiga o‘tildi. 1934-yilda ayollar parlament saylovlarida ovoz berish va saylanish huquqini oldi — bu ko‘plab Yevropa davlatlaridan ham oldinroq edi. 1937-yilda esa dunyoviylik tamoyili Konstitutsiyaga kiritildi.</a:t>
            </a:r>
          </a:p>
          <a:p>
            <a:r>
              <a:rPr lang="uz-Latn-UZ" sz="1200" dirty="0"/>
              <a:t>Bu islohotlar Turkiyani zamonaviy dunyoviy davlatga aylantirdi, biroq xalqning diniy va an’anaviy qadriyatlari saqlanib qoldi.</a:t>
            </a:r>
          </a:p>
          <a:p>
            <a:r>
              <a:rPr lang="uz-Latn-UZ" sz="1200" dirty="0"/>
              <a:t>Bugungi Turkiyada an’anaviy qadriyatlar va zamonaviy turmush tarzi yonma-yon yashaydi: masjidlar va zamonaviy universitetlar, oilaviy an’analar va global madaniyat birga uchraydi. Aynan shu uyg‘unlik siyosiy xaritada ham aks etadi. Masalan, Ramazon va Qurbon hayitlari davlat bayramlari sifatida nishonlanadi, 29-oktabr — Respublika kuni kabi dunyoviy milliy bayramlar ham keng nishonlanadi.</a:t>
            </a:r>
          </a:p>
          <a:p>
            <a:r>
              <a:rPr lang="uz-Latn-UZ" sz="1200" dirty="0"/>
              <a:t>Ushbu omillar siyosiy partiyalar, saylovchilar xulq-atvori va davlat siyosatiga ta’sir ko‘rsatadi.</a:t>
            </a:r>
          </a:p>
          <a:p>
            <a:r>
              <a:rPr lang="uz-Latn-UZ" sz="1200" dirty="0"/>
              <a:t>Turkiya parlamenti 600 deputatdan iborat. Siyosiy maydonda konservativ, dunyoviy markaziy-chap, millatchi hamda kurd siyosiy harakati bilan bog‘liq partiyalar faoliyat yuritadi. Turkiya saylovchilari juda faol: 2023-yilgi prezident saylovining birinchi turida ishtirok darajasi 87 foizni tashkil etgan. 2024-yilgi mahalliy saylovlar ham siyosiy raqobat kuchli ekanini ko‘rsatdi.</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3-ma’ruzachi</a:t>
            </a:r>
          </a:p>
          <a:p>
            <a:r>
              <a:rPr lang="uz-Latn-UZ" sz="1200" dirty="0"/>
              <a:t>Turkiyada turk milliy o‘zligi siyosiy hayotda muhim o‘rin tutadi. Shu bilan birga, mamlakatda kurdlar kabi etnik guruhlar ham yashaydi.</a:t>
            </a:r>
          </a:p>
          <a:p>
            <a:r>
              <a:rPr lang="uz-Latn-UZ" sz="1200" dirty="0"/>
              <a:t>Konstitutsiyaning 66-moddasiga ko‘ra, Turkiya davlatiga fuqarolik rishtasi bilan bog‘langan har bir kishi turk hisoblanadi — ya’ni milliy o‘zlik fuqarolik asosida belgilanadi. Davlat tili — turk tili. Mamlakatda turklardan tashqari kurdlar, arablar, cherkaslar, lazlar va boshqa xalqlar yashaydi; kurdlar eng yirik etnik ozchilik hisoblanadi.</a:t>
            </a:r>
          </a:p>
          <a:p>
            <a:r>
              <a:rPr lang="uz-Latn-UZ" sz="1200" dirty="0"/>
              <a:t>Kurd aholisi bilan bog‘liq til, madaniy huquqlar, siyosiy vakillik va xavfsizlik masalalari uzoq vaqtdan beri siyosiy munozaralarning bir qismi bo‘lib kelmoqda.</a:t>
            </a:r>
          </a:p>
          <a:p>
            <a:r>
              <a:rPr lang="uz-Latn-UZ" sz="1200" dirty="0"/>
              <a:t>So‘nggi o‘n yilliklarda bu sohada bir qator o‘zgarishlar bo‘ldi: 2009-yilda davlat telekanali TRT kurd tilida eshittirish boshladi, 2012-yildan maktablarda kurd tili tanlov fani sifatida o‘qitilmoqda. Xavfsizlik masalasi esa 1984-yildan beri davom etgan PKK bilan to‘qnashuv bilan bog‘liq; 2025-yil 12-mayda PKK qurolli kurashni to‘xtatib, o‘zini tarqatib yuborishini e’lon qildi.</a:t>
            </a:r>
          </a:p>
          <a:p>
            <a:r>
              <a:rPr lang="uz-Latn-UZ" sz="1200" dirty="0"/>
              <a:t>2025-yil avgustida Turkiya parlamentida «Milliy birdamlik, qardoshlik va demokratiya» komissiyasi tuzildi va 2026-yil fevralida jarayonning keyingi bosqichlari bo‘yicha hisobot tayyorladi.</a:t>
            </a:r>
          </a:p>
          <a:p>
            <a:r>
              <a:rPr lang="uz-Latn-UZ" sz="1200" dirty="0"/>
              <a:t>Bu masalalar milliy birlik, fuqarolik huquqlari va davlat siyosati haqidagi qarashlarga ta’sir ko‘rsatadi.</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3-ma’ruzachi</a:t>
            </a:r>
          </a:p>
          <a:p>
            <a:r>
              <a:rPr lang="uz-Latn-UZ" sz="1200" dirty="0"/>
              <a:t>Madaniyat va ijtimoiy hayot faqat ichki siyosatga emas, tashqi siyosatga ham ta’sir qiladi. Turkiya jamiyatining ko‘p qatlamli o‘zligi tashqi siyosatdagi bir necha yo‘nalishni belgilaydi.</a:t>
            </a:r>
          </a:p>
          <a:p>
            <a:r>
              <a:rPr lang="uz-Latn-UZ" sz="1200" dirty="0"/>
              <a:t>Birinchisi — turkiylik. Umumiy til, tarix va madaniyat Turkiyani Ozarbayjon va Markaziy Osiyo davlatlari bilan bog‘laydi: Turkiy davlatlar tashkiloti, TURKSOY va Turkiy akademiya shu asosda ishlaydi. Ikkinchisi — islom madaniyati. Turkiya 1969-yilda Islom hamkorlik tashkilotining asoschilaridan biri bo‘lgan, G‘azo, Somali va Afg‘onistonga yordam ko‘rsatib keladi.</a:t>
            </a:r>
          </a:p>
          <a:p>
            <a:r>
              <a:rPr lang="uz-Latn-UZ" sz="1200" dirty="0"/>
              <a:t>Uchinchisi — dunyoviylik va Yevropa institutlari: Turkiya 1949-yilda Yevropa Kengashiga a’zo bo‘lgan, NATO a’zosi va Yevropa Ittifoqiga nomzod. To‘rtinchisi — mehmondo‘stlik va birdamlik: millionlab qochqinlarni qabul qilish va Tashqi ishlar vazirligi ta’riflagan «insonparvar tashqi siyosat» aynan shu qadriyatlarga tayanadi.</a:t>
            </a:r>
          </a:p>
          <a:p>
            <a:r>
              <a:rPr lang="uz-Latn-UZ" sz="1200" dirty="0"/>
              <a:t>Bundan tashqari, Diyanet xorijda masjidlar va diniy ta’lim orqali madaniy aloqalarni qo‘llab-quvvatlaydi, Yevropada yashovchi millionlab turklar — diaspora esa Turkiya va Yevropa o‘rtasida o‘ziga xos madaniy ko‘prik vazifasini o‘taydi. TIKA Markaziy Osiyoda, jumladan O‘zbekistonda ham ta’lim, sog‘liqni saqlash va madaniy meros loyihalarini amalga oshirib keladi.</a:t>
            </a:r>
          </a:p>
          <a:p>
            <a:r>
              <a:rPr lang="uz-Latn-UZ" sz="1200" dirty="0"/>
              <a:t>Demak, Turkiya madaniyati va ijtimoiy hayoti uning diplomatiyasi uchun ham manba, ham kuchli vosita bo‘lib xizmat qiladi. Shu bilan mening qismim yakunlandi, so‘zni to‘rtinchi ma’ruzachiga beraman.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4-ma’ruzachi</a:t>
            </a:r>
          </a:p>
          <a:p>
            <a:r>
              <a:rPr lang="uz-Latn-UZ" sz="1200" dirty="0"/>
              <a:t>Rahmat. Men to‘rtinchi qismda Turkiya diplomatiyasining boshqa davlatlar diplomatiyasidan qaysi jihatlari bilan ajralib turishini to‘rt yo‘nalish bo‘yicha tahlil qilaman.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4-ma’ruzachi</a:t>
            </a:r>
          </a:p>
          <a:p>
            <a:r>
              <a:rPr lang="uz-Latn-UZ" sz="1200" dirty="0"/>
              <a:t>Turkiya diplomatiyasining boshqa davlatlar diplomatiyasidan ajralib turadigan jihatlaridan biri — tarixiy meros va zamonaviy siyosatning uyg‘unligi. Turkiya Usmonli imperiyasi davridagi tarixiy, madaniy va geografik aloqalaridan hozirgi tashqi siyosatida ham foydalanadi.</a:t>
            </a:r>
          </a:p>
          <a:p>
            <a:r>
              <a:rPr lang="uz-Latn-UZ" sz="1200" dirty="0"/>
              <a:t>Masalan, Bolqonda Turkiya Bosniya va Gersegovina hamda Kosovoning barqarorligini qo‘llab-quvvatlaydi, Kosovo mustaqilligini 2008-yilda tan olgan; TIKA mintaqada Usmonli davridan qolgan ko‘plab ko‘prik, masjid va boshqa tarixiy obidalarni tiklagan. Turkiya–Bosniya–Serbiya va Turkiya–Bosniya–Xorvatiya uch tomonlama muloqot mexanizmlari mintaqadagi yarashuvga xizmat qiladi.</a:t>
            </a:r>
          </a:p>
          <a:p>
            <a:r>
              <a:rPr lang="uz-Latn-UZ" sz="1200" dirty="0"/>
              <a:t>Yaqin Sharq va Shimoliy Afrikada ham tarixiy aloqalar muhim: 2019-yilda Turkiya Liviya hukumati bilan dengiz yurisdiksiyasi to‘g‘risida memorandum imzolagan, Somaliga esa uzoq yillardan beri yirik gumanitar va rivojlanish yordami ko‘rsatib kelmoqda.</a:t>
            </a:r>
          </a:p>
          <a:p>
            <a:r>
              <a:rPr lang="uz-Latn-UZ" sz="1200" dirty="0"/>
              <a:t>Afrikadagi tarixiy va diniy yaqinlik ham faol ishlatilmoqda: 2002-yilda Afrikada atigi 12 ta Turkiya elchixonasi bo‘lgan bo‘lsa, 2024-yilga kelib ularning soni 44 taga yetdi.</a:t>
            </a:r>
          </a:p>
          <a:p>
            <a:r>
              <a:rPr lang="uz-Latn-UZ" sz="1200" dirty="0"/>
              <a:t>Boshqa davlatlar bilan solishtirsak, Buyuk Britaniya Millatlar Hamdo‘stligi orqali, Fransiya esa Frankofoniya orqali o‘z tarixiy-madaniy makoni bilan ishlaydi. Turkiyaning farqi shundaki, u bir vaqtning o‘zida Usmonli merosi makoni, turkiy dunyo va Islom olami bilan ishlaydi, shu bilan birga NATO a’zosi va Yevropa Ittifoqiga nomzod hisoblanadi. Hamdo‘stlik va Frankofoniya asosan sobiq mustamlakalar bilan aloqalarga tayanadi, Turkiya esa umumiy tarix, din va til omillarini birgalikda qo‘llaydi.</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4-ma’ruzachi</a:t>
            </a:r>
          </a:p>
          <a:p>
            <a:r>
              <a:rPr lang="uz-Latn-UZ" sz="1200" dirty="0"/>
              <a:t>Ikkinchi jihat — «yumshoq kuch»dan faol foydalanish. Turkiya o‘z madaniyati, tili, ta’limi, seriallari, turizmi va gumanitar loyihalari orqali boshqa davlatlarda o‘z ta’sirini kuchaytiradi. Masalan, TIKA orqali turli mamlakatlarda ijtimoiy va madaniy loyihalar amalga oshiriladi.</a:t>
            </a:r>
          </a:p>
          <a:p>
            <a:r>
              <a:rPr lang="uz-Latn-UZ" sz="1200" dirty="0"/>
              <a:t>Yumshoq kuch — bu davlatning majburlash orqali emas, balki jozibadorlik orqali ta’sir o‘tkazish qobiliyatidir. Raqamlarga qarang: 2009-yilda ish boshlagan Yunus Emre instituti bugun 69 mamlakatdagi 93 ta madaniyat markazi orqali turk tilini o‘rgatmoqda. Bu Germaniyaning Gyote instituti yoki Britaniya Kengashi kabi tashkilotlarga o‘xshaydi, lekin ancha yosh va jadal o‘sayotgan tarmoqdir.</a:t>
            </a:r>
          </a:p>
          <a:p>
            <a:r>
              <a:rPr lang="uz-Latn-UZ" sz="1200" dirty="0"/>
              <a:t>«Türkiye Bursları» davlat grant dasturiga 2025-yilda 171 mamlakatdan 125 mingdan ortiq ariza tushdi. Maarif fondi 64 mamlakatda 600 dan ortiq ta’lim muassasasini boshqaradi, ularda 70 mingdan ortiq o‘quvchi tahsil oladi.</a:t>
            </a:r>
          </a:p>
          <a:p>
            <a:r>
              <a:rPr lang="uz-Latn-UZ" sz="1200" dirty="0"/>
              <a:t>Turk teleseriallari dunyodagi eng ko‘p eksport qilinadigan seriallar qatoriga kiradi, Turkish Airlines esa 130 dan ortiq mamlakatga parvoz qilib, bu bo‘yicha Ginnes rekordini qo‘lga kiritgan. Istanbul aeroporti dunyoning eng gavjum xalqaro aeroportlaridan biri bo‘lib, Turkiyani global tranzit markaziga aylantirgan. Turkiya har yili o‘n millionlab sayyohlarni qabul qiladi. Bularning barchasi Turkiya haqida ijobiy tasavvur shakllantiradi va diplomatiyaga yordam beradi.</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4-ma’ruzachi</a:t>
            </a:r>
          </a:p>
          <a:p>
            <a:r>
              <a:rPr lang="uz-Latn-UZ" sz="1200" dirty="0"/>
              <a:t>Uchinchi jihat — geografik joylashuv. Turkiya Yevropa va Osiyo chorrahasida joylashgani sababli Yevropa, Yaqin Sharq, Kavkaz va Markaziy Osiyo davlatlari bilan bir vaqtning o‘zida faol diplomatik aloqalar olib boradi.</a:t>
            </a:r>
          </a:p>
          <a:p>
            <a:r>
              <a:rPr lang="uz-Latn-UZ" sz="1200" dirty="0"/>
              <a:t>Yevropa yo‘nalishida Turkiya NATO a’zosi, Yevropa Ittifoqi bilan Bojxona ittifoqida va 2026-yilda NATO sammitiga mezbonlik qildi. Yaqin Sharqda Turkiya 2024-yil dekabridan keyin Suriyaning yangi hukumatini qo‘llab-quvvatlamoqda, 2025-yilda G‘azo bo‘yicha tinchlik deklaratsiyasini kafil sifatida imzoladi, Fors ko‘rfazi davlatlari va Misr bilan munosabatlarini tikladi hamda Iroq orqali o‘tadigan «Taraqqiyot yo‘li» loyihasida qatnashmoqda.</a:t>
            </a:r>
          </a:p>
          <a:p>
            <a:r>
              <a:rPr lang="uz-Latn-UZ" sz="1200" dirty="0"/>
              <a:t>Qora dengiz va Bolqon ham muhim yo‘nalishlardir: 1936-yilgi Montrö konvensiyasi asosida bo‘g‘ozlar rejimi boshqariladi, 1992-yilda esa Turkiya tashabbusi bilan Qora dengiz iqtisodiy hamkorligi tashkiloti tuzilgan.</a:t>
            </a:r>
          </a:p>
          <a:p>
            <a:r>
              <a:rPr lang="uz-Latn-UZ" sz="1200" dirty="0"/>
              <a:t>Kavkazda Ozarbayjon bilan «Bir millat — ikki davlat» tamoyili asosida 2021-yilda Shusha deklaratsiyasi imzolangan, Gruziya orqali Boku–Tbilisi–Qars temir yo‘li ishlaydi. Armaniston bilan esa normallashtirish jarayoni davom etmoqda: 2026-yilda Turkiya to‘g‘ridan-to‘g‘ri savdo cheklovlarini olib tashladi. Markaziy Osiyoda Turkiy davlatlar tashkiloti asosiy maydon: 2022-yilda uning sammiti Samarqandda o‘tdi, 2026-yil 29–30-oktabr kunlari esa navbatdagi sammit Anqarada bo‘ladi. Bir vaqtning o‘zida to‘rt mintaqada bunday faol ishtirok etish kam davlatga nasib qiladi.</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4-ma’ruzachi</a:t>
            </a:r>
          </a:p>
          <a:p>
            <a:r>
              <a:rPr lang="uz-Latn-UZ" sz="1200" dirty="0"/>
              <a:t>Yana bir muhim xususiyat — faol va ko‘p yo‘nalishli diplomatiya. Turkiya nafaqat siyosiy, balki iqtisodiy, harbiy, madaniy va gumanitar vositalardan ham foydalanadi.</a:t>
            </a:r>
          </a:p>
          <a:p>
            <a:r>
              <a:rPr lang="uz-Latn-UZ" sz="1200" dirty="0"/>
              <a:t>Buni boshqa davlatlar bilan solishtirib ko‘ramiz. Avstraliyaning Lowy instituti 2024-yilda e’lon qilgan «Global diplomatiya indeksi»ga ko‘ra, Turkiya 252 ta diplomatik vakolatxonasi bilan dunyoda uchinchi o‘rinda turadi — faqat Xitoy va AQShdan keyin, Yaponiya va Fransiyadan esa oldinda. 2021–2024-yillarda Turkiya va Hindiston diplomatik tarmog‘ini eng tez kengaytirgan davlatlar bo‘ldi. Bu kengayish ayniqsa Afrika yo‘nalishida yaqqol ko‘rinadi.</a:t>
            </a:r>
          </a:p>
          <a:p>
            <a:r>
              <a:rPr lang="uz-Latn-UZ" sz="1200" dirty="0"/>
              <a:t>Vositalar bo‘yicha esa: siyosiy vosita — keng diplomatik tarmoq va vositachilik; iqtisodiy vosita — 2025-yilda 273,4 milliard dollarlik rekord eksport; harbiy vosita — NATOdagi ikkinchi yirik armiya va mudofaa sanoati eksporti; madaniy vosita — Yunus Emre instituti, seriallar va ta’lim grantlari; gumanitar vosita — TIKA, Qizil Yarim Oy va qochqinlarga yordam.</a:t>
            </a:r>
          </a:p>
          <a:p>
            <a:r>
              <a:rPr lang="uz-Latn-UZ" sz="1200" dirty="0"/>
              <a:t>Ko‘plab davlatlar bu vositalarning bir-ikkitasiga tayanadi, Turkiya esa ularning barchasini birgalikda qo‘llaydi — uning asosiy farqi ham shunda. Masalan, Yaponiya va Fransiyaning diplomatik tarmog‘i Turkiyanikiga yaqin, ammo ular Turkiya kabi bir vaqtning o‘zida NATO, Turkiy davlatlar tashkiloti va Islom hamkorlik tashkilotida qatnashmaydi. So‘zni beshinchi ma’ruzachiga beraman.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5-ma’ruzachi</a:t>
            </a:r>
          </a:p>
          <a:p>
            <a:r>
              <a:rPr lang="uz-Latn-UZ" sz="1200" dirty="0"/>
              <a:t>Rahmat. Men taqdimotimizning yakuniy qismi — xulosani bayon qilaman: Turkiya diplomatiyasini raqamlarda umumlashtiraman, O‘zbekiston uchun ahamiyatini, muammolar va istiqbollarni ko‘rib chiqaman.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5-ma’ruzachi</a:t>
            </a:r>
          </a:p>
          <a:p>
            <a:r>
              <a:rPr lang="uz-Latn-UZ" sz="1200" dirty="0"/>
              <a:t>Taqdimotimizda keltirilgan asosiy raqamlarni umumlashtirsak, Turkiyaning diplomatik salohiyati yaqqol ko‘rinadi. Turkiya 252 ta diplomatik vakolatxonasi bilan dunyoda uchinchi o‘rinda turadi — bu uning dunyoning deyarli barcha mintaqalarida o‘z vakillariga ega ekanini anglatadi. 2025-yilda uning tovar eksporti tarixiy rekord — 273,4 milliard dollarga, mudofaa va aviatsiya sanoati eksporti esa 10,5 milliard dollarga yetdi.</a:t>
            </a:r>
          </a:p>
          <a:p>
            <a:r>
              <a:rPr lang="uz-Latn-UZ" sz="1200" dirty="0"/>
              <a:t>TIKA 60 mamlakatdagi 62 ta idorasi orqali 150 dan ortiq mamlakatda loyihalar amalga oshirmoqda. Turkiya hamon dunyodagi eng ko‘p qochqin saqlayotgan davlatlardan biri: 2026-yilda mamlakatda 2,2 millionga yaqin suriyalik yashamoqda. 2026-yil aprelida o‘tgan beshinchi Antaliya diplomatiya forumida esa 150 mamlakatdan 6 400 ga yaqin ishtirokchi qatnashdi.</a:t>
            </a:r>
          </a:p>
          <a:p>
            <a:r>
              <a:rPr lang="uz-Latn-UZ" sz="1200" dirty="0"/>
              <a:t>Mudofaa sanoati eksportining bir yilda qariyb 48 foizga o‘sgani bu sohadagi diplomatiya samarasini ko‘rsatadi. Turkish Airlines 130 dan ortiq mamlakatga parvoz qilishi esa Turkiyani dunyo bilan bog‘laydigan «havo ko‘prigi»ga aylantirgan.</a:t>
            </a:r>
          </a:p>
          <a:p>
            <a:r>
              <a:rPr lang="uz-Latn-UZ" sz="1200" dirty="0"/>
              <a:t>Bu ko‘rsatkichlar Turkiya diplomatiyasining siyosiy, iqtisodiy, harbiy va gumanitar vositalari bir-birini to‘ldirishini hamda Turkiyaning mintaqaviy emas, balki global miqyosdagi diplomatik o‘yinchiga aylanganini ko‘rsatadi.</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5-ma’ruzachi</a:t>
            </a:r>
          </a:p>
          <a:p>
            <a:r>
              <a:rPr lang="uz-Latn-UZ" sz="1200" dirty="0"/>
              <a:t>Biz uchun eng muhimi — Turkiya diplomatiyasining O‘zbekiston bilan munosabatlarda qanday namoyon bo‘lishi. Turkiya 1991-yil 16-dekabrda O‘zbekiston mustaqilligini birinchi bo‘lib tan olgan davlatdir, 1992-yil 4-martda esa diplomatik munosabatlar o‘rnatildi. 2017-yilda Oliy darajadagi strategik hamkorlik kengashi tuzildi, 2022-yilda munosabatlar kompleks strategik sheriklik darajasiga ko‘tarildi. 2019-yildan O‘zbekiston Turkiy davlatlar tashkilotining to‘laqonli a’zosi, 2022-yilda esa tashkilot sammiti Samarqandda o‘tdi.</a:t>
            </a:r>
          </a:p>
          <a:p>
            <a:r>
              <a:rPr lang="uz-Latn-UZ" sz="1200" dirty="0"/>
              <a:t>Iqtisodiy natijalar ham salmoqli: 2025-yilda o‘zaro savdo hajmi taxminan 3 milliard dollarni tashkil etdi, prezidentlar uni 5 milliard dollarga yetkazishni maqsad qilgan. 2026-yil 1-iyul holatiga O‘zbekistonda turk kapitali ishtirokidagi 2 293 ta korxona faoliyat yuritmoqda — bu bo‘yicha Turkiya Xitoy va Rossiyadan keyin uchinchi o‘rinda. Turk kompaniyalari investitsiyalari 5,6 milliard dollarga yetgan. 2026-yil yanvarida Anqarada Kengashning to‘rtinchi yig‘ilishida sog‘liqni saqlash, ta’lim, energetika, transport yo‘laklari va erkin iqtisodiy zonalar bo‘yicha 10 ta hujjat imzolandi.</a:t>
            </a:r>
          </a:p>
          <a:p>
            <a:r>
              <a:rPr lang="uz-Latn-UZ" sz="1200" dirty="0"/>
              <a:t>Turkiya O‘zbekistonning yetakchi savdo sheriklaridan biri: 2025-yilda u mamlakatimiz tashqi savdosida birinchi beshta sherik qatorida bo‘ldi. To‘g‘ridan-to‘g‘ri aviareyslar, turizm va madaniy almashinuvlar ham kengaymoqda, 2026-yil 29–30-oktabrda Anqarada o‘tadigan Turkiy davlatlar tashkiloti sammiti esa ikki davlat hamkorligi uchun navbatdagi muhim maydon bo‘ladi.</a:t>
            </a:r>
          </a:p>
          <a:p>
            <a:r>
              <a:rPr lang="uz-Latn-UZ" sz="1200" dirty="0"/>
              <a:t>Ta’lim sohasida ham hamkorlik kengaymoqda: minglab o‘zbekistonlik yoshlar Turkiya universitetlarida, jumladan «Türkiye Bursları» grantlari asosida tahsil olmoqda. Turkiya tajribasi O‘zbekistonning ochiq va ko‘p vektorli tashqi siyosati uchun ham foydali namunadir.</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5-ma’ruzachi</a:t>
            </a:r>
          </a:p>
          <a:p>
            <a:r>
              <a:rPr lang="uz-Latn-UZ" sz="1200" dirty="0"/>
              <a:t>Albatta, Turkiya diplomatiyasi oldida jiddiy muammolar ham turibdi. Bular — Yunoniston va Kipr bilan Egey va Sharqiy O‘rta yer dengizidagi nizolar, AQSh bilan S-400 va F-35 masalasi, Yevropa Ittifoqi bilan to‘xtab qolgan a’zolik muzokaralari hamda qo‘shni mintaqalardagi urushlar, terrorizm va migratsiya bosimi. Kipr oroli 1974-yildan beri ikkiga bo‘lingan va muammo BMT vositachiligida ham hal etilmagan; Sharqiy O‘rta yer dengizida esa tabiiy gaz konlari va dengiz chegaralari bo‘yicha bahslar mavjud. Shuningdek, iqtisodiy qiyinchiliklar, jumladan yuqori inflyatsiya ham tashqi siyosat imkoniyatlariga ta’sir ko‘rsatadi.</a:t>
            </a:r>
          </a:p>
          <a:p>
            <a:r>
              <a:rPr lang="uz-Latn-UZ" sz="1200" dirty="0"/>
              <a:t>Shu bilan birga istiqbollar ham katta. 2023-yil dekabrida Yunoniston bilan do‘stona munosabatlar to‘g‘risidagi Afina deklaratsiyasi imzolanib, muloqot tiklandi. 2026-yil Turkiya uchun diplomatik mezbonlik yili: iyulda — Anqarada NATO sammiti, 29–30-oktabrda — Turkiy davlatlar tashkilotining 13-sammiti, 9–20-noyabrda esa Antaliyada BMTning iqlim o‘zgarishi bo‘yicha COP31 konferensiyasi. Unda Turkiya raislik qiladi, muzokaralarni esa Avstraliya boshqaradi. COP31 — BMTning iqlim o‘zgarishi bo‘yicha yillik konferensiyasi bo‘lib, unda 190 dan ortiq davlat vakillari qatnashadi.</a:t>
            </a:r>
          </a:p>
          <a:p>
            <a:r>
              <a:rPr lang="uz-Latn-UZ" sz="1200" dirty="0"/>
              <a:t>Transport yo‘laklari, energetika loyihalari va vositachilik salohiyati Turkiyaning «ko‘prik davlat» sifatidagi rolini yanada kuchaytiradi. Turkiy dunyo bilan integratsiya ham chuqurlashmoqda: Anqara sammitidan so‘ng Turkiya Turkiy davlatlar tashkilotiga raislik qiladi.</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5-ma’ruzachi</a:t>
            </a:r>
          </a:p>
          <a:p>
            <a:r>
              <a:rPr lang="uz-Latn-UZ" sz="1200" dirty="0"/>
              <a:t>Xulosa qilib aytganda, Turkiya diplomatiyasi — tarixiy tajriba va zamonaviy siyosat uyg‘unlashgan o‘ziga xos yondashuvdir. Turkiya o‘zining geografik o‘rni, madaniyati va tarixiy aloqalaridan foydalanib, turli hududlar bilan faol munosabat olib boradi. Siyosiy muzokaralar bilan bir qatorda iqtisodiy hamkorlik, madaniy diplomatiya, gumanitar yordam va vositachilikka ham e’tibor qaratadi.</a:t>
            </a:r>
          </a:p>
          <a:p>
            <a:r>
              <a:rPr lang="uz-Latn-UZ" sz="1200" dirty="0"/>
              <a:t>Eng muhimi, Turkiya xalqaro munosabatlarda faqat bir yo‘nalish bilan cheklanmay, turli imkoniyatlardan foydalanib, o‘z manfaatlarini ilgari surishga harakat qiladi. Shu jihatlari uning diplomatiyasini o‘ziga xos va ko‘p qirrali qiladi.</a:t>
            </a:r>
          </a:p>
          <a:p>
            <a:r>
              <a:rPr lang="uz-Latn-UZ" sz="1200" dirty="0"/>
              <a:t>O‘zbekiston uchun esa Turkiya tajribasi — ko‘p vektorli, faol va insonparvar tashqi siyosat yuritishning yorqin namunasidir. Turkiya diplomatiyasini o‘rganish bizga xalqaro munosabatlarda muvozanat, muloqot va hamkorlikning ahamiyatini yaxshiroq tushunishga yordam beradi. Taqdimotimiz shuni ko‘rsatdiki, Turkiya diplomatiyasining kuchi — geografiya, tarix, madaniyat va zamonaviy vositalarni uyg‘unlashtira olishida.</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5-ma’ruzachi</a:t>
            </a:r>
          </a:p>
          <a:p>
            <a:r>
              <a:rPr lang="uz-Latn-UZ" sz="1200" dirty="0"/>
              <a:t>Taqdimotni tayyorlashda Turkiya va O‘zbekiston tashqi ishlar vazirliklari, NATO, Turkiy davlatlar tashkiloti, Lowy instituti, BMT Qochqinlar ishi bo‘yicha oliy komissarligi va boshqa rasmiy manbalardan foydalandik. Ma’lumotlar 2026-yil sentabr holatiga ko‘ra keltirilgan.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z-Latn-UZ" sz="1200" b="1" dirty="0"/>
              <a:t>5-ma’ruzachi</a:t>
            </a:r>
          </a:p>
          <a:p>
            <a:r>
              <a:rPr lang="uz-Latn-UZ" sz="1200" dirty="0"/>
              <a:t>E’tiboringiz uchun rahmat! Savollaringiz bo‘lsa, javob berishga tayyormiz.</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3200"/>
      </a:lvl1pPr>
    </p:titleStyle>
    <p:bodyStyle>
      <a:lvl1pPr>
        <a:defRPr sz="1800"/>
      </a:lvl1pPr>
    </p:bodyStyle>
    <p:otherStyle>
      <a:lvl1pPr>
        <a:defRPr sz="1800"/>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Shape 2"/>
          <p:cNvSpPr/>
          <p:nvPr/>
        </p:nvSpPr>
        <p:spPr>
          <a:xfrm>
            <a:off x="0" y="0"/>
            <a:ext cx="320040" cy="6858000"/>
          </a:xfrm>
          <a:prstGeom prst="rect">
            <a:avLst/>
          </a:prstGeom>
          <a:solidFill>
            <a:srgbClr val="C8102E"/>
          </a:solidFill>
          <a:ln>
            <a:noFill/>
          </a:ln>
        </p:spPr>
      </p:sp>
      <p:sp>
        <p:nvSpPr>
          <p:cNvPr id="3" name="TextBox 3"/>
          <p:cNvSpPr/>
          <p:nvPr/>
        </p:nvSpPr>
        <p:spPr>
          <a:xfrm>
            <a:off x="914400" y="731520"/>
            <a:ext cx="7315200" cy="1828800"/>
          </a:xfrm>
          <a:prstGeom prst="rect">
            <a:avLst/>
          </a:prstGeom>
          <a:noFill/>
          <a:ln>
            <a:noFill/>
          </a:ln>
        </p:spPr>
        <p:txBody>
          <a:bodyPr wrap="square" lIns="0" tIns="0" rIns="0" bIns="0" rtlCol="0" anchor="b">
            <a:noAutofit/>
          </a:bodyPr>
          <a:lstStyle/>
          <a:p>
            <a:pPr marL="0" indent="0" algn="l">
              <a:lnSpc>
                <a:spcPct val="95000"/>
              </a:lnSpc>
              <a:spcBef>
                <a:spcPts val="0"/>
              </a:spcBef>
              <a:buNone/>
            </a:pPr>
            <a:r>
              <a:rPr lang="uz-Latn-UZ" sz="4000" b="1" i="0" dirty="0">
                <a:solidFill>
                  <a:srgbClr val="FFFFFF"/>
                </a:solidFill>
                <a:latin typeface="Arial"/>
                <a:cs typeface="Arial"/>
              </a:rPr>
              <a:t>Turkiya davlatining</a:t>
            </a:r>
            <a:br>
              <a:rPr lang="uz-Latn-UZ" sz="4000" b="1" i="0" dirty="0">
                <a:solidFill>
                  <a:srgbClr val="FFFFFF"/>
                </a:solidFill>
                <a:latin typeface="Arial"/>
                <a:cs typeface="Arial"/>
              </a:rPr>
            </a:br>
            <a:r>
              <a:rPr lang="uz-Latn-UZ" sz="4000" b="1" i="0" dirty="0">
                <a:solidFill>
                  <a:srgbClr val="FFFFFF"/>
                </a:solidFill>
                <a:latin typeface="Arial"/>
                <a:cs typeface="Arial"/>
              </a:rPr>
              <a:t>diplomatik faoliyati</a:t>
            </a:r>
            <a:endParaRPr lang="uz-Latn-UZ" sz="4000" b="1" i="0" dirty="0">
              <a:solidFill>
                <a:srgbClr val="FFFFFF"/>
              </a:solidFill>
              <a:latin typeface="Arial"/>
              <a:cs typeface="Arial"/>
            </a:endParaRPr>
          </a:p>
        </p:txBody>
      </p:sp>
      <p:sp>
        <p:nvSpPr>
          <p:cNvPr id="4" name="Shape 4"/>
          <p:cNvSpPr/>
          <p:nvPr/>
        </p:nvSpPr>
        <p:spPr>
          <a:xfrm>
            <a:off x="914400" y="2724912"/>
            <a:ext cx="1280160" cy="64008"/>
          </a:xfrm>
          <a:prstGeom prst="rect">
            <a:avLst/>
          </a:prstGeom>
          <a:solidFill>
            <a:srgbClr val="C8102E"/>
          </a:solidFill>
          <a:ln>
            <a:noFill/>
          </a:ln>
        </p:spPr>
      </p:sp>
      <p:sp>
        <p:nvSpPr>
          <p:cNvPr id="5" name="TextBox 5"/>
          <p:cNvSpPr/>
          <p:nvPr/>
        </p:nvSpPr>
        <p:spPr>
          <a:xfrm>
            <a:off x="914400" y="2907792"/>
            <a:ext cx="7223760" cy="777240"/>
          </a:xfrm>
          <a:prstGeom prst="rect">
            <a:avLst/>
          </a:prstGeom>
          <a:noFill/>
          <a:ln>
            <a:noFill/>
          </a:ln>
        </p:spPr>
        <p:txBody>
          <a:bodyPr wrap="square" lIns="0" tIns="0" rIns="0" bIns="0" rtlCol="0" anchor="t">
            <a:noAutofit/>
          </a:bodyPr>
          <a:lstStyle/>
          <a:p>
            <a:pPr marL="0" indent="0" algn="l">
              <a:spcBef>
                <a:spcPts val="0"/>
              </a:spcBef>
              <a:buNone/>
            </a:pPr>
            <a:r>
              <a:rPr lang="uz-Latn-UZ" sz="1900" b="0" i="0" dirty="0">
                <a:solidFill>
                  <a:srgbClr val="CBD5E1"/>
                </a:solidFill>
                <a:latin typeface="Arial"/>
                <a:cs typeface="Arial"/>
              </a:rPr>
              <a:t>O‘ziga xos jihatlar, diplomatik faoliyat, madaniyat va qiyosiy tahlil</a:t>
            </a:r>
            <a:endParaRPr lang="uz-Latn-UZ" sz="1900" b="0" i="0" dirty="0">
              <a:solidFill>
                <a:srgbClr val="CBD5E1"/>
              </a:solidFill>
              <a:latin typeface="Arial"/>
              <a:cs typeface="Arial"/>
            </a:endParaRPr>
          </a:p>
        </p:txBody>
      </p:sp>
      <p:sp>
        <p:nvSpPr>
          <p:cNvPr id="6" name="Flag 6"/>
          <p:cNvSpPr/>
          <p:nvPr/>
        </p:nvSpPr>
        <p:spPr>
          <a:xfrm>
            <a:off x="8549640" y="868680"/>
            <a:ext cx="3154680" cy="2103120"/>
          </a:xfrm>
          <a:prstGeom prst="rect">
            <a:avLst/>
          </a:prstGeom>
          <a:solidFill>
            <a:srgbClr val="E30A17"/>
          </a:solidFill>
          <a:ln>
            <a:noFill/>
          </a:ln>
        </p:spPr>
      </p:sp>
      <p:sp>
        <p:nvSpPr>
          <p:cNvPr id="7" name="Crescent 7"/>
          <p:cNvSpPr/>
          <p:nvPr/>
        </p:nvSpPr>
        <p:spPr>
          <a:xfrm>
            <a:off x="9075420" y="1394460"/>
            <a:ext cx="1051560" cy="1051560"/>
          </a:xfrm>
          <a:prstGeom prst="ellipse">
            <a:avLst/>
          </a:prstGeom>
          <a:solidFill>
            <a:srgbClr val="FFFFFF"/>
          </a:solidFill>
          <a:ln>
            <a:noFill/>
          </a:ln>
        </p:spPr>
      </p:sp>
      <p:sp>
        <p:nvSpPr>
          <p:cNvPr id="8" name="Crescent 8"/>
          <p:cNvSpPr/>
          <p:nvPr/>
        </p:nvSpPr>
        <p:spPr>
          <a:xfrm>
            <a:off x="9312021" y="1499616"/>
            <a:ext cx="841248" cy="841248"/>
          </a:xfrm>
          <a:prstGeom prst="ellipse">
            <a:avLst/>
          </a:prstGeom>
          <a:solidFill>
            <a:srgbClr val="E30A17"/>
          </a:solidFill>
          <a:ln>
            <a:noFill/>
          </a:ln>
        </p:spPr>
      </p:sp>
      <p:sp>
        <p:nvSpPr>
          <p:cNvPr id="9" name="Star 9"/>
          <p:cNvSpPr/>
          <p:nvPr/>
        </p:nvSpPr>
        <p:spPr>
          <a:xfrm rot="16200000">
            <a:off x="10000837" y="1682456"/>
            <a:ext cx="500017" cy="475568"/>
          </a:xfrm>
          <a:prstGeom prst="star5">
            <a:avLst/>
          </a:prstGeom>
          <a:solidFill>
            <a:srgbClr val="FFFFFF"/>
          </a:solidFill>
          <a:ln>
            <a:noFill/>
          </a:ln>
        </p:spPr>
      </p:sp>
      <p:sp>
        <p:nvSpPr>
          <p:cNvPr id="10" name="Shape 10"/>
          <p:cNvSpPr/>
          <p:nvPr/>
        </p:nvSpPr>
        <p:spPr>
          <a:xfrm>
            <a:off x="914400" y="3977640"/>
            <a:ext cx="10789920" cy="1828800"/>
          </a:xfrm>
          <a:prstGeom prst="rect">
            <a:avLst/>
          </a:prstGeom>
          <a:solidFill>
            <a:srgbClr val="1D2D50"/>
          </a:solidFill>
          <a:ln>
            <a:noFill/>
          </a:ln>
        </p:spPr>
      </p:sp>
      <p:sp>
        <p:nvSpPr>
          <p:cNvPr id="11" name="TextBox 11"/>
          <p:cNvSpPr/>
          <p:nvPr/>
        </p:nvSpPr>
        <p:spPr>
          <a:xfrm>
            <a:off x="1234440" y="4160520"/>
            <a:ext cx="6858000" cy="274320"/>
          </a:xfrm>
          <a:prstGeom prst="rect">
            <a:avLst/>
          </a:prstGeom>
          <a:noFill/>
          <a:ln>
            <a:noFill/>
          </a:ln>
        </p:spPr>
        <p:txBody>
          <a:bodyPr wrap="square" lIns="0" tIns="0" rIns="0" bIns="0" rtlCol="0" anchor="ctr">
            <a:noAutofit/>
          </a:bodyPr>
          <a:lstStyle/>
          <a:p>
            <a:pPr marL="0" indent="0" algn="l">
              <a:spcBef>
                <a:spcPts val="0"/>
              </a:spcBef>
              <a:buNone/>
            </a:pPr>
            <a:r>
              <a:rPr lang="uz-Latn-UZ" sz="1200" b="1" i="0" spc="100" dirty="0">
                <a:solidFill>
                  <a:srgbClr val="C8102E"/>
                </a:solidFill>
                <a:latin typeface="Arial"/>
                <a:cs typeface="Arial"/>
              </a:rPr>
              <a:t>BAJARDI:</a:t>
            </a:r>
            <a:endParaRPr lang="uz-Latn-UZ" sz="1200" b="1" i="0" spc="100" dirty="0">
              <a:solidFill>
                <a:srgbClr val="C8102E"/>
              </a:solidFill>
              <a:latin typeface="Arial"/>
              <a:cs typeface="Arial"/>
            </a:endParaRPr>
          </a:p>
        </p:txBody>
      </p:sp>
      <p:sp>
        <p:nvSpPr>
          <p:cNvPr id="12" name="TextBox 12"/>
          <p:cNvSpPr/>
          <p:nvPr/>
        </p:nvSpPr>
        <p:spPr>
          <a:xfrm>
            <a:off x="1234440" y="4526280"/>
            <a:ext cx="3566160" cy="1371600"/>
          </a:xfrm>
          <a:prstGeom prst="rect">
            <a:avLst/>
          </a:prstGeom>
          <a:noFill/>
          <a:ln>
            <a:noFill/>
          </a:ln>
        </p:spPr>
        <p:txBody>
          <a:bodyPr wrap="square" lIns="0" tIns="0" rIns="0" bIns="0" rtlCol="0" anchor="t">
            <a:noAutofit/>
          </a:bodyPr>
          <a:lstStyle/>
          <a:p>
            <a:pPr marL="0" indent="0" algn="l">
              <a:spcBef>
                <a:spcPts val="0"/>
              </a:spcBef>
              <a:buNone/>
            </a:pPr>
            <a:r>
              <a:rPr lang="uz-Latn-UZ" sz="1800" b="0" i="0" dirty="0">
                <a:solidFill>
                  <a:srgbClr val="FFFFFF"/>
                </a:solidFill>
                <a:latin typeface="Arial"/>
                <a:cs typeface="Arial"/>
              </a:rPr>
              <a:t>Sheraliyeva Dilnuraxon</a:t>
            </a:r>
            <a:endParaRPr lang="uz-Latn-UZ" sz="1800" b="0" i="0" dirty="0">
              <a:solidFill>
                <a:srgbClr val="FFFFFF"/>
              </a:solidFill>
              <a:latin typeface="Arial"/>
              <a:cs typeface="Arial"/>
            </a:endParaRPr>
          </a:p>
          <a:p>
            <a:pPr marL="0" indent="0" algn="l">
              <a:spcBef>
                <a:spcPts val="700"/>
              </a:spcBef>
              <a:buNone/>
            </a:pPr>
            <a:r>
              <a:rPr lang="uz-Latn-UZ" sz="1800" b="0" i="0" dirty="0">
                <a:solidFill>
                  <a:srgbClr val="FFFFFF"/>
                </a:solidFill>
                <a:latin typeface="Arial"/>
                <a:cs typeface="Arial"/>
              </a:rPr>
              <a:t>Xasanova Madinaxon</a:t>
            </a:r>
            <a:endParaRPr lang="uz-Latn-UZ" sz="1800" b="0" i="0" dirty="0">
              <a:solidFill>
                <a:srgbClr val="FFFFFF"/>
              </a:solidFill>
              <a:latin typeface="Arial"/>
              <a:cs typeface="Arial"/>
            </a:endParaRPr>
          </a:p>
          <a:p>
            <a:pPr marL="0" indent="0" algn="l">
              <a:spcBef>
                <a:spcPts val="700"/>
              </a:spcBef>
              <a:buNone/>
            </a:pPr>
            <a:r>
              <a:rPr lang="uz-Latn-UZ" sz="1800" b="0" i="0" dirty="0">
                <a:solidFill>
                  <a:srgbClr val="FFFFFF"/>
                </a:solidFill>
                <a:latin typeface="Arial"/>
                <a:cs typeface="Arial"/>
              </a:rPr>
              <a:t>Mardonqulova Gulsevar</a:t>
            </a:r>
            <a:endParaRPr lang="uz-Latn-UZ" sz="1800" b="0" i="0" dirty="0">
              <a:solidFill>
                <a:srgbClr val="FFFFFF"/>
              </a:solidFill>
              <a:latin typeface="Arial"/>
              <a:cs typeface="Arial"/>
            </a:endParaRPr>
          </a:p>
        </p:txBody>
      </p:sp>
      <p:sp>
        <p:nvSpPr>
          <p:cNvPr id="13" name="TextBox 13"/>
          <p:cNvSpPr/>
          <p:nvPr/>
        </p:nvSpPr>
        <p:spPr>
          <a:xfrm>
            <a:off x="4892040" y="4526280"/>
            <a:ext cx="3200400" cy="1371600"/>
          </a:xfrm>
          <a:prstGeom prst="rect">
            <a:avLst/>
          </a:prstGeom>
          <a:noFill/>
          <a:ln>
            <a:noFill/>
          </a:ln>
        </p:spPr>
        <p:txBody>
          <a:bodyPr wrap="square" lIns="0" tIns="0" rIns="0" bIns="0" rtlCol="0" anchor="t">
            <a:noAutofit/>
          </a:bodyPr>
          <a:lstStyle/>
          <a:p>
            <a:pPr marL="0" indent="0" algn="l">
              <a:spcBef>
                <a:spcPts val="0"/>
              </a:spcBef>
              <a:buNone/>
            </a:pPr>
            <a:r>
              <a:rPr lang="uz-Latn-UZ" sz="1800" b="0" i="0" dirty="0">
                <a:solidFill>
                  <a:srgbClr val="FFFFFF"/>
                </a:solidFill>
                <a:latin typeface="Arial"/>
                <a:cs typeface="Arial"/>
              </a:rPr>
              <a:t>Sotimboyev Temurbek</a:t>
            </a:r>
            <a:endParaRPr lang="uz-Latn-UZ" sz="1800" b="0" i="0" dirty="0">
              <a:solidFill>
                <a:srgbClr val="FFFFFF"/>
              </a:solidFill>
              <a:latin typeface="Arial"/>
              <a:cs typeface="Arial"/>
            </a:endParaRPr>
          </a:p>
          <a:p>
            <a:pPr marL="0" indent="0" algn="l">
              <a:spcBef>
                <a:spcPts val="700"/>
              </a:spcBef>
              <a:buNone/>
            </a:pPr>
            <a:r>
              <a:rPr lang="uz-Latn-UZ" sz="1800" b="0" i="0" dirty="0">
                <a:solidFill>
                  <a:srgbClr val="FFFFFF"/>
                </a:solidFill>
                <a:latin typeface="Arial"/>
                <a:cs typeface="Arial"/>
              </a:rPr>
              <a:t>Xudoyorov Yusufbek</a:t>
            </a:r>
            <a:endParaRPr lang="uz-Latn-UZ" sz="1800" b="0" i="0" dirty="0">
              <a:solidFill>
                <a:srgbClr val="FFFFFF"/>
              </a:solidFill>
              <a:latin typeface="Arial"/>
              <a:cs typeface="Arial"/>
            </a:endParaRPr>
          </a:p>
        </p:txBody>
      </p:sp>
      <p:cxnSp>
        <p:nvCxnSpPr>
          <p:cNvPr id="14" name="Line 14"/>
          <p:cNvCxnSpPr/>
          <p:nvPr/>
        </p:nvCxnSpPr>
        <p:spPr>
          <a:xfrm>
            <a:off x="8275320" y="4206240"/>
            <a:ext cx="0" cy="1371600"/>
          </a:xfrm>
          <a:prstGeom prst="line">
            <a:avLst/>
          </a:prstGeom>
          <a:ln w="12700">
            <a:solidFill>
              <a:srgbClr val="3B4A6B"/>
            </a:solidFill>
          </a:ln>
        </p:spPr>
      </p:cxnSp>
      <p:sp>
        <p:nvSpPr>
          <p:cNvPr id="15" name="TextBox 15"/>
          <p:cNvSpPr/>
          <p:nvPr/>
        </p:nvSpPr>
        <p:spPr>
          <a:xfrm>
            <a:off x="8549640" y="4160520"/>
            <a:ext cx="3017520" cy="274320"/>
          </a:xfrm>
          <a:prstGeom prst="rect">
            <a:avLst/>
          </a:prstGeom>
          <a:noFill/>
          <a:ln>
            <a:noFill/>
          </a:ln>
        </p:spPr>
        <p:txBody>
          <a:bodyPr wrap="square" lIns="0" tIns="0" rIns="0" bIns="0" rtlCol="0" anchor="ctr">
            <a:noAutofit/>
          </a:bodyPr>
          <a:lstStyle/>
          <a:p>
            <a:pPr marL="0" indent="0" algn="l">
              <a:spcBef>
                <a:spcPts val="0"/>
              </a:spcBef>
              <a:buNone/>
            </a:pPr>
            <a:r>
              <a:rPr lang="uz-Latn-UZ" sz="1200" b="1" i="0" spc="100" dirty="0">
                <a:solidFill>
                  <a:srgbClr val="C8102E"/>
                </a:solidFill>
                <a:latin typeface="Arial"/>
                <a:cs typeface="Arial"/>
              </a:rPr>
              <a:t>TEKSHIRDI:</a:t>
            </a:r>
            <a:endParaRPr lang="uz-Latn-UZ" sz="1200" b="1" i="0" spc="100" dirty="0">
              <a:solidFill>
                <a:srgbClr val="C8102E"/>
              </a:solidFill>
              <a:latin typeface="Arial"/>
              <a:cs typeface="Arial"/>
            </a:endParaRPr>
          </a:p>
        </p:txBody>
      </p:sp>
      <p:sp>
        <p:nvSpPr>
          <p:cNvPr id="16" name="TextBox 16"/>
          <p:cNvSpPr/>
          <p:nvPr/>
        </p:nvSpPr>
        <p:spPr>
          <a:xfrm>
            <a:off x="8549640" y="4526280"/>
            <a:ext cx="3017520" cy="914400"/>
          </a:xfrm>
          <a:prstGeom prst="rect">
            <a:avLst/>
          </a:prstGeom>
          <a:noFill/>
          <a:ln>
            <a:noFill/>
          </a:ln>
        </p:spPr>
        <p:txBody>
          <a:bodyPr wrap="square" lIns="0" tIns="0" rIns="0" bIns="0" rtlCol="0" anchor="t">
            <a:noAutofit/>
          </a:bodyPr>
          <a:lstStyle/>
          <a:p>
            <a:pPr marL="0" indent="0" algn="l">
              <a:spcBef>
                <a:spcPts val="0"/>
              </a:spcBef>
              <a:buNone/>
            </a:pPr>
            <a:r>
              <a:rPr lang="uz-Latn-UZ" sz="1800" b="0" i="0" dirty="0">
                <a:solidFill>
                  <a:srgbClr val="FFFFFF"/>
                </a:solidFill>
                <a:latin typeface="Arial"/>
                <a:cs typeface="Arial"/>
              </a:rPr>
              <a:t>O‘rinboyeva Muslimaxon</a:t>
            </a:r>
            <a:endParaRPr lang="uz-Latn-UZ" sz="1800" b="0" i="0" dirty="0">
              <a:solidFill>
                <a:srgbClr val="FFFFFF"/>
              </a:solidFill>
              <a:latin typeface="Arial"/>
              <a:cs typeface="Arial"/>
            </a:endParaRPr>
          </a:p>
        </p:txBody>
      </p:sp>
      <p:sp>
        <p:nvSpPr>
          <p:cNvPr id="17" name="TextBox 17"/>
          <p:cNvSpPr/>
          <p:nvPr/>
        </p:nvSpPr>
        <p:spPr>
          <a:xfrm>
            <a:off x="914400" y="6053328"/>
            <a:ext cx="5486400" cy="320040"/>
          </a:xfrm>
          <a:prstGeom prst="rect">
            <a:avLst/>
          </a:prstGeom>
          <a:noFill/>
          <a:ln>
            <a:noFill/>
          </a:ln>
        </p:spPr>
        <p:txBody>
          <a:bodyPr wrap="square" lIns="0" tIns="0" rIns="0" bIns="0" rtlCol="0" anchor="ctr">
            <a:noAutofit/>
          </a:bodyPr>
          <a:lstStyle/>
          <a:p>
            <a:pPr marL="0" indent="0" algn="l">
              <a:spcBef>
                <a:spcPts val="0"/>
              </a:spcBef>
              <a:buNone/>
            </a:pPr>
            <a:r>
              <a:rPr lang="uz-Latn-UZ" sz="1300" b="0" i="0" dirty="0">
                <a:solidFill>
                  <a:srgbClr val="CBD5E1"/>
                </a:solidFill>
                <a:latin typeface="Arial"/>
                <a:cs typeface="Arial"/>
              </a:rPr>
              <a:t>2026-yil</a:t>
            </a:r>
            <a:endParaRPr lang="uz-Latn-UZ" sz="1300" b="0" i="0" dirty="0">
              <a:solidFill>
                <a:srgbClr val="CBD5E1"/>
              </a:solidFill>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TAQDIMOT REJASI</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Reja</a:t>
            </a:r>
            <a:endParaRPr lang="uz-Latn-UZ" sz="2800" b="1" i="0" dirty="0">
              <a:solidFill>
                <a:srgbClr val="14213D"/>
              </a:solidFill>
              <a:latin typeface="Arial"/>
              <a:cs typeface="Arial"/>
            </a:endParaRPr>
          </a:p>
        </p:txBody>
      </p:sp>
      <p:cxnSp>
        <p:nvCxnSpPr>
          <p:cNvPr id="5" name="Line 5"/>
          <p:cNvCxnSpPr/>
          <p:nvPr/>
        </p:nvCxnSpPr>
        <p:spPr>
          <a:xfrm>
            <a:off x="548640" y="1389888"/>
            <a:ext cx="11091672" cy="0"/>
          </a:xfrm>
          <a:prstGeom prst="line">
            <a:avLst/>
          </a:prstGeom>
          <a:ln w="12700">
            <a:solidFill>
              <a:srgbClr val="D1D5DB"/>
            </a:solidFill>
          </a:ln>
        </p:spPr>
      </p:cxnSp>
      <p:sp>
        <p:nvSpPr>
          <p:cNvPr id="6" name="TextBox 6"/>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7" name="TextBox 7"/>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2 / 29</a:t>
            </a:r>
            <a:endParaRPr lang="uz-Latn-UZ" sz="1050" b="0" i="0" dirty="0">
              <a:solidFill>
                <a:srgbClr val="6B7280"/>
              </a:solidFill>
              <a:latin typeface="Arial"/>
              <a:cs typeface="Arial"/>
            </a:endParaRPr>
          </a:p>
        </p:txBody>
      </p:sp>
      <p:sp>
        <p:nvSpPr>
          <p:cNvPr id="8" name="Shape 8"/>
          <p:cNvSpPr/>
          <p:nvPr/>
        </p:nvSpPr>
        <p:spPr>
          <a:xfrm>
            <a:off x="0" y="6748272"/>
            <a:ext cx="12192000" cy="109728"/>
          </a:xfrm>
          <a:prstGeom prst="rect">
            <a:avLst/>
          </a:prstGeom>
          <a:solidFill>
            <a:srgbClr val="C8102E"/>
          </a:solidFill>
          <a:ln>
            <a:noFill/>
          </a:ln>
        </p:spPr>
      </p:sp>
      <p:sp>
        <p:nvSpPr>
          <p:cNvPr id="9" name="Shape 9"/>
          <p:cNvSpPr/>
          <p:nvPr/>
        </p:nvSpPr>
        <p:spPr>
          <a:xfrm>
            <a:off x="658368" y="1755648"/>
            <a:ext cx="548640" cy="548640"/>
          </a:xfrm>
          <a:prstGeom prst="ellipse">
            <a:avLst/>
          </a:prstGeom>
          <a:solidFill>
            <a:srgbClr val="C8102E"/>
          </a:solidFill>
          <a:ln>
            <a:noFill/>
          </a:ln>
        </p:spPr>
        <p:txBody>
          <a:bodyPr wrap="square" lIns="0" tIns="0" rIns="0" bIns="0" rtlCol="0" anchor="ctr">
            <a:noAutofit/>
          </a:bodyPr>
          <a:lstStyle/>
          <a:p>
            <a:pPr marL="0" indent="0" algn="ctr">
              <a:spcBef>
                <a:spcPts val="0"/>
              </a:spcBef>
              <a:buNone/>
            </a:pPr>
            <a:r>
              <a:rPr lang="uz-Latn-UZ" sz="2200" b="1" i="0" dirty="0">
                <a:solidFill>
                  <a:srgbClr val="FFFFFF"/>
                </a:solidFill>
                <a:latin typeface="Arial"/>
                <a:cs typeface="Arial"/>
              </a:rPr>
              <a:t>1</a:t>
            </a:r>
            <a:endParaRPr lang="uz-Latn-UZ" sz="2200" b="1" i="0" dirty="0">
              <a:solidFill>
                <a:srgbClr val="FFFFFF"/>
              </a:solidFill>
              <a:latin typeface="Arial"/>
              <a:cs typeface="Arial"/>
            </a:endParaRPr>
          </a:p>
        </p:txBody>
      </p:sp>
      <p:sp>
        <p:nvSpPr>
          <p:cNvPr id="10" name="TextBox 10"/>
          <p:cNvSpPr/>
          <p:nvPr/>
        </p:nvSpPr>
        <p:spPr>
          <a:xfrm>
            <a:off x="1463040" y="1645920"/>
            <a:ext cx="8321040" cy="768096"/>
          </a:xfrm>
          <a:prstGeom prst="rect">
            <a:avLst/>
          </a:prstGeom>
          <a:noFill/>
          <a:ln>
            <a:noFill/>
          </a:ln>
        </p:spPr>
        <p:txBody>
          <a:bodyPr wrap="square" lIns="0" tIns="0" rIns="0" bIns="0" rtlCol="0" anchor="ctr">
            <a:noAutofit/>
          </a:bodyPr>
          <a:lstStyle/>
          <a:p>
            <a:pPr marL="0" indent="0" algn="l">
              <a:spcBef>
                <a:spcPts val="0"/>
              </a:spcBef>
              <a:buNone/>
            </a:pPr>
            <a:r>
              <a:rPr lang="uz-Latn-UZ" sz="1800" b="1" i="0" dirty="0">
                <a:solidFill>
                  <a:srgbClr val="14213D"/>
                </a:solidFill>
                <a:latin typeface="Arial"/>
                <a:cs typeface="Arial"/>
              </a:rPr>
              <a:t>Turkiya diplomatiyasining o‘ziga xos jihatlari</a:t>
            </a:r>
            <a:endParaRPr lang="uz-Latn-UZ" sz="1800" b="1" i="0" dirty="0">
              <a:solidFill>
                <a:srgbClr val="14213D"/>
              </a:solidFill>
              <a:latin typeface="Arial"/>
              <a:cs typeface="Arial"/>
            </a:endParaRPr>
          </a:p>
        </p:txBody>
      </p:sp>
      <p:sp>
        <p:nvSpPr>
          <p:cNvPr id="11" name="Shape 11"/>
          <p:cNvSpPr/>
          <p:nvPr/>
        </p:nvSpPr>
        <p:spPr>
          <a:xfrm>
            <a:off x="9921240" y="1700784"/>
            <a:ext cx="1719072" cy="384048"/>
          </a:xfrm>
          <a:prstGeom prst="roundRect">
            <a:avLst>
              <a:gd name="adj" fmla="val 50000"/>
            </a:avLst>
          </a:prstGeom>
          <a:solidFill>
            <a:srgbClr val="F1F3F6"/>
          </a:solidFill>
          <a:ln>
            <a:noFill/>
          </a:ln>
        </p:spPr>
        <p:txBody>
          <a:bodyPr wrap="square" lIns="0" tIns="0" rIns="0" bIns="0" rtlCol="0" anchor="ctr">
            <a:noAutofit/>
          </a:bodyPr>
          <a:lstStyle/>
          <a:p>
            <a:pPr marL="0" indent="0" algn="ctr">
              <a:spcBef>
                <a:spcPts val="0"/>
              </a:spcBef>
              <a:buNone/>
            </a:pPr>
            <a:r>
              <a:rPr lang="uz-Latn-UZ" sz="1350" b="1" i="0" dirty="0">
                <a:solidFill>
                  <a:srgbClr val="14213D"/>
                </a:solidFill>
                <a:latin typeface="Arial"/>
                <a:cs typeface="Arial"/>
              </a:rPr>
              <a:t>1-ma’ruzachi</a:t>
            </a:r>
            <a:endParaRPr lang="uz-Latn-UZ" sz="1350" b="1" i="0" dirty="0">
              <a:solidFill>
                <a:srgbClr val="14213D"/>
              </a:solidFill>
              <a:latin typeface="Arial"/>
              <a:cs typeface="Arial"/>
            </a:endParaRPr>
          </a:p>
        </p:txBody>
      </p:sp>
      <p:sp>
        <p:nvSpPr>
          <p:cNvPr id="12" name="TextBox 12"/>
          <p:cNvSpPr/>
          <p:nvPr/>
        </p:nvSpPr>
        <p:spPr>
          <a:xfrm>
            <a:off x="9921240" y="2121408"/>
            <a:ext cx="1719072" cy="274320"/>
          </a:xfrm>
          <a:prstGeom prst="rect">
            <a:avLst/>
          </a:prstGeom>
          <a:noFill/>
          <a:ln>
            <a:noFill/>
          </a:ln>
        </p:spPr>
        <p:txBody>
          <a:bodyPr wrap="square" lIns="0" tIns="0" rIns="0" bIns="0" rtlCol="0" anchor="ctr">
            <a:noAutofit/>
          </a:bodyPr>
          <a:lstStyle/>
          <a:p>
            <a:pPr marL="0" indent="0" algn="ctr">
              <a:spcBef>
                <a:spcPts val="0"/>
              </a:spcBef>
              <a:buNone/>
            </a:pPr>
            <a:r>
              <a:rPr lang="uz-Latn-UZ" sz="1150" b="0" i="0" dirty="0">
                <a:solidFill>
                  <a:srgbClr val="6B7280"/>
                </a:solidFill>
                <a:latin typeface="Arial"/>
                <a:cs typeface="Arial"/>
              </a:rPr>
              <a:t>3–7-slaydlar</a:t>
            </a:r>
            <a:endParaRPr lang="uz-Latn-UZ" sz="1150" b="0" i="0" dirty="0">
              <a:solidFill>
                <a:srgbClr val="6B7280"/>
              </a:solidFill>
              <a:latin typeface="Arial"/>
              <a:cs typeface="Arial"/>
            </a:endParaRPr>
          </a:p>
        </p:txBody>
      </p:sp>
      <p:cxnSp>
        <p:nvCxnSpPr>
          <p:cNvPr id="13" name="Line 13"/>
          <p:cNvCxnSpPr/>
          <p:nvPr/>
        </p:nvCxnSpPr>
        <p:spPr>
          <a:xfrm>
            <a:off x="1463040" y="2487168"/>
            <a:ext cx="10177272" cy="0"/>
          </a:xfrm>
          <a:prstGeom prst="line">
            <a:avLst/>
          </a:prstGeom>
          <a:ln w="12700">
            <a:solidFill>
              <a:srgbClr val="E5E7EB"/>
            </a:solidFill>
          </a:ln>
        </p:spPr>
      </p:cxnSp>
      <p:sp>
        <p:nvSpPr>
          <p:cNvPr id="14" name="Shape 14"/>
          <p:cNvSpPr/>
          <p:nvPr/>
        </p:nvSpPr>
        <p:spPr>
          <a:xfrm>
            <a:off x="658368" y="2670048"/>
            <a:ext cx="548640" cy="548640"/>
          </a:xfrm>
          <a:prstGeom prst="ellipse">
            <a:avLst/>
          </a:prstGeom>
          <a:solidFill>
            <a:srgbClr val="C8102E"/>
          </a:solidFill>
          <a:ln>
            <a:noFill/>
          </a:ln>
        </p:spPr>
        <p:txBody>
          <a:bodyPr wrap="square" lIns="0" tIns="0" rIns="0" bIns="0" rtlCol="0" anchor="ctr">
            <a:noAutofit/>
          </a:bodyPr>
          <a:lstStyle/>
          <a:p>
            <a:pPr marL="0" indent="0" algn="ctr">
              <a:spcBef>
                <a:spcPts val="0"/>
              </a:spcBef>
              <a:buNone/>
            </a:pPr>
            <a:r>
              <a:rPr lang="uz-Latn-UZ" sz="2200" b="1" i="0" dirty="0">
                <a:solidFill>
                  <a:srgbClr val="FFFFFF"/>
                </a:solidFill>
                <a:latin typeface="Arial"/>
                <a:cs typeface="Arial"/>
              </a:rPr>
              <a:t>2</a:t>
            </a:r>
            <a:endParaRPr lang="uz-Latn-UZ" sz="2200" b="1" i="0" dirty="0">
              <a:solidFill>
                <a:srgbClr val="FFFFFF"/>
              </a:solidFill>
              <a:latin typeface="Arial"/>
              <a:cs typeface="Arial"/>
            </a:endParaRPr>
          </a:p>
        </p:txBody>
      </p:sp>
      <p:sp>
        <p:nvSpPr>
          <p:cNvPr id="15" name="TextBox 15"/>
          <p:cNvSpPr/>
          <p:nvPr/>
        </p:nvSpPr>
        <p:spPr>
          <a:xfrm>
            <a:off x="1463040" y="2560320"/>
            <a:ext cx="8321040" cy="768096"/>
          </a:xfrm>
          <a:prstGeom prst="rect">
            <a:avLst/>
          </a:prstGeom>
          <a:noFill/>
          <a:ln>
            <a:noFill/>
          </a:ln>
        </p:spPr>
        <p:txBody>
          <a:bodyPr wrap="square" lIns="0" tIns="0" rIns="0" bIns="0" rtlCol="0" anchor="ctr">
            <a:noAutofit/>
          </a:bodyPr>
          <a:lstStyle/>
          <a:p>
            <a:pPr marL="0" indent="0" algn="l">
              <a:spcBef>
                <a:spcPts val="0"/>
              </a:spcBef>
              <a:buNone/>
            </a:pPr>
            <a:r>
              <a:rPr lang="uz-Latn-UZ" sz="1800" b="1" i="0" dirty="0">
                <a:solidFill>
                  <a:srgbClr val="14213D"/>
                </a:solidFill>
                <a:latin typeface="Arial"/>
                <a:cs typeface="Arial"/>
              </a:rPr>
              <a:t>Davlatning diplomatik faoliyati</a:t>
            </a:r>
            <a:endParaRPr lang="uz-Latn-UZ" sz="1800" b="1" i="0" dirty="0">
              <a:solidFill>
                <a:srgbClr val="14213D"/>
              </a:solidFill>
              <a:latin typeface="Arial"/>
              <a:cs typeface="Arial"/>
            </a:endParaRPr>
          </a:p>
        </p:txBody>
      </p:sp>
      <p:sp>
        <p:nvSpPr>
          <p:cNvPr id="16" name="Shape 16"/>
          <p:cNvSpPr/>
          <p:nvPr/>
        </p:nvSpPr>
        <p:spPr>
          <a:xfrm>
            <a:off x="9921240" y="2615184"/>
            <a:ext cx="1719072" cy="384048"/>
          </a:xfrm>
          <a:prstGeom prst="roundRect">
            <a:avLst>
              <a:gd name="adj" fmla="val 50000"/>
            </a:avLst>
          </a:prstGeom>
          <a:solidFill>
            <a:srgbClr val="F1F3F6"/>
          </a:solidFill>
          <a:ln>
            <a:noFill/>
          </a:ln>
        </p:spPr>
        <p:txBody>
          <a:bodyPr wrap="square" lIns="0" tIns="0" rIns="0" bIns="0" rtlCol="0" anchor="ctr">
            <a:noAutofit/>
          </a:bodyPr>
          <a:lstStyle/>
          <a:p>
            <a:pPr marL="0" indent="0" algn="ctr">
              <a:spcBef>
                <a:spcPts val="0"/>
              </a:spcBef>
              <a:buNone/>
            </a:pPr>
            <a:r>
              <a:rPr lang="uz-Latn-UZ" sz="1350" b="1" i="0" dirty="0">
                <a:solidFill>
                  <a:srgbClr val="14213D"/>
                </a:solidFill>
                <a:latin typeface="Arial"/>
                <a:cs typeface="Arial"/>
              </a:rPr>
              <a:t>2-ma’ruzachi</a:t>
            </a:r>
            <a:endParaRPr lang="uz-Latn-UZ" sz="1350" b="1" i="0" dirty="0">
              <a:solidFill>
                <a:srgbClr val="14213D"/>
              </a:solidFill>
              <a:latin typeface="Arial"/>
              <a:cs typeface="Arial"/>
            </a:endParaRPr>
          </a:p>
        </p:txBody>
      </p:sp>
      <p:sp>
        <p:nvSpPr>
          <p:cNvPr id="17" name="TextBox 17"/>
          <p:cNvSpPr/>
          <p:nvPr/>
        </p:nvSpPr>
        <p:spPr>
          <a:xfrm>
            <a:off x="9921240" y="3035808"/>
            <a:ext cx="1719072" cy="274320"/>
          </a:xfrm>
          <a:prstGeom prst="rect">
            <a:avLst/>
          </a:prstGeom>
          <a:noFill/>
          <a:ln>
            <a:noFill/>
          </a:ln>
        </p:spPr>
        <p:txBody>
          <a:bodyPr wrap="square" lIns="0" tIns="0" rIns="0" bIns="0" rtlCol="0" anchor="ctr">
            <a:noAutofit/>
          </a:bodyPr>
          <a:lstStyle/>
          <a:p>
            <a:pPr marL="0" indent="0" algn="ctr">
              <a:spcBef>
                <a:spcPts val="0"/>
              </a:spcBef>
              <a:buNone/>
            </a:pPr>
            <a:r>
              <a:rPr lang="uz-Latn-UZ" sz="1150" b="0" i="0" dirty="0">
                <a:solidFill>
                  <a:srgbClr val="6B7280"/>
                </a:solidFill>
                <a:latin typeface="Arial"/>
                <a:cs typeface="Arial"/>
              </a:rPr>
              <a:t>8–12-slaydlar</a:t>
            </a:r>
            <a:endParaRPr lang="uz-Latn-UZ" sz="1150" b="0" i="0" dirty="0">
              <a:solidFill>
                <a:srgbClr val="6B7280"/>
              </a:solidFill>
              <a:latin typeface="Arial"/>
              <a:cs typeface="Arial"/>
            </a:endParaRPr>
          </a:p>
        </p:txBody>
      </p:sp>
      <p:cxnSp>
        <p:nvCxnSpPr>
          <p:cNvPr id="18" name="Line 18"/>
          <p:cNvCxnSpPr/>
          <p:nvPr/>
        </p:nvCxnSpPr>
        <p:spPr>
          <a:xfrm>
            <a:off x="1463040" y="3401568"/>
            <a:ext cx="10177272" cy="0"/>
          </a:xfrm>
          <a:prstGeom prst="line">
            <a:avLst/>
          </a:prstGeom>
          <a:ln w="12700">
            <a:solidFill>
              <a:srgbClr val="E5E7EB"/>
            </a:solidFill>
          </a:ln>
        </p:spPr>
      </p:cxnSp>
      <p:sp>
        <p:nvSpPr>
          <p:cNvPr id="19" name="Shape 19"/>
          <p:cNvSpPr/>
          <p:nvPr/>
        </p:nvSpPr>
        <p:spPr>
          <a:xfrm>
            <a:off x="658368" y="3584448"/>
            <a:ext cx="548640" cy="548640"/>
          </a:xfrm>
          <a:prstGeom prst="ellipse">
            <a:avLst/>
          </a:prstGeom>
          <a:solidFill>
            <a:srgbClr val="C8102E"/>
          </a:solidFill>
          <a:ln>
            <a:noFill/>
          </a:ln>
        </p:spPr>
        <p:txBody>
          <a:bodyPr wrap="square" lIns="0" tIns="0" rIns="0" bIns="0" rtlCol="0" anchor="ctr">
            <a:noAutofit/>
          </a:bodyPr>
          <a:lstStyle/>
          <a:p>
            <a:pPr marL="0" indent="0" algn="ctr">
              <a:spcBef>
                <a:spcPts val="0"/>
              </a:spcBef>
              <a:buNone/>
            </a:pPr>
            <a:r>
              <a:rPr lang="uz-Latn-UZ" sz="2200" b="1" i="0" dirty="0">
                <a:solidFill>
                  <a:srgbClr val="FFFFFF"/>
                </a:solidFill>
                <a:latin typeface="Arial"/>
                <a:cs typeface="Arial"/>
              </a:rPr>
              <a:t>3</a:t>
            </a:r>
            <a:endParaRPr lang="uz-Latn-UZ" sz="2200" b="1" i="0" dirty="0">
              <a:solidFill>
                <a:srgbClr val="FFFFFF"/>
              </a:solidFill>
              <a:latin typeface="Arial"/>
              <a:cs typeface="Arial"/>
            </a:endParaRPr>
          </a:p>
        </p:txBody>
      </p:sp>
      <p:sp>
        <p:nvSpPr>
          <p:cNvPr id="20" name="TextBox 20"/>
          <p:cNvSpPr/>
          <p:nvPr/>
        </p:nvSpPr>
        <p:spPr>
          <a:xfrm>
            <a:off x="1463040" y="3474720"/>
            <a:ext cx="8321040" cy="768096"/>
          </a:xfrm>
          <a:prstGeom prst="rect">
            <a:avLst/>
          </a:prstGeom>
          <a:noFill/>
          <a:ln>
            <a:noFill/>
          </a:ln>
        </p:spPr>
        <p:txBody>
          <a:bodyPr wrap="square" lIns="0" tIns="0" rIns="0" bIns="0" rtlCol="0" anchor="ctr">
            <a:noAutofit/>
          </a:bodyPr>
          <a:lstStyle/>
          <a:p>
            <a:pPr marL="0" indent="0" algn="l">
              <a:spcBef>
                <a:spcPts val="0"/>
              </a:spcBef>
              <a:buNone/>
            </a:pPr>
            <a:r>
              <a:rPr lang="uz-Latn-UZ" sz="1800" b="1" i="0" dirty="0">
                <a:solidFill>
                  <a:srgbClr val="14213D"/>
                </a:solidFill>
                <a:latin typeface="Arial"/>
                <a:cs typeface="Arial"/>
              </a:rPr>
              <a:t>Turkiya madaniyati va ijtimoiy hayotining siyosatdagi o‘rni</a:t>
            </a:r>
            <a:endParaRPr lang="uz-Latn-UZ" sz="1800" b="1" i="0" dirty="0">
              <a:solidFill>
                <a:srgbClr val="14213D"/>
              </a:solidFill>
              <a:latin typeface="Arial"/>
              <a:cs typeface="Arial"/>
            </a:endParaRPr>
          </a:p>
        </p:txBody>
      </p:sp>
      <p:sp>
        <p:nvSpPr>
          <p:cNvPr id="21" name="Shape 21"/>
          <p:cNvSpPr/>
          <p:nvPr/>
        </p:nvSpPr>
        <p:spPr>
          <a:xfrm>
            <a:off x="9921240" y="3529584"/>
            <a:ext cx="1719072" cy="384048"/>
          </a:xfrm>
          <a:prstGeom prst="roundRect">
            <a:avLst>
              <a:gd name="adj" fmla="val 50000"/>
            </a:avLst>
          </a:prstGeom>
          <a:solidFill>
            <a:srgbClr val="F1F3F6"/>
          </a:solidFill>
          <a:ln>
            <a:noFill/>
          </a:ln>
        </p:spPr>
        <p:txBody>
          <a:bodyPr wrap="square" lIns="0" tIns="0" rIns="0" bIns="0" rtlCol="0" anchor="ctr">
            <a:noAutofit/>
          </a:bodyPr>
          <a:lstStyle/>
          <a:p>
            <a:pPr marL="0" indent="0" algn="ctr">
              <a:spcBef>
                <a:spcPts val="0"/>
              </a:spcBef>
              <a:buNone/>
            </a:pPr>
            <a:r>
              <a:rPr lang="uz-Latn-UZ" sz="1350" b="1" i="0" dirty="0">
                <a:solidFill>
                  <a:srgbClr val="14213D"/>
                </a:solidFill>
                <a:latin typeface="Arial"/>
                <a:cs typeface="Arial"/>
              </a:rPr>
              <a:t>3-ma’ruzachi</a:t>
            </a:r>
            <a:endParaRPr lang="uz-Latn-UZ" sz="1350" b="1" i="0" dirty="0">
              <a:solidFill>
                <a:srgbClr val="14213D"/>
              </a:solidFill>
              <a:latin typeface="Arial"/>
              <a:cs typeface="Arial"/>
            </a:endParaRPr>
          </a:p>
        </p:txBody>
      </p:sp>
      <p:sp>
        <p:nvSpPr>
          <p:cNvPr id="22" name="TextBox 22"/>
          <p:cNvSpPr/>
          <p:nvPr/>
        </p:nvSpPr>
        <p:spPr>
          <a:xfrm>
            <a:off x="9921240" y="3950208"/>
            <a:ext cx="1719072" cy="274320"/>
          </a:xfrm>
          <a:prstGeom prst="rect">
            <a:avLst/>
          </a:prstGeom>
          <a:noFill/>
          <a:ln>
            <a:noFill/>
          </a:ln>
        </p:spPr>
        <p:txBody>
          <a:bodyPr wrap="square" lIns="0" tIns="0" rIns="0" bIns="0" rtlCol="0" anchor="ctr">
            <a:noAutofit/>
          </a:bodyPr>
          <a:lstStyle/>
          <a:p>
            <a:pPr marL="0" indent="0" algn="ctr">
              <a:spcBef>
                <a:spcPts val="0"/>
              </a:spcBef>
              <a:buNone/>
            </a:pPr>
            <a:r>
              <a:rPr lang="uz-Latn-UZ" sz="1150" b="0" i="0" dirty="0">
                <a:solidFill>
                  <a:srgbClr val="6B7280"/>
                </a:solidFill>
                <a:latin typeface="Arial"/>
                <a:cs typeface="Arial"/>
              </a:rPr>
              <a:t>13–17-slaydlar</a:t>
            </a:r>
            <a:endParaRPr lang="uz-Latn-UZ" sz="1150" b="0" i="0" dirty="0">
              <a:solidFill>
                <a:srgbClr val="6B7280"/>
              </a:solidFill>
              <a:latin typeface="Arial"/>
              <a:cs typeface="Arial"/>
            </a:endParaRPr>
          </a:p>
        </p:txBody>
      </p:sp>
      <p:cxnSp>
        <p:nvCxnSpPr>
          <p:cNvPr id="23" name="Line 23"/>
          <p:cNvCxnSpPr/>
          <p:nvPr/>
        </p:nvCxnSpPr>
        <p:spPr>
          <a:xfrm>
            <a:off x="1463040" y="4315968"/>
            <a:ext cx="10177272" cy="0"/>
          </a:xfrm>
          <a:prstGeom prst="line">
            <a:avLst/>
          </a:prstGeom>
          <a:ln w="12700">
            <a:solidFill>
              <a:srgbClr val="E5E7EB"/>
            </a:solidFill>
          </a:ln>
        </p:spPr>
      </p:cxnSp>
      <p:sp>
        <p:nvSpPr>
          <p:cNvPr id="24" name="Shape 24"/>
          <p:cNvSpPr/>
          <p:nvPr/>
        </p:nvSpPr>
        <p:spPr>
          <a:xfrm>
            <a:off x="658368" y="4498848"/>
            <a:ext cx="548640" cy="548640"/>
          </a:xfrm>
          <a:prstGeom prst="ellipse">
            <a:avLst/>
          </a:prstGeom>
          <a:solidFill>
            <a:srgbClr val="C8102E"/>
          </a:solidFill>
          <a:ln>
            <a:noFill/>
          </a:ln>
        </p:spPr>
        <p:txBody>
          <a:bodyPr wrap="square" lIns="0" tIns="0" rIns="0" bIns="0" rtlCol="0" anchor="ctr">
            <a:noAutofit/>
          </a:bodyPr>
          <a:lstStyle/>
          <a:p>
            <a:pPr marL="0" indent="0" algn="ctr">
              <a:spcBef>
                <a:spcPts val="0"/>
              </a:spcBef>
              <a:buNone/>
            </a:pPr>
            <a:r>
              <a:rPr lang="uz-Latn-UZ" sz="2200" b="1" i="0" dirty="0">
                <a:solidFill>
                  <a:srgbClr val="FFFFFF"/>
                </a:solidFill>
                <a:latin typeface="Arial"/>
                <a:cs typeface="Arial"/>
              </a:rPr>
              <a:t>4</a:t>
            </a:r>
            <a:endParaRPr lang="uz-Latn-UZ" sz="2200" b="1" i="0" dirty="0">
              <a:solidFill>
                <a:srgbClr val="FFFFFF"/>
              </a:solidFill>
              <a:latin typeface="Arial"/>
              <a:cs typeface="Arial"/>
            </a:endParaRPr>
          </a:p>
        </p:txBody>
      </p:sp>
      <p:sp>
        <p:nvSpPr>
          <p:cNvPr id="25" name="TextBox 25"/>
          <p:cNvSpPr/>
          <p:nvPr/>
        </p:nvSpPr>
        <p:spPr>
          <a:xfrm>
            <a:off x="1463040" y="4389120"/>
            <a:ext cx="8321040" cy="768096"/>
          </a:xfrm>
          <a:prstGeom prst="rect">
            <a:avLst/>
          </a:prstGeom>
          <a:noFill/>
          <a:ln>
            <a:noFill/>
          </a:ln>
        </p:spPr>
        <p:txBody>
          <a:bodyPr wrap="square" lIns="0" tIns="0" rIns="0" bIns="0" rtlCol="0" anchor="ctr">
            <a:noAutofit/>
          </a:bodyPr>
          <a:lstStyle/>
          <a:p>
            <a:pPr marL="0" indent="0" algn="l">
              <a:spcBef>
                <a:spcPts val="0"/>
              </a:spcBef>
              <a:buNone/>
            </a:pPr>
            <a:r>
              <a:rPr lang="uz-Latn-UZ" sz="1800" b="1" i="0" dirty="0">
                <a:solidFill>
                  <a:srgbClr val="14213D"/>
                </a:solidFill>
                <a:latin typeface="Arial"/>
                <a:cs typeface="Arial"/>
              </a:rPr>
              <a:t>Boshqa davlatlar diplomatiyasidan qaysi jihatlari bilan ajralib turadi</a:t>
            </a:r>
            <a:endParaRPr lang="uz-Latn-UZ" sz="1800" b="1" i="0" dirty="0">
              <a:solidFill>
                <a:srgbClr val="14213D"/>
              </a:solidFill>
              <a:latin typeface="Arial"/>
              <a:cs typeface="Arial"/>
            </a:endParaRPr>
          </a:p>
        </p:txBody>
      </p:sp>
      <p:sp>
        <p:nvSpPr>
          <p:cNvPr id="26" name="Shape 26"/>
          <p:cNvSpPr/>
          <p:nvPr/>
        </p:nvSpPr>
        <p:spPr>
          <a:xfrm>
            <a:off x="9921240" y="4443984"/>
            <a:ext cx="1719072" cy="384048"/>
          </a:xfrm>
          <a:prstGeom prst="roundRect">
            <a:avLst>
              <a:gd name="adj" fmla="val 50000"/>
            </a:avLst>
          </a:prstGeom>
          <a:solidFill>
            <a:srgbClr val="F1F3F6"/>
          </a:solidFill>
          <a:ln>
            <a:noFill/>
          </a:ln>
        </p:spPr>
        <p:txBody>
          <a:bodyPr wrap="square" lIns="0" tIns="0" rIns="0" bIns="0" rtlCol="0" anchor="ctr">
            <a:noAutofit/>
          </a:bodyPr>
          <a:lstStyle/>
          <a:p>
            <a:pPr marL="0" indent="0" algn="ctr">
              <a:spcBef>
                <a:spcPts val="0"/>
              </a:spcBef>
              <a:buNone/>
            </a:pPr>
            <a:r>
              <a:rPr lang="uz-Latn-UZ" sz="1350" b="1" i="0" dirty="0">
                <a:solidFill>
                  <a:srgbClr val="14213D"/>
                </a:solidFill>
                <a:latin typeface="Arial"/>
                <a:cs typeface="Arial"/>
              </a:rPr>
              <a:t>4-ma’ruzachi</a:t>
            </a:r>
            <a:endParaRPr lang="uz-Latn-UZ" sz="1350" b="1" i="0" dirty="0">
              <a:solidFill>
                <a:srgbClr val="14213D"/>
              </a:solidFill>
              <a:latin typeface="Arial"/>
              <a:cs typeface="Arial"/>
            </a:endParaRPr>
          </a:p>
        </p:txBody>
      </p:sp>
      <p:sp>
        <p:nvSpPr>
          <p:cNvPr id="27" name="TextBox 27"/>
          <p:cNvSpPr/>
          <p:nvPr/>
        </p:nvSpPr>
        <p:spPr>
          <a:xfrm>
            <a:off x="9921240" y="4864608"/>
            <a:ext cx="1719072" cy="274320"/>
          </a:xfrm>
          <a:prstGeom prst="rect">
            <a:avLst/>
          </a:prstGeom>
          <a:noFill/>
          <a:ln>
            <a:noFill/>
          </a:ln>
        </p:spPr>
        <p:txBody>
          <a:bodyPr wrap="square" lIns="0" tIns="0" rIns="0" bIns="0" rtlCol="0" anchor="ctr">
            <a:noAutofit/>
          </a:bodyPr>
          <a:lstStyle/>
          <a:p>
            <a:pPr marL="0" indent="0" algn="ctr">
              <a:spcBef>
                <a:spcPts val="0"/>
              </a:spcBef>
              <a:buNone/>
            </a:pPr>
            <a:r>
              <a:rPr lang="uz-Latn-UZ" sz="1150" b="0" i="0" dirty="0">
                <a:solidFill>
                  <a:srgbClr val="6B7280"/>
                </a:solidFill>
                <a:latin typeface="Arial"/>
                <a:cs typeface="Arial"/>
              </a:rPr>
              <a:t>18–22-slaydlar</a:t>
            </a:r>
            <a:endParaRPr lang="uz-Latn-UZ" sz="1150" b="0" i="0" dirty="0">
              <a:solidFill>
                <a:srgbClr val="6B7280"/>
              </a:solidFill>
              <a:latin typeface="Arial"/>
              <a:cs typeface="Arial"/>
            </a:endParaRPr>
          </a:p>
        </p:txBody>
      </p:sp>
      <p:cxnSp>
        <p:nvCxnSpPr>
          <p:cNvPr id="28" name="Line 28"/>
          <p:cNvCxnSpPr/>
          <p:nvPr/>
        </p:nvCxnSpPr>
        <p:spPr>
          <a:xfrm>
            <a:off x="1463040" y="5230368"/>
            <a:ext cx="10177272" cy="0"/>
          </a:xfrm>
          <a:prstGeom prst="line">
            <a:avLst/>
          </a:prstGeom>
          <a:ln w="12700">
            <a:solidFill>
              <a:srgbClr val="E5E7EB"/>
            </a:solidFill>
          </a:ln>
        </p:spPr>
      </p:cxnSp>
      <p:sp>
        <p:nvSpPr>
          <p:cNvPr id="29" name="Shape 29"/>
          <p:cNvSpPr/>
          <p:nvPr/>
        </p:nvSpPr>
        <p:spPr>
          <a:xfrm>
            <a:off x="658368" y="5413248"/>
            <a:ext cx="548640" cy="548640"/>
          </a:xfrm>
          <a:prstGeom prst="ellipse">
            <a:avLst/>
          </a:prstGeom>
          <a:solidFill>
            <a:srgbClr val="C8102E"/>
          </a:solidFill>
          <a:ln>
            <a:noFill/>
          </a:ln>
        </p:spPr>
        <p:txBody>
          <a:bodyPr wrap="square" lIns="0" tIns="0" rIns="0" bIns="0" rtlCol="0" anchor="ctr">
            <a:noAutofit/>
          </a:bodyPr>
          <a:lstStyle/>
          <a:p>
            <a:pPr marL="0" indent="0" algn="ctr">
              <a:spcBef>
                <a:spcPts val="0"/>
              </a:spcBef>
              <a:buNone/>
            </a:pPr>
            <a:r>
              <a:rPr lang="uz-Latn-UZ" sz="2200" b="1" i="0" dirty="0">
                <a:solidFill>
                  <a:srgbClr val="FFFFFF"/>
                </a:solidFill>
                <a:latin typeface="Arial"/>
                <a:cs typeface="Arial"/>
              </a:rPr>
              <a:t>5</a:t>
            </a:r>
            <a:endParaRPr lang="uz-Latn-UZ" sz="2200" b="1" i="0" dirty="0">
              <a:solidFill>
                <a:srgbClr val="FFFFFF"/>
              </a:solidFill>
              <a:latin typeface="Arial"/>
              <a:cs typeface="Arial"/>
            </a:endParaRPr>
          </a:p>
        </p:txBody>
      </p:sp>
      <p:sp>
        <p:nvSpPr>
          <p:cNvPr id="30" name="TextBox 30"/>
          <p:cNvSpPr/>
          <p:nvPr/>
        </p:nvSpPr>
        <p:spPr>
          <a:xfrm>
            <a:off x="1463040" y="5303520"/>
            <a:ext cx="8321040" cy="768096"/>
          </a:xfrm>
          <a:prstGeom prst="rect">
            <a:avLst/>
          </a:prstGeom>
          <a:noFill/>
          <a:ln>
            <a:noFill/>
          </a:ln>
        </p:spPr>
        <p:txBody>
          <a:bodyPr wrap="square" lIns="0" tIns="0" rIns="0" bIns="0" rtlCol="0" anchor="ctr">
            <a:noAutofit/>
          </a:bodyPr>
          <a:lstStyle/>
          <a:p>
            <a:pPr marL="0" indent="0" algn="l">
              <a:spcBef>
                <a:spcPts val="0"/>
              </a:spcBef>
              <a:buNone/>
            </a:pPr>
            <a:r>
              <a:rPr lang="uz-Latn-UZ" sz="1800" b="1" i="0" dirty="0">
                <a:solidFill>
                  <a:srgbClr val="14213D"/>
                </a:solidFill>
                <a:latin typeface="Arial"/>
                <a:cs typeface="Arial"/>
              </a:rPr>
              <a:t>Xulosa</a:t>
            </a:r>
            <a:endParaRPr lang="uz-Latn-UZ" sz="1800" b="1" i="0" dirty="0">
              <a:solidFill>
                <a:srgbClr val="14213D"/>
              </a:solidFill>
              <a:latin typeface="Arial"/>
              <a:cs typeface="Arial"/>
            </a:endParaRPr>
          </a:p>
        </p:txBody>
      </p:sp>
      <p:sp>
        <p:nvSpPr>
          <p:cNvPr id="31" name="Shape 31"/>
          <p:cNvSpPr/>
          <p:nvPr/>
        </p:nvSpPr>
        <p:spPr>
          <a:xfrm>
            <a:off x="9921240" y="5358384"/>
            <a:ext cx="1719072" cy="384048"/>
          </a:xfrm>
          <a:prstGeom prst="roundRect">
            <a:avLst>
              <a:gd name="adj" fmla="val 50000"/>
            </a:avLst>
          </a:prstGeom>
          <a:solidFill>
            <a:srgbClr val="F1F3F6"/>
          </a:solidFill>
          <a:ln>
            <a:noFill/>
          </a:ln>
        </p:spPr>
        <p:txBody>
          <a:bodyPr wrap="square" lIns="0" tIns="0" rIns="0" bIns="0" rtlCol="0" anchor="ctr">
            <a:noAutofit/>
          </a:bodyPr>
          <a:lstStyle/>
          <a:p>
            <a:pPr marL="0" indent="0" algn="ctr">
              <a:spcBef>
                <a:spcPts val="0"/>
              </a:spcBef>
              <a:buNone/>
            </a:pPr>
            <a:r>
              <a:rPr lang="uz-Latn-UZ" sz="1350" b="1" i="0" dirty="0">
                <a:solidFill>
                  <a:srgbClr val="14213D"/>
                </a:solidFill>
                <a:latin typeface="Arial"/>
                <a:cs typeface="Arial"/>
              </a:rPr>
              <a:t>5-ma’ruzachi</a:t>
            </a:r>
            <a:endParaRPr lang="uz-Latn-UZ" sz="1350" b="1" i="0" dirty="0">
              <a:solidFill>
                <a:srgbClr val="14213D"/>
              </a:solidFill>
              <a:latin typeface="Arial"/>
              <a:cs typeface="Arial"/>
            </a:endParaRPr>
          </a:p>
        </p:txBody>
      </p:sp>
      <p:sp>
        <p:nvSpPr>
          <p:cNvPr id="32" name="TextBox 32"/>
          <p:cNvSpPr/>
          <p:nvPr/>
        </p:nvSpPr>
        <p:spPr>
          <a:xfrm>
            <a:off x="9921240" y="5779008"/>
            <a:ext cx="1719072" cy="274320"/>
          </a:xfrm>
          <a:prstGeom prst="rect">
            <a:avLst/>
          </a:prstGeom>
          <a:noFill/>
          <a:ln>
            <a:noFill/>
          </a:ln>
        </p:spPr>
        <p:txBody>
          <a:bodyPr wrap="square" lIns="0" tIns="0" rIns="0" bIns="0" rtlCol="0" anchor="ctr">
            <a:noAutofit/>
          </a:bodyPr>
          <a:lstStyle/>
          <a:p>
            <a:pPr marL="0" indent="0" algn="ctr">
              <a:spcBef>
                <a:spcPts val="0"/>
              </a:spcBef>
              <a:buNone/>
            </a:pPr>
            <a:r>
              <a:rPr lang="uz-Latn-UZ" sz="1150" b="0" i="0" dirty="0">
                <a:solidFill>
                  <a:srgbClr val="6B7280"/>
                </a:solidFill>
                <a:latin typeface="Arial"/>
                <a:cs typeface="Arial"/>
              </a:rPr>
              <a:t>23–29-slaydlar</a:t>
            </a:r>
            <a:endParaRPr lang="uz-Latn-UZ" sz="1150" b="0" i="0" dirty="0">
              <a:solidFill>
                <a:srgbClr val="6B7280"/>
              </a:solidFill>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Shape 2"/>
          <p:cNvSpPr/>
          <p:nvPr/>
        </p:nvSpPr>
        <p:spPr>
          <a:xfrm>
            <a:off x="0" y="0"/>
            <a:ext cx="320040" cy="6858000"/>
          </a:xfrm>
          <a:prstGeom prst="rect">
            <a:avLst/>
          </a:prstGeom>
          <a:solidFill>
            <a:srgbClr val="C8102E"/>
          </a:solidFill>
          <a:ln>
            <a:noFill/>
          </a:ln>
        </p:spPr>
      </p:sp>
      <p:sp>
        <p:nvSpPr>
          <p:cNvPr id="3" name="TextBox 3"/>
          <p:cNvSpPr/>
          <p:nvPr/>
        </p:nvSpPr>
        <p:spPr>
          <a:xfrm>
            <a:off x="914400" y="1005840"/>
            <a:ext cx="3017520" cy="2103120"/>
          </a:xfrm>
          <a:prstGeom prst="rect">
            <a:avLst/>
          </a:prstGeom>
          <a:noFill/>
          <a:ln>
            <a:noFill/>
          </a:ln>
        </p:spPr>
        <p:txBody>
          <a:bodyPr wrap="square" lIns="0" tIns="0" rIns="0" bIns="0" rtlCol="0" anchor="b">
            <a:noAutofit/>
          </a:bodyPr>
          <a:lstStyle/>
          <a:p>
            <a:pPr marL="0" indent="0" algn="l">
              <a:spcBef>
                <a:spcPts val="0"/>
              </a:spcBef>
              <a:buNone/>
            </a:pPr>
            <a:r>
              <a:rPr lang="uz-Latn-UZ" sz="12000" b="1" i="0" dirty="0">
                <a:solidFill>
                  <a:srgbClr val="C8102E"/>
                </a:solidFill>
                <a:latin typeface="Arial"/>
                <a:cs typeface="Arial"/>
              </a:rPr>
              <a:t>01</a:t>
            </a:r>
            <a:endParaRPr lang="uz-Latn-UZ" sz="12000" b="1" i="0" dirty="0">
              <a:solidFill>
                <a:srgbClr val="C8102E"/>
              </a:solidFill>
              <a:latin typeface="Arial"/>
              <a:cs typeface="Arial"/>
            </a:endParaRPr>
          </a:p>
        </p:txBody>
      </p:sp>
      <p:sp>
        <p:nvSpPr>
          <p:cNvPr id="4" name="Shape 4"/>
          <p:cNvSpPr/>
          <p:nvPr/>
        </p:nvSpPr>
        <p:spPr>
          <a:xfrm>
            <a:off x="914400" y="3429000"/>
            <a:ext cx="2103120" cy="502920"/>
          </a:xfrm>
          <a:prstGeom prst="roundRect">
            <a:avLst>
              <a:gd name="adj" fmla="val 50000"/>
            </a:avLst>
          </a:prstGeom>
          <a:solidFill>
            <a:srgbClr val="C8102E"/>
          </a:solidFill>
          <a:ln>
            <a:noFill/>
          </a:ln>
        </p:spPr>
        <p:txBody>
          <a:bodyPr wrap="square" lIns="0" tIns="0" rIns="0" bIns="0" rtlCol="0" anchor="ctr">
            <a:noAutofit/>
          </a:bodyPr>
          <a:lstStyle/>
          <a:p>
            <a:pPr marL="0" indent="0" algn="ctr">
              <a:spcBef>
                <a:spcPts val="0"/>
              </a:spcBef>
              <a:buNone/>
            </a:pPr>
            <a:r>
              <a:rPr lang="uz-Latn-UZ" sz="1700" b="1" i="0" dirty="0">
                <a:solidFill>
                  <a:srgbClr val="FFFFFF"/>
                </a:solidFill>
                <a:latin typeface="Arial"/>
                <a:cs typeface="Arial"/>
              </a:rPr>
              <a:t>1-ma’ruzachi</a:t>
            </a:r>
            <a:endParaRPr lang="uz-Latn-UZ" sz="1700" b="1" i="0" dirty="0">
              <a:solidFill>
                <a:srgbClr val="FFFFFF"/>
              </a:solidFill>
              <a:latin typeface="Arial"/>
              <a:cs typeface="Arial"/>
            </a:endParaRPr>
          </a:p>
        </p:txBody>
      </p:sp>
      <p:sp>
        <p:nvSpPr>
          <p:cNvPr id="5" name="TextBox 5"/>
          <p:cNvSpPr/>
          <p:nvPr/>
        </p:nvSpPr>
        <p:spPr>
          <a:xfrm>
            <a:off x="4206240" y="914400"/>
            <a:ext cx="7498080" cy="2514600"/>
          </a:xfrm>
          <a:prstGeom prst="rect">
            <a:avLst/>
          </a:prstGeom>
          <a:noFill/>
          <a:ln>
            <a:noFill/>
          </a:ln>
        </p:spPr>
        <p:txBody>
          <a:bodyPr wrap="square" lIns="0" tIns="0" rIns="0" bIns="0" rtlCol="0" anchor="b">
            <a:noAutofit/>
          </a:bodyPr>
          <a:lstStyle/>
          <a:p>
            <a:pPr marL="0" indent="0" algn="l">
              <a:lnSpc>
                <a:spcPct val="95000"/>
              </a:lnSpc>
              <a:spcBef>
                <a:spcPts val="0"/>
              </a:spcBef>
              <a:buNone/>
            </a:pPr>
            <a:r>
              <a:rPr lang="uz-Latn-UZ" sz="3600" b="1" i="0" dirty="0">
                <a:solidFill>
                  <a:srgbClr val="FFFFFF"/>
                </a:solidFill>
                <a:latin typeface="Arial"/>
                <a:cs typeface="Arial"/>
              </a:rPr>
              <a:t>Turkiya diplomatiyasining o‘ziga xos jihatlari</a:t>
            </a:r>
            <a:endParaRPr lang="uz-Latn-UZ" sz="3600" b="1" i="0" dirty="0">
              <a:solidFill>
                <a:srgbClr val="FFFFFF"/>
              </a:solidFill>
              <a:latin typeface="Arial"/>
              <a:cs typeface="Arial"/>
            </a:endParaRPr>
          </a:p>
        </p:txBody>
      </p:sp>
      <p:sp>
        <p:nvSpPr>
          <p:cNvPr id="6" name="Shape 6"/>
          <p:cNvSpPr/>
          <p:nvPr/>
        </p:nvSpPr>
        <p:spPr>
          <a:xfrm>
            <a:off x="4206240" y="3675888"/>
            <a:ext cx="1097280" cy="64008"/>
          </a:xfrm>
          <a:prstGeom prst="rect">
            <a:avLst/>
          </a:prstGeom>
          <a:solidFill>
            <a:srgbClr val="C8102E"/>
          </a:solidFill>
          <a:ln>
            <a:noFill/>
          </a:ln>
        </p:spPr>
      </p:sp>
      <p:sp>
        <p:nvSpPr>
          <p:cNvPr id="7" name="TextBox 7"/>
          <p:cNvSpPr/>
          <p:nvPr/>
        </p:nvSpPr>
        <p:spPr>
          <a:xfrm>
            <a:off x="4206240" y="3931920"/>
            <a:ext cx="7498080" cy="2011680"/>
          </a:xfrm>
          <a:prstGeom prst="rect">
            <a:avLst/>
          </a:prstGeom>
          <a:noFill/>
          <a:ln>
            <a:noFill/>
          </a:ln>
        </p:spPr>
        <p:txBody>
          <a:bodyPr wrap="square" lIns="0" tIns="0" rIns="0" bIns="0" rtlCol="0" anchor="t">
            <a:noAutofit/>
          </a:bodyPr>
          <a:lstStyle/>
          <a:p>
            <a:pPr marL="320040" indent="-320040" algn="l">
              <a:spcBef>
                <a:spcPts val="0"/>
              </a:spcBef>
              <a:buClr>
                <a:srgbClr val="C8102E"/>
              </a:buClr>
              <a:buFont typeface="Arial"/>
              <a:buChar char="•"/>
            </a:pPr>
            <a:r>
              <a:rPr lang="uz-Latn-UZ" sz="1900" b="0" i="0" dirty="0">
                <a:solidFill>
                  <a:srgbClr val="CBD5E1"/>
                </a:solidFill>
                <a:latin typeface="Arial"/>
                <a:cs typeface="Arial"/>
              </a:rPr>
              <a:t>Ko‘prik davlat: geosiyosiy o‘rin</a:t>
            </a:r>
            <a:endParaRPr lang="uz-Latn-UZ" sz="1900" b="0" i="0" dirty="0">
              <a:solidFill>
                <a:srgbClr val="CBD5E1"/>
              </a:solidFill>
              <a:latin typeface="Arial"/>
              <a:cs typeface="Arial"/>
            </a:endParaRPr>
          </a:p>
          <a:p>
            <a:pPr marL="320040" indent="-320040" algn="l">
              <a:spcBef>
                <a:spcPts val="700"/>
              </a:spcBef>
              <a:buClr>
                <a:srgbClr val="C8102E"/>
              </a:buClr>
              <a:buFont typeface="Arial"/>
              <a:buChar char="•"/>
            </a:pPr>
            <a:r>
              <a:rPr lang="uz-Latn-UZ" sz="1900" b="0" i="0" dirty="0">
                <a:solidFill>
                  <a:srgbClr val="CBD5E1"/>
                </a:solidFill>
                <a:latin typeface="Arial"/>
                <a:cs typeface="Arial"/>
              </a:rPr>
              <a:t>AQSh va Rossiya o‘rtasida muvozanat</a:t>
            </a:r>
            <a:endParaRPr lang="uz-Latn-UZ" sz="1900" b="0" i="0" dirty="0">
              <a:solidFill>
                <a:srgbClr val="CBD5E1"/>
              </a:solidFill>
              <a:latin typeface="Arial"/>
              <a:cs typeface="Arial"/>
            </a:endParaRPr>
          </a:p>
          <a:p>
            <a:pPr marL="320040" indent="-320040" algn="l">
              <a:spcBef>
                <a:spcPts val="700"/>
              </a:spcBef>
              <a:buClr>
                <a:srgbClr val="C8102E"/>
              </a:buClr>
              <a:buFont typeface="Arial"/>
              <a:buChar char="•"/>
            </a:pPr>
            <a:r>
              <a:rPr lang="uz-Latn-UZ" sz="1900" b="0" i="0" dirty="0">
                <a:solidFill>
                  <a:srgbClr val="CBD5E1"/>
                </a:solidFill>
                <a:latin typeface="Arial"/>
                <a:cs typeface="Arial"/>
              </a:rPr>
              <a:t>Ishonchli vositachi</a:t>
            </a:r>
            <a:endParaRPr lang="uz-Latn-UZ" sz="1900" b="0" i="0" dirty="0">
              <a:solidFill>
                <a:srgbClr val="CBD5E1"/>
              </a:solidFill>
              <a:latin typeface="Arial"/>
              <a:cs typeface="Arial"/>
            </a:endParaRPr>
          </a:p>
          <a:p>
            <a:pPr marL="320040" indent="-320040" algn="l">
              <a:spcBef>
                <a:spcPts val="700"/>
              </a:spcBef>
              <a:buClr>
                <a:srgbClr val="C8102E"/>
              </a:buClr>
              <a:buFont typeface="Arial"/>
              <a:buChar char="•"/>
            </a:pPr>
            <a:r>
              <a:rPr lang="uz-Latn-UZ" sz="1900" b="0" i="0" dirty="0">
                <a:solidFill>
                  <a:srgbClr val="CBD5E1"/>
                </a:solidFill>
                <a:latin typeface="Arial"/>
                <a:cs typeface="Arial"/>
              </a:rPr>
              <a:t>Insonparvarlik va mudofaa diplomatiyasi</a:t>
            </a:r>
            <a:endParaRPr lang="uz-Latn-UZ" sz="1900" b="0" i="0" dirty="0">
              <a:solidFill>
                <a:srgbClr val="CBD5E1"/>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CBD5E1"/>
                </a:solidFill>
                <a:latin typeface="Arial"/>
                <a:cs typeface="Arial"/>
              </a:rPr>
              <a:t>3 / 29</a:t>
            </a:r>
            <a:endParaRPr lang="uz-Latn-UZ" sz="1050" b="0" i="0" dirty="0">
              <a:solidFill>
                <a:srgbClr val="CBD5E1"/>
              </a:solidFill>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1-QISM  •  O‘ZIGA XOS JIHATLAR</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Ko‘prik davlat: geosiyosiy o‘rin</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1-ma’ruzachi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4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Shape 10"/>
          <p:cNvSpPr/>
          <p:nvPr/>
        </p:nvSpPr>
        <p:spPr>
          <a:xfrm>
            <a:off x="548640" y="1627632"/>
            <a:ext cx="3544824" cy="1623060"/>
          </a:xfrm>
          <a:prstGeom prst="rect">
            <a:avLst/>
          </a:prstGeom>
          <a:solidFill>
            <a:srgbClr val="F1F3F6"/>
          </a:solidFill>
          <a:ln>
            <a:noFill/>
          </a:ln>
        </p:spPr>
      </p:sp>
      <p:sp>
        <p:nvSpPr>
          <p:cNvPr id="11" name="Shape 11"/>
          <p:cNvSpPr/>
          <p:nvPr/>
        </p:nvSpPr>
        <p:spPr>
          <a:xfrm>
            <a:off x="548640" y="1627632"/>
            <a:ext cx="3544824" cy="64008"/>
          </a:xfrm>
          <a:prstGeom prst="rect">
            <a:avLst/>
          </a:prstGeom>
          <a:solidFill>
            <a:srgbClr val="C8102E"/>
          </a:solidFill>
          <a:ln>
            <a:noFill/>
          </a:ln>
        </p:spPr>
      </p:sp>
      <p:sp>
        <p:nvSpPr>
          <p:cNvPr id="12" name="TextBox 12"/>
          <p:cNvSpPr/>
          <p:nvPr/>
        </p:nvSpPr>
        <p:spPr>
          <a:xfrm>
            <a:off x="804672" y="1810512"/>
            <a:ext cx="3032760" cy="777240"/>
          </a:xfrm>
          <a:prstGeom prst="rect">
            <a:avLst/>
          </a:prstGeom>
          <a:noFill/>
          <a:ln>
            <a:noFill/>
          </a:ln>
        </p:spPr>
        <p:txBody>
          <a:bodyPr wrap="square" lIns="0" tIns="0" rIns="0" bIns="0" rtlCol="0" anchor="b">
            <a:noAutofit/>
          </a:bodyPr>
          <a:lstStyle/>
          <a:p>
            <a:pPr marL="0" indent="0" algn="l">
              <a:spcBef>
                <a:spcPts val="0"/>
              </a:spcBef>
              <a:buNone/>
            </a:pPr>
            <a:r>
              <a:rPr lang="uz-Latn-UZ" sz="4200" b="1" i="0" dirty="0">
                <a:solidFill>
                  <a:srgbClr val="14213D"/>
                </a:solidFill>
                <a:latin typeface="Arial"/>
                <a:cs typeface="Arial"/>
              </a:rPr>
              <a:t>86,1 mln</a:t>
            </a:r>
            <a:endParaRPr lang="uz-Latn-UZ" sz="4200" b="1" i="0" dirty="0">
              <a:solidFill>
                <a:srgbClr val="14213D"/>
              </a:solidFill>
              <a:latin typeface="Arial"/>
              <a:cs typeface="Arial"/>
            </a:endParaRPr>
          </a:p>
        </p:txBody>
      </p:sp>
      <p:sp>
        <p:nvSpPr>
          <p:cNvPr id="13" name="TextBox 13"/>
          <p:cNvSpPr/>
          <p:nvPr/>
        </p:nvSpPr>
        <p:spPr>
          <a:xfrm>
            <a:off x="804672" y="2633472"/>
            <a:ext cx="3032760" cy="525780"/>
          </a:xfrm>
          <a:prstGeom prst="rect">
            <a:avLst/>
          </a:prstGeom>
          <a:noFill/>
          <a:ln>
            <a:noFill/>
          </a:ln>
        </p:spPr>
        <p:txBody>
          <a:bodyPr wrap="square" lIns="0" tIns="0" rIns="0" bIns="0" rtlCol="0" anchor="t">
            <a:noAutofit/>
          </a:bodyPr>
          <a:lstStyle/>
          <a:p>
            <a:pPr marL="0" indent="0" algn="l">
              <a:spcBef>
                <a:spcPts val="0"/>
              </a:spcBef>
              <a:buNone/>
            </a:pPr>
            <a:r>
              <a:rPr lang="uz-Latn-UZ" sz="1500" b="0" i="0" dirty="0">
                <a:solidFill>
                  <a:srgbClr val="1F2937"/>
                </a:solidFill>
                <a:latin typeface="Arial"/>
                <a:cs typeface="Arial"/>
              </a:rPr>
              <a:t>aholi (2025-yil oxiri)</a:t>
            </a:r>
            <a:endParaRPr lang="uz-Latn-UZ" sz="1500" b="0" i="0" dirty="0">
              <a:solidFill>
                <a:srgbClr val="1F2937"/>
              </a:solidFill>
              <a:latin typeface="Arial"/>
              <a:cs typeface="Arial"/>
            </a:endParaRPr>
          </a:p>
        </p:txBody>
      </p:sp>
      <p:sp>
        <p:nvSpPr>
          <p:cNvPr id="14" name="Shape 14"/>
          <p:cNvSpPr/>
          <p:nvPr/>
        </p:nvSpPr>
        <p:spPr>
          <a:xfrm>
            <a:off x="4322064" y="1627632"/>
            <a:ext cx="3544824" cy="1623060"/>
          </a:xfrm>
          <a:prstGeom prst="rect">
            <a:avLst/>
          </a:prstGeom>
          <a:solidFill>
            <a:srgbClr val="F1F3F6"/>
          </a:solidFill>
          <a:ln>
            <a:noFill/>
          </a:ln>
        </p:spPr>
      </p:sp>
      <p:sp>
        <p:nvSpPr>
          <p:cNvPr id="15" name="Shape 15"/>
          <p:cNvSpPr/>
          <p:nvPr/>
        </p:nvSpPr>
        <p:spPr>
          <a:xfrm>
            <a:off x="4322064" y="1627632"/>
            <a:ext cx="3544824" cy="64008"/>
          </a:xfrm>
          <a:prstGeom prst="rect">
            <a:avLst/>
          </a:prstGeom>
          <a:solidFill>
            <a:srgbClr val="14213D"/>
          </a:solidFill>
          <a:ln>
            <a:noFill/>
          </a:ln>
        </p:spPr>
      </p:sp>
      <p:sp>
        <p:nvSpPr>
          <p:cNvPr id="16" name="TextBox 16"/>
          <p:cNvSpPr/>
          <p:nvPr/>
        </p:nvSpPr>
        <p:spPr>
          <a:xfrm>
            <a:off x="4578096" y="1810512"/>
            <a:ext cx="3032760" cy="777240"/>
          </a:xfrm>
          <a:prstGeom prst="rect">
            <a:avLst/>
          </a:prstGeom>
          <a:noFill/>
          <a:ln>
            <a:noFill/>
          </a:ln>
        </p:spPr>
        <p:txBody>
          <a:bodyPr wrap="square" lIns="0" tIns="0" rIns="0" bIns="0" rtlCol="0" anchor="b">
            <a:noAutofit/>
          </a:bodyPr>
          <a:lstStyle/>
          <a:p>
            <a:pPr marL="0" indent="0" algn="l">
              <a:spcBef>
                <a:spcPts val="0"/>
              </a:spcBef>
              <a:buNone/>
            </a:pPr>
            <a:r>
              <a:rPr lang="uz-Latn-UZ" sz="4200" b="1" i="0" dirty="0">
                <a:solidFill>
                  <a:srgbClr val="14213D"/>
                </a:solidFill>
                <a:latin typeface="Arial"/>
                <a:cs typeface="Arial"/>
              </a:rPr>
              <a:t>783 562</a:t>
            </a:r>
            <a:endParaRPr lang="uz-Latn-UZ" sz="4200" b="1" i="0" dirty="0">
              <a:solidFill>
                <a:srgbClr val="14213D"/>
              </a:solidFill>
              <a:latin typeface="Arial"/>
              <a:cs typeface="Arial"/>
            </a:endParaRPr>
          </a:p>
        </p:txBody>
      </p:sp>
      <p:sp>
        <p:nvSpPr>
          <p:cNvPr id="17" name="TextBox 17"/>
          <p:cNvSpPr/>
          <p:nvPr/>
        </p:nvSpPr>
        <p:spPr>
          <a:xfrm>
            <a:off x="4578096" y="2633472"/>
            <a:ext cx="3032760" cy="525780"/>
          </a:xfrm>
          <a:prstGeom prst="rect">
            <a:avLst/>
          </a:prstGeom>
          <a:noFill/>
          <a:ln>
            <a:noFill/>
          </a:ln>
        </p:spPr>
        <p:txBody>
          <a:bodyPr wrap="square" lIns="0" tIns="0" rIns="0" bIns="0" rtlCol="0" anchor="t">
            <a:noAutofit/>
          </a:bodyPr>
          <a:lstStyle/>
          <a:p>
            <a:pPr marL="0" indent="0" algn="l">
              <a:spcBef>
                <a:spcPts val="0"/>
              </a:spcBef>
              <a:buNone/>
            </a:pPr>
            <a:r>
              <a:rPr lang="uz-Latn-UZ" sz="1500" b="0" i="0" dirty="0">
                <a:solidFill>
                  <a:srgbClr val="1F2937"/>
                </a:solidFill>
                <a:latin typeface="Arial"/>
                <a:cs typeface="Arial"/>
              </a:rPr>
              <a:t>km² maydon: 97% Osiyoda, 3% Yevropada</a:t>
            </a:r>
            <a:endParaRPr lang="uz-Latn-UZ" sz="1500" b="0" i="0" dirty="0">
              <a:solidFill>
                <a:srgbClr val="1F2937"/>
              </a:solidFill>
              <a:latin typeface="Arial"/>
              <a:cs typeface="Arial"/>
            </a:endParaRPr>
          </a:p>
        </p:txBody>
      </p:sp>
      <p:sp>
        <p:nvSpPr>
          <p:cNvPr id="18" name="Shape 18"/>
          <p:cNvSpPr/>
          <p:nvPr/>
        </p:nvSpPr>
        <p:spPr>
          <a:xfrm>
            <a:off x="8095488" y="1627632"/>
            <a:ext cx="3544824" cy="1623060"/>
          </a:xfrm>
          <a:prstGeom prst="rect">
            <a:avLst/>
          </a:prstGeom>
          <a:solidFill>
            <a:srgbClr val="F1F3F6"/>
          </a:solidFill>
          <a:ln>
            <a:noFill/>
          </a:ln>
        </p:spPr>
      </p:sp>
      <p:sp>
        <p:nvSpPr>
          <p:cNvPr id="19" name="Shape 19"/>
          <p:cNvSpPr/>
          <p:nvPr/>
        </p:nvSpPr>
        <p:spPr>
          <a:xfrm>
            <a:off x="8095488" y="1627632"/>
            <a:ext cx="3544824" cy="64008"/>
          </a:xfrm>
          <a:prstGeom prst="rect">
            <a:avLst/>
          </a:prstGeom>
          <a:solidFill>
            <a:srgbClr val="C8102E"/>
          </a:solidFill>
          <a:ln>
            <a:noFill/>
          </a:ln>
        </p:spPr>
      </p:sp>
      <p:sp>
        <p:nvSpPr>
          <p:cNvPr id="20" name="TextBox 20"/>
          <p:cNvSpPr/>
          <p:nvPr/>
        </p:nvSpPr>
        <p:spPr>
          <a:xfrm>
            <a:off x="8351520" y="1810512"/>
            <a:ext cx="3032760" cy="777240"/>
          </a:xfrm>
          <a:prstGeom prst="rect">
            <a:avLst/>
          </a:prstGeom>
          <a:noFill/>
          <a:ln>
            <a:noFill/>
          </a:ln>
        </p:spPr>
        <p:txBody>
          <a:bodyPr wrap="square" lIns="0" tIns="0" rIns="0" bIns="0" rtlCol="0" anchor="b">
            <a:noAutofit/>
          </a:bodyPr>
          <a:lstStyle/>
          <a:p>
            <a:pPr marL="0" indent="0" algn="l">
              <a:spcBef>
                <a:spcPts val="0"/>
              </a:spcBef>
              <a:buNone/>
            </a:pPr>
            <a:r>
              <a:rPr lang="uz-Latn-UZ" sz="4200" b="1" i="0" dirty="0">
                <a:solidFill>
                  <a:srgbClr val="14213D"/>
                </a:solidFill>
                <a:latin typeface="Arial"/>
                <a:cs typeface="Arial"/>
              </a:rPr>
              <a:t>8</a:t>
            </a:r>
            <a:endParaRPr lang="uz-Latn-UZ" sz="4200" b="1" i="0" dirty="0">
              <a:solidFill>
                <a:srgbClr val="14213D"/>
              </a:solidFill>
              <a:latin typeface="Arial"/>
              <a:cs typeface="Arial"/>
            </a:endParaRPr>
          </a:p>
        </p:txBody>
      </p:sp>
      <p:sp>
        <p:nvSpPr>
          <p:cNvPr id="21" name="TextBox 21"/>
          <p:cNvSpPr/>
          <p:nvPr/>
        </p:nvSpPr>
        <p:spPr>
          <a:xfrm>
            <a:off x="8351520" y="2633472"/>
            <a:ext cx="3032760" cy="525780"/>
          </a:xfrm>
          <a:prstGeom prst="rect">
            <a:avLst/>
          </a:prstGeom>
          <a:noFill/>
          <a:ln>
            <a:noFill/>
          </a:ln>
        </p:spPr>
        <p:txBody>
          <a:bodyPr wrap="square" lIns="0" tIns="0" rIns="0" bIns="0" rtlCol="0" anchor="t">
            <a:noAutofit/>
          </a:bodyPr>
          <a:lstStyle/>
          <a:p>
            <a:pPr marL="0" indent="0" algn="l">
              <a:spcBef>
                <a:spcPts val="0"/>
              </a:spcBef>
              <a:buNone/>
            </a:pPr>
            <a:r>
              <a:rPr lang="uz-Latn-UZ" sz="1500" b="0" i="0" dirty="0">
                <a:solidFill>
                  <a:srgbClr val="1F2937"/>
                </a:solidFill>
                <a:latin typeface="Arial"/>
                <a:cs typeface="Arial"/>
              </a:rPr>
              <a:t>quruqlikdagi qo‘shni davlat</a:t>
            </a:r>
            <a:endParaRPr lang="uz-Latn-UZ" sz="1500" b="0" i="0" dirty="0">
              <a:solidFill>
                <a:srgbClr val="1F2937"/>
              </a:solidFill>
              <a:latin typeface="Arial"/>
              <a:cs typeface="Arial"/>
            </a:endParaRPr>
          </a:p>
        </p:txBody>
      </p:sp>
      <p:sp>
        <p:nvSpPr>
          <p:cNvPr id="22" name="Shape 22"/>
          <p:cNvSpPr/>
          <p:nvPr/>
        </p:nvSpPr>
        <p:spPr>
          <a:xfrm>
            <a:off x="548640" y="3479292"/>
            <a:ext cx="3544824" cy="1623060"/>
          </a:xfrm>
          <a:prstGeom prst="rect">
            <a:avLst/>
          </a:prstGeom>
          <a:solidFill>
            <a:srgbClr val="F1F3F6"/>
          </a:solidFill>
          <a:ln>
            <a:noFill/>
          </a:ln>
        </p:spPr>
      </p:sp>
      <p:sp>
        <p:nvSpPr>
          <p:cNvPr id="23" name="Shape 23"/>
          <p:cNvSpPr/>
          <p:nvPr/>
        </p:nvSpPr>
        <p:spPr>
          <a:xfrm>
            <a:off x="548640" y="3479292"/>
            <a:ext cx="3544824" cy="64008"/>
          </a:xfrm>
          <a:prstGeom prst="rect">
            <a:avLst/>
          </a:prstGeom>
          <a:solidFill>
            <a:srgbClr val="14213D"/>
          </a:solidFill>
          <a:ln>
            <a:noFill/>
          </a:ln>
        </p:spPr>
      </p:sp>
      <p:sp>
        <p:nvSpPr>
          <p:cNvPr id="24" name="TextBox 24"/>
          <p:cNvSpPr/>
          <p:nvPr/>
        </p:nvSpPr>
        <p:spPr>
          <a:xfrm>
            <a:off x="804672" y="3662172"/>
            <a:ext cx="3032760" cy="777240"/>
          </a:xfrm>
          <a:prstGeom prst="rect">
            <a:avLst/>
          </a:prstGeom>
          <a:noFill/>
          <a:ln>
            <a:noFill/>
          </a:ln>
        </p:spPr>
        <p:txBody>
          <a:bodyPr wrap="square" lIns="0" tIns="0" rIns="0" bIns="0" rtlCol="0" anchor="b">
            <a:noAutofit/>
          </a:bodyPr>
          <a:lstStyle/>
          <a:p>
            <a:pPr marL="0" indent="0" algn="l">
              <a:spcBef>
                <a:spcPts val="0"/>
              </a:spcBef>
              <a:buNone/>
            </a:pPr>
            <a:r>
              <a:rPr lang="uz-Latn-UZ" sz="4200" b="1" i="0" dirty="0">
                <a:solidFill>
                  <a:srgbClr val="14213D"/>
                </a:solidFill>
                <a:latin typeface="Arial"/>
                <a:cs typeface="Arial"/>
              </a:rPr>
              <a:t>4</a:t>
            </a:r>
            <a:endParaRPr lang="uz-Latn-UZ" sz="4200" b="1" i="0" dirty="0">
              <a:solidFill>
                <a:srgbClr val="14213D"/>
              </a:solidFill>
              <a:latin typeface="Arial"/>
              <a:cs typeface="Arial"/>
            </a:endParaRPr>
          </a:p>
        </p:txBody>
      </p:sp>
      <p:sp>
        <p:nvSpPr>
          <p:cNvPr id="25" name="TextBox 25"/>
          <p:cNvSpPr/>
          <p:nvPr/>
        </p:nvSpPr>
        <p:spPr>
          <a:xfrm>
            <a:off x="804672" y="4485132"/>
            <a:ext cx="3032760" cy="525780"/>
          </a:xfrm>
          <a:prstGeom prst="rect">
            <a:avLst/>
          </a:prstGeom>
          <a:noFill/>
          <a:ln>
            <a:noFill/>
          </a:ln>
        </p:spPr>
        <p:txBody>
          <a:bodyPr wrap="square" lIns="0" tIns="0" rIns="0" bIns="0" rtlCol="0" anchor="t">
            <a:noAutofit/>
          </a:bodyPr>
          <a:lstStyle/>
          <a:p>
            <a:pPr marL="0" indent="0" algn="l">
              <a:spcBef>
                <a:spcPts val="0"/>
              </a:spcBef>
              <a:buNone/>
            </a:pPr>
            <a:r>
              <a:rPr lang="uz-Latn-UZ" sz="1500" b="0" i="0" dirty="0">
                <a:solidFill>
                  <a:srgbClr val="1F2937"/>
                </a:solidFill>
                <a:latin typeface="Arial"/>
                <a:cs typeface="Arial"/>
              </a:rPr>
              <a:t>dengiz: Qora, Marmar, Egey va O‘rta yer</a:t>
            </a:r>
            <a:endParaRPr lang="uz-Latn-UZ" sz="1500" b="0" i="0" dirty="0">
              <a:solidFill>
                <a:srgbClr val="1F2937"/>
              </a:solidFill>
              <a:latin typeface="Arial"/>
              <a:cs typeface="Arial"/>
            </a:endParaRPr>
          </a:p>
        </p:txBody>
      </p:sp>
      <p:sp>
        <p:nvSpPr>
          <p:cNvPr id="26" name="Shape 26"/>
          <p:cNvSpPr/>
          <p:nvPr/>
        </p:nvSpPr>
        <p:spPr>
          <a:xfrm>
            <a:off x="4322064" y="3479292"/>
            <a:ext cx="3544824" cy="1623060"/>
          </a:xfrm>
          <a:prstGeom prst="rect">
            <a:avLst/>
          </a:prstGeom>
          <a:solidFill>
            <a:srgbClr val="F1F3F6"/>
          </a:solidFill>
          <a:ln>
            <a:noFill/>
          </a:ln>
        </p:spPr>
      </p:sp>
      <p:sp>
        <p:nvSpPr>
          <p:cNvPr id="27" name="Shape 27"/>
          <p:cNvSpPr/>
          <p:nvPr/>
        </p:nvSpPr>
        <p:spPr>
          <a:xfrm>
            <a:off x="4322064" y="3479292"/>
            <a:ext cx="3544824" cy="64008"/>
          </a:xfrm>
          <a:prstGeom prst="rect">
            <a:avLst/>
          </a:prstGeom>
          <a:solidFill>
            <a:srgbClr val="C8102E"/>
          </a:solidFill>
          <a:ln>
            <a:noFill/>
          </a:ln>
        </p:spPr>
      </p:sp>
      <p:sp>
        <p:nvSpPr>
          <p:cNvPr id="28" name="TextBox 28"/>
          <p:cNvSpPr/>
          <p:nvPr/>
        </p:nvSpPr>
        <p:spPr>
          <a:xfrm>
            <a:off x="4578096" y="3662172"/>
            <a:ext cx="3032760" cy="777240"/>
          </a:xfrm>
          <a:prstGeom prst="rect">
            <a:avLst/>
          </a:prstGeom>
          <a:noFill/>
          <a:ln>
            <a:noFill/>
          </a:ln>
        </p:spPr>
        <p:txBody>
          <a:bodyPr wrap="square" lIns="0" tIns="0" rIns="0" bIns="0" rtlCol="0" anchor="b">
            <a:noAutofit/>
          </a:bodyPr>
          <a:lstStyle/>
          <a:p>
            <a:pPr marL="0" indent="0" algn="l">
              <a:spcBef>
                <a:spcPts val="0"/>
              </a:spcBef>
              <a:buNone/>
            </a:pPr>
            <a:r>
              <a:rPr lang="uz-Latn-UZ" sz="4200" b="1" i="0" dirty="0">
                <a:solidFill>
                  <a:srgbClr val="14213D"/>
                </a:solidFill>
                <a:latin typeface="Arial"/>
                <a:cs typeface="Arial"/>
              </a:rPr>
              <a:t>2</a:t>
            </a:r>
            <a:endParaRPr lang="uz-Latn-UZ" sz="4200" b="1" i="0" dirty="0">
              <a:solidFill>
                <a:srgbClr val="14213D"/>
              </a:solidFill>
              <a:latin typeface="Arial"/>
              <a:cs typeface="Arial"/>
            </a:endParaRPr>
          </a:p>
        </p:txBody>
      </p:sp>
      <p:sp>
        <p:nvSpPr>
          <p:cNvPr id="29" name="TextBox 29"/>
          <p:cNvSpPr/>
          <p:nvPr/>
        </p:nvSpPr>
        <p:spPr>
          <a:xfrm>
            <a:off x="4578096" y="4485132"/>
            <a:ext cx="3032760" cy="525780"/>
          </a:xfrm>
          <a:prstGeom prst="rect">
            <a:avLst/>
          </a:prstGeom>
          <a:noFill/>
          <a:ln>
            <a:noFill/>
          </a:ln>
        </p:spPr>
        <p:txBody>
          <a:bodyPr wrap="square" lIns="0" tIns="0" rIns="0" bIns="0" rtlCol="0" anchor="t">
            <a:noAutofit/>
          </a:bodyPr>
          <a:lstStyle/>
          <a:p>
            <a:pPr marL="0" indent="0" algn="l">
              <a:spcBef>
                <a:spcPts val="0"/>
              </a:spcBef>
              <a:buNone/>
            </a:pPr>
            <a:r>
              <a:rPr lang="uz-Latn-UZ" sz="1500" b="0" i="0" dirty="0">
                <a:solidFill>
                  <a:srgbClr val="1F2937"/>
                </a:solidFill>
                <a:latin typeface="Arial"/>
                <a:cs typeface="Arial"/>
              </a:rPr>
              <a:t>strategik bo‘g‘oz: Bosfor va Dardanell</a:t>
            </a:r>
            <a:endParaRPr lang="uz-Latn-UZ" sz="1500" b="0" i="0" dirty="0">
              <a:solidFill>
                <a:srgbClr val="1F2937"/>
              </a:solidFill>
              <a:latin typeface="Arial"/>
              <a:cs typeface="Arial"/>
            </a:endParaRPr>
          </a:p>
        </p:txBody>
      </p:sp>
      <p:sp>
        <p:nvSpPr>
          <p:cNvPr id="30" name="Shape 30"/>
          <p:cNvSpPr/>
          <p:nvPr/>
        </p:nvSpPr>
        <p:spPr>
          <a:xfrm>
            <a:off x="8095488" y="3479292"/>
            <a:ext cx="3544824" cy="1623060"/>
          </a:xfrm>
          <a:prstGeom prst="rect">
            <a:avLst/>
          </a:prstGeom>
          <a:solidFill>
            <a:srgbClr val="F1F3F6"/>
          </a:solidFill>
          <a:ln>
            <a:noFill/>
          </a:ln>
        </p:spPr>
      </p:sp>
      <p:sp>
        <p:nvSpPr>
          <p:cNvPr id="31" name="Shape 31"/>
          <p:cNvSpPr/>
          <p:nvPr/>
        </p:nvSpPr>
        <p:spPr>
          <a:xfrm>
            <a:off x="8095488" y="3479292"/>
            <a:ext cx="3544824" cy="64008"/>
          </a:xfrm>
          <a:prstGeom prst="rect">
            <a:avLst/>
          </a:prstGeom>
          <a:solidFill>
            <a:srgbClr val="14213D"/>
          </a:solidFill>
          <a:ln>
            <a:noFill/>
          </a:ln>
        </p:spPr>
      </p:sp>
      <p:sp>
        <p:nvSpPr>
          <p:cNvPr id="32" name="TextBox 32"/>
          <p:cNvSpPr/>
          <p:nvPr/>
        </p:nvSpPr>
        <p:spPr>
          <a:xfrm>
            <a:off x="8351520" y="3662172"/>
            <a:ext cx="3032760" cy="777240"/>
          </a:xfrm>
          <a:prstGeom prst="rect">
            <a:avLst/>
          </a:prstGeom>
          <a:noFill/>
          <a:ln>
            <a:noFill/>
          </a:ln>
        </p:spPr>
        <p:txBody>
          <a:bodyPr wrap="square" lIns="0" tIns="0" rIns="0" bIns="0" rtlCol="0" anchor="b">
            <a:noAutofit/>
          </a:bodyPr>
          <a:lstStyle/>
          <a:p>
            <a:pPr marL="0" indent="0" algn="l">
              <a:spcBef>
                <a:spcPts val="0"/>
              </a:spcBef>
              <a:buNone/>
            </a:pPr>
            <a:r>
              <a:rPr lang="uz-Latn-UZ" sz="4200" b="1" i="0" dirty="0">
                <a:solidFill>
                  <a:srgbClr val="14213D"/>
                </a:solidFill>
                <a:latin typeface="Arial"/>
                <a:cs typeface="Arial"/>
              </a:rPr>
              <a:t>G20</a:t>
            </a:r>
            <a:endParaRPr lang="uz-Latn-UZ" sz="4200" b="1" i="0" dirty="0">
              <a:solidFill>
                <a:srgbClr val="14213D"/>
              </a:solidFill>
              <a:latin typeface="Arial"/>
              <a:cs typeface="Arial"/>
            </a:endParaRPr>
          </a:p>
        </p:txBody>
      </p:sp>
      <p:sp>
        <p:nvSpPr>
          <p:cNvPr id="33" name="TextBox 33"/>
          <p:cNvSpPr/>
          <p:nvPr/>
        </p:nvSpPr>
        <p:spPr>
          <a:xfrm>
            <a:off x="8351520" y="4485132"/>
            <a:ext cx="3032760" cy="525780"/>
          </a:xfrm>
          <a:prstGeom prst="rect">
            <a:avLst/>
          </a:prstGeom>
          <a:noFill/>
          <a:ln>
            <a:noFill/>
          </a:ln>
        </p:spPr>
        <p:txBody>
          <a:bodyPr wrap="square" lIns="0" tIns="0" rIns="0" bIns="0" rtlCol="0" anchor="t">
            <a:noAutofit/>
          </a:bodyPr>
          <a:lstStyle/>
          <a:p>
            <a:pPr marL="0" indent="0" algn="l">
              <a:spcBef>
                <a:spcPts val="0"/>
              </a:spcBef>
              <a:buNone/>
            </a:pPr>
            <a:r>
              <a:rPr lang="uz-Latn-UZ" sz="1500" b="0" i="0" dirty="0">
                <a:solidFill>
                  <a:srgbClr val="1F2937"/>
                </a:solidFill>
                <a:latin typeface="Arial"/>
                <a:cs typeface="Arial"/>
              </a:rPr>
              <a:t>dunyoning yirik iqtisodiyotlari qatorida</a:t>
            </a:r>
            <a:endParaRPr lang="uz-Latn-UZ" sz="1500" b="0" i="0" dirty="0">
              <a:solidFill>
                <a:srgbClr val="1F2937"/>
              </a:solidFill>
              <a:latin typeface="Arial"/>
              <a:cs typeface="Arial"/>
            </a:endParaRPr>
          </a:p>
        </p:txBody>
      </p:sp>
      <p:sp>
        <p:nvSpPr>
          <p:cNvPr id="34" name="Shape 34"/>
          <p:cNvSpPr/>
          <p:nvPr/>
        </p:nvSpPr>
        <p:spPr>
          <a:xfrm>
            <a:off x="548640" y="5285232"/>
            <a:ext cx="11091672" cy="868680"/>
          </a:xfrm>
          <a:prstGeom prst="rect">
            <a:avLst/>
          </a:prstGeom>
          <a:solidFill>
            <a:srgbClr val="F1F3F6"/>
          </a:solidFill>
          <a:ln>
            <a:noFill/>
          </a:ln>
        </p:spPr>
      </p:sp>
      <p:sp>
        <p:nvSpPr>
          <p:cNvPr id="35" name="Shape 35"/>
          <p:cNvSpPr/>
          <p:nvPr/>
        </p:nvSpPr>
        <p:spPr>
          <a:xfrm>
            <a:off x="548640" y="5285232"/>
            <a:ext cx="82296" cy="868680"/>
          </a:xfrm>
          <a:prstGeom prst="rect">
            <a:avLst/>
          </a:prstGeom>
          <a:solidFill>
            <a:srgbClr val="C8102E"/>
          </a:solidFill>
          <a:ln>
            <a:noFill/>
          </a:ln>
        </p:spPr>
      </p:sp>
      <p:sp>
        <p:nvSpPr>
          <p:cNvPr id="36" name="TextBox 36"/>
          <p:cNvSpPr/>
          <p:nvPr/>
        </p:nvSpPr>
        <p:spPr>
          <a:xfrm>
            <a:off x="868680" y="5330952"/>
            <a:ext cx="10607040" cy="777240"/>
          </a:xfrm>
          <a:prstGeom prst="rect">
            <a:avLst/>
          </a:prstGeom>
          <a:noFill/>
          <a:ln>
            <a:noFill/>
          </a:ln>
        </p:spPr>
        <p:txBody>
          <a:bodyPr wrap="square" lIns="0" tIns="0" rIns="0" bIns="0" rtlCol="0" anchor="ctr">
            <a:noAutofit/>
          </a:bodyPr>
          <a:lstStyle/>
          <a:p>
            <a:pPr marL="0" indent="0" algn="l">
              <a:spcBef>
                <a:spcPts val="0"/>
              </a:spcBef>
              <a:buNone/>
            </a:pPr>
            <a:r>
              <a:rPr lang="uz-Latn-UZ" sz="1700" b="0" i="1" dirty="0">
                <a:solidFill>
                  <a:srgbClr val="14213D"/>
                </a:solidFill>
                <a:latin typeface="Arial"/>
                <a:cs typeface="Arial"/>
              </a:rPr>
              <a:t>Turkiya diplomatiyasi geosiyosiy o‘rni, boy tarixiy merosi va strategik tashabbuslari bilan diplomatiya dunyosida alohida ajralib turadi.</a:t>
            </a:r>
            <a:endParaRPr lang="uz-Latn-UZ" sz="1700" b="0" i="1" dirty="0">
              <a:solidFill>
                <a:srgbClr val="14213D"/>
              </a:solidFill>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1-QISM  •  O‘ZIGA XOS JIHATLAR</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AQSh va Rossiya o‘rtasida muvozanat</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1-ma’ruzachi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5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TextBox 10"/>
          <p:cNvSpPr/>
          <p:nvPr/>
        </p:nvSpPr>
        <p:spPr>
          <a:xfrm>
            <a:off x="548640" y="1517904"/>
            <a:ext cx="11091672" cy="512064"/>
          </a:xfrm>
          <a:prstGeom prst="rect">
            <a:avLst/>
          </a:prstGeom>
          <a:noFill/>
          <a:ln>
            <a:noFill/>
          </a:ln>
        </p:spPr>
        <p:txBody>
          <a:bodyPr wrap="square" lIns="0" tIns="0" rIns="0" bIns="0" rtlCol="0" anchor="ctr">
            <a:noAutofit/>
          </a:bodyPr>
          <a:lstStyle/>
          <a:p>
            <a:pPr marL="0" indent="0" algn="l">
              <a:spcBef>
                <a:spcPts val="0"/>
              </a:spcBef>
              <a:buNone/>
            </a:pPr>
            <a:r>
              <a:rPr lang="uz-Latn-UZ" sz="1700" b="0" i="1" dirty="0">
                <a:solidFill>
                  <a:srgbClr val="14213D"/>
                </a:solidFill>
                <a:latin typeface="Arial"/>
                <a:cs typeface="Arial"/>
              </a:rPr>
              <a:t>Ko‘prik davlat: bir tomonni mutlaq qo‘llab-quvvatlamay, milliy manfaatlar asosida muvozanat</a:t>
            </a:r>
            <a:endParaRPr lang="uz-Latn-UZ" sz="1700" b="0" i="1" dirty="0">
              <a:solidFill>
                <a:srgbClr val="14213D"/>
              </a:solidFill>
              <a:latin typeface="Arial"/>
              <a:cs typeface="Arial"/>
            </a:endParaRPr>
          </a:p>
        </p:txBody>
      </p:sp>
      <p:sp>
        <p:nvSpPr>
          <p:cNvPr id="11" name="Shape 11"/>
          <p:cNvSpPr/>
          <p:nvPr/>
        </p:nvSpPr>
        <p:spPr>
          <a:xfrm>
            <a:off x="548640" y="2121408"/>
            <a:ext cx="3514344" cy="4023360"/>
          </a:xfrm>
          <a:prstGeom prst="rect">
            <a:avLst/>
          </a:prstGeom>
          <a:solidFill>
            <a:srgbClr val="F1F3F6"/>
          </a:solidFill>
          <a:ln>
            <a:noFill/>
          </a:ln>
        </p:spPr>
      </p:sp>
      <p:sp>
        <p:nvSpPr>
          <p:cNvPr id="12" name="Shape 12"/>
          <p:cNvSpPr/>
          <p:nvPr/>
        </p:nvSpPr>
        <p:spPr>
          <a:xfrm>
            <a:off x="548640" y="2121408"/>
            <a:ext cx="3514344" cy="73152"/>
          </a:xfrm>
          <a:prstGeom prst="rect">
            <a:avLst/>
          </a:prstGeom>
          <a:solidFill>
            <a:srgbClr val="C8102E"/>
          </a:solidFill>
          <a:ln>
            <a:noFill/>
          </a:ln>
        </p:spPr>
      </p:sp>
      <p:sp>
        <p:nvSpPr>
          <p:cNvPr id="13" name="TextBox 13"/>
          <p:cNvSpPr/>
          <p:nvPr/>
        </p:nvSpPr>
        <p:spPr>
          <a:xfrm>
            <a:off x="804672" y="2322576"/>
            <a:ext cx="3002280" cy="530352"/>
          </a:xfrm>
          <a:prstGeom prst="rect">
            <a:avLst/>
          </a:prstGeom>
          <a:noFill/>
          <a:ln>
            <a:noFill/>
          </a:ln>
        </p:spPr>
        <p:txBody>
          <a:bodyPr wrap="square" lIns="0" tIns="0" rIns="0" bIns="0" rtlCol="0" anchor="ctr">
            <a:noAutofit/>
          </a:bodyPr>
          <a:lstStyle/>
          <a:p>
            <a:pPr marL="0" indent="0" algn="l">
              <a:spcBef>
                <a:spcPts val="0"/>
              </a:spcBef>
              <a:buNone/>
            </a:pPr>
            <a:r>
              <a:rPr lang="uz-Latn-UZ" sz="2000" b="1" i="0" dirty="0">
                <a:solidFill>
                  <a:srgbClr val="14213D"/>
                </a:solidFill>
                <a:latin typeface="Arial"/>
                <a:cs typeface="Arial"/>
              </a:rPr>
              <a:t>G‘arb bilan</a:t>
            </a:r>
            <a:endParaRPr lang="uz-Latn-UZ" sz="2000" b="1" i="0" dirty="0">
              <a:solidFill>
                <a:srgbClr val="14213D"/>
              </a:solidFill>
              <a:latin typeface="Arial"/>
              <a:cs typeface="Arial"/>
            </a:endParaRPr>
          </a:p>
        </p:txBody>
      </p:sp>
      <p:cxnSp>
        <p:nvCxnSpPr>
          <p:cNvPr id="14" name="Line 14"/>
          <p:cNvCxnSpPr/>
          <p:nvPr/>
        </p:nvCxnSpPr>
        <p:spPr>
          <a:xfrm>
            <a:off x="804672" y="2962656"/>
            <a:ext cx="3002280" cy="0"/>
          </a:xfrm>
          <a:prstGeom prst="line">
            <a:avLst/>
          </a:prstGeom>
          <a:ln w="12700">
            <a:solidFill>
              <a:srgbClr val="D1D5DB"/>
            </a:solidFill>
          </a:ln>
        </p:spPr>
      </p:cxnSp>
      <p:sp>
        <p:nvSpPr>
          <p:cNvPr id="15" name="TextBox 15"/>
          <p:cNvSpPr/>
          <p:nvPr/>
        </p:nvSpPr>
        <p:spPr>
          <a:xfrm>
            <a:off x="804672" y="3108960"/>
            <a:ext cx="3002280" cy="2880360"/>
          </a:xfrm>
          <a:prstGeom prst="rect">
            <a:avLst/>
          </a:prstGeom>
          <a:noFill/>
          <a:ln>
            <a:noFill/>
          </a:ln>
        </p:spPr>
        <p:txBody>
          <a:bodyPr wrap="square" lIns="0" tIns="0" rIns="0" bIns="0" rtlCol="0" anchor="t">
            <a:noAutofit/>
          </a:bodyPr>
          <a:lstStyle/>
          <a:p>
            <a:pPr marL="256032" indent="-256032" algn="l">
              <a:spcBef>
                <a:spcPts val="0"/>
              </a:spcBef>
              <a:buClr>
                <a:srgbClr val="C8102E"/>
              </a:buClr>
              <a:buFont typeface="Arial"/>
              <a:buChar char="•"/>
            </a:pPr>
            <a:r>
              <a:rPr lang="uz-Latn-UZ" sz="1700" b="0" i="0" dirty="0">
                <a:solidFill>
                  <a:srgbClr val="1F2937"/>
                </a:solidFill>
                <a:latin typeface="Arial"/>
                <a:cs typeface="Arial"/>
              </a:rPr>
              <a:t>1952-yildan NATO a’zosi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Alyansdagi ikkinchi yirik armiya</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2026 — Anqara NATO sammiti mezboni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1999-yildan YeIga nomzod</a:t>
            </a:r>
            <a:endParaRPr lang="uz-Latn-UZ" sz="1700" b="0" i="0" dirty="0">
              <a:solidFill>
                <a:srgbClr val="1F2937"/>
              </a:solidFill>
              <a:latin typeface="Arial"/>
              <a:cs typeface="Arial"/>
            </a:endParaRPr>
          </a:p>
        </p:txBody>
      </p:sp>
      <p:sp>
        <p:nvSpPr>
          <p:cNvPr id="16" name="Shape 16"/>
          <p:cNvSpPr/>
          <p:nvPr/>
        </p:nvSpPr>
        <p:spPr>
          <a:xfrm>
            <a:off x="4337304" y="2121408"/>
            <a:ext cx="3514344" cy="4023360"/>
          </a:xfrm>
          <a:prstGeom prst="rect">
            <a:avLst/>
          </a:prstGeom>
          <a:solidFill>
            <a:srgbClr val="F1F3F6"/>
          </a:solidFill>
          <a:ln>
            <a:noFill/>
          </a:ln>
        </p:spPr>
      </p:sp>
      <p:sp>
        <p:nvSpPr>
          <p:cNvPr id="17" name="Shape 17"/>
          <p:cNvSpPr/>
          <p:nvPr/>
        </p:nvSpPr>
        <p:spPr>
          <a:xfrm>
            <a:off x="4337304" y="2121408"/>
            <a:ext cx="3514344" cy="73152"/>
          </a:xfrm>
          <a:prstGeom prst="rect">
            <a:avLst/>
          </a:prstGeom>
          <a:solidFill>
            <a:srgbClr val="14213D"/>
          </a:solidFill>
          <a:ln>
            <a:noFill/>
          </a:ln>
        </p:spPr>
      </p:sp>
      <p:sp>
        <p:nvSpPr>
          <p:cNvPr id="18" name="TextBox 18"/>
          <p:cNvSpPr/>
          <p:nvPr/>
        </p:nvSpPr>
        <p:spPr>
          <a:xfrm>
            <a:off x="4593336" y="2322576"/>
            <a:ext cx="3002280" cy="530352"/>
          </a:xfrm>
          <a:prstGeom prst="rect">
            <a:avLst/>
          </a:prstGeom>
          <a:noFill/>
          <a:ln>
            <a:noFill/>
          </a:ln>
        </p:spPr>
        <p:txBody>
          <a:bodyPr wrap="square" lIns="0" tIns="0" rIns="0" bIns="0" rtlCol="0" anchor="ctr">
            <a:noAutofit/>
          </a:bodyPr>
          <a:lstStyle/>
          <a:p>
            <a:pPr marL="0" indent="0" algn="l">
              <a:spcBef>
                <a:spcPts val="0"/>
              </a:spcBef>
              <a:buNone/>
            </a:pPr>
            <a:r>
              <a:rPr lang="uz-Latn-UZ" sz="2000" b="1" i="0" dirty="0">
                <a:solidFill>
                  <a:srgbClr val="14213D"/>
                </a:solidFill>
                <a:latin typeface="Arial"/>
                <a:cs typeface="Arial"/>
              </a:rPr>
              <a:t>Rossiya bilan</a:t>
            </a:r>
            <a:endParaRPr lang="uz-Latn-UZ" sz="2000" b="1" i="0" dirty="0">
              <a:solidFill>
                <a:srgbClr val="14213D"/>
              </a:solidFill>
              <a:latin typeface="Arial"/>
              <a:cs typeface="Arial"/>
            </a:endParaRPr>
          </a:p>
        </p:txBody>
      </p:sp>
      <p:cxnSp>
        <p:nvCxnSpPr>
          <p:cNvPr id="19" name="Line 19"/>
          <p:cNvCxnSpPr/>
          <p:nvPr/>
        </p:nvCxnSpPr>
        <p:spPr>
          <a:xfrm>
            <a:off x="4593336" y="2962656"/>
            <a:ext cx="3002280" cy="0"/>
          </a:xfrm>
          <a:prstGeom prst="line">
            <a:avLst/>
          </a:prstGeom>
          <a:ln w="12700">
            <a:solidFill>
              <a:srgbClr val="D1D5DB"/>
            </a:solidFill>
          </a:ln>
        </p:spPr>
      </p:cxnSp>
      <p:sp>
        <p:nvSpPr>
          <p:cNvPr id="20" name="TextBox 20"/>
          <p:cNvSpPr/>
          <p:nvPr/>
        </p:nvSpPr>
        <p:spPr>
          <a:xfrm>
            <a:off x="4593336" y="3108960"/>
            <a:ext cx="3002280" cy="2880360"/>
          </a:xfrm>
          <a:prstGeom prst="rect">
            <a:avLst/>
          </a:prstGeom>
          <a:noFill/>
          <a:ln>
            <a:noFill/>
          </a:ln>
        </p:spPr>
        <p:txBody>
          <a:bodyPr wrap="square" lIns="0" tIns="0" rIns="0" bIns="0" rtlCol="0" anchor="t">
            <a:noAutofit/>
          </a:bodyPr>
          <a:lstStyle/>
          <a:p>
            <a:pPr marL="256032" indent="-256032" algn="l">
              <a:spcBef>
                <a:spcPts val="0"/>
              </a:spcBef>
              <a:buClr>
                <a:srgbClr val="C8102E"/>
              </a:buClr>
              <a:buFont typeface="Arial"/>
              <a:buChar char="•"/>
            </a:pPr>
            <a:r>
              <a:rPr lang="uz-Latn-UZ" sz="1700" b="0" i="0" dirty="0">
                <a:solidFill>
                  <a:srgbClr val="1F2937"/>
                </a:solidFill>
                <a:latin typeface="Arial"/>
                <a:cs typeface="Arial"/>
              </a:rPr>
              <a:t>TurkStream gaz quvuri (2020)</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Akkuyu AES Rossiya ishtirokida qurilmoqda</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2019 — S-400 tizimi xaridi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G‘arb sanksiyalariga qo‘shilmadi</a:t>
            </a:r>
            <a:endParaRPr lang="uz-Latn-UZ" sz="1700" b="0" i="0" dirty="0">
              <a:solidFill>
                <a:srgbClr val="1F2937"/>
              </a:solidFill>
              <a:latin typeface="Arial"/>
              <a:cs typeface="Arial"/>
            </a:endParaRPr>
          </a:p>
        </p:txBody>
      </p:sp>
      <p:sp>
        <p:nvSpPr>
          <p:cNvPr id="21" name="Shape 21"/>
          <p:cNvSpPr/>
          <p:nvPr/>
        </p:nvSpPr>
        <p:spPr>
          <a:xfrm>
            <a:off x="8125968" y="2121408"/>
            <a:ext cx="3514344" cy="4023360"/>
          </a:xfrm>
          <a:prstGeom prst="rect">
            <a:avLst/>
          </a:prstGeom>
          <a:solidFill>
            <a:srgbClr val="F1F3F6"/>
          </a:solidFill>
          <a:ln>
            <a:noFill/>
          </a:ln>
        </p:spPr>
      </p:sp>
      <p:sp>
        <p:nvSpPr>
          <p:cNvPr id="22" name="Shape 22"/>
          <p:cNvSpPr/>
          <p:nvPr/>
        </p:nvSpPr>
        <p:spPr>
          <a:xfrm>
            <a:off x="8125968" y="2121408"/>
            <a:ext cx="3514344" cy="73152"/>
          </a:xfrm>
          <a:prstGeom prst="rect">
            <a:avLst/>
          </a:prstGeom>
          <a:solidFill>
            <a:srgbClr val="C8102E"/>
          </a:solidFill>
          <a:ln>
            <a:noFill/>
          </a:ln>
        </p:spPr>
      </p:sp>
      <p:sp>
        <p:nvSpPr>
          <p:cNvPr id="23" name="TextBox 23"/>
          <p:cNvSpPr/>
          <p:nvPr/>
        </p:nvSpPr>
        <p:spPr>
          <a:xfrm>
            <a:off x="8382000" y="2322576"/>
            <a:ext cx="3002280" cy="530352"/>
          </a:xfrm>
          <a:prstGeom prst="rect">
            <a:avLst/>
          </a:prstGeom>
          <a:noFill/>
          <a:ln>
            <a:noFill/>
          </a:ln>
        </p:spPr>
        <p:txBody>
          <a:bodyPr wrap="square" lIns="0" tIns="0" rIns="0" bIns="0" rtlCol="0" anchor="ctr">
            <a:noAutofit/>
          </a:bodyPr>
          <a:lstStyle/>
          <a:p>
            <a:pPr marL="0" indent="0" algn="l">
              <a:spcBef>
                <a:spcPts val="0"/>
              </a:spcBef>
              <a:buNone/>
            </a:pPr>
            <a:r>
              <a:rPr lang="uz-Latn-UZ" sz="2000" b="1" i="0" dirty="0">
                <a:solidFill>
                  <a:srgbClr val="14213D"/>
                </a:solidFill>
                <a:latin typeface="Arial"/>
                <a:cs typeface="Arial"/>
              </a:rPr>
              <a:t>Ukraina bilan</a:t>
            </a:r>
            <a:endParaRPr lang="uz-Latn-UZ" sz="2000" b="1" i="0" dirty="0">
              <a:solidFill>
                <a:srgbClr val="14213D"/>
              </a:solidFill>
              <a:latin typeface="Arial"/>
              <a:cs typeface="Arial"/>
            </a:endParaRPr>
          </a:p>
        </p:txBody>
      </p:sp>
      <p:cxnSp>
        <p:nvCxnSpPr>
          <p:cNvPr id="24" name="Line 24"/>
          <p:cNvCxnSpPr/>
          <p:nvPr/>
        </p:nvCxnSpPr>
        <p:spPr>
          <a:xfrm>
            <a:off x="8382000" y="2962656"/>
            <a:ext cx="3002280" cy="0"/>
          </a:xfrm>
          <a:prstGeom prst="line">
            <a:avLst/>
          </a:prstGeom>
          <a:ln w="12700">
            <a:solidFill>
              <a:srgbClr val="D1D5DB"/>
            </a:solidFill>
          </a:ln>
        </p:spPr>
      </p:cxnSp>
      <p:sp>
        <p:nvSpPr>
          <p:cNvPr id="25" name="TextBox 25"/>
          <p:cNvSpPr/>
          <p:nvPr/>
        </p:nvSpPr>
        <p:spPr>
          <a:xfrm>
            <a:off x="8382000" y="3108960"/>
            <a:ext cx="3002280" cy="2880360"/>
          </a:xfrm>
          <a:prstGeom prst="rect">
            <a:avLst/>
          </a:prstGeom>
          <a:noFill/>
          <a:ln>
            <a:noFill/>
          </a:ln>
        </p:spPr>
        <p:txBody>
          <a:bodyPr wrap="square" lIns="0" tIns="0" rIns="0" bIns="0" rtlCol="0" anchor="t">
            <a:noAutofit/>
          </a:bodyPr>
          <a:lstStyle/>
          <a:p>
            <a:pPr marL="256032" indent="-256032" algn="l">
              <a:spcBef>
                <a:spcPts val="0"/>
              </a:spcBef>
              <a:buClr>
                <a:srgbClr val="C8102E"/>
              </a:buClr>
              <a:buFont typeface="Arial"/>
              <a:buChar char="•"/>
            </a:pPr>
            <a:r>
              <a:rPr lang="uz-Latn-UZ" sz="1700" b="0" i="0" dirty="0">
                <a:solidFill>
                  <a:srgbClr val="1F2937"/>
                </a:solidFill>
                <a:latin typeface="Arial"/>
                <a:cs typeface="Arial"/>
              </a:rPr>
              <a:t>Hududiy yaxlitlikni qo‘llaydi, Qrim anneksiyasini tan olmaydi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2022 — urushayotgan tomonlar harbiy kemalariga bo‘g‘ozlar yopildi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Dronlar va mudofaa sanoati hamkorligi</a:t>
            </a:r>
            <a:endParaRPr lang="uz-Latn-UZ" sz="1700" b="0" i="0" dirty="0">
              <a:solidFill>
                <a:srgbClr val="1F2937"/>
              </a:solidFill>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1-QISM  •  O‘ZIGA XOS JIHATLAR</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Ishonchli vositachi</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1-ma’ruzachi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6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Shape 10"/>
          <p:cNvSpPr/>
          <p:nvPr/>
        </p:nvSpPr>
        <p:spPr>
          <a:xfrm>
            <a:off x="548640" y="1682496"/>
            <a:ext cx="1783080" cy="554736"/>
          </a:xfrm>
          <a:prstGeom prst="roundRect">
            <a:avLst>
              <a:gd name="adj" fmla="val 18000"/>
            </a:avLst>
          </a:prstGeom>
          <a:solidFill>
            <a:srgbClr val="C8102E"/>
          </a:solidFill>
          <a:ln>
            <a:noFill/>
          </a:ln>
        </p:spPr>
        <p:txBody>
          <a:bodyPr wrap="square" lIns="36576" tIns="0" rIns="36576" bIns="0" rtlCol="0" anchor="ctr">
            <a:noAutofit/>
          </a:bodyPr>
          <a:lstStyle/>
          <a:p>
            <a:pPr marL="0" indent="0" algn="ctr">
              <a:spcBef>
                <a:spcPts val="0"/>
              </a:spcBef>
              <a:buNone/>
            </a:pPr>
            <a:r>
              <a:rPr lang="uz-Latn-UZ" sz="1600" b="1" i="0" dirty="0">
                <a:solidFill>
                  <a:srgbClr val="FFFFFF"/>
                </a:solidFill>
                <a:latin typeface="Arial"/>
                <a:cs typeface="Arial"/>
              </a:rPr>
              <a:t>2010</a:t>
            </a:r>
            <a:endParaRPr lang="uz-Latn-UZ" sz="1600" b="1" i="0" dirty="0">
              <a:solidFill>
                <a:srgbClr val="FFFFFF"/>
              </a:solidFill>
              <a:latin typeface="Arial"/>
              <a:cs typeface="Arial"/>
            </a:endParaRPr>
          </a:p>
        </p:txBody>
      </p:sp>
      <p:sp>
        <p:nvSpPr>
          <p:cNvPr id="11" name="TextBox 11"/>
          <p:cNvSpPr/>
          <p:nvPr/>
        </p:nvSpPr>
        <p:spPr>
          <a:xfrm>
            <a:off x="2560320" y="1609344"/>
            <a:ext cx="9079992" cy="701040"/>
          </a:xfrm>
          <a:prstGeom prst="rect">
            <a:avLst/>
          </a:prstGeom>
          <a:noFill/>
          <a:ln>
            <a:noFill/>
          </a:ln>
        </p:spPr>
        <p:txBody>
          <a:bodyPr wrap="square" lIns="0" tIns="0" rIns="0" bIns="0" rtlCol="0" anchor="ctr">
            <a:noAutofit/>
          </a:bodyPr>
          <a:lstStyle/>
          <a:p>
            <a:pPr marL="0" indent="0" algn="l">
              <a:spcBef>
                <a:spcPts val="0"/>
              </a:spcBef>
              <a:buNone/>
            </a:pPr>
            <a:r>
              <a:rPr lang="uz-Latn-UZ" sz="1800" b="0" i="0" dirty="0">
                <a:solidFill>
                  <a:srgbClr val="1F2937"/>
                </a:solidFill>
                <a:latin typeface="Arial"/>
                <a:cs typeface="Arial"/>
              </a:rPr>
              <a:t>BMTda Finlyandiya bilan birga «Vositachilik do‘stlari» guruhini tuzdi.</a:t>
            </a:r>
            <a:endParaRPr lang="uz-Latn-UZ" sz="1800" b="0" i="0" dirty="0">
              <a:solidFill>
                <a:srgbClr val="1F2937"/>
              </a:solidFill>
              <a:latin typeface="Arial"/>
              <a:cs typeface="Arial"/>
            </a:endParaRPr>
          </a:p>
        </p:txBody>
      </p:sp>
      <p:cxnSp>
        <p:nvCxnSpPr>
          <p:cNvPr id="12" name="Line 12"/>
          <p:cNvCxnSpPr/>
          <p:nvPr/>
        </p:nvCxnSpPr>
        <p:spPr>
          <a:xfrm>
            <a:off x="2560320" y="2346960"/>
            <a:ext cx="9079992" cy="0"/>
          </a:xfrm>
          <a:prstGeom prst="line">
            <a:avLst/>
          </a:prstGeom>
          <a:ln w="12700">
            <a:solidFill>
              <a:srgbClr val="E5E7EB"/>
            </a:solidFill>
          </a:ln>
        </p:spPr>
      </p:cxnSp>
      <p:sp>
        <p:nvSpPr>
          <p:cNvPr id="13" name="Shape 13"/>
          <p:cNvSpPr/>
          <p:nvPr/>
        </p:nvSpPr>
        <p:spPr>
          <a:xfrm>
            <a:off x="548640" y="2456688"/>
            <a:ext cx="1783080" cy="554736"/>
          </a:xfrm>
          <a:prstGeom prst="roundRect">
            <a:avLst>
              <a:gd name="adj" fmla="val 18000"/>
            </a:avLst>
          </a:prstGeom>
          <a:solidFill>
            <a:srgbClr val="14213D"/>
          </a:solidFill>
          <a:ln>
            <a:noFill/>
          </a:ln>
        </p:spPr>
        <p:txBody>
          <a:bodyPr wrap="square" lIns="36576" tIns="0" rIns="36576" bIns="0" rtlCol="0" anchor="ctr">
            <a:noAutofit/>
          </a:bodyPr>
          <a:lstStyle/>
          <a:p>
            <a:pPr marL="0" indent="0" algn="ctr">
              <a:spcBef>
                <a:spcPts val="0"/>
              </a:spcBef>
              <a:buNone/>
            </a:pPr>
            <a:r>
              <a:rPr lang="uz-Latn-UZ" sz="1600" b="1" i="0" dirty="0">
                <a:solidFill>
                  <a:srgbClr val="FFFFFF"/>
                </a:solidFill>
                <a:latin typeface="Arial"/>
                <a:cs typeface="Arial"/>
              </a:rPr>
              <a:t>10.03.2022</a:t>
            </a:r>
            <a:endParaRPr lang="uz-Latn-UZ" sz="1600" b="1" i="0" dirty="0">
              <a:solidFill>
                <a:srgbClr val="FFFFFF"/>
              </a:solidFill>
              <a:latin typeface="Arial"/>
              <a:cs typeface="Arial"/>
            </a:endParaRPr>
          </a:p>
        </p:txBody>
      </p:sp>
      <p:sp>
        <p:nvSpPr>
          <p:cNvPr id="14" name="TextBox 14"/>
          <p:cNvSpPr/>
          <p:nvPr/>
        </p:nvSpPr>
        <p:spPr>
          <a:xfrm>
            <a:off x="2560320" y="2383536"/>
            <a:ext cx="9079992" cy="701040"/>
          </a:xfrm>
          <a:prstGeom prst="rect">
            <a:avLst/>
          </a:prstGeom>
          <a:noFill/>
          <a:ln>
            <a:noFill/>
          </a:ln>
        </p:spPr>
        <p:txBody>
          <a:bodyPr wrap="square" lIns="0" tIns="0" rIns="0" bIns="0" rtlCol="0" anchor="ctr">
            <a:noAutofit/>
          </a:bodyPr>
          <a:lstStyle/>
          <a:p>
            <a:pPr marL="0" indent="0" algn="l">
              <a:spcBef>
                <a:spcPts val="0"/>
              </a:spcBef>
              <a:buNone/>
            </a:pPr>
            <a:r>
              <a:rPr lang="uz-Latn-UZ" sz="1800" b="0" i="0" dirty="0">
                <a:solidFill>
                  <a:srgbClr val="1F2937"/>
                </a:solidFill>
                <a:latin typeface="Arial"/>
                <a:cs typeface="Arial"/>
              </a:rPr>
              <a:t>Antaliya diplomatiya forumi doirasida Rossiya va Ukraina tashqi ishlar vazirlari bir stol atrofida uchrashdi.</a:t>
            </a:r>
            <a:endParaRPr lang="uz-Latn-UZ" sz="1800" b="0" i="0" dirty="0">
              <a:solidFill>
                <a:srgbClr val="1F2937"/>
              </a:solidFill>
              <a:latin typeface="Arial"/>
              <a:cs typeface="Arial"/>
            </a:endParaRPr>
          </a:p>
        </p:txBody>
      </p:sp>
      <p:cxnSp>
        <p:nvCxnSpPr>
          <p:cNvPr id="15" name="Line 15"/>
          <p:cNvCxnSpPr/>
          <p:nvPr/>
        </p:nvCxnSpPr>
        <p:spPr>
          <a:xfrm>
            <a:off x="2560320" y="3121152"/>
            <a:ext cx="9079992" cy="0"/>
          </a:xfrm>
          <a:prstGeom prst="line">
            <a:avLst/>
          </a:prstGeom>
          <a:ln w="12700">
            <a:solidFill>
              <a:srgbClr val="E5E7EB"/>
            </a:solidFill>
          </a:ln>
        </p:spPr>
      </p:cxnSp>
      <p:sp>
        <p:nvSpPr>
          <p:cNvPr id="16" name="Shape 16"/>
          <p:cNvSpPr/>
          <p:nvPr/>
        </p:nvSpPr>
        <p:spPr>
          <a:xfrm>
            <a:off x="548640" y="3230880"/>
            <a:ext cx="1783080" cy="554736"/>
          </a:xfrm>
          <a:prstGeom prst="roundRect">
            <a:avLst>
              <a:gd name="adj" fmla="val 18000"/>
            </a:avLst>
          </a:prstGeom>
          <a:solidFill>
            <a:srgbClr val="C8102E"/>
          </a:solidFill>
          <a:ln>
            <a:noFill/>
          </a:ln>
        </p:spPr>
        <p:txBody>
          <a:bodyPr wrap="square" lIns="36576" tIns="0" rIns="36576" bIns="0" rtlCol="0" anchor="ctr">
            <a:noAutofit/>
          </a:bodyPr>
          <a:lstStyle/>
          <a:p>
            <a:pPr marL="0" indent="0" algn="ctr">
              <a:spcBef>
                <a:spcPts val="0"/>
              </a:spcBef>
              <a:buNone/>
            </a:pPr>
            <a:r>
              <a:rPr lang="uz-Latn-UZ" sz="1600" b="1" i="0" dirty="0">
                <a:solidFill>
                  <a:srgbClr val="FFFFFF"/>
                </a:solidFill>
                <a:latin typeface="Arial"/>
                <a:cs typeface="Arial"/>
              </a:rPr>
              <a:t>22.07.2022</a:t>
            </a:r>
            <a:endParaRPr lang="uz-Latn-UZ" sz="1600" b="1" i="0" dirty="0">
              <a:solidFill>
                <a:srgbClr val="FFFFFF"/>
              </a:solidFill>
              <a:latin typeface="Arial"/>
              <a:cs typeface="Arial"/>
            </a:endParaRPr>
          </a:p>
        </p:txBody>
      </p:sp>
      <p:sp>
        <p:nvSpPr>
          <p:cNvPr id="17" name="TextBox 17"/>
          <p:cNvSpPr/>
          <p:nvPr/>
        </p:nvSpPr>
        <p:spPr>
          <a:xfrm>
            <a:off x="2560320" y="3157728"/>
            <a:ext cx="9079992" cy="701040"/>
          </a:xfrm>
          <a:prstGeom prst="rect">
            <a:avLst/>
          </a:prstGeom>
          <a:noFill/>
          <a:ln>
            <a:noFill/>
          </a:ln>
        </p:spPr>
        <p:txBody>
          <a:bodyPr wrap="square" lIns="0" tIns="0" rIns="0" bIns="0" rtlCol="0" anchor="ctr">
            <a:noAutofit/>
          </a:bodyPr>
          <a:lstStyle/>
          <a:p>
            <a:pPr marL="0" indent="0" algn="l">
              <a:spcBef>
                <a:spcPts val="0"/>
              </a:spcBef>
              <a:buNone/>
            </a:pPr>
            <a:r>
              <a:rPr lang="uz-Latn-UZ" sz="1800" b="0" i="0" dirty="0">
                <a:solidFill>
                  <a:srgbClr val="1F2937"/>
                </a:solidFill>
                <a:latin typeface="Arial"/>
                <a:cs typeface="Arial"/>
              </a:rPr>
              <a:t>BMT bilan Qora dengiz don yo‘lagi ochildi — qariyb 33 mln tonna don eksport qilindi.</a:t>
            </a:r>
            <a:endParaRPr lang="uz-Latn-UZ" sz="1800" b="0" i="0" dirty="0">
              <a:solidFill>
                <a:srgbClr val="1F2937"/>
              </a:solidFill>
              <a:latin typeface="Arial"/>
              <a:cs typeface="Arial"/>
            </a:endParaRPr>
          </a:p>
        </p:txBody>
      </p:sp>
      <p:cxnSp>
        <p:nvCxnSpPr>
          <p:cNvPr id="18" name="Line 18"/>
          <p:cNvCxnSpPr/>
          <p:nvPr/>
        </p:nvCxnSpPr>
        <p:spPr>
          <a:xfrm>
            <a:off x="2560320" y="3895344"/>
            <a:ext cx="9079992" cy="0"/>
          </a:xfrm>
          <a:prstGeom prst="line">
            <a:avLst/>
          </a:prstGeom>
          <a:ln w="12700">
            <a:solidFill>
              <a:srgbClr val="E5E7EB"/>
            </a:solidFill>
          </a:ln>
        </p:spPr>
      </p:cxnSp>
      <p:sp>
        <p:nvSpPr>
          <p:cNvPr id="19" name="Shape 19"/>
          <p:cNvSpPr/>
          <p:nvPr/>
        </p:nvSpPr>
        <p:spPr>
          <a:xfrm>
            <a:off x="548640" y="4005072"/>
            <a:ext cx="1783080" cy="554736"/>
          </a:xfrm>
          <a:prstGeom prst="roundRect">
            <a:avLst>
              <a:gd name="adj" fmla="val 18000"/>
            </a:avLst>
          </a:prstGeom>
          <a:solidFill>
            <a:srgbClr val="14213D"/>
          </a:solidFill>
          <a:ln>
            <a:noFill/>
          </a:ln>
        </p:spPr>
        <p:txBody>
          <a:bodyPr wrap="square" lIns="36576" tIns="0" rIns="36576" bIns="0" rtlCol="0" anchor="ctr">
            <a:noAutofit/>
          </a:bodyPr>
          <a:lstStyle/>
          <a:p>
            <a:pPr marL="0" indent="0" algn="ctr">
              <a:spcBef>
                <a:spcPts val="0"/>
              </a:spcBef>
              <a:buNone/>
            </a:pPr>
            <a:r>
              <a:rPr lang="uz-Latn-UZ" sz="1600" b="1" i="0" dirty="0">
                <a:solidFill>
                  <a:srgbClr val="FFFFFF"/>
                </a:solidFill>
                <a:latin typeface="Arial"/>
                <a:cs typeface="Arial"/>
              </a:rPr>
              <a:t>2024</a:t>
            </a:r>
            <a:endParaRPr lang="uz-Latn-UZ" sz="1600" b="1" i="0" dirty="0">
              <a:solidFill>
                <a:srgbClr val="FFFFFF"/>
              </a:solidFill>
              <a:latin typeface="Arial"/>
              <a:cs typeface="Arial"/>
            </a:endParaRPr>
          </a:p>
        </p:txBody>
      </p:sp>
      <p:sp>
        <p:nvSpPr>
          <p:cNvPr id="20" name="TextBox 20"/>
          <p:cNvSpPr/>
          <p:nvPr/>
        </p:nvSpPr>
        <p:spPr>
          <a:xfrm>
            <a:off x="2560320" y="3931920"/>
            <a:ext cx="9079992" cy="701040"/>
          </a:xfrm>
          <a:prstGeom prst="rect">
            <a:avLst/>
          </a:prstGeom>
          <a:noFill/>
          <a:ln>
            <a:noFill/>
          </a:ln>
        </p:spPr>
        <p:txBody>
          <a:bodyPr wrap="square" lIns="0" tIns="0" rIns="0" bIns="0" rtlCol="0" anchor="ctr">
            <a:noAutofit/>
          </a:bodyPr>
          <a:lstStyle/>
          <a:p>
            <a:pPr marL="0" indent="0" algn="l">
              <a:spcBef>
                <a:spcPts val="0"/>
              </a:spcBef>
              <a:buNone/>
            </a:pPr>
            <a:r>
              <a:rPr lang="uz-Latn-UZ" sz="1800" b="0" i="0" dirty="0">
                <a:solidFill>
                  <a:srgbClr val="1F2937"/>
                </a:solidFill>
                <a:latin typeface="Arial"/>
                <a:cs typeface="Arial"/>
              </a:rPr>
              <a:t>Anqarada Rossiya va G‘arb o‘rtasida mahbuslar almashinuvi; Somali – Efiopiya «Anqara deklaratsiyasi».</a:t>
            </a:r>
            <a:endParaRPr lang="uz-Latn-UZ" sz="1800" b="0" i="0" dirty="0">
              <a:solidFill>
                <a:srgbClr val="1F2937"/>
              </a:solidFill>
              <a:latin typeface="Arial"/>
              <a:cs typeface="Arial"/>
            </a:endParaRPr>
          </a:p>
        </p:txBody>
      </p:sp>
      <p:cxnSp>
        <p:nvCxnSpPr>
          <p:cNvPr id="21" name="Line 21"/>
          <p:cNvCxnSpPr/>
          <p:nvPr/>
        </p:nvCxnSpPr>
        <p:spPr>
          <a:xfrm>
            <a:off x="2560320" y="4669536"/>
            <a:ext cx="9079992" cy="0"/>
          </a:xfrm>
          <a:prstGeom prst="line">
            <a:avLst/>
          </a:prstGeom>
          <a:ln w="12700">
            <a:solidFill>
              <a:srgbClr val="E5E7EB"/>
            </a:solidFill>
          </a:ln>
        </p:spPr>
      </p:cxnSp>
      <p:sp>
        <p:nvSpPr>
          <p:cNvPr id="22" name="Shape 22"/>
          <p:cNvSpPr/>
          <p:nvPr/>
        </p:nvSpPr>
        <p:spPr>
          <a:xfrm>
            <a:off x="548640" y="4779264"/>
            <a:ext cx="1783080" cy="554736"/>
          </a:xfrm>
          <a:prstGeom prst="roundRect">
            <a:avLst>
              <a:gd name="adj" fmla="val 18000"/>
            </a:avLst>
          </a:prstGeom>
          <a:solidFill>
            <a:srgbClr val="C8102E"/>
          </a:solidFill>
          <a:ln>
            <a:noFill/>
          </a:ln>
        </p:spPr>
        <p:txBody>
          <a:bodyPr wrap="square" lIns="36576" tIns="0" rIns="36576" bIns="0" rtlCol="0" anchor="ctr">
            <a:noAutofit/>
          </a:bodyPr>
          <a:lstStyle/>
          <a:p>
            <a:pPr marL="0" indent="0" algn="ctr">
              <a:spcBef>
                <a:spcPts val="0"/>
              </a:spcBef>
              <a:buNone/>
            </a:pPr>
            <a:r>
              <a:rPr lang="uz-Latn-UZ" sz="1600" b="1" i="0" dirty="0">
                <a:solidFill>
                  <a:srgbClr val="FFFFFF"/>
                </a:solidFill>
                <a:latin typeface="Arial"/>
                <a:cs typeface="Arial"/>
              </a:rPr>
              <a:t>2025</a:t>
            </a:r>
            <a:endParaRPr lang="uz-Latn-UZ" sz="1600" b="1" i="0" dirty="0">
              <a:solidFill>
                <a:srgbClr val="FFFFFF"/>
              </a:solidFill>
              <a:latin typeface="Arial"/>
              <a:cs typeface="Arial"/>
            </a:endParaRPr>
          </a:p>
        </p:txBody>
      </p:sp>
      <p:sp>
        <p:nvSpPr>
          <p:cNvPr id="23" name="TextBox 23"/>
          <p:cNvSpPr/>
          <p:nvPr/>
        </p:nvSpPr>
        <p:spPr>
          <a:xfrm>
            <a:off x="2560320" y="4706112"/>
            <a:ext cx="9079992" cy="701040"/>
          </a:xfrm>
          <a:prstGeom prst="rect">
            <a:avLst/>
          </a:prstGeom>
          <a:noFill/>
          <a:ln>
            <a:noFill/>
          </a:ln>
        </p:spPr>
        <p:txBody>
          <a:bodyPr wrap="square" lIns="0" tIns="0" rIns="0" bIns="0" rtlCol="0" anchor="ctr">
            <a:noAutofit/>
          </a:bodyPr>
          <a:lstStyle/>
          <a:p>
            <a:pPr marL="0" indent="0" algn="l">
              <a:spcBef>
                <a:spcPts val="0"/>
              </a:spcBef>
              <a:buNone/>
            </a:pPr>
            <a:r>
              <a:rPr lang="uz-Latn-UZ" sz="1800" b="0" i="0" dirty="0">
                <a:solidFill>
                  <a:srgbClr val="1F2937"/>
                </a:solidFill>
                <a:latin typeface="Arial"/>
                <a:cs typeface="Arial"/>
              </a:rPr>
              <a:t>Istanbulda Rossiya – Ukraina muzokaralari; Qatar bilan Afg‘oniston – Pokiston o‘t ochishni to‘xtatish kelishuviga vositachilik.</a:t>
            </a:r>
            <a:endParaRPr lang="uz-Latn-UZ" sz="1800" b="0" i="0" dirty="0">
              <a:solidFill>
                <a:srgbClr val="1F2937"/>
              </a:solidFill>
              <a:latin typeface="Arial"/>
              <a:cs typeface="Arial"/>
            </a:endParaRPr>
          </a:p>
        </p:txBody>
      </p:sp>
      <p:cxnSp>
        <p:nvCxnSpPr>
          <p:cNvPr id="24" name="Line 24"/>
          <p:cNvCxnSpPr/>
          <p:nvPr/>
        </p:nvCxnSpPr>
        <p:spPr>
          <a:xfrm>
            <a:off x="2560320" y="5443728"/>
            <a:ext cx="9079992" cy="0"/>
          </a:xfrm>
          <a:prstGeom prst="line">
            <a:avLst/>
          </a:prstGeom>
          <a:ln w="12700">
            <a:solidFill>
              <a:srgbClr val="E5E7EB"/>
            </a:solidFill>
          </a:ln>
        </p:spPr>
      </p:cxnSp>
      <p:sp>
        <p:nvSpPr>
          <p:cNvPr id="25" name="Shape 25"/>
          <p:cNvSpPr/>
          <p:nvPr/>
        </p:nvSpPr>
        <p:spPr>
          <a:xfrm>
            <a:off x="548640" y="5553456"/>
            <a:ext cx="1783080" cy="554736"/>
          </a:xfrm>
          <a:prstGeom prst="roundRect">
            <a:avLst>
              <a:gd name="adj" fmla="val 18000"/>
            </a:avLst>
          </a:prstGeom>
          <a:solidFill>
            <a:srgbClr val="14213D"/>
          </a:solidFill>
          <a:ln>
            <a:noFill/>
          </a:ln>
        </p:spPr>
        <p:txBody>
          <a:bodyPr wrap="square" lIns="36576" tIns="0" rIns="36576" bIns="0" rtlCol="0" anchor="ctr">
            <a:noAutofit/>
          </a:bodyPr>
          <a:lstStyle/>
          <a:p>
            <a:pPr marL="0" indent="0" algn="ctr">
              <a:spcBef>
                <a:spcPts val="0"/>
              </a:spcBef>
              <a:buNone/>
            </a:pPr>
            <a:r>
              <a:rPr lang="uz-Latn-UZ" sz="1600" b="1" i="0" dirty="0">
                <a:solidFill>
                  <a:srgbClr val="FFFFFF"/>
                </a:solidFill>
                <a:latin typeface="Arial"/>
                <a:cs typeface="Arial"/>
              </a:rPr>
              <a:t>13.10.2025</a:t>
            </a:r>
            <a:endParaRPr lang="uz-Latn-UZ" sz="1600" b="1" i="0" dirty="0">
              <a:solidFill>
                <a:srgbClr val="FFFFFF"/>
              </a:solidFill>
              <a:latin typeface="Arial"/>
              <a:cs typeface="Arial"/>
            </a:endParaRPr>
          </a:p>
        </p:txBody>
      </p:sp>
      <p:sp>
        <p:nvSpPr>
          <p:cNvPr id="26" name="TextBox 26"/>
          <p:cNvSpPr/>
          <p:nvPr/>
        </p:nvSpPr>
        <p:spPr>
          <a:xfrm>
            <a:off x="2560320" y="5480304"/>
            <a:ext cx="9079992" cy="701040"/>
          </a:xfrm>
          <a:prstGeom prst="rect">
            <a:avLst/>
          </a:prstGeom>
          <a:noFill/>
          <a:ln>
            <a:noFill/>
          </a:ln>
        </p:spPr>
        <p:txBody>
          <a:bodyPr wrap="square" lIns="0" tIns="0" rIns="0" bIns="0" rtlCol="0" anchor="ctr">
            <a:noAutofit/>
          </a:bodyPr>
          <a:lstStyle/>
          <a:p>
            <a:pPr marL="0" indent="0" algn="l">
              <a:spcBef>
                <a:spcPts val="0"/>
              </a:spcBef>
              <a:buNone/>
            </a:pPr>
            <a:r>
              <a:rPr lang="uz-Latn-UZ" sz="1800" b="0" i="0" dirty="0">
                <a:solidFill>
                  <a:srgbClr val="1F2937"/>
                </a:solidFill>
                <a:latin typeface="Arial"/>
                <a:cs typeface="Arial"/>
              </a:rPr>
              <a:t>Sharm ash-Shayxda G‘azo bo‘yicha tinchlik deklaratsiyasini kafil davlat sifatida imzoladi.</a:t>
            </a:r>
            <a:endParaRPr lang="uz-Latn-UZ" sz="1800" b="0" i="0" dirty="0">
              <a:solidFill>
                <a:srgbClr val="1F2937"/>
              </a:solidFill>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1-QISM  •  O‘ZIGA XOS JIHATLAR</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Insonparvarlik va mudofaa diplomatiyasi</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1-ma’ruzachi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7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Shape 10"/>
          <p:cNvSpPr/>
          <p:nvPr/>
        </p:nvSpPr>
        <p:spPr>
          <a:xfrm>
            <a:off x="548640" y="1627632"/>
            <a:ext cx="2601468" cy="2011680"/>
          </a:xfrm>
          <a:prstGeom prst="rect">
            <a:avLst/>
          </a:prstGeom>
          <a:solidFill>
            <a:srgbClr val="14213D"/>
          </a:solidFill>
          <a:ln>
            <a:noFill/>
          </a:ln>
        </p:spPr>
      </p:sp>
      <p:sp>
        <p:nvSpPr>
          <p:cNvPr id="11" name="TextBox 11"/>
          <p:cNvSpPr/>
          <p:nvPr/>
        </p:nvSpPr>
        <p:spPr>
          <a:xfrm>
            <a:off x="731520" y="1737360"/>
            <a:ext cx="2235708" cy="822960"/>
          </a:xfrm>
          <a:prstGeom prst="rect">
            <a:avLst/>
          </a:prstGeom>
          <a:noFill/>
          <a:ln>
            <a:noFill/>
          </a:ln>
        </p:spPr>
        <p:txBody>
          <a:bodyPr wrap="square" lIns="0" tIns="0" rIns="0" bIns="0" rtlCol="0" anchor="ctr">
            <a:noAutofit/>
          </a:bodyPr>
          <a:lstStyle/>
          <a:p>
            <a:pPr marL="0" indent="0" algn="ctr">
              <a:spcBef>
                <a:spcPts val="0"/>
              </a:spcBef>
              <a:buNone/>
            </a:pPr>
            <a:r>
              <a:rPr lang="uz-Latn-UZ" sz="2600" b="1" i="0" dirty="0">
                <a:solidFill>
                  <a:srgbClr val="FFFFFF"/>
                </a:solidFill>
                <a:latin typeface="Arial"/>
                <a:cs typeface="Arial"/>
              </a:rPr>
              <a:t>3,7 mln</a:t>
            </a:r>
            <a:endParaRPr lang="uz-Latn-UZ" sz="2600" b="1" i="0" dirty="0">
              <a:solidFill>
                <a:srgbClr val="FFFFFF"/>
              </a:solidFill>
              <a:latin typeface="Arial"/>
              <a:cs typeface="Arial"/>
            </a:endParaRPr>
          </a:p>
        </p:txBody>
      </p:sp>
      <p:sp>
        <p:nvSpPr>
          <p:cNvPr id="12" name="TextBox 12"/>
          <p:cNvSpPr/>
          <p:nvPr/>
        </p:nvSpPr>
        <p:spPr>
          <a:xfrm>
            <a:off x="731520" y="2606040"/>
            <a:ext cx="2235708" cy="960120"/>
          </a:xfrm>
          <a:prstGeom prst="rect">
            <a:avLst/>
          </a:prstGeom>
          <a:noFill/>
          <a:ln>
            <a:noFill/>
          </a:ln>
        </p:spPr>
        <p:txBody>
          <a:bodyPr wrap="square" lIns="0" tIns="0" rIns="0" bIns="0" rtlCol="0" anchor="t">
            <a:noAutofit/>
          </a:bodyPr>
          <a:lstStyle/>
          <a:p>
            <a:pPr marL="0" indent="0" algn="ctr">
              <a:spcBef>
                <a:spcPts val="0"/>
              </a:spcBef>
              <a:buNone/>
            </a:pPr>
            <a:r>
              <a:rPr lang="uz-Latn-UZ" sz="1400" b="0" i="0" dirty="0">
                <a:solidFill>
                  <a:srgbClr val="FFFFFF"/>
                </a:solidFill>
                <a:latin typeface="Arial"/>
                <a:cs typeface="Arial"/>
              </a:rPr>
              <a:t>suriyalikka boshpana berdi (eng yuqori nuqta)</a:t>
            </a:r>
            <a:endParaRPr lang="uz-Latn-UZ" sz="1400" b="0" i="0" dirty="0">
              <a:solidFill>
                <a:srgbClr val="FFFFFF"/>
              </a:solidFill>
              <a:latin typeface="Arial"/>
              <a:cs typeface="Arial"/>
            </a:endParaRPr>
          </a:p>
        </p:txBody>
      </p:sp>
      <p:sp>
        <p:nvSpPr>
          <p:cNvPr id="13" name="Shape 13"/>
          <p:cNvSpPr/>
          <p:nvPr/>
        </p:nvSpPr>
        <p:spPr>
          <a:xfrm>
            <a:off x="3378708" y="1627632"/>
            <a:ext cx="2601468" cy="2011680"/>
          </a:xfrm>
          <a:prstGeom prst="rect">
            <a:avLst/>
          </a:prstGeom>
          <a:solidFill>
            <a:srgbClr val="C8102E"/>
          </a:solidFill>
          <a:ln>
            <a:noFill/>
          </a:ln>
        </p:spPr>
      </p:sp>
      <p:sp>
        <p:nvSpPr>
          <p:cNvPr id="14" name="TextBox 14"/>
          <p:cNvSpPr/>
          <p:nvPr/>
        </p:nvSpPr>
        <p:spPr>
          <a:xfrm>
            <a:off x="3561588" y="1737360"/>
            <a:ext cx="2235708" cy="822960"/>
          </a:xfrm>
          <a:prstGeom prst="rect">
            <a:avLst/>
          </a:prstGeom>
          <a:noFill/>
          <a:ln>
            <a:noFill/>
          </a:ln>
        </p:spPr>
        <p:txBody>
          <a:bodyPr wrap="square" lIns="0" tIns="0" rIns="0" bIns="0" rtlCol="0" anchor="ctr">
            <a:noAutofit/>
          </a:bodyPr>
          <a:lstStyle/>
          <a:p>
            <a:pPr marL="0" indent="0" algn="ctr">
              <a:spcBef>
                <a:spcPts val="0"/>
              </a:spcBef>
              <a:buNone/>
            </a:pPr>
            <a:r>
              <a:rPr lang="uz-Latn-UZ" sz="2600" b="1" i="0" dirty="0">
                <a:solidFill>
                  <a:srgbClr val="FFFFFF"/>
                </a:solidFill>
                <a:latin typeface="Arial"/>
                <a:cs typeface="Arial"/>
              </a:rPr>
              <a:t>62</a:t>
            </a:r>
            <a:endParaRPr lang="uz-Latn-UZ" sz="2600" b="1" i="0" dirty="0">
              <a:solidFill>
                <a:srgbClr val="FFFFFF"/>
              </a:solidFill>
              <a:latin typeface="Arial"/>
              <a:cs typeface="Arial"/>
            </a:endParaRPr>
          </a:p>
        </p:txBody>
      </p:sp>
      <p:sp>
        <p:nvSpPr>
          <p:cNvPr id="15" name="TextBox 15"/>
          <p:cNvSpPr/>
          <p:nvPr/>
        </p:nvSpPr>
        <p:spPr>
          <a:xfrm>
            <a:off x="3561588" y="2606040"/>
            <a:ext cx="2235708" cy="960120"/>
          </a:xfrm>
          <a:prstGeom prst="rect">
            <a:avLst/>
          </a:prstGeom>
          <a:noFill/>
          <a:ln>
            <a:noFill/>
          </a:ln>
        </p:spPr>
        <p:txBody>
          <a:bodyPr wrap="square" lIns="0" tIns="0" rIns="0" bIns="0" rtlCol="0" anchor="t">
            <a:noAutofit/>
          </a:bodyPr>
          <a:lstStyle/>
          <a:p>
            <a:pPr marL="0" indent="0" algn="ctr">
              <a:spcBef>
                <a:spcPts val="0"/>
              </a:spcBef>
              <a:buNone/>
            </a:pPr>
            <a:r>
              <a:rPr lang="uz-Latn-UZ" sz="1400" b="0" i="0" dirty="0">
                <a:solidFill>
                  <a:srgbClr val="FFFFFF"/>
                </a:solidFill>
                <a:latin typeface="Arial"/>
                <a:cs typeface="Arial"/>
              </a:rPr>
              <a:t>TIKA idorasi 60 mamlakatda; loyihalar 150+ mamlakatda</a:t>
            </a:r>
            <a:endParaRPr lang="uz-Latn-UZ" sz="1400" b="0" i="0" dirty="0">
              <a:solidFill>
                <a:srgbClr val="FFFFFF"/>
              </a:solidFill>
              <a:latin typeface="Arial"/>
              <a:cs typeface="Arial"/>
            </a:endParaRPr>
          </a:p>
        </p:txBody>
      </p:sp>
      <p:sp>
        <p:nvSpPr>
          <p:cNvPr id="16" name="Shape 16"/>
          <p:cNvSpPr/>
          <p:nvPr/>
        </p:nvSpPr>
        <p:spPr>
          <a:xfrm>
            <a:off x="6208776" y="1627632"/>
            <a:ext cx="2601468" cy="2011680"/>
          </a:xfrm>
          <a:prstGeom prst="rect">
            <a:avLst/>
          </a:prstGeom>
          <a:solidFill>
            <a:srgbClr val="14213D"/>
          </a:solidFill>
          <a:ln>
            <a:noFill/>
          </a:ln>
        </p:spPr>
      </p:sp>
      <p:sp>
        <p:nvSpPr>
          <p:cNvPr id="17" name="TextBox 17"/>
          <p:cNvSpPr/>
          <p:nvPr/>
        </p:nvSpPr>
        <p:spPr>
          <a:xfrm>
            <a:off x="6391656" y="1737360"/>
            <a:ext cx="2235708" cy="822960"/>
          </a:xfrm>
          <a:prstGeom prst="rect">
            <a:avLst/>
          </a:prstGeom>
          <a:noFill/>
          <a:ln>
            <a:noFill/>
          </a:ln>
        </p:spPr>
        <p:txBody>
          <a:bodyPr wrap="square" lIns="0" tIns="0" rIns="0" bIns="0" rtlCol="0" anchor="ctr">
            <a:noAutofit/>
          </a:bodyPr>
          <a:lstStyle/>
          <a:p>
            <a:pPr marL="0" indent="0" algn="ctr">
              <a:spcBef>
                <a:spcPts val="0"/>
              </a:spcBef>
              <a:buNone/>
            </a:pPr>
            <a:r>
              <a:rPr lang="uz-Latn-UZ" sz="2600" b="1" i="0" dirty="0">
                <a:solidFill>
                  <a:srgbClr val="FFFFFF"/>
                </a:solidFill>
                <a:latin typeface="Arial"/>
                <a:cs typeface="Arial"/>
              </a:rPr>
              <a:t>1868</a:t>
            </a:r>
            <a:endParaRPr lang="uz-Latn-UZ" sz="2600" b="1" i="0" dirty="0">
              <a:solidFill>
                <a:srgbClr val="FFFFFF"/>
              </a:solidFill>
              <a:latin typeface="Arial"/>
              <a:cs typeface="Arial"/>
            </a:endParaRPr>
          </a:p>
        </p:txBody>
      </p:sp>
      <p:sp>
        <p:nvSpPr>
          <p:cNvPr id="18" name="TextBox 18"/>
          <p:cNvSpPr/>
          <p:nvPr/>
        </p:nvSpPr>
        <p:spPr>
          <a:xfrm>
            <a:off x="6391656" y="2606040"/>
            <a:ext cx="2235708" cy="960120"/>
          </a:xfrm>
          <a:prstGeom prst="rect">
            <a:avLst/>
          </a:prstGeom>
          <a:noFill/>
          <a:ln>
            <a:noFill/>
          </a:ln>
        </p:spPr>
        <p:txBody>
          <a:bodyPr wrap="square" lIns="0" tIns="0" rIns="0" bIns="0" rtlCol="0" anchor="t">
            <a:noAutofit/>
          </a:bodyPr>
          <a:lstStyle/>
          <a:p>
            <a:pPr marL="0" indent="0" algn="ctr">
              <a:spcBef>
                <a:spcPts val="0"/>
              </a:spcBef>
              <a:buNone/>
            </a:pPr>
            <a:r>
              <a:rPr lang="uz-Latn-UZ" sz="1400" b="0" i="0" dirty="0">
                <a:solidFill>
                  <a:srgbClr val="FFFFFF"/>
                </a:solidFill>
                <a:latin typeface="Arial"/>
                <a:cs typeface="Arial"/>
              </a:rPr>
              <a:t>Turk Qizil Yarim Oyi tashkil topgan yil</a:t>
            </a:r>
            <a:endParaRPr lang="uz-Latn-UZ" sz="1400" b="0" i="0" dirty="0">
              <a:solidFill>
                <a:srgbClr val="FFFFFF"/>
              </a:solidFill>
              <a:latin typeface="Arial"/>
              <a:cs typeface="Arial"/>
            </a:endParaRPr>
          </a:p>
        </p:txBody>
      </p:sp>
      <p:sp>
        <p:nvSpPr>
          <p:cNvPr id="19" name="Shape 19"/>
          <p:cNvSpPr/>
          <p:nvPr/>
        </p:nvSpPr>
        <p:spPr>
          <a:xfrm>
            <a:off x="9038844" y="1627632"/>
            <a:ext cx="2601468" cy="2011680"/>
          </a:xfrm>
          <a:prstGeom prst="rect">
            <a:avLst/>
          </a:prstGeom>
          <a:solidFill>
            <a:srgbClr val="C8102E"/>
          </a:solidFill>
          <a:ln>
            <a:noFill/>
          </a:ln>
        </p:spPr>
      </p:sp>
      <p:sp>
        <p:nvSpPr>
          <p:cNvPr id="20" name="TextBox 20"/>
          <p:cNvSpPr/>
          <p:nvPr/>
        </p:nvSpPr>
        <p:spPr>
          <a:xfrm>
            <a:off x="9221724" y="1737360"/>
            <a:ext cx="2235708" cy="822960"/>
          </a:xfrm>
          <a:prstGeom prst="rect">
            <a:avLst/>
          </a:prstGeom>
          <a:noFill/>
          <a:ln>
            <a:noFill/>
          </a:ln>
        </p:spPr>
        <p:txBody>
          <a:bodyPr wrap="square" lIns="0" tIns="0" rIns="0" bIns="0" rtlCol="0" anchor="ctr">
            <a:noAutofit/>
          </a:bodyPr>
          <a:lstStyle/>
          <a:p>
            <a:pPr marL="0" indent="0" algn="ctr">
              <a:spcBef>
                <a:spcPts val="0"/>
              </a:spcBef>
              <a:buNone/>
            </a:pPr>
            <a:r>
              <a:rPr lang="uz-Latn-UZ" sz="2600" b="1" i="0" dirty="0">
                <a:solidFill>
                  <a:srgbClr val="FFFFFF"/>
                </a:solidFill>
                <a:latin typeface="Arial"/>
                <a:cs typeface="Arial"/>
              </a:rPr>
              <a:t>10,5 mlrd $</a:t>
            </a:r>
            <a:endParaRPr lang="uz-Latn-UZ" sz="2600" b="1" i="0" dirty="0">
              <a:solidFill>
                <a:srgbClr val="FFFFFF"/>
              </a:solidFill>
              <a:latin typeface="Arial"/>
              <a:cs typeface="Arial"/>
            </a:endParaRPr>
          </a:p>
        </p:txBody>
      </p:sp>
      <p:sp>
        <p:nvSpPr>
          <p:cNvPr id="21" name="TextBox 21"/>
          <p:cNvSpPr/>
          <p:nvPr/>
        </p:nvSpPr>
        <p:spPr>
          <a:xfrm>
            <a:off x="9221724" y="2606040"/>
            <a:ext cx="2235708" cy="960120"/>
          </a:xfrm>
          <a:prstGeom prst="rect">
            <a:avLst/>
          </a:prstGeom>
          <a:noFill/>
          <a:ln>
            <a:noFill/>
          </a:ln>
        </p:spPr>
        <p:txBody>
          <a:bodyPr wrap="square" lIns="0" tIns="0" rIns="0" bIns="0" rtlCol="0" anchor="t">
            <a:noAutofit/>
          </a:bodyPr>
          <a:lstStyle/>
          <a:p>
            <a:pPr marL="0" indent="0" algn="ctr">
              <a:spcBef>
                <a:spcPts val="0"/>
              </a:spcBef>
              <a:buNone/>
            </a:pPr>
            <a:r>
              <a:rPr lang="uz-Latn-UZ" sz="1400" b="0" i="0" dirty="0">
                <a:solidFill>
                  <a:srgbClr val="FFFFFF"/>
                </a:solidFill>
                <a:latin typeface="Arial"/>
                <a:cs typeface="Arial"/>
              </a:rPr>
              <a:t>mudofaa va aviatsiya eksporti (2025, +48%)</a:t>
            </a:r>
            <a:endParaRPr lang="uz-Latn-UZ" sz="1400" b="0" i="0" dirty="0">
              <a:solidFill>
                <a:srgbClr val="FFFFFF"/>
              </a:solidFill>
              <a:latin typeface="Arial"/>
              <a:cs typeface="Arial"/>
            </a:endParaRPr>
          </a:p>
        </p:txBody>
      </p:sp>
      <p:sp>
        <p:nvSpPr>
          <p:cNvPr id="22" name="Shape 22"/>
          <p:cNvSpPr/>
          <p:nvPr/>
        </p:nvSpPr>
        <p:spPr>
          <a:xfrm>
            <a:off x="658368" y="4023360"/>
            <a:ext cx="182880" cy="182880"/>
          </a:xfrm>
          <a:prstGeom prst="ellipse">
            <a:avLst/>
          </a:prstGeom>
          <a:solidFill>
            <a:srgbClr val="C8102E"/>
          </a:solidFill>
          <a:ln>
            <a:noFill/>
          </a:ln>
        </p:spPr>
      </p:sp>
      <p:sp>
        <p:nvSpPr>
          <p:cNvPr id="23" name="TextBox 23"/>
          <p:cNvSpPr/>
          <p:nvPr/>
        </p:nvSpPr>
        <p:spPr>
          <a:xfrm>
            <a:off x="1051560" y="3895344"/>
            <a:ext cx="10588752" cy="667512"/>
          </a:xfrm>
          <a:prstGeom prst="rect">
            <a:avLst/>
          </a:prstGeom>
          <a:noFill/>
          <a:ln>
            <a:noFill/>
          </a:ln>
        </p:spPr>
        <p:txBody>
          <a:bodyPr wrap="square" lIns="0" tIns="0" rIns="0" bIns="0" rtlCol="0" anchor="t">
            <a:noAutofit/>
          </a:bodyPr>
          <a:lstStyle/>
          <a:p>
            <a:pPr marL="0" indent="0" algn="l">
              <a:spcBef>
                <a:spcPts val="0"/>
              </a:spcBef>
              <a:buNone/>
            </a:pPr>
            <a:r>
              <a:rPr lang="uz-Latn-UZ" sz="1800" b="1" i="0" dirty="0">
                <a:solidFill>
                  <a:srgbClr val="14213D"/>
                </a:solidFill>
                <a:latin typeface="Arial"/>
                <a:cs typeface="Arial"/>
              </a:rPr>
              <a:t>Insonparvarlik: </a:t>
            </a:r>
            <a:r>
              <a:rPr lang="uz-Latn-UZ" sz="1800" b="0" i="0" dirty="0">
                <a:solidFill>
                  <a:srgbClr val="1F2937"/>
                </a:solidFill>
                <a:latin typeface="Arial"/>
                <a:cs typeface="Arial"/>
              </a:rPr>
              <a:t>TIKA va Qizil Yarim Oy orqali Afrika, Osiyo va Bolqon davlatlariga yirik yordam.</a:t>
            </a:r>
            <a:endParaRPr lang="uz-Latn-UZ" sz="1800" b="0" i="0" dirty="0">
              <a:solidFill>
                <a:srgbClr val="1F2937"/>
              </a:solidFill>
              <a:latin typeface="Arial"/>
              <a:cs typeface="Arial"/>
            </a:endParaRPr>
          </a:p>
        </p:txBody>
      </p:sp>
      <p:cxnSp>
        <p:nvCxnSpPr>
          <p:cNvPr id="24" name="Line 24"/>
          <p:cNvCxnSpPr/>
          <p:nvPr/>
        </p:nvCxnSpPr>
        <p:spPr>
          <a:xfrm>
            <a:off x="1051560" y="4599432"/>
            <a:ext cx="10588752" cy="0"/>
          </a:xfrm>
          <a:prstGeom prst="line">
            <a:avLst/>
          </a:prstGeom>
          <a:ln w="12700">
            <a:solidFill>
              <a:srgbClr val="E5E7EB"/>
            </a:solidFill>
          </a:ln>
        </p:spPr>
      </p:cxnSp>
      <p:sp>
        <p:nvSpPr>
          <p:cNvPr id="25" name="Shape 25"/>
          <p:cNvSpPr/>
          <p:nvPr/>
        </p:nvSpPr>
        <p:spPr>
          <a:xfrm>
            <a:off x="658368" y="4800600"/>
            <a:ext cx="182880" cy="182880"/>
          </a:xfrm>
          <a:prstGeom prst="ellipse">
            <a:avLst/>
          </a:prstGeom>
          <a:solidFill>
            <a:srgbClr val="C8102E"/>
          </a:solidFill>
          <a:ln>
            <a:noFill/>
          </a:ln>
        </p:spPr>
      </p:sp>
      <p:sp>
        <p:nvSpPr>
          <p:cNvPr id="26" name="TextBox 26"/>
          <p:cNvSpPr/>
          <p:nvPr/>
        </p:nvSpPr>
        <p:spPr>
          <a:xfrm>
            <a:off x="1051560" y="4672584"/>
            <a:ext cx="10588752" cy="667512"/>
          </a:xfrm>
          <a:prstGeom prst="rect">
            <a:avLst/>
          </a:prstGeom>
          <a:noFill/>
          <a:ln>
            <a:noFill/>
          </a:ln>
        </p:spPr>
        <p:txBody>
          <a:bodyPr wrap="square" lIns="0" tIns="0" rIns="0" bIns="0" rtlCol="0" anchor="t">
            <a:noAutofit/>
          </a:bodyPr>
          <a:lstStyle/>
          <a:p>
            <a:pPr marL="0" indent="0" algn="l">
              <a:spcBef>
                <a:spcPts val="0"/>
              </a:spcBef>
              <a:buNone/>
            </a:pPr>
            <a:r>
              <a:rPr lang="uz-Latn-UZ" sz="1800" b="1" i="0" dirty="0">
                <a:solidFill>
                  <a:srgbClr val="14213D"/>
                </a:solidFill>
                <a:latin typeface="Arial"/>
                <a:cs typeface="Arial"/>
              </a:rPr>
              <a:t>Qochqinlar: </a:t>
            </a:r>
            <a:r>
              <a:rPr lang="uz-Latn-UZ" sz="1800" b="0" i="0" dirty="0">
                <a:solidFill>
                  <a:srgbClr val="1F2937"/>
                </a:solidFill>
                <a:latin typeface="Arial"/>
                <a:cs typeface="Arial"/>
              </a:rPr>
              <a:t>2026-yilda Turkiyada ~2,2 mln suriyalik yashamoqda; 2024-yil dekabridan beri 660 mingdan ortig‘i vataniga qaytdi.</a:t>
            </a:r>
            <a:endParaRPr lang="uz-Latn-UZ" sz="1800" b="0" i="0" dirty="0">
              <a:solidFill>
                <a:srgbClr val="1F2937"/>
              </a:solidFill>
              <a:latin typeface="Arial"/>
              <a:cs typeface="Arial"/>
            </a:endParaRPr>
          </a:p>
        </p:txBody>
      </p:sp>
      <p:cxnSp>
        <p:nvCxnSpPr>
          <p:cNvPr id="27" name="Line 27"/>
          <p:cNvCxnSpPr/>
          <p:nvPr/>
        </p:nvCxnSpPr>
        <p:spPr>
          <a:xfrm>
            <a:off x="1051560" y="5376672"/>
            <a:ext cx="10588752" cy="0"/>
          </a:xfrm>
          <a:prstGeom prst="line">
            <a:avLst/>
          </a:prstGeom>
          <a:ln w="12700">
            <a:solidFill>
              <a:srgbClr val="E5E7EB"/>
            </a:solidFill>
          </a:ln>
        </p:spPr>
      </p:cxnSp>
      <p:sp>
        <p:nvSpPr>
          <p:cNvPr id="28" name="Shape 28"/>
          <p:cNvSpPr/>
          <p:nvPr/>
        </p:nvSpPr>
        <p:spPr>
          <a:xfrm>
            <a:off x="658368" y="5577840"/>
            <a:ext cx="182880" cy="182880"/>
          </a:xfrm>
          <a:prstGeom prst="ellipse">
            <a:avLst/>
          </a:prstGeom>
          <a:solidFill>
            <a:srgbClr val="C8102E"/>
          </a:solidFill>
          <a:ln>
            <a:noFill/>
          </a:ln>
        </p:spPr>
      </p:sp>
      <p:sp>
        <p:nvSpPr>
          <p:cNvPr id="29" name="TextBox 29"/>
          <p:cNvSpPr/>
          <p:nvPr/>
        </p:nvSpPr>
        <p:spPr>
          <a:xfrm>
            <a:off x="1051560" y="5449824"/>
            <a:ext cx="10588752" cy="667512"/>
          </a:xfrm>
          <a:prstGeom prst="rect">
            <a:avLst/>
          </a:prstGeom>
          <a:noFill/>
          <a:ln>
            <a:noFill/>
          </a:ln>
        </p:spPr>
        <p:txBody>
          <a:bodyPr wrap="square" lIns="0" tIns="0" rIns="0" bIns="0" rtlCol="0" anchor="t">
            <a:noAutofit/>
          </a:bodyPr>
          <a:lstStyle/>
          <a:p>
            <a:pPr marL="0" indent="0" algn="l">
              <a:spcBef>
                <a:spcPts val="0"/>
              </a:spcBef>
              <a:buNone/>
            </a:pPr>
            <a:r>
              <a:rPr lang="uz-Latn-UZ" sz="1800" b="1" i="0" dirty="0">
                <a:solidFill>
                  <a:srgbClr val="14213D"/>
                </a:solidFill>
                <a:latin typeface="Arial"/>
                <a:cs typeface="Arial"/>
              </a:rPr>
              <a:t>Mudofaa sanoati: </a:t>
            </a:r>
            <a:r>
              <a:rPr lang="uz-Latn-UZ" sz="1800" b="0" i="0" dirty="0">
                <a:solidFill>
                  <a:srgbClr val="1F2937"/>
                </a:solidFill>
                <a:latin typeface="Arial"/>
                <a:cs typeface="Arial"/>
              </a:rPr>
              <a:t>dronlar va harbiy texnika orqali Liviya, Ozarbayjon, Ukraina bilan yangi ittifoqchilik aloqalari.</a:t>
            </a:r>
            <a:endParaRPr lang="uz-Latn-UZ" sz="1800" b="0" i="0" dirty="0">
              <a:solidFill>
                <a:srgbClr val="1F2937"/>
              </a:solidFill>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Shape 2"/>
          <p:cNvSpPr/>
          <p:nvPr/>
        </p:nvSpPr>
        <p:spPr>
          <a:xfrm>
            <a:off x="0" y="0"/>
            <a:ext cx="320040" cy="6858000"/>
          </a:xfrm>
          <a:prstGeom prst="rect">
            <a:avLst/>
          </a:prstGeom>
          <a:solidFill>
            <a:srgbClr val="C8102E"/>
          </a:solidFill>
          <a:ln>
            <a:noFill/>
          </a:ln>
        </p:spPr>
      </p:sp>
      <p:sp>
        <p:nvSpPr>
          <p:cNvPr id="3" name="TextBox 3"/>
          <p:cNvSpPr/>
          <p:nvPr/>
        </p:nvSpPr>
        <p:spPr>
          <a:xfrm>
            <a:off x="914400" y="1005840"/>
            <a:ext cx="3017520" cy="2103120"/>
          </a:xfrm>
          <a:prstGeom prst="rect">
            <a:avLst/>
          </a:prstGeom>
          <a:noFill/>
          <a:ln>
            <a:noFill/>
          </a:ln>
        </p:spPr>
        <p:txBody>
          <a:bodyPr wrap="square" lIns="0" tIns="0" rIns="0" bIns="0" rtlCol="0" anchor="b">
            <a:noAutofit/>
          </a:bodyPr>
          <a:lstStyle/>
          <a:p>
            <a:pPr marL="0" indent="0" algn="l">
              <a:spcBef>
                <a:spcPts val="0"/>
              </a:spcBef>
              <a:buNone/>
            </a:pPr>
            <a:r>
              <a:rPr lang="uz-Latn-UZ" sz="12000" b="1" i="0" dirty="0">
                <a:solidFill>
                  <a:srgbClr val="C8102E"/>
                </a:solidFill>
                <a:latin typeface="Arial"/>
                <a:cs typeface="Arial"/>
              </a:rPr>
              <a:t>02</a:t>
            </a:r>
            <a:endParaRPr lang="uz-Latn-UZ" sz="12000" b="1" i="0" dirty="0">
              <a:solidFill>
                <a:srgbClr val="C8102E"/>
              </a:solidFill>
              <a:latin typeface="Arial"/>
              <a:cs typeface="Arial"/>
            </a:endParaRPr>
          </a:p>
        </p:txBody>
      </p:sp>
      <p:sp>
        <p:nvSpPr>
          <p:cNvPr id="4" name="Shape 4"/>
          <p:cNvSpPr/>
          <p:nvPr/>
        </p:nvSpPr>
        <p:spPr>
          <a:xfrm>
            <a:off x="914400" y="3429000"/>
            <a:ext cx="2103120" cy="502920"/>
          </a:xfrm>
          <a:prstGeom prst="roundRect">
            <a:avLst>
              <a:gd name="adj" fmla="val 50000"/>
            </a:avLst>
          </a:prstGeom>
          <a:solidFill>
            <a:srgbClr val="C8102E"/>
          </a:solidFill>
          <a:ln>
            <a:noFill/>
          </a:ln>
        </p:spPr>
        <p:txBody>
          <a:bodyPr wrap="square" lIns="0" tIns="0" rIns="0" bIns="0" rtlCol="0" anchor="ctr">
            <a:noAutofit/>
          </a:bodyPr>
          <a:lstStyle/>
          <a:p>
            <a:pPr marL="0" indent="0" algn="ctr">
              <a:spcBef>
                <a:spcPts val="0"/>
              </a:spcBef>
              <a:buNone/>
            </a:pPr>
            <a:r>
              <a:rPr lang="uz-Latn-UZ" sz="1700" b="1" i="0" dirty="0">
                <a:solidFill>
                  <a:srgbClr val="FFFFFF"/>
                </a:solidFill>
                <a:latin typeface="Arial"/>
                <a:cs typeface="Arial"/>
              </a:rPr>
              <a:t>2-ma’ruzachi</a:t>
            </a:r>
            <a:endParaRPr lang="uz-Latn-UZ" sz="1700" b="1" i="0" dirty="0">
              <a:solidFill>
                <a:srgbClr val="FFFFFF"/>
              </a:solidFill>
              <a:latin typeface="Arial"/>
              <a:cs typeface="Arial"/>
            </a:endParaRPr>
          </a:p>
        </p:txBody>
      </p:sp>
      <p:sp>
        <p:nvSpPr>
          <p:cNvPr id="5" name="TextBox 5"/>
          <p:cNvSpPr/>
          <p:nvPr/>
        </p:nvSpPr>
        <p:spPr>
          <a:xfrm>
            <a:off x="4206240" y="914400"/>
            <a:ext cx="7498080" cy="2514600"/>
          </a:xfrm>
          <a:prstGeom prst="rect">
            <a:avLst/>
          </a:prstGeom>
          <a:noFill/>
          <a:ln>
            <a:noFill/>
          </a:ln>
        </p:spPr>
        <p:txBody>
          <a:bodyPr wrap="square" lIns="0" tIns="0" rIns="0" bIns="0" rtlCol="0" anchor="b">
            <a:noAutofit/>
          </a:bodyPr>
          <a:lstStyle/>
          <a:p>
            <a:pPr marL="0" indent="0" algn="l">
              <a:lnSpc>
                <a:spcPct val="95000"/>
              </a:lnSpc>
              <a:spcBef>
                <a:spcPts val="0"/>
              </a:spcBef>
              <a:buNone/>
            </a:pPr>
            <a:r>
              <a:rPr lang="uz-Latn-UZ" sz="3600" b="1" i="0" dirty="0">
                <a:solidFill>
                  <a:srgbClr val="FFFFFF"/>
                </a:solidFill>
                <a:latin typeface="Arial"/>
                <a:cs typeface="Arial"/>
              </a:rPr>
              <a:t>Davlatning diplomatik faoliyati</a:t>
            </a:r>
            <a:endParaRPr lang="uz-Latn-UZ" sz="3600" b="1" i="0" dirty="0">
              <a:solidFill>
                <a:srgbClr val="FFFFFF"/>
              </a:solidFill>
              <a:latin typeface="Arial"/>
              <a:cs typeface="Arial"/>
            </a:endParaRPr>
          </a:p>
        </p:txBody>
      </p:sp>
      <p:sp>
        <p:nvSpPr>
          <p:cNvPr id="6" name="Shape 6"/>
          <p:cNvSpPr/>
          <p:nvPr/>
        </p:nvSpPr>
        <p:spPr>
          <a:xfrm>
            <a:off x="4206240" y="3675888"/>
            <a:ext cx="1097280" cy="64008"/>
          </a:xfrm>
          <a:prstGeom prst="rect">
            <a:avLst/>
          </a:prstGeom>
          <a:solidFill>
            <a:srgbClr val="C8102E"/>
          </a:solidFill>
          <a:ln>
            <a:noFill/>
          </a:ln>
        </p:spPr>
      </p:sp>
      <p:sp>
        <p:nvSpPr>
          <p:cNvPr id="7" name="TextBox 7"/>
          <p:cNvSpPr/>
          <p:nvPr/>
        </p:nvSpPr>
        <p:spPr>
          <a:xfrm>
            <a:off x="4206240" y="3931920"/>
            <a:ext cx="7498080" cy="2011680"/>
          </a:xfrm>
          <a:prstGeom prst="rect">
            <a:avLst/>
          </a:prstGeom>
          <a:noFill/>
          <a:ln>
            <a:noFill/>
          </a:ln>
        </p:spPr>
        <p:txBody>
          <a:bodyPr wrap="square" lIns="0" tIns="0" rIns="0" bIns="0" rtlCol="0" anchor="t">
            <a:noAutofit/>
          </a:bodyPr>
          <a:lstStyle/>
          <a:p>
            <a:pPr marL="320040" indent="-320040" algn="l">
              <a:spcBef>
                <a:spcPts val="0"/>
              </a:spcBef>
              <a:buClr>
                <a:srgbClr val="C8102E"/>
              </a:buClr>
              <a:buFont typeface="Arial"/>
              <a:buChar char="•"/>
            </a:pPr>
            <a:r>
              <a:rPr lang="uz-Latn-UZ" sz="1900" b="0" i="0" dirty="0">
                <a:solidFill>
                  <a:srgbClr val="CBD5E1"/>
                </a:solidFill>
                <a:latin typeface="Arial"/>
                <a:cs typeface="Arial"/>
              </a:rPr>
              <a:t>Diplomatiyaning tarixiy ildizlari</a:t>
            </a:r>
            <a:endParaRPr lang="uz-Latn-UZ" sz="1900" b="0" i="0" dirty="0">
              <a:solidFill>
                <a:srgbClr val="CBD5E1"/>
              </a:solidFill>
              <a:latin typeface="Arial"/>
              <a:cs typeface="Arial"/>
            </a:endParaRPr>
          </a:p>
          <a:p>
            <a:pPr marL="320040" indent="-320040" algn="l">
              <a:spcBef>
                <a:spcPts val="700"/>
              </a:spcBef>
              <a:buClr>
                <a:srgbClr val="C8102E"/>
              </a:buClr>
              <a:buFont typeface="Arial"/>
              <a:buChar char="•"/>
            </a:pPr>
            <a:r>
              <a:rPr lang="uz-Latn-UZ" sz="1900" b="0" i="0" dirty="0">
                <a:solidFill>
                  <a:srgbClr val="CBD5E1"/>
                </a:solidFill>
                <a:latin typeface="Arial"/>
                <a:cs typeface="Arial"/>
              </a:rPr>
              <a:t>Ko‘p tomonlama diplomatiya</a:t>
            </a:r>
            <a:endParaRPr lang="uz-Latn-UZ" sz="1900" b="0" i="0" dirty="0">
              <a:solidFill>
                <a:srgbClr val="CBD5E1"/>
              </a:solidFill>
              <a:latin typeface="Arial"/>
              <a:cs typeface="Arial"/>
            </a:endParaRPr>
          </a:p>
          <a:p>
            <a:pPr marL="320040" indent="-320040" algn="l">
              <a:spcBef>
                <a:spcPts val="700"/>
              </a:spcBef>
              <a:buClr>
                <a:srgbClr val="C8102E"/>
              </a:buClr>
              <a:buFont typeface="Arial"/>
              <a:buChar char="•"/>
            </a:pPr>
            <a:r>
              <a:rPr lang="uz-Latn-UZ" sz="1900" b="0" i="0" dirty="0">
                <a:solidFill>
                  <a:srgbClr val="CBD5E1"/>
                </a:solidFill>
                <a:latin typeface="Arial"/>
                <a:cs typeface="Arial"/>
              </a:rPr>
              <a:t>NATO va AQSh bilan munosabatlar</a:t>
            </a:r>
            <a:endParaRPr lang="uz-Latn-UZ" sz="1900" b="0" i="0" dirty="0">
              <a:solidFill>
                <a:srgbClr val="CBD5E1"/>
              </a:solidFill>
              <a:latin typeface="Arial"/>
              <a:cs typeface="Arial"/>
            </a:endParaRPr>
          </a:p>
          <a:p>
            <a:pPr marL="320040" indent="-320040" algn="l">
              <a:spcBef>
                <a:spcPts val="700"/>
              </a:spcBef>
              <a:buClr>
                <a:srgbClr val="C8102E"/>
              </a:buClr>
              <a:buFont typeface="Arial"/>
              <a:buChar char="•"/>
            </a:pPr>
            <a:r>
              <a:rPr lang="uz-Latn-UZ" sz="1900" b="0" i="0" dirty="0">
                <a:solidFill>
                  <a:srgbClr val="CBD5E1"/>
                </a:solidFill>
                <a:latin typeface="Arial"/>
                <a:cs typeface="Arial"/>
              </a:rPr>
              <a:t>Yevropa Ittifoqi yo‘li</a:t>
            </a:r>
            <a:endParaRPr lang="uz-Latn-UZ" sz="1900" b="0" i="0" dirty="0">
              <a:solidFill>
                <a:srgbClr val="CBD5E1"/>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CBD5E1"/>
                </a:solidFill>
                <a:latin typeface="Arial"/>
                <a:cs typeface="Arial"/>
              </a:rPr>
              <a:t>8 / 29</a:t>
            </a:r>
            <a:endParaRPr lang="uz-Latn-UZ" sz="1050" b="0" i="0" dirty="0">
              <a:solidFill>
                <a:srgbClr val="CBD5E1"/>
              </a:solidFill>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2-QISM  •  DIPLOMATIK FAOLIYAT</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Diplomatiyaning tarixiy ildizlari</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2-ma’ruzachi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9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Shape 10"/>
          <p:cNvSpPr/>
          <p:nvPr/>
        </p:nvSpPr>
        <p:spPr>
          <a:xfrm>
            <a:off x="685800" y="2670048"/>
            <a:ext cx="10817352" cy="54864"/>
          </a:xfrm>
          <a:prstGeom prst="rect">
            <a:avLst/>
          </a:prstGeom>
          <a:solidFill>
            <a:srgbClr val="D1D5DB"/>
          </a:solidFill>
          <a:ln>
            <a:noFill/>
          </a:ln>
        </p:spPr>
      </p:sp>
      <p:sp>
        <p:nvSpPr>
          <p:cNvPr id="11" name="TextBox 11"/>
          <p:cNvSpPr/>
          <p:nvPr/>
        </p:nvSpPr>
        <p:spPr>
          <a:xfrm>
            <a:off x="685800"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1793</a:t>
            </a:r>
            <a:endParaRPr lang="uz-Latn-UZ" sz="2600" b="1" i="0" dirty="0">
              <a:solidFill>
                <a:srgbClr val="C8102E"/>
              </a:solidFill>
              <a:latin typeface="Arial"/>
              <a:cs typeface="Arial"/>
            </a:endParaRPr>
          </a:p>
        </p:txBody>
      </p:sp>
      <p:sp>
        <p:nvSpPr>
          <p:cNvPr id="12" name="Shape 12"/>
          <p:cNvSpPr/>
          <p:nvPr/>
        </p:nvSpPr>
        <p:spPr>
          <a:xfrm>
            <a:off x="1431798" y="2542032"/>
            <a:ext cx="310896" cy="310896"/>
          </a:xfrm>
          <a:prstGeom prst="ellipse">
            <a:avLst/>
          </a:prstGeom>
          <a:solidFill>
            <a:srgbClr val="FFFFFF"/>
          </a:solidFill>
          <a:ln w="19050">
            <a:solidFill>
              <a:srgbClr val="C8102E"/>
            </a:solidFill>
          </a:ln>
        </p:spPr>
      </p:sp>
      <p:sp>
        <p:nvSpPr>
          <p:cNvPr id="13" name="Shape 13"/>
          <p:cNvSpPr/>
          <p:nvPr/>
        </p:nvSpPr>
        <p:spPr>
          <a:xfrm>
            <a:off x="1504950" y="2615184"/>
            <a:ext cx="164592" cy="164592"/>
          </a:xfrm>
          <a:prstGeom prst="ellipse">
            <a:avLst/>
          </a:prstGeom>
          <a:solidFill>
            <a:srgbClr val="C8102E"/>
          </a:solidFill>
          <a:ln>
            <a:noFill/>
          </a:ln>
        </p:spPr>
      </p:sp>
      <p:sp>
        <p:nvSpPr>
          <p:cNvPr id="14" name="TextBox 14"/>
          <p:cNvSpPr/>
          <p:nvPr/>
        </p:nvSpPr>
        <p:spPr>
          <a:xfrm>
            <a:off x="758952"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Londonda birinchi doimiy Usmonli elchixonasi</a:t>
            </a:r>
            <a:endParaRPr lang="uz-Latn-UZ" sz="1650" b="0" i="0" dirty="0">
              <a:solidFill>
                <a:srgbClr val="1F2937"/>
              </a:solidFill>
              <a:latin typeface="Arial"/>
              <a:cs typeface="Arial"/>
            </a:endParaRPr>
          </a:p>
        </p:txBody>
      </p:sp>
      <p:sp>
        <p:nvSpPr>
          <p:cNvPr id="15" name="TextBox 15"/>
          <p:cNvSpPr/>
          <p:nvPr/>
        </p:nvSpPr>
        <p:spPr>
          <a:xfrm>
            <a:off x="2488692"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1836</a:t>
            </a:r>
            <a:endParaRPr lang="uz-Latn-UZ" sz="2600" b="1" i="0" dirty="0">
              <a:solidFill>
                <a:srgbClr val="C8102E"/>
              </a:solidFill>
              <a:latin typeface="Arial"/>
              <a:cs typeface="Arial"/>
            </a:endParaRPr>
          </a:p>
        </p:txBody>
      </p:sp>
      <p:sp>
        <p:nvSpPr>
          <p:cNvPr id="16" name="Shape 16"/>
          <p:cNvSpPr/>
          <p:nvPr/>
        </p:nvSpPr>
        <p:spPr>
          <a:xfrm>
            <a:off x="3234690" y="2542032"/>
            <a:ext cx="310896" cy="310896"/>
          </a:xfrm>
          <a:prstGeom prst="ellipse">
            <a:avLst/>
          </a:prstGeom>
          <a:solidFill>
            <a:srgbClr val="FFFFFF"/>
          </a:solidFill>
          <a:ln w="19050">
            <a:solidFill>
              <a:srgbClr val="C8102E"/>
            </a:solidFill>
          </a:ln>
        </p:spPr>
      </p:sp>
      <p:sp>
        <p:nvSpPr>
          <p:cNvPr id="17" name="Shape 17"/>
          <p:cNvSpPr/>
          <p:nvPr/>
        </p:nvSpPr>
        <p:spPr>
          <a:xfrm>
            <a:off x="3307842" y="2615184"/>
            <a:ext cx="164592" cy="164592"/>
          </a:xfrm>
          <a:prstGeom prst="ellipse">
            <a:avLst/>
          </a:prstGeom>
          <a:solidFill>
            <a:srgbClr val="C8102E"/>
          </a:solidFill>
          <a:ln>
            <a:noFill/>
          </a:ln>
        </p:spPr>
      </p:sp>
      <p:sp>
        <p:nvSpPr>
          <p:cNvPr id="18" name="TextBox 18"/>
          <p:cNvSpPr/>
          <p:nvPr/>
        </p:nvSpPr>
        <p:spPr>
          <a:xfrm>
            <a:off x="2561844"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Tashqi ishlar nozirligi tashkil etildi</a:t>
            </a:r>
            <a:endParaRPr lang="uz-Latn-UZ" sz="1650" b="0" i="0" dirty="0">
              <a:solidFill>
                <a:srgbClr val="1F2937"/>
              </a:solidFill>
              <a:latin typeface="Arial"/>
              <a:cs typeface="Arial"/>
            </a:endParaRPr>
          </a:p>
        </p:txBody>
      </p:sp>
      <p:sp>
        <p:nvSpPr>
          <p:cNvPr id="19" name="TextBox 19"/>
          <p:cNvSpPr/>
          <p:nvPr/>
        </p:nvSpPr>
        <p:spPr>
          <a:xfrm>
            <a:off x="4291584"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1920</a:t>
            </a:r>
            <a:endParaRPr lang="uz-Latn-UZ" sz="2600" b="1" i="0" dirty="0">
              <a:solidFill>
                <a:srgbClr val="C8102E"/>
              </a:solidFill>
              <a:latin typeface="Arial"/>
              <a:cs typeface="Arial"/>
            </a:endParaRPr>
          </a:p>
        </p:txBody>
      </p:sp>
      <p:sp>
        <p:nvSpPr>
          <p:cNvPr id="20" name="Shape 20"/>
          <p:cNvSpPr/>
          <p:nvPr/>
        </p:nvSpPr>
        <p:spPr>
          <a:xfrm>
            <a:off x="5037582" y="2542032"/>
            <a:ext cx="310896" cy="310896"/>
          </a:xfrm>
          <a:prstGeom prst="ellipse">
            <a:avLst/>
          </a:prstGeom>
          <a:solidFill>
            <a:srgbClr val="FFFFFF"/>
          </a:solidFill>
          <a:ln w="19050">
            <a:solidFill>
              <a:srgbClr val="C8102E"/>
            </a:solidFill>
          </a:ln>
        </p:spPr>
      </p:sp>
      <p:sp>
        <p:nvSpPr>
          <p:cNvPr id="21" name="Shape 21"/>
          <p:cNvSpPr/>
          <p:nvPr/>
        </p:nvSpPr>
        <p:spPr>
          <a:xfrm>
            <a:off x="5110734" y="2615184"/>
            <a:ext cx="164592" cy="164592"/>
          </a:xfrm>
          <a:prstGeom prst="ellipse">
            <a:avLst/>
          </a:prstGeom>
          <a:solidFill>
            <a:srgbClr val="C8102E"/>
          </a:solidFill>
          <a:ln>
            <a:noFill/>
          </a:ln>
        </p:spPr>
      </p:sp>
      <p:sp>
        <p:nvSpPr>
          <p:cNvPr id="22" name="TextBox 22"/>
          <p:cNvSpPr/>
          <p:nvPr/>
        </p:nvSpPr>
        <p:spPr>
          <a:xfrm>
            <a:off x="4364736"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TBMM hukumatida Tashqi ishlar vazirligi</a:t>
            </a:r>
            <a:endParaRPr lang="uz-Latn-UZ" sz="1650" b="0" i="0" dirty="0">
              <a:solidFill>
                <a:srgbClr val="1F2937"/>
              </a:solidFill>
              <a:latin typeface="Arial"/>
              <a:cs typeface="Arial"/>
            </a:endParaRPr>
          </a:p>
        </p:txBody>
      </p:sp>
      <p:sp>
        <p:nvSpPr>
          <p:cNvPr id="23" name="TextBox 23"/>
          <p:cNvSpPr/>
          <p:nvPr/>
        </p:nvSpPr>
        <p:spPr>
          <a:xfrm>
            <a:off x="6094476"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1923</a:t>
            </a:r>
            <a:endParaRPr lang="uz-Latn-UZ" sz="2600" b="1" i="0" dirty="0">
              <a:solidFill>
                <a:srgbClr val="C8102E"/>
              </a:solidFill>
              <a:latin typeface="Arial"/>
              <a:cs typeface="Arial"/>
            </a:endParaRPr>
          </a:p>
        </p:txBody>
      </p:sp>
      <p:sp>
        <p:nvSpPr>
          <p:cNvPr id="24" name="Shape 24"/>
          <p:cNvSpPr/>
          <p:nvPr/>
        </p:nvSpPr>
        <p:spPr>
          <a:xfrm>
            <a:off x="6840474" y="2542032"/>
            <a:ext cx="310896" cy="310896"/>
          </a:xfrm>
          <a:prstGeom prst="ellipse">
            <a:avLst/>
          </a:prstGeom>
          <a:solidFill>
            <a:srgbClr val="FFFFFF"/>
          </a:solidFill>
          <a:ln w="19050">
            <a:solidFill>
              <a:srgbClr val="C8102E"/>
            </a:solidFill>
          </a:ln>
        </p:spPr>
      </p:sp>
      <p:sp>
        <p:nvSpPr>
          <p:cNvPr id="25" name="Shape 25"/>
          <p:cNvSpPr/>
          <p:nvPr/>
        </p:nvSpPr>
        <p:spPr>
          <a:xfrm>
            <a:off x="6913626" y="2615184"/>
            <a:ext cx="164592" cy="164592"/>
          </a:xfrm>
          <a:prstGeom prst="ellipse">
            <a:avLst/>
          </a:prstGeom>
          <a:solidFill>
            <a:srgbClr val="C8102E"/>
          </a:solidFill>
          <a:ln>
            <a:noFill/>
          </a:ln>
        </p:spPr>
      </p:sp>
      <p:sp>
        <p:nvSpPr>
          <p:cNvPr id="26" name="TextBox 26"/>
          <p:cNvSpPr/>
          <p:nvPr/>
        </p:nvSpPr>
        <p:spPr>
          <a:xfrm>
            <a:off x="6167628"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Lozanna sulhi: mustaqillik xalqaro tan olindi</a:t>
            </a:r>
            <a:endParaRPr lang="uz-Latn-UZ" sz="1650" b="0" i="0" dirty="0">
              <a:solidFill>
                <a:srgbClr val="1F2937"/>
              </a:solidFill>
              <a:latin typeface="Arial"/>
              <a:cs typeface="Arial"/>
            </a:endParaRPr>
          </a:p>
        </p:txBody>
      </p:sp>
      <p:sp>
        <p:nvSpPr>
          <p:cNvPr id="27" name="TextBox 27"/>
          <p:cNvSpPr/>
          <p:nvPr/>
        </p:nvSpPr>
        <p:spPr>
          <a:xfrm>
            <a:off x="7897368"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1936</a:t>
            </a:r>
            <a:endParaRPr lang="uz-Latn-UZ" sz="2600" b="1" i="0" dirty="0">
              <a:solidFill>
                <a:srgbClr val="C8102E"/>
              </a:solidFill>
              <a:latin typeface="Arial"/>
              <a:cs typeface="Arial"/>
            </a:endParaRPr>
          </a:p>
        </p:txBody>
      </p:sp>
      <p:sp>
        <p:nvSpPr>
          <p:cNvPr id="28" name="Shape 28"/>
          <p:cNvSpPr/>
          <p:nvPr/>
        </p:nvSpPr>
        <p:spPr>
          <a:xfrm>
            <a:off x="8643366" y="2542032"/>
            <a:ext cx="310896" cy="310896"/>
          </a:xfrm>
          <a:prstGeom prst="ellipse">
            <a:avLst/>
          </a:prstGeom>
          <a:solidFill>
            <a:srgbClr val="FFFFFF"/>
          </a:solidFill>
          <a:ln w="19050">
            <a:solidFill>
              <a:srgbClr val="C8102E"/>
            </a:solidFill>
          </a:ln>
        </p:spPr>
      </p:sp>
      <p:sp>
        <p:nvSpPr>
          <p:cNvPr id="29" name="Shape 29"/>
          <p:cNvSpPr/>
          <p:nvPr/>
        </p:nvSpPr>
        <p:spPr>
          <a:xfrm>
            <a:off x="8716518" y="2615184"/>
            <a:ext cx="164592" cy="164592"/>
          </a:xfrm>
          <a:prstGeom prst="ellipse">
            <a:avLst/>
          </a:prstGeom>
          <a:solidFill>
            <a:srgbClr val="C8102E"/>
          </a:solidFill>
          <a:ln>
            <a:noFill/>
          </a:ln>
        </p:spPr>
      </p:sp>
      <p:sp>
        <p:nvSpPr>
          <p:cNvPr id="30" name="TextBox 30"/>
          <p:cNvSpPr/>
          <p:nvPr/>
        </p:nvSpPr>
        <p:spPr>
          <a:xfrm>
            <a:off x="7970520"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Montrö konvensiyasi: bo‘g‘ozlar nazorati tiklandi</a:t>
            </a:r>
            <a:endParaRPr lang="uz-Latn-UZ" sz="1650" b="0" i="0" dirty="0">
              <a:solidFill>
                <a:srgbClr val="1F2937"/>
              </a:solidFill>
              <a:latin typeface="Arial"/>
              <a:cs typeface="Arial"/>
            </a:endParaRPr>
          </a:p>
        </p:txBody>
      </p:sp>
      <p:sp>
        <p:nvSpPr>
          <p:cNvPr id="31" name="TextBox 31"/>
          <p:cNvSpPr/>
          <p:nvPr/>
        </p:nvSpPr>
        <p:spPr>
          <a:xfrm>
            <a:off x="9700260"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1945</a:t>
            </a:r>
            <a:endParaRPr lang="uz-Latn-UZ" sz="2600" b="1" i="0" dirty="0">
              <a:solidFill>
                <a:srgbClr val="C8102E"/>
              </a:solidFill>
              <a:latin typeface="Arial"/>
              <a:cs typeface="Arial"/>
            </a:endParaRPr>
          </a:p>
        </p:txBody>
      </p:sp>
      <p:sp>
        <p:nvSpPr>
          <p:cNvPr id="32" name="Shape 32"/>
          <p:cNvSpPr/>
          <p:nvPr/>
        </p:nvSpPr>
        <p:spPr>
          <a:xfrm>
            <a:off x="10446258" y="2542032"/>
            <a:ext cx="310896" cy="310896"/>
          </a:xfrm>
          <a:prstGeom prst="ellipse">
            <a:avLst/>
          </a:prstGeom>
          <a:solidFill>
            <a:srgbClr val="FFFFFF"/>
          </a:solidFill>
          <a:ln w="19050">
            <a:solidFill>
              <a:srgbClr val="C8102E"/>
            </a:solidFill>
          </a:ln>
        </p:spPr>
      </p:sp>
      <p:sp>
        <p:nvSpPr>
          <p:cNvPr id="33" name="Shape 33"/>
          <p:cNvSpPr/>
          <p:nvPr/>
        </p:nvSpPr>
        <p:spPr>
          <a:xfrm>
            <a:off x="10519410" y="2615184"/>
            <a:ext cx="164592" cy="164592"/>
          </a:xfrm>
          <a:prstGeom prst="ellipse">
            <a:avLst/>
          </a:prstGeom>
          <a:solidFill>
            <a:srgbClr val="C8102E"/>
          </a:solidFill>
          <a:ln>
            <a:noFill/>
          </a:ln>
        </p:spPr>
      </p:sp>
      <p:sp>
        <p:nvSpPr>
          <p:cNvPr id="34" name="TextBox 34"/>
          <p:cNvSpPr/>
          <p:nvPr/>
        </p:nvSpPr>
        <p:spPr>
          <a:xfrm>
            <a:off x="9773412"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BMTning asoschi a’zolaridan biri</a:t>
            </a:r>
            <a:endParaRPr lang="uz-Latn-UZ" sz="1650" b="0" i="0" dirty="0">
              <a:solidFill>
                <a:srgbClr val="1F2937"/>
              </a:solidFill>
              <a:latin typeface="Arial"/>
              <a:cs typeface="Arial"/>
            </a:endParaRPr>
          </a:p>
        </p:txBody>
      </p:sp>
      <p:sp>
        <p:nvSpPr>
          <p:cNvPr id="35" name="Shape 35"/>
          <p:cNvSpPr/>
          <p:nvPr/>
        </p:nvSpPr>
        <p:spPr>
          <a:xfrm>
            <a:off x="548640" y="5029200"/>
            <a:ext cx="11091672" cy="1097280"/>
          </a:xfrm>
          <a:prstGeom prst="rect">
            <a:avLst/>
          </a:prstGeom>
          <a:solidFill>
            <a:srgbClr val="F1F3F6"/>
          </a:solidFill>
          <a:ln>
            <a:noFill/>
          </a:ln>
        </p:spPr>
      </p:sp>
      <p:sp>
        <p:nvSpPr>
          <p:cNvPr id="36" name="Shape 36"/>
          <p:cNvSpPr/>
          <p:nvPr/>
        </p:nvSpPr>
        <p:spPr>
          <a:xfrm>
            <a:off x="548640" y="5029200"/>
            <a:ext cx="82296" cy="1097280"/>
          </a:xfrm>
          <a:prstGeom prst="rect">
            <a:avLst/>
          </a:prstGeom>
          <a:solidFill>
            <a:srgbClr val="C8102E"/>
          </a:solidFill>
          <a:ln>
            <a:noFill/>
          </a:ln>
        </p:spPr>
      </p:sp>
      <p:sp>
        <p:nvSpPr>
          <p:cNvPr id="37" name="TextBox 37"/>
          <p:cNvSpPr/>
          <p:nvPr/>
        </p:nvSpPr>
        <p:spPr>
          <a:xfrm>
            <a:off x="868680" y="5074920"/>
            <a:ext cx="10607040" cy="1005840"/>
          </a:xfrm>
          <a:prstGeom prst="rect">
            <a:avLst/>
          </a:prstGeom>
          <a:noFill/>
          <a:ln>
            <a:noFill/>
          </a:ln>
        </p:spPr>
        <p:txBody>
          <a:bodyPr wrap="square" lIns="0" tIns="0" rIns="0" bIns="0" rtlCol="0" anchor="ctr">
            <a:noAutofit/>
          </a:bodyPr>
          <a:lstStyle/>
          <a:p>
            <a:pPr marL="0" indent="0" algn="l">
              <a:spcBef>
                <a:spcPts val="0"/>
              </a:spcBef>
              <a:buNone/>
            </a:pPr>
            <a:r>
              <a:rPr lang="uz-Latn-UZ" sz="1650" b="0" i="1" dirty="0">
                <a:solidFill>
                  <a:srgbClr val="14213D"/>
                </a:solidFill>
                <a:latin typeface="Arial"/>
                <a:cs typeface="Arial"/>
              </a:rPr>
              <a:t>Otaturk tamoyili — «Yurtda tinchlik, dunyoda tinchlik». Diplomatiya — milliy manfaatlarni himoya qilish, mintaqaviy barqarorlik va global ta’sir vositasi.</a:t>
            </a:r>
            <a:endParaRPr lang="uz-Latn-UZ" sz="1650" b="0" i="1" dirty="0">
              <a:solidFill>
                <a:srgbClr val="14213D"/>
              </a:solidFill>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2-QISM  •  DIPLOMATIK FAOLIYAT</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Ko‘p tomonlama diplomatiya: BMT, NATO, IHT</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2-ma’ruzachi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10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Shape 10"/>
          <p:cNvSpPr/>
          <p:nvPr/>
        </p:nvSpPr>
        <p:spPr>
          <a:xfrm>
            <a:off x="548640" y="1627632"/>
            <a:ext cx="4343400" cy="4526280"/>
          </a:xfrm>
          <a:prstGeom prst="rect">
            <a:avLst/>
          </a:prstGeom>
          <a:solidFill>
            <a:srgbClr val="F1F3F6"/>
          </a:solidFill>
          <a:ln>
            <a:noFill/>
          </a:ln>
        </p:spPr>
      </p:sp>
      <p:sp>
        <p:nvSpPr>
          <p:cNvPr id="11" name="Shape 11"/>
          <p:cNvSpPr/>
          <p:nvPr/>
        </p:nvSpPr>
        <p:spPr>
          <a:xfrm>
            <a:off x="548640" y="1627632"/>
            <a:ext cx="4343400" cy="73152"/>
          </a:xfrm>
          <a:prstGeom prst="rect">
            <a:avLst/>
          </a:prstGeom>
          <a:solidFill>
            <a:srgbClr val="C8102E"/>
          </a:solidFill>
          <a:ln>
            <a:noFill/>
          </a:ln>
        </p:spPr>
      </p:sp>
      <p:sp>
        <p:nvSpPr>
          <p:cNvPr id="12" name="TextBox 12"/>
          <p:cNvSpPr/>
          <p:nvPr/>
        </p:nvSpPr>
        <p:spPr>
          <a:xfrm>
            <a:off x="804672" y="1856232"/>
            <a:ext cx="3886200" cy="4160520"/>
          </a:xfrm>
          <a:prstGeom prst="rect">
            <a:avLst/>
          </a:prstGeom>
          <a:noFill/>
          <a:ln>
            <a:noFill/>
          </a:ln>
        </p:spPr>
        <p:txBody>
          <a:bodyPr wrap="square" lIns="0" tIns="0" rIns="0" bIns="0" rtlCol="0" anchor="t">
            <a:noAutofit/>
          </a:bodyPr>
          <a:lstStyle/>
          <a:p>
            <a:pPr marL="0" indent="0" algn="l">
              <a:spcBef>
                <a:spcPts val="0"/>
              </a:spcBef>
              <a:buNone/>
            </a:pPr>
            <a:r>
              <a:rPr lang="uz-Latn-UZ" sz="1700" b="1" i="0" dirty="0">
                <a:solidFill>
                  <a:srgbClr val="14213D"/>
                </a:solidFill>
                <a:latin typeface="Arial"/>
                <a:cs typeface="Arial"/>
              </a:rPr>
              <a:t>Maqsadlar</a:t>
            </a:r>
            <a:endParaRPr lang="uz-Latn-UZ" sz="1700" b="1" i="0" dirty="0">
              <a:solidFill>
                <a:srgbClr val="14213D"/>
              </a:solidFill>
              <a:latin typeface="Arial"/>
              <a:cs typeface="Arial"/>
            </a:endParaRPr>
          </a:p>
          <a:p>
            <a:pPr marL="237744" indent="-237744" algn="l">
              <a:spcBef>
                <a:spcPts val="500"/>
              </a:spcBef>
              <a:buClr>
                <a:srgbClr val="C8102E"/>
              </a:buClr>
              <a:buFont typeface="Arial"/>
              <a:buChar char="•"/>
            </a:pPr>
            <a:r>
              <a:rPr lang="uz-Latn-UZ" sz="1500" b="0" i="0" dirty="0">
                <a:solidFill>
                  <a:srgbClr val="1F2937"/>
                </a:solidFill>
                <a:latin typeface="Arial"/>
                <a:cs typeface="Arial"/>
              </a:rPr>
              <a:t>Milliy manfaatlarni himoya qilish</a:t>
            </a:r>
            <a:endParaRPr lang="uz-Latn-UZ" sz="1500" b="0" i="0" dirty="0">
              <a:solidFill>
                <a:srgbClr val="1F2937"/>
              </a:solidFill>
              <a:latin typeface="Arial"/>
              <a:cs typeface="Arial"/>
            </a:endParaRPr>
          </a:p>
          <a:p>
            <a:pPr marL="237744" indent="-237744" algn="l">
              <a:spcBef>
                <a:spcPts val="500"/>
              </a:spcBef>
              <a:buClr>
                <a:srgbClr val="C8102E"/>
              </a:buClr>
              <a:buFont typeface="Arial"/>
              <a:buChar char="•"/>
            </a:pPr>
            <a:r>
              <a:rPr lang="uz-Latn-UZ" sz="1500" b="0" i="0" dirty="0">
                <a:solidFill>
                  <a:srgbClr val="1F2937"/>
                </a:solidFill>
                <a:latin typeface="Arial"/>
                <a:cs typeface="Arial"/>
              </a:rPr>
              <a:t>Mintaqaviy barqarorlik</a:t>
            </a:r>
            <a:endParaRPr lang="uz-Latn-UZ" sz="1500" b="0" i="0" dirty="0">
              <a:solidFill>
                <a:srgbClr val="1F2937"/>
              </a:solidFill>
              <a:latin typeface="Arial"/>
              <a:cs typeface="Arial"/>
            </a:endParaRPr>
          </a:p>
          <a:p>
            <a:pPr marL="237744" indent="-237744" algn="l">
              <a:spcBef>
                <a:spcPts val="500"/>
              </a:spcBef>
              <a:buClr>
                <a:srgbClr val="C8102E"/>
              </a:buClr>
              <a:buFont typeface="Arial"/>
              <a:buChar char="•"/>
            </a:pPr>
            <a:r>
              <a:rPr lang="uz-Latn-UZ" sz="1500" b="0" i="0" dirty="0">
                <a:solidFill>
                  <a:srgbClr val="1F2937"/>
                </a:solidFill>
                <a:latin typeface="Arial"/>
                <a:cs typeface="Arial"/>
              </a:rPr>
              <a:t>Global ta’sir va obro‘</a:t>
            </a:r>
            <a:endParaRPr lang="uz-Latn-UZ" sz="1500" b="0" i="0" dirty="0">
              <a:solidFill>
                <a:srgbClr val="1F2937"/>
              </a:solidFill>
              <a:latin typeface="Arial"/>
              <a:cs typeface="Arial"/>
            </a:endParaRPr>
          </a:p>
          <a:p>
            <a:pPr marL="0" indent="0" algn="l">
              <a:spcBef>
                <a:spcPts val="1400"/>
              </a:spcBef>
              <a:buNone/>
            </a:pPr>
            <a:r>
              <a:rPr lang="uz-Latn-UZ" sz="1700" b="1" i="0" dirty="0">
                <a:solidFill>
                  <a:srgbClr val="14213D"/>
                </a:solidFill>
                <a:latin typeface="Arial"/>
                <a:cs typeface="Arial"/>
              </a:rPr>
              <a:t>Yondashuv</a:t>
            </a:r>
            <a:endParaRPr lang="uz-Latn-UZ" sz="1700" b="1" i="0" dirty="0">
              <a:solidFill>
                <a:srgbClr val="14213D"/>
              </a:solidFill>
              <a:latin typeface="Arial"/>
              <a:cs typeface="Arial"/>
            </a:endParaRPr>
          </a:p>
          <a:p>
            <a:pPr marL="237744" indent="-237744" algn="l">
              <a:spcBef>
                <a:spcPts val="500"/>
              </a:spcBef>
              <a:buClr>
                <a:srgbClr val="C8102E"/>
              </a:buClr>
              <a:buFont typeface="Arial"/>
              <a:buChar char="•"/>
            </a:pPr>
            <a:r>
              <a:rPr lang="uz-Latn-UZ" sz="1500" b="0" i="0" dirty="0">
                <a:solidFill>
                  <a:srgbClr val="1F2937"/>
                </a:solidFill>
                <a:latin typeface="Arial"/>
                <a:cs typeface="Arial"/>
              </a:rPr>
              <a:t>Ko‘p tomonlama hamkorlik</a:t>
            </a:r>
            <a:endParaRPr lang="uz-Latn-UZ" sz="1500" b="0" i="0" dirty="0">
              <a:solidFill>
                <a:srgbClr val="1F2937"/>
              </a:solidFill>
              <a:latin typeface="Arial"/>
              <a:cs typeface="Arial"/>
            </a:endParaRPr>
          </a:p>
          <a:p>
            <a:pPr marL="237744" indent="-237744" algn="l">
              <a:spcBef>
                <a:spcPts val="500"/>
              </a:spcBef>
              <a:buClr>
                <a:srgbClr val="C8102E"/>
              </a:buClr>
              <a:buFont typeface="Arial"/>
              <a:buChar char="•"/>
            </a:pPr>
            <a:r>
              <a:rPr lang="uz-Latn-UZ" sz="1500" b="0" i="0" dirty="0">
                <a:solidFill>
                  <a:srgbClr val="1F2937"/>
                </a:solidFill>
                <a:latin typeface="Arial"/>
                <a:cs typeface="Arial"/>
              </a:rPr>
              <a:t>Pragmatizm</a:t>
            </a:r>
            <a:endParaRPr lang="uz-Latn-UZ" sz="1500" b="0" i="0" dirty="0">
              <a:solidFill>
                <a:srgbClr val="1F2937"/>
              </a:solidFill>
              <a:latin typeface="Arial"/>
              <a:cs typeface="Arial"/>
            </a:endParaRPr>
          </a:p>
          <a:p>
            <a:pPr marL="237744" indent="-237744" algn="l">
              <a:spcBef>
                <a:spcPts val="500"/>
              </a:spcBef>
              <a:buClr>
                <a:srgbClr val="C8102E"/>
              </a:buClr>
              <a:buFont typeface="Arial"/>
              <a:buChar char="•"/>
            </a:pPr>
            <a:r>
              <a:rPr lang="uz-Latn-UZ" sz="1500" b="0" i="0" dirty="0">
                <a:solidFill>
                  <a:srgbClr val="1F2937"/>
                </a:solidFill>
                <a:latin typeface="Arial"/>
                <a:cs typeface="Arial"/>
              </a:rPr>
              <a:t>Qarama-qarshilik emas — muloqot va murosa</a:t>
            </a:r>
            <a:endParaRPr lang="uz-Latn-UZ" sz="1500" b="0" i="0" dirty="0">
              <a:solidFill>
                <a:srgbClr val="1F2937"/>
              </a:solidFill>
              <a:latin typeface="Arial"/>
              <a:cs typeface="Arial"/>
            </a:endParaRPr>
          </a:p>
          <a:p>
            <a:pPr marL="0" indent="0" algn="l">
              <a:spcBef>
                <a:spcPts val="1400"/>
              </a:spcBef>
              <a:buNone/>
            </a:pPr>
            <a:r>
              <a:rPr lang="uz-Latn-UZ" sz="1700" b="1" i="0" dirty="0">
                <a:solidFill>
                  <a:srgbClr val="14213D"/>
                </a:solidFill>
                <a:latin typeface="Arial"/>
                <a:cs typeface="Arial"/>
              </a:rPr>
              <a:t>Qaror qabul qilish</a:t>
            </a:r>
            <a:endParaRPr lang="uz-Latn-UZ" sz="1700" b="1" i="0" dirty="0">
              <a:solidFill>
                <a:srgbClr val="14213D"/>
              </a:solidFill>
              <a:latin typeface="Arial"/>
              <a:cs typeface="Arial"/>
            </a:endParaRPr>
          </a:p>
          <a:p>
            <a:pPr marL="237744" indent="-237744" algn="l">
              <a:spcBef>
                <a:spcPts val="500"/>
              </a:spcBef>
              <a:buClr>
                <a:srgbClr val="C8102E"/>
              </a:buClr>
              <a:buFont typeface="Arial"/>
              <a:buChar char="•"/>
            </a:pPr>
            <a:r>
              <a:rPr lang="uz-Latn-UZ" sz="1500" b="0" i="0" dirty="0">
                <a:solidFill>
                  <a:srgbClr val="1F2937"/>
                </a:solidFill>
                <a:latin typeface="Arial"/>
                <a:cs typeface="Arial"/>
              </a:rPr>
              <a:t>Prezident (2018-yildan prezidentlik tizimi)</a:t>
            </a:r>
            <a:endParaRPr lang="uz-Latn-UZ" sz="1500" b="0" i="0" dirty="0">
              <a:solidFill>
                <a:srgbClr val="1F2937"/>
              </a:solidFill>
              <a:latin typeface="Arial"/>
              <a:cs typeface="Arial"/>
            </a:endParaRPr>
          </a:p>
          <a:p>
            <a:pPr marL="237744" indent="-237744" algn="l">
              <a:spcBef>
                <a:spcPts val="500"/>
              </a:spcBef>
              <a:buClr>
                <a:srgbClr val="C8102E"/>
              </a:buClr>
              <a:buFont typeface="Arial"/>
              <a:buChar char="•"/>
            </a:pPr>
            <a:r>
              <a:rPr lang="uz-Latn-UZ" sz="1500" b="0" i="0" dirty="0">
                <a:solidFill>
                  <a:srgbClr val="1F2937"/>
                </a:solidFill>
                <a:latin typeface="Arial"/>
                <a:cs typeface="Arial"/>
              </a:rPr>
              <a:t>TIV — vazir Hakan Fidan (2023-yildan)</a:t>
            </a:r>
            <a:endParaRPr lang="uz-Latn-UZ" sz="1500" b="0" i="0" dirty="0">
              <a:solidFill>
                <a:srgbClr val="1F2937"/>
              </a:solidFill>
              <a:latin typeface="Arial"/>
              <a:cs typeface="Arial"/>
            </a:endParaRPr>
          </a:p>
        </p:txBody>
      </p:sp>
      <p:sp>
        <p:nvSpPr>
          <p:cNvPr id="13" name="TextBox 13"/>
          <p:cNvSpPr/>
          <p:nvPr/>
        </p:nvSpPr>
        <p:spPr>
          <a:xfrm>
            <a:off x="5166360" y="1572768"/>
            <a:ext cx="6473952" cy="365760"/>
          </a:xfrm>
          <a:prstGeom prst="rect">
            <a:avLst/>
          </a:prstGeom>
          <a:noFill/>
          <a:ln>
            <a:noFill/>
          </a:ln>
        </p:spPr>
        <p:txBody>
          <a:bodyPr wrap="square" lIns="0" tIns="0" rIns="0" bIns="0" rtlCol="0" anchor="ctr">
            <a:noAutofit/>
          </a:bodyPr>
          <a:lstStyle/>
          <a:p>
            <a:pPr marL="0" indent="0" algn="l">
              <a:spcBef>
                <a:spcPts val="0"/>
              </a:spcBef>
              <a:buNone/>
            </a:pPr>
            <a:r>
              <a:rPr lang="uz-Latn-UZ" sz="1400" b="1" i="0" dirty="0">
                <a:solidFill>
                  <a:srgbClr val="6B7280"/>
                </a:solidFill>
                <a:latin typeface="Arial"/>
                <a:cs typeface="Arial"/>
              </a:rPr>
              <a:t>Turkiya a’zo bo‘lgan asosiy tuzilmalar</a:t>
            </a:r>
            <a:endParaRPr lang="uz-Latn-UZ" sz="1400" b="1" i="0" dirty="0">
              <a:solidFill>
                <a:srgbClr val="6B7280"/>
              </a:solidFill>
              <a:latin typeface="Arial"/>
              <a:cs typeface="Arial"/>
            </a:endParaRPr>
          </a:p>
        </p:txBody>
      </p:sp>
      <p:sp>
        <p:nvSpPr>
          <p:cNvPr id="14" name="Shape 14"/>
          <p:cNvSpPr/>
          <p:nvPr/>
        </p:nvSpPr>
        <p:spPr>
          <a:xfrm>
            <a:off x="5166360" y="2011680"/>
            <a:ext cx="2066544" cy="932688"/>
          </a:xfrm>
          <a:prstGeom prst="rect">
            <a:avLst/>
          </a:prstGeom>
          <a:solidFill>
            <a:srgbClr val="F1F3F6"/>
          </a:solidFill>
          <a:ln>
            <a:noFill/>
          </a:ln>
        </p:spPr>
      </p:sp>
      <p:sp>
        <p:nvSpPr>
          <p:cNvPr id="15" name="Shape 15"/>
          <p:cNvSpPr/>
          <p:nvPr/>
        </p:nvSpPr>
        <p:spPr>
          <a:xfrm>
            <a:off x="5166360" y="2011680"/>
            <a:ext cx="64008" cy="932688"/>
          </a:xfrm>
          <a:prstGeom prst="rect">
            <a:avLst/>
          </a:prstGeom>
          <a:solidFill>
            <a:srgbClr val="14213D"/>
          </a:solidFill>
          <a:ln>
            <a:noFill/>
          </a:ln>
        </p:spPr>
      </p:sp>
      <p:sp>
        <p:nvSpPr>
          <p:cNvPr id="16" name="TextBox 16"/>
          <p:cNvSpPr/>
          <p:nvPr/>
        </p:nvSpPr>
        <p:spPr>
          <a:xfrm>
            <a:off x="5349240" y="2066544"/>
            <a:ext cx="1773936" cy="566928"/>
          </a:xfrm>
          <a:prstGeom prst="rect">
            <a:avLst/>
          </a:prstGeom>
          <a:noFill/>
          <a:ln>
            <a:noFill/>
          </a:ln>
        </p:spPr>
        <p:txBody>
          <a:bodyPr wrap="square" lIns="0" tIns="0" rIns="0" bIns="0" rtlCol="0" anchor="ctr">
            <a:noAutofit/>
          </a:bodyPr>
          <a:lstStyle/>
          <a:p>
            <a:pPr marL="0" indent="0" algn="l">
              <a:spcBef>
                <a:spcPts val="0"/>
              </a:spcBef>
              <a:buNone/>
            </a:pPr>
            <a:r>
              <a:rPr lang="uz-Latn-UZ" sz="1450" b="1" i="0" dirty="0">
                <a:solidFill>
                  <a:srgbClr val="14213D"/>
                </a:solidFill>
                <a:latin typeface="Arial"/>
                <a:cs typeface="Arial"/>
              </a:rPr>
              <a:t>BMT</a:t>
            </a:r>
            <a:endParaRPr lang="uz-Latn-UZ" sz="1450" b="1" i="0" dirty="0">
              <a:solidFill>
                <a:srgbClr val="14213D"/>
              </a:solidFill>
              <a:latin typeface="Arial"/>
              <a:cs typeface="Arial"/>
            </a:endParaRPr>
          </a:p>
        </p:txBody>
      </p:sp>
      <p:sp>
        <p:nvSpPr>
          <p:cNvPr id="17" name="TextBox 17"/>
          <p:cNvSpPr/>
          <p:nvPr/>
        </p:nvSpPr>
        <p:spPr>
          <a:xfrm>
            <a:off x="5349240" y="2615184"/>
            <a:ext cx="1773936" cy="274320"/>
          </a:xfrm>
          <a:prstGeom prst="rect">
            <a:avLst/>
          </a:prstGeom>
          <a:noFill/>
          <a:ln>
            <a:noFill/>
          </a:ln>
        </p:spPr>
        <p:txBody>
          <a:bodyPr wrap="square" lIns="0" tIns="0" rIns="0" bIns="0" rtlCol="0" anchor="ctr">
            <a:noAutofit/>
          </a:bodyPr>
          <a:lstStyle/>
          <a:p>
            <a:pPr marL="0" indent="0" algn="l">
              <a:spcBef>
                <a:spcPts val="0"/>
              </a:spcBef>
              <a:buNone/>
            </a:pPr>
            <a:r>
              <a:rPr lang="uz-Latn-UZ" sz="1300" b="1" i="0" dirty="0">
                <a:solidFill>
                  <a:srgbClr val="C8102E"/>
                </a:solidFill>
                <a:latin typeface="Arial"/>
                <a:cs typeface="Arial"/>
              </a:rPr>
              <a:t>1945</a:t>
            </a:r>
            <a:endParaRPr lang="uz-Latn-UZ" sz="1300" b="1" i="0" dirty="0">
              <a:solidFill>
                <a:srgbClr val="C8102E"/>
              </a:solidFill>
              <a:latin typeface="Arial"/>
              <a:cs typeface="Arial"/>
            </a:endParaRPr>
          </a:p>
        </p:txBody>
      </p:sp>
      <p:sp>
        <p:nvSpPr>
          <p:cNvPr id="18" name="Shape 18"/>
          <p:cNvSpPr/>
          <p:nvPr/>
        </p:nvSpPr>
        <p:spPr>
          <a:xfrm>
            <a:off x="7370064" y="2011680"/>
            <a:ext cx="2066544" cy="932688"/>
          </a:xfrm>
          <a:prstGeom prst="rect">
            <a:avLst/>
          </a:prstGeom>
          <a:solidFill>
            <a:srgbClr val="F1F3F6"/>
          </a:solidFill>
          <a:ln>
            <a:noFill/>
          </a:ln>
        </p:spPr>
      </p:sp>
      <p:sp>
        <p:nvSpPr>
          <p:cNvPr id="19" name="Shape 19"/>
          <p:cNvSpPr/>
          <p:nvPr/>
        </p:nvSpPr>
        <p:spPr>
          <a:xfrm>
            <a:off x="7370064" y="2011680"/>
            <a:ext cx="64008" cy="932688"/>
          </a:xfrm>
          <a:prstGeom prst="rect">
            <a:avLst/>
          </a:prstGeom>
          <a:solidFill>
            <a:srgbClr val="14213D"/>
          </a:solidFill>
          <a:ln>
            <a:noFill/>
          </a:ln>
        </p:spPr>
      </p:sp>
      <p:sp>
        <p:nvSpPr>
          <p:cNvPr id="20" name="TextBox 20"/>
          <p:cNvSpPr/>
          <p:nvPr/>
        </p:nvSpPr>
        <p:spPr>
          <a:xfrm>
            <a:off x="7552944" y="2066544"/>
            <a:ext cx="1773936" cy="566928"/>
          </a:xfrm>
          <a:prstGeom prst="rect">
            <a:avLst/>
          </a:prstGeom>
          <a:noFill/>
          <a:ln>
            <a:noFill/>
          </a:ln>
        </p:spPr>
        <p:txBody>
          <a:bodyPr wrap="square" lIns="0" tIns="0" rIns="0" bIns="0" rtlCol="0" anchor="ctr">
            <a:noAutofit/>
          </a:bodyPr>
          <a:lstStyle/>
          <a:p>
            <a:pPr marL="0" indent="0" algn="l">
              <a:spcBef>
                <a:spcPts val="0"/>
              </a:spcBef>
              <a:buNone/>
            </a:pPr>
            <a:r>
              <a:rPr lang="uz-Latn-UZ" sz="1450" b="1" i="0" dirty="0">
                <a:solidFill>
                  <a:srgbClr val="14213D"/>
                </a:solidFill>
                <a:latin typeface="Arial"/>
                <a:cs typeface="Arial"/>
              </a:rPr>
              <a:t>Yevropa Kengashi</a:t>
            </a:r>
            <a:endParaRPr lang="uz-Latn-UZ" sz="1450" b="1" i="0" dirty="0">
              <a:solidFill>
                <a:srgbClr val="14213D"/>
              </a:solidFill>
              <a:latin typeface="Arial"/>
              <a:cs typeface="Arial"/>
            </a:endParaRPr>
          </a:p>
        </p:txBody>
      </p:sp>
      <p:sp>
        <p:nvSpPr>
          <p:cNvPr id="21" name="TextBox 21"/>
          <p:cNvSpPr/>
          <p:nvPr/>
        </p:nvSpPr>
        <p:spPr>
          <a:xfrm>
            <a:off x="7552944" y="2615184"/>
            <a:ext cx="1773936" cy="274320"/>
          </a:xfrm>
          <a:prstGeom prst="rect">
            <a:avLst/>
          </a:prstGeom>
          <a:noFill/>
          <a:ln>
            <a:noFill/>
          </a:ln>
        </p:spPr>
        <p:txBody>
          <a:bodyPr wrap="square" lIns="0" tIns="0" rIns="0" bIns="0" rtlCol="0" anchor="ctr">
            <a:noAutofit/>
          </a:bodyPr>
          <a:lstStyle/>
          <a:p>
            <a:pPr marL="0" indent="0" algn="l">
              <a:spcBef>
                <a:spcPts val="0"/>
              </a:spcBef>
              <a:buNone/>
            </a:pPr>
            <a:r>
              <a:rPr lang="uz-Latn-UZ" sz="1300" b="1" i="0" dirty="0">
                <a:solidFill>
                  <a:srgbClr val="C8102E"/>
                </a:solidFill>
                <a:latin typeface="Arial"/>
                <a:cs typeface="Arial"/>
              </a:rPr>
              <a:t>1949</a:t>
            </a:r>
            <a:endParaRPr lang="uz-Latn-UZ" sz="1300" b="1" i="0" dirty="0">
              <a:solidFill>
                <a:srgbClr val="C8102E"/>
              </a:solidFill>
              <a:latin typeface="Arial"/>
              <a:cs typeface="Arial"/>
            </a:endParaRPr>
          </a:p>
        </p:txBody>
      </p:sp>
      <p:sp>
        <p:nvSpPr>
          <p:cNvPr id="22" name="Shape 22"/>
          <p:cNvSpPr/>
          <p:nvPr/>
        </p:nvSpPr>
        <p:spPr>
          <a:xfrm>
            <a:off x="9573768" y="2011680"/>
            <a:ext cx="2066544" cy="932688"/>
          </a:xfrm>
          <a:prstGeom prst="rect">
            <a:avLst/>
          </a:prstGeom>
          <a:solidFill>
            <a:srgbClr val="F1F3F6"/>
          </a:solidFill>
          <a:ln>
            <a:noFill/>
          </a:ln>
        </p:spPr>
      </p:sp>
      <p:sp>
        <p:nvSpPr>
          <p:cNvPr id="23" name="Shape 23"/>
          <p:cNvSpPr/>
          <p:nvPr/>
        </p:nvSpPr>
        <p:spPr>
          <a:xfrm>
            <a:off x="9573768" y="2011680"/>
            <a:ext cx="64008" cy="932688"/>
          </a:xfrm>
          <a:prstGeom prst="rect">
            <a:avLst/>
          </a:prstGeom>
          <a:solidFill>
            <a:srgbClr val="14213D"/>
          </a:solidFill>
          <a:ln>
            <a:noFill/>
          </a:ln>
        </p:spPr>
      </p:sp>
      <p:sp>
        <p:nvSpPr>
          <p:cNvPr id="24" name="TextBox 24"/>
          <p:cNvSpPr/>
          <p:nvPr/>
        </p:nvSpPr>
        <p:spPr>
          <a:xfrm>
            <a:off x="9756648" y="2066544"/>
            <a:ext cx="1773936" cy="566928"/>
          </a:xfrm>
          <a:prstGeom prst="rect">
            <a:avLst/>
          </a:prstGeom>
          <a:noFill/>
          <a:ln>
            <a:noFill/>
          </a:ln>
        </p:spPr>
        <p:txBody>
          <a:bodyPr wrap="square" lIns="0" tIns="0" rIns="0" bIns="0" rtlCol="0" anchor="ctr">
            <a:noAutofit/>
          </a:bodyPr>
          <a:lstStyle/>
          <a:p>
            <a:pPr marL="0" indent="0" algn="l">
              <a:spcBef>
                <a:spcPts val="0"/>
              </a:spcBef>
              <a:buNone/>
            </a:pPr>
            <a:r>
              <a:rPr lang="uz-Latn-UZ" sz="1450" b="1" i="0" dirty="0">
                <a:solidFill>
                  <a:srgbClr val="14213D"/>
                </a:solidFill>
                <a:latin typeface="Arial"/>
                <a:cs typeface="Arial"/>
              </a:rPr>
              <a:t>NATO</a:t>
            </a:r>
            <a:endParaRPr lang="uz-Latn-UZ" sz="1450" b="1" i="0" dirty="0">
              <a:solidFill>
                <a:srgbClr val="14213D"/>
              </a:solidFill>
              <a:latin typeface="Arial"/>
              <a:cs typeface="Arial"/>
            </a:endParaRPr>
          </a:p>
        </p:txBody>
      </p:sp>
      <p:sp>
        <p:nvSpPr>
          <p:cNvPr id="25" name="TextBox 25"/>
          <p:cNvSpPr/>
          <p:nvPr/>
        </p:nvSpPr>
        <p:spPr>
          <a:xfrm>
            <a:off x="9756648" y="2615184"/>
            <a:ext cx="1773936" cy="274320"/>
          </a:xfrm>
          <a:prstGeom prst="rect">
            <a:avLst/>
          </a:prstGeom>
          <a:noFill/>
          <a:ln>
            <a:noFill/>
          </a:ln>
        </p:spPr>
        <p:txBody>
          <a:bodyPr wrap="square" lIns="0" tIns="0" rIns="0" bIns="0" rtlCol="0" anchor="ctr">
            <a:noAutofit/>
          </a:bodyPr>
          <a:lstStyle/>
          <a:p>
            <a:pPr marL="0" indent="0" algn="l">
              <a:spcBef>
                <a:spcPts val="0"/>
              </a:spcBef>
              <a:buNone/>
            </a:pPr>
            <a:r>
              <a:rPr lang="uz-Latn-UZ" sz="1300" b="1" i="0" dirty="0">
                <a:solidFill>
                  <a:srgbClr val="C8102E"/>
                </a:solidFill>
                <a:latin typeface="Arial"/>
                <a:cs typeface="Arial"/>
              </a:rPr>
              <a:t>1952</a:t>
            </a:r>
            <a:endParaRPr lang="uz-Latn-UZ" sz="1300" b="1" i="0" dirty="0">
              <a:solidFill>
                <a:srgbClr val="C8102E"/>
              </a:solidFill>
              <a:latin typeface="Arial"/>
              <a:cs typeface="Arial"/>
            </a:endParaRPr>
          </a:p>
        </p:txBody>
      </p:sp>
      <p:sp>
        <p:nvSpPr>
          <p:cNvPr id="26" name="Shape 26"/>
          <p:cNvSpPr/>
          <p:nvPr/>
        </p:nvSpPr>
        <p:spPr>
          <a:xfrm>
            <a:off x="5166360" y="3081528"/>
            <a:ext cx="2066544" cy="932688"/>
          </a:xfrm>
          <a:prstGeom prst="rect">
            <a:avLst/>
          </a:prstGeom>
          <a:solidFill>
            <a:srgbClr val="F1F3F6"/>
          </a:solidFill>
          <a:ln>
            <a:noFill/>
          </a:ln>
        </p:spPr>
      </p:sp>
      <p:sp>
        <p:nvSpPr>
          <p:cNvPr id="27" name="Shape 27"/>
          <p:cNvSpPr/>
          <p:nvPr/>
        </p:nvSpPr>
        <p:spPr>
          <a:xfrm>
            <a:off x="5166360" y="3081528"/>
            <a:ext cx="64008" cy="932688"/>
          </a:xfrm>
          <a:prstGeom prst="rect">
            <a:avLst/>
          </a:prstGeom>
          <a:solidFill>
            <a:srgbClr val="C8102E"/>
          </a:solidFill>
          <a:ln>
            <a:noFill/>
          </a:ln>
        </p:spPr>
      </p:sp>
      <p:sp>
        <p:nvSpPr>
          <p:cNvPr id="28" name="TextBox 28"/>
          <p:cNvSpPr/>
          <p:nvPr/>
        </p:nvSpPr>
        <p:spPr>
          <a:xfrm>
            <a:off x="5349240" y="3136392"/>
            <a:ext cx="1773936" cy="566928"/>
          </a:xfrm>
          <a:prstGeom prst="rect">
            <a:avLst/>
          </a:prstGeom>
          <a:noFill/>
          <a:ln>
            <a:noFill/>
          </a:ln>
        </p:spPr>
        <p:txBody>
          <a:bodyPr wrap="square" lIns="0" tIns="0" rIns="0" bIns="0" rtlCol="0" anchor="ctr">
            <a:noAutofit/>
          </a:bodyPr>
          <a:lstStyle/>
          <a:p>
            <a:pPr marL="0" indent="0" algn="l">
              <a:spcBef>
                <a:spcPts val="0"/>
              </a:spcBef>
              <a:buNone/>
            </a:pPr>
            <a:r>
              <a:rPr lang="uz-Latn-UZ" sz="1450" b="1" i="0" dirty="0">
                <a:solidFill>
                  <a:srgbClr val="14213D"/>
                </a:solidFill>
                <a:latin typeface="Arial"/>
                <a:cs typeface="Arial"/>
              </a:rPr>
              <a:t>OECD</a:t>
            </a:r>
            <a:endParaRPr lang="uz-Latn-UZ" sz="1450" b="1" i="0" dirty="0">
              <a:solidFill>
                <a:srgbClr val="14213D"/>
              </a:solidFill>
              <a:latin typeface="Arial"/>
              <a:cs typeface="Arial"/>
            </a:endParaRPr>
          </a:p>
        </p:txBody>
      </p:sp>
      <p:sp>
        <p:nvSpPr>
          <p:cNvPr id="29" name="TextBox 29"/>
          <p:cNvSpPr/>
          <p:nvPr/>
        </p:nvSpPr>
        <p:spPr>
          <a:xfrm>
            <a:off x="5349240" y="3685032"/>
            <a:ext cx="1773936" cy="274320"/>
          </a:xfrm>
          <a:prstGeom prst="rect">
            <a:avLst/>
          </a:prstGeom>
          <a:noFill/>
          <a:ln>
            <a:noFill/>
          </a:ln>
        </p:spPr>
        <p:txBody>
          <a:bodyPr wrap="square" lIns="0" tIns="0" rIns="0" bIns="0" rtlCol="0" anchor="ctr">
            <a:noAutofit/>
          </a:bodyPr>
          <a:lstStyle/>
          <a:p>
            <a:pPr marL="0" indent="0" algn="l">
              <a:spcBef>
                <a:spcPts val="0"/>
              </a:spcBef>
              <a:buNone/>
            </a:pPr>
            <a:r>
              <a:rPr lang="uz-Latn-UZ" sz="1300" b="1" i="0" dirty="0">
                <a:solidFill>
                  <a:srgbClr val="C8102E"/>
                </a:solidFill>
                <a:latin typeface="Arial"/>
                <a:cs typeface="Arial"/>
              </a:rPr>
              <a:t>1961</a:t>
            </a:r>
            <a:endParaRPr lang="uz-Latn-UZ" sz="1300" b="1" i="0" dirty="0">
              <a:solidFill>
                <a:srgbClr val="C8102E"/>
              </a:solidFill>
              <a:latin typeface="Arial"/>
              <a:cs typeface="Arial"/>
            </a:endParaRPr>
          </a:p>
        </p:txBody>
      </p:sp>
      <p:sp>
        <p:nvSpPr>
          <p:cNvPr id="30" name="Shape 30"/>
          <p:cNvSpPr/>
          <p:nvPr/>
        </p:nvSpPr>
        <p:spPr>
          <a:xfrm>
            <a:off x="7370064" y="3081528"/>
            <a:ext cx="2066544" cy="932688"/>
          </a:xfrm>
          <a:prstGeom prst="rect">
            <a:avLst/>
          </a:prstGeom>
          <a:solidFill>
            <a:srgbClr val="F1F3F6"/>
          </a:solidFill>
          <a:ln>
            <a:noFill/>
          </a:ln>
        </p:spPr>
      </p:sp>
      <p:sp>
        <p:nvSpPr>
          <p:cNvPr id="31" name="Shape 31"/>
          <p:cNvSpPr/>
          <p:nvPr/>
        </p:nvSpPr>
        <p:spPr>
          <a:xfrm>
            <a:off x="7370064" y="3081528"/>
            <a:ext cx="64008" cy="932688"/>
          </a:xfrm>
          <a:prstGeom prst="rect">
            <a:avLst/>
          </a:prstGeom>
          <a:solidFill>
            <a:srgbClr val="C8102E"/>
          </a:solidFill>
          <a:ln>
            <a:noFill/>
          </a:ln>
        </p:spPr>
      </p:sp>
      <p:sp>
        <p:nvSpPr>
          <p:cNvPr id="32" name="TextBox 32"/>
          <p:cNvSpPr/>
          <p:nvPr/>
        </p:nvSpPr>
        <p:spPr>
          <a:xfrm>
            <a:off x="7552944" y="3136392"/>
            <a:ext cx="1773936" cy="566928"/>
          </a:xfrm>
          <a:prstGeom prst="rect">
            <a:avLst/>
          </a:prstGeom>
          <a:noFill/>
          <a:ln>
            <a:noFill/>
          </a:ln>
        </p:spPr>
        <p:txBody>
          <a:bodyPr wrap="square" lIns="0" tIns="0" rIns="0" bIns="0" rtlCol="0" anchor="ctr">
            <a:noAutofit/>
          </a:bodyPr>
          <a:lstStyle/>
          <a:p>
            <a:pPr marL="0" indent="0" algn="l">
              <a:spcBef>
                <a:spcPts val="0"/>
              </a:spcBef>
              <a:buNone/>
            </a:pPr>
            <a:r>
              <a:rPr lang="uz-Latn-UZ" sz="1450" b="1" i="0" dirty="0">
                <a:solidFill>
                  <a:srgbClr val="14213D"/>
                </a:solidFill>
                <a:latin typeface="Arial"/>
                <a:cs typeface="Arial"/>
              </a:rPr>
              <a:t>Islom hamkorlik tashkiloti</a:t>
            </a:r>
            <a:endParaRPr lang="uz-Latn-UZ" sz="1450" b="1" i="0" dirty="0">
              <a:solidFill>
                <a:srgbClr val="14213D"/>
              </a:solidFill>
              <a:latin typeface="Arial"/>
              <a:cs typeface="Arial"/>
            </a:endParaRPr>
          </a:p>
        </p:txBody>
      </p:sp>
      <p:sp>
        <p:nvSpPr>
          <p:cNvPr id="33" name="TextBox 33"/>
          <p:cNvSpPr/>
          <p:nvPr/>
        </p:nvSpPr>
        <p:spPr>
          <a:xfrm>
            <a:off x="7552944" y="3685032"/>
            <a:ext cx="1773936" cy="274320"/>
          </a:xfrm>
          <a:prstGeom prst="rect">
            <a:avLst/>
          </a:prstGeom>
          <a:noFill/>
          <a:ln>
            <a:noFill/>
          </a:ln>
        </p:spPr>
        <p:txBody>
          <a:bodyPr wrap="square" lIns="0" tIns="0" rIns="0" bIns="0" rtlCol="0" anchor="ctr">
            <a:noAutofit/>
          </a:bodyPr>
          <a:lstStyle/>
          <a:p>
            <a:pPr marL="0" indent="0" algn="l">
              <a:spcBef>
                <a:spcPts val="0"/>
              </a:spcBef>
              <a:buNone/>
            </a:pPr>
            <a:r>
              <a:rPr lang="uz-Latn-UZ" sz="1300" b="1" i="0" dirty="0">
                <a:solidFill>
                  <a:srgbClr val="C8102E"/>
                </a:solidFill>
                <a:latin typeface="Arial"/>
                <a:cs typeface="Arial"/>
              </a:rPr>
              <a:t>1969</a:t>
            </a:r>
            <a:endParaRPr lang="uz-Latn-UZ" sz="1300" b="1" i="0" dirty="0">
              <a:solidFill>
                <a:srgbClr val="C8102E"/>
              </a:solidFill>
              <a:latin typeface="Arial"/>
              <a:cs typeface="Arial"/>
            </a:endParaRPr>
          </a:p>
        </p:txBody>
      </p:sp>
      <p:sp>
        <p:nvSpPr>
          <p:cNvPr id="34" name="Shape 34"/>
          <p:cNvSpPr/>
          <p:nvPr/>
        </p:nvSpPr>
        <p:spPr>
          <a:xfrm>
            <a:off x="9573768" y="3081528"/>
            <a:ext cx="2066544" cy="932688"/>
          </a:xfrm>
          <a:prstGeom prst="rect">
            <a:avLst/>
          </a:prstGeom>
          <a:solidFill>
            <a:srgbClr val="F1F3F6"/>
          </a:solidFill>
          <a:ln>
            <a:noFill/>
          </a:ln>
        </p:spPr>
      </p:sp>
      <p:sp>
        <p:nvSpPr>
          <p:cNvPr id="35" name="Shape 35"/>
          <p:cNvSpPr/>
          <p:nvPr/>
        </p:nvSpPr>
        <p:spPr>
          <a:xfrm>
            <a:off x="9573768" y="3081528"/>
            <a:ext cx="64008" cy="932688"/>
          </a:xfrm>
          <a:prstGeom prst="rect">
            <a:avLst/>
          </a:prstGeom>
          <a:solidFill>
            <a:srgbClr val="C8102E"/>
          </a:solidFill>
          <a:ln>
            <a:noFill/>
          </a:ln>
        </p:spPr>
      </p:sp>
      <p:sp>
        <p:nvSpPr>
          <p:cNvPr id="36" name="TextBox 36"/>
          <p:cNvSpPr/>
          <p:nvPr/>
        </p:nvSpPr>
        <p:spPr>
          <a:xfrm>
            <a:off x="9756648" y="3136392"/>
            <a:ext cx="1773936" cy="566928"/>
          </a:xfrm>
          <a:prstGeom prst="rect">
            <a:avLst/>
          </a:prstGeom>
          <a:noFill/>
          <a:ln>
            <a:noFill/>
          </a:ln>
        </p:spPr>
        <p:txBody>
          <a:bodyPr wrap="square" lIns="0" tIns="0" rIns="0" bIns="0" rtlCol="0" anchor="ctr">
            <a:noAutofit/>
          </a:bodyPr>
          <a:lstStyle/>
          <a:p>
            <a:pPr marL="0" indent="0" algn="l">
              <a:spcBef>
                <a:spcPts val="0"/>
              </a:spcBef>
              <a:buNone/>
            </a:pPr>
            <a:r>
              <a:rPr lang="uz-Latn-UZ" sz="1450" b="1" i="0" dirty="0">
                <a:solidFill>
                  <a:srgbClr val="14213D"/>
                </a:solidFill>
                <a:latin typeface="Arial"/>
                <a:cs typeface="Arial"/>
              </a:rPr>
              <a:t>YeXHT (Helsinki)</a:t>
            </a:r>
            <a:endParaRPr lang="uz-Latn-UZ" sz="1450" b="1" i="0" dirty="0">
              <a:solidFill>
                <a:srgbClr val="14213D"/>
              </a:solidFill>
              <a:latin typeface="Arial"/>
              <a:cs typeface="Arial"/>
            </a:endParaRPr>
          </a:p>
        </p:txBody>
      </p:sp>
      <p:sp>
        <p:nvSpPr>
          <p:cNvPr id="37" name="TextBox 37"/>
          <p:cNvSpPr/>
          <p:nvPr/>
        </p:nvSpPr>
        <p:spPr>
          <a:xfrm>
            <a:off x="9756648" y="3685032"/>
            <a:ext cx="1773936" cy="274320"/>
          </a:xfrm>
          <a:prstGeom prst="rect">
            <a:avLst/>
          </a:prstGeom>
          <a:noFill/>
          <a:ln>
            <a:noFill/>
          </a:ln>
        </p:spPr>
        <p:txBody>
          <a:bodyPr wrap="square" lIns="0" tIns="0" rIns="0" bIns="0" rtlCol="0" anchor="ctr">
            <a:noAutofit/>
          </a:bodyPr>
          <a:lstStyle/>
          <a:p>
            <a:pPr marL="0" indent="0" algn="l">
              <a:spcBef>
                <a:spcPts val="0"/>
              </a:spcBef>
              <a:buNone/>
            </a:pPr>
            <a:r>
              <a:rPr lang="uz-Latn-UZ" sz="1300" b="1" i="0" dirty="0">
                <a:solidFill>
                  <a:srgbClr val="C8102E"/>
                </a:solidFill>
                <a:latin typeface="Arial"/>
                <a:cs typeface="Arial"/>
              </a:rPr>
              <a:t>1975</a:t>
            </a:r>
            <a:endParaRPr lang="uz-Latn-UZ" sz="1300" b="1" i="0" dirty="0">
              <a:solidFill>
                <a:srgbClr val="C8102E"/>
              </a:solidFill>
              <a:latin typeface="Arial"/>
              <a:cs typeface="Arial"/>
            </a:endParaRPr>
          </a:p>
        </p:txBody>
      </p:sp>
      <p:sp>
        <p:nvSpPr>
          <p:cNvPr id="38" name="Shape 38"/>
          <p:cNvSpPr/>
          <p:nvPr/>
        </p:nvSpPr>
        <p:spPr>
          <a:xfrm>
            <a:off x="5166360" y="4151376"/>
            <a:ext cx="2066544" cy="932688"/>
          </a:xfrm>
          <a:prstGeom prst="rect">
            <a:avLst/>
          </a:prstGeom>
          <a:solidFill>
            <a:srgbClr val="F1F3F6"/>
          </a:solidFill>
          <a:ln>
            <a:noFill/>
          </a:ln>
        </p:spPr>
      </p:sp>
      <p:sp>
        <p:nvSpPr>
          <p:cNvPr id="39" name="Shape 39"/>
          <p:cNvSpPr/>
          <p:nvPr/>
        </p:nvSpPr>
        <p:spPr>
          <a:xfrm>
            <a:off x="5166360" y="4151376"/>
            <a:ext cx="64008" cy="932688"/>
          </a:xfrm>
          <a:prstGeom prst="rect">
            <a:avLst/>
          </a:prstGeom>
          <a:solidFill>
            <a:srgbClr val="14213D"/>
          </a:solidFill>
          <a:ln>
            <a:noFill/>
          </a:ln>
        </p:spPr>
      </p:sp>
      <p:sp>
        <p:nvSpPr>
          <p:cNvPr id="40" name="TextBox 40"/>
          <p:cNvSpPr/>
          <p:nvPr/>
        </p:nvSpPr>
        <p:spPr>
          <a:xfrm>
            <a:off x="5349240" y="4206240"/>
            <a:ext cx="1773936" cy="566928"/>
          </a:xfrm>
          <a:prstGeom prst="rect">
            <a:avLst/>
          </a:prstGeom>
          <a:noFill/>
          <a:ln>
            <a:noFill/>
          </a:ln>
        </p:spPr>
        <p:txBody>
          <a:bodyPr wrap="square" lIns="0" tIns="0" rIns="0" bIns="0" rtlCol="0" anchor="ctr">
            <a:noAutofit/>
          </a:bodyPr>
          <a:lstStyle/>
          <a:p>
            <a:pPr marL="0" indent="0" algn="l">
              <a:spcBef>
                <a:spcPts val="0"/>
              </a:spcBef>
              <a:buNone/>
            </a:pPr>
            <a:r>
              <a:rPr lang="uz-Latn-UZ" sz="1450" b="1" i="0" dirty="0">
                <a:solidFill>
                  <a:srgbClr val="14213D"/>
                </a:solidFill>
                <a:latin typeface="Arial"/>
                <a:cs typeface="Arial"/>
              </a:rPr>
              <a:t>Iqtisodiy hamkorlik (ECO)</a:t>
            </a:r>
            <a:endParaRPr lang="uz-Latn-UZ" sz="1450" b="1" i="0" dirty="0">
              <a:solidFill>
                <a:srgbClr val="14213D"/>
              </a:solidFill>
              <a:latin typeface="Arial"/>
              <a:cs typeface="Arial"/>
            </a:endParaRPr>
          </a:p>
        </p:txBody>
      </p:sp>
      <p:sp>
        <p:nvSpPr>
          <p:cNvPr id="41" name="TextBox 41"/>
          <p:cNvSpPr/>
          <p:nvPr/>
        </p:nvSpPr>
        <p:spPr>
          <a:xfrm>
            <a:off x="5349240" y="4754880"/>
            <a:ext cx="1773936" cy="274320"/>
          </a:xfrm>
          <a:prstGeom prst="rect">
            <a:avLst/>
          </a:prstGeom>
          <a:noFill/>
          <a:ln>
            <a:noFill/>
          </a:ln>
        </p:spPr>
        <p:txBody>
          <a:bodyPr wrap="square" lIns="0" tIns="0" rIns="0" bIns="0" rtlCol="0" anchor="ctr">
            <a:noAutofit/>
          </a:bodyPr>
          <a:lstStyle/>
          <a:p>
            <a:pPr marL="0" indent="0" algn="l">
              <a:spcBef>
                <a:spcPts val="0"/>
              </a:spcBef>
              <a:buNone/>
            </a:pPr>
            <a:r>
              <a:rPr lang="uz-Latn-UZ" sz="1300" b="1" i="0" dirty="0">
                <a:solidFill>
                  <a:srgbClr val="C8102E"/>
                </a:solidFill>
                <a:latin typeface="Arial"/>
                <a:cs typeface="Arial"/>
              </a:rPr>
              <a:t>1985</a:t>
            </a:r>
            <a:endParaRPr lang="uz-Latn-UZ" sz="1300" b="1" i="0" dirty="0">
              <a:solidFill>
                <a:srgbClr val="C8102E"/>
              </a:solidFill>
              <a:latin typeface="Arial"/>
              <a:cs typeface="Arial"/>
            </a:endParaRPr>
          </a:p>
        </p:txBody>
      </p:sp>
      <p:sp>
        <p:nvSpPr>
          <p:cNvPr id="42" name="Shape 42"/>
          <p:cNvSpPr/>
          <p:nvPr/>
        </p:nvSpPr>
        <p:spPr>
          <a:xfrm>
            <a:off x="7370064" y="4151376"/>
            <a:ext cx="2066544" cy="932688"/>
          </a:xfrm>
          <a:prstGeom prst="rect">
            <a:avLst/>
          </a:prstGeom>
          <a:solidFill>
            <a:srgbClr val="F1F3F6"/>
          </a:solidFill>
          <a:ln>
            <a:noFill/>
          </a:ln>
        </p:spPr>
      </p:sp>
      <p:sp>
        <p:nvSpPr>
          <p:cNvPr id="43" name="Shape 43"/>
          <p:cNvSpPr/>
          <p:nvPr/>
        </p:nvSpPr>
        <p:spPr>
          <a:xfrm>
            <a:off x="7370064" y="4151376"/>
            <a:ext cx="64008" cy="932688"/>
          </a:xfrm>
          <a:prstGeom prst="rect">
            <a:avLst/>
          </a:prstGeom>
          <a:solidFill>
            <a:srgbClr val="14213D"/>
          </a:solidFill>
          <a:ln>
            <a:noFill/>
          </a:ln>
        </p:spPr>
      </p:sp>
      <p:sp>
        <p:nvSpPr>
          <p:cNvPr id="44" name="TextBox 44"/>
          <p:cNvSpPr/>
          <p:nvPr/>
        </p:nvSpPr>
        <p:spPr>
          <a:xfrm>
            <a:off x="7552944" y="4206240"/>
            <a:ext cx="1773936" cy="566928"/>
          </a:xfrm>
          <a:prstGeom prst="rect">
            <a:avLst/>
          </a:prstGeom>
          <a:noFill/>
          <a:ln>
            <a:noFill/>
          </a:ln>
        </p:spPr>
        <p:txBody>
          <a:bodyPr wrap="square" lIns="0" tIns="0" rIns="0" bIns="0" rtlCol="0" anchor="ctr">
            <a:noAutofit/>
          </a:bodyPr>
          <a:lstStyle/>
          <a:p>
            <a:pPr marL="0" indent="0" algn="l">
              <a:spcBef>
                <a:spcPts val="0"/>
              </a:spcBef>
              <a:buNone/>
            </a:pPr>
            <a:r>
              <a:rPr lang="uz-Latn-UZ" sz="1450" b="1" i="0" dirty="0">
                <a:solidFill>
                  <a:srgbClr val="14213D"/>
                </a:solidFill>
                <a:latin typeface="Arial"/>
                <a:cs typeface="Arial"/>
              </a:rPr>
              <a:t>Qora dengiz hamkorligi</a:t>
            </a:r>
            <a:endParaRPr lang="uz-Latn-UZ" sz="1450" b="1" i="0" dirty="0">
              <a:solidFill>
                <a:srgbClr val="14213D"/>
              </a:solidFill>
              <a:latin typeface="Arial"/>
              <a:cs typeface="Arial"/>
            </a:endParaRPr>
          </a:p>
        </p:txBody>
      </p:sp>
      <p:sp>
        <p:nvSpPr>
          <p:cNvPr id="45" name="TextBox 45"/>
          <p:cNvSpPr/>
          <p:nvPr/>
        </p:nvSpPr>
        <p:spPr>
          <a:xfrm>
            <a:off x="7552944" y="4754880"/>
            <a:ext cx="1773936" cy="274320"/>
          </a:xfrm>
          <a:prstGeom prst="rect">
            <a:avLst/>
          </a:prstGeom>
          <a:noFill/>
          <a:ln>
            <a:noFill/>
          </a:ln>
        </p:spPr>
        <p:txBody>
          <a:bodyPr wrap="square" lIns="0" tIns="0" rIns="0" bIns="0" rtlCol="0" anchor="ctr">
            <a:noAutofit/>
          </a:bodyPr>
          <a:lstStyle/>
          <a:p>
            <a:pPr marL="0" indent="0" algn="l">
              <a:spcBef>
                <a:spcPts val="0"/>
              </a:spcBef>
              <a:buNone/>
            </a:pPr>
            <a:r>
              <a:rPr lang="uz-Latn-UZ" sz="1300" b="1" i="0" dirty="0">
                <a:solidFill>
                  <a:srgbClr val="C8102E"/>
                </a:solidFill>
                <a:latin typeface="Arial"/>
                <a:cs typeface="Arial"/>
              </a:rPr>
              <a:t>1992</a:t>
            </a:r>
            <a:endParaRPr lang="uz-Latn-UZ" sz="1300" b="1" i="0" dirty="0">
              <a:solidFill>
                <a:srgbClr val="C8102E"/>
              </a:solidFill>
              <a:latin typeface="Arial"/>
              <a:cs typeface="Arial"/>
            </a:endParaRPr>
          </a:p>
        </p:txBody>
      </p:sp>
      <p:sp>
        <p:nvSpPr>
          <p:cNvPr id="46" name="Shape 46"/>
          <p:cNvSpPr/>
          <p:nvPr/>
        </p:nvSpPr>
        <p:spPr>
          <a:xfrm>
            <a:off x="9573768" y="4151376"/>
            <a:ext cx="2066544" cy="932688"/>
          </a:xfrm>
          <a:prstGeom prst="rect">
            <a:avLst/>
          </a:prstGeom>
          <a:solidFill>
            <a:srgbClr val="F1F3F6"/>
          </a:solidFill>
          <a:ln>
            <a:noFill/>
          </a:ln>
        </p:spPr>
      </p:sp>
      <p:sp>
        <p:nvSpPr>
          <p:cNvPr id="47" name="Shape 47"/>
          <p:cNvSpPr/>
          <p:nvPr/>
        </p:nvSpPr>
        <p:spPr>
          <a:xfrm>
            <a:off x="9573768" y="4151376"/>
            <a:ext cx="64008" cy="932688"/>
          </a:xfrm>
          <a:prstGeom prst="rect">
            <a:avLst/>
          </a:prstGeom>
          <a:solidFill>
            <a:srgbClr val="14213D"/>
          </a:solidFill>
          <a:ln>
            <a:noFill/>
          </a:ln>
        </p:spPr>
      </p:sp>
      <p:sp>
        <p:nvSpPr>
          <p:cNvPr id="48" name="TextBox 48"/>
          <p:cNvSpPr/>
          <p:nvPr/>
        </p:nvSpPr>
        <p:spPr>
          <a:xfrm>
            <a:off x="9756648" y="4206240"/>
            <a:ext cx="1773936" cy="566928"/>
          </a:xfrm>
          <a:prstGeom prst="rect">
            <a:avLst/>
          </a:prstGeom>
          <a:noFill/>
          <a:ln>
            <a:noFill/>
          </a:ln>
        </p:spPr>
        <p:txBody>
          <a:bodyPr wrap="square" lIns="0" tIns="0" rIns="0" bIns="0" rtlCol="0" anchor="ctr">
            <a:noAutofit/>
          </a:bodyPr>
          <a:lstStyle/>
          <a:p>
            <a:pPr marL="0" indent="0" algn="l">
              <a:spcBef>
                <a:spcPts val="0"/>
              </a:spcBef>
              <a:buNone/>
            </a:pPr>
            <a:r>
              <a:rPr lang="uz-Latn-UZ" sz="1450" b="1" i="0" dirty="0">
                <a:solidFill>
                  <a:srgbClr val="14213D"/>
                </a:solidFill>
                <a:latin typeface="Arial"/>
                <a:cs typeface="Arial"/>
              </a:rPr>
              <a:t>D-8</a:t>
            </a:r>
            <a:endParaRPr lang="uz-Latn-UZ" sz="1450" b="1" i="0" dirty="0">
              <a:solidFill>
                <a:srgbClr val="14213D"/>
              </a:solidFill>
              <a:latin typeface="Arial"/>
              <a:cs typeface="Arial"/>
            </a:endParaRPr>
          </a:p>
        </p:txBody>
      </p:sp>
      <p:sp>
        <p:nvSpPr>
          <p:cNvPr id="49" name="TextBox 49"/>
          <p:cNvSpPr/>
          <p:nvPr/>
        </p:nvSpPr>
        <p:spPr>
          <a:xfrm>
            <a:off x="9756648" y="4754880"/>
            <a:ext cx="1773936" cy="274320"/>
          </a:xfrm>
          <a:prstGeom prst="rect">
            <a:avLst/>
          </a:prstGeom>
          <a:noFill/>
          <a:ln>
            <a:noFill/>
          </a:ln>
        </p:spPr>
        <p:txBody>
          <a:bodyPr wrap="square" lIns="0" tIns="0" rIns="0" bIns="0" rtlCol="0" anchor="ctr">
            <a:noAutofit/>
          </a:bodyPr>
          <a:lstStyle/>
          <a:p>
            <a:pPr marL="0" indent="0" algn="l">
              <a:spcBef>
                <a:spcPts val="0"/>
              </a:spcBef>
              <a:buNone/>
            </a:pPr>
            <a:r>
              <a:rPr lang="uz-Latn-UZ" sz="1300" b="1" i="0" dirty="0">
                <a:solidFill>
                  <a:srgbClr val="C8102E"/>
                </a:solidFill>
                <a:latin typeface="Arial"/>
                <a:cs typeface="Arial"/>
              </a:rPr>
              <a:t>1997</a:t>
            </a:r>
            <a:endParaRPr lang="uz-Latn-UZ" sz="1300" b="1" i="0" dirty="0">
              <a:solidFill>
                <a:srgbClr val="C8102E"/>
              </a:solidFill>
              <a:latin typeface="Arial"/>
              <a:cs typeface="Arial"/>
            </a:endParaRPr>
          </a:p>
        </p:txBody>
      </p:sp>
      <p:sp>
        <p:nvSpPr>
          <p:cNvPr id="50" name="Shape 50"/>
          <p:cNvSpPr/>
          <p:nvPr/>
        </p:nvSpPr>
        <p:spPr>
          <a:xfrm>
            <a:off x="5166360" y="5221224"/>
            <a:ext cx="2066544" cy="932688"/>
          </a:xfrm>
          <a:prstGeom prst="rect">
            <a:avLst/>
          </a:prstGeom>
          <a:solidFill>
            <a:srgbClr val="F1F3F6"/>
          </a:solidFill>
          <a:ln>
            <a:noFill/>
          </a:ln>
        </p:spPr>
      </p:sp>
      <p:sp>
        <p:nvSpPr>
          <p:cNvPr id="51" name="Shape 51"/>
          <p:cNvSpPr/>
          <p:nvPr/>
        </p:nvSpPr>
        <p:spPr>
          <a:xfrm>
            <a:off x="5166360" y="5221224"/>
            <a:ext cx="64008" cy="932688"/>
          </a:xfrm>
          <a:prstGeom prst="rect">
            <a:avLst/>
          </a:prstGeom>
          <a:solidFill>
            <a:srgbClr val="C8102E"/>
          </a:solidFill>
          <a:ln>
            <a:noFill/>
          </a:ln>
        </p:spPr>
      </p:sp>
      <p:sp>
        <p:nvSpPr>
          <p:cNvPr id="52" name="TextBox 52"/>
          <p:cNvSpPr/>
          <p:nvPr/>
        </p:nvSpPr>
        <p:spPr>
          <a:xfrm>
            <a:off x="5349240" y="5276088"/>
            <a:ext cx="1773936" cy="566928"/>
          </a:xfrm>
          <a:prstGeom prst="rect">
            <a:avLst/>
          </a:prstGeom>
          <a:noFill/>
          <a:ln>
            <a:noFill/>
          </a:ln>
        </p:spPr>
        <p:txBody>
          <a:bodyPr wrap="square" lIns="0" tIns="0" rIns="0" bIns="0" rtlCol="0" anchor="ctr">
            <a:noAutofit/>
          </a:bodyPr>
          <a:lstStyle/>
          <a:p>
            <a:pPr marL="0" indent="0" algn="l">
              <a:spcBef>
                <a:spcPts val="0"/>
              </a:spcBef>
              <a:buNone/>
            </a:pPr>
            <a:r>
              <a:rPr lang="uz-Latn-UZ" sz="1450" b="1" i="0" dirty="0">
                <a:solidFill>
                  <a:srgbClr val="14213D"/>
                </a:solidFill>
                <a:latin typeface="Arial"/>
                <a:cs typeface="Arial"/>
              </a:rPr>
              <a:t>G20</a:t>
            </a:r>
            <a:endParaRPr lang="uz-Latn-UZ" sz="1450" b="1" i="0" dirty="0">
              <a:solidFill>
                <a:srgbClr val="14213D"/>
              </a:solidFill>
              <a:latin typeface="Arial"/>
              <a:cs typeface="Arial"/>
            </a:endParaRPr>
          </a:p>
        </p:txBody>
      </p:sp>
      <p:sp>
        <p:nvSpPr>
          <p:cNvPr id="53" name="TextBox 53"/>
          <p:cNvSpPr/>
          <p:nvPr/>
        </p:nvSpPr>
        <p:spPr>
          <a:xfrm>
            <a:off x="5349240" y="5824728"/>
            <a:ext cx="1773936" cy="274320"/>
          </a:xfrm>
          <a:prstGeom prst="rect">
            <a:avLst/>
          </a:prstGeom>
          <a:noFill/>
          <a:ln>
            <a:noFill/>
          </a:ln>
        </p:spPr>
        <p:txBody>
          <a:bodyPr wrap="square" lIns="0" tIns="0" rIns="0" bIns="0" rtlCol="0" anchor="ctr">
            <a:noAutofit/>
          </a:bodyPr>
          <a:lstStyle/>
          <a:p>
            <a:pPr marL="0" indent="0" algn="l">
              <a:spcBef>
                <a:spcPts val="0"/>
              </a:spcBef>
              <a:buNone/>
            </a:pPr>
            <a:r>
              <a:rPr lang="uz-Latn-UZ" sz="1300" b="1" i="0" dirty="0">
                <a:solidFill>
                  <a:srgbClr val="C8102E"/>
                </a:solidFill>
                <a:latin typeface="Arial"/>
                <a:cs typeface="Arial"/>
              </a:rPr>
              <a:t>1999</a:t>
            </a:r>
            <a:endParaRPr lang="uz-Latn-UZ" sz="1300" b="1" i="0" dirty="0">
              <a:solidFill>
                <a:srgbClr val="C8102E"/>
              </a:solidFill>
              <a:latin typeface="Arial"/>
              <a:cs typeface="Arial"/>
            </a:endParaRPr>
          </a:p>
        </p:txBody>
      </p:sp>
      <p:sp>
        <p:nvSpPr>
          <p:cNvPr id="54" name="Shape 54"/>
          <p:cNvSpPr/>
          <p:nvPr/>
        </p:nvSpPr>
        <p:spPr>
          <a:xfrm>
            <a:off x="7370064" y="5221224"/>
            <a:ext cx="2066544" cy="932688"/>
          </a:xfrm>
          <a:prstGeom prst="rect">
            <a:avLst/>
          </a:prstGeom>
          <a:solidFill>
            <a:srgbClr val="F1F3F6"/>
          </a:solidFill>
          <a:ln>
            <a:noFill/>
          </a:ln>
        </p:spPr>
      </p:sp>
      <p:sp>
        <p:nvSpPr>
          <p:cNvPr id="55" name="Shape 55"/>
          <p:cNvSpPr/>
          <p:nvPr/>
        </p:nvSpPr>
        <p:spPr>
          <a:xfrm>
            <a:off x="7370064" y="5221224"/>
            <a:ext cx="64008" cy="932688"/>
          </a:xfrm>
          <a:prstGeom prst="rect">
            <a:avLst/>
          </a:prstGeom>
          <a:solidFill>
            <a:srgbClr val="C8102E"/>
          </a:solidFill>
          <a:ln>
            <a:noFill/>
          </a:ln>
        </p:spPr>
      </p:sp>
      <p:sp>
        <p:nvSpPr>
          <p:cNvPr id="56" name="TextBox 56"/>
          <p:cNvSpPr/>
          <p:nvPr/>
        </p:nvSpPr>
        <p:spPr>
          <a:xfrm>
            <a:off x="7552944" y="5276088"/>
            <a:ext cx="1773936" cy="566928"/>
          </a:xfrm>
          <a:prstGeom prst="rect">
            <a:avLst/>
          </a:prstGeom>
          <a:noFill/>
          <a:ln>
            <a:noFill/>
          </a:ln>
        </p:spPr>
        <p:txBody>
          <a:bodyPr wrap="square" lIns="0" tIns="0" rIns="0" bIns="0" rtlCol="0" anchor="ctr">
            <a:noAutofit/>
          </a:bodyPr>
          <a:lstStyle/>
          <a:p>
            <a:pPr marL="0" indent="0" algn="l">
              <a:spcBef>
                <a:spcPts val="0"/>
              </a:spcBef>
              <a:buNone/>
            </a:pPr>
            <a:r>
              <a:rPr lang="uz-Latn-UZ" sz="1450" b="1" i="0" dirty="0">
                <a:solidFill>
                  <a:srgbClr val="14213D"/>
                </a:solidFill>
                <a:latin typeface="Arial"/>
                <a:cs typeface="Arial"/>
              </a:rPr>
              <a:t>Turkiy davlatlar tashkiloti</a:t>
            </a:r>
            <a:endParaRPr lang="uz-Latn-UZ" sz="1450" b="1" i="0" dirty="0">
              <a:solidFill>
                <a:srgbClr val="14213D"/>
              </a:solidFill>
              <a:latin typeface="Arial"/>
              <a:cs typeface="Arial"/>
            </a:endParaRPr>
          </a:p>
        </p:txBody>
      </p:sp>
      <p:sp>
        <p:nvSpPr>
          <p:cNvPr id="57" name="TextBox 57"/>
          <p:cNvSpPr/>
          <p:nvPr/>
        </p:nvSpPr>
        <p:spPr>
          <a:xfrm>
            <a:off x="7552944" y="5824728"/>
            <a:ext cx="1773936" cy="274320"/>
          </a:xfrm>
          <a:prstGeom prst="rect">
            <a:avLst/>
          </a:prstGeom>
          <a:noFill/>
          <a:ln>
            <a:noFill/>
          </a:ln>
        </p:spPr>
        <p:txBody>
          <a:bodyPr wrap="square" lIns="0" tIns="0" rIns="0" bIns="0" rtlCol="0" anchor="ctr">
            <a:noAutofit/>
          </a:bodyPr>
          <a:lstStyle/>
          <a:p>
            <a:pPr marL="0" indent="0" algn="l">
              <a:spcBef>
                <a:spcPts val="0"/>
              </a:spcBef>
              <a:buNone/>
            </a:pPr>
            <a:r>
              <a:rPr lang="uz-Latn-UZ" sz="1300" b="1" i="0" dirty="0">
                <a:solidFill>
                  <a:srgbClr val="C8102E"/>
                </a:solidFill>
                <a:latin typeface="Arial"/>
                <a:cs typeface="Arial"/>
              </a:rPr>
              <a:t>2009</a:t>
            </a:r>
            <a:endParaRPr lang="uz-Latn-UZ" sz="1300" b="1" i="0" dirty="0">
              <a:solidFill>
                <a:srgbClr val="C8102E"/>
              </a:solidFill>
              <a:latin typeface="Arial"/>
              <a:cs typeface="Arial"/>
            </a:endParaRPr>
          </a:p>
        </p:txBody>
      </p:sp>
      <p:sp>
        <p:nvSpPr>
          <p:cNvPr id="58" name="Shape 58"/>
          <p:cNvSpPr/>
          <p:nvPr/>
        </p:nvSpPr>
        <p:spPr>
          <a:xfrm>
            <a:off x="9573768" y="5221224"/>
            <a:ext cx="2066544" cy="932688"/>
          </a:xfrm>
          <a:prstGeom prst="rect">
            <a:avLst/>
          </a:prstGeom>
          <a:solidFill>
            <a:srgbClr val="F1F3F6"/>
          </a:solidFill>
          <a:ln>
            <a:noFill/>
          </a:ln>
        </p:spPr>
      </p:sp>
      <p:sp>
        <p:nvSpPr>
          <p:cNvPr id="59" name="Shape 59"/>
          <p:cNvSpPr/>
          <p:nvPr/>
        </p:nvSpPr>
        <p:spPr>
          <a:xfrm>
            <a:off x="9573768" y="5221224"/>
            <a:ext cx="64008" cy="932688"/>
          </a:xfrm>
          <a:prstGeom prst="rect">
            <a:avLst/>
          </a:prstGeom>
          <a:solidFill>
            <a:srgbClr val="C8102E"/>
          </a:solidFill>
          <a:ln>
            <a:noFill/>
          </a:ln>
        </p:spPr>
      </p:sp>
      <p:sp>
        <p:nvSpPr>
          <p:cNvPr id="60" name="TextBox 60"/>
          <p:cNvSpPr/>
          <p:nvPr/>
        </p:nvSpPr>
        <p:spPr>
          <a:xfrm>
            <a:off x="9756648" y="5276088"/>
            <a:ext cx="1773936" cy="566928"/>
          </a:xfrm>
          <a:prstGeom prst="rect">
            <a:avLst/>
          </a:prstGeom>
          <a:noFill/>
          <a:ln>
            <a:noFill/>
          </a:ln>
        </p:spPr>
        <p:txBody>
          <a:bodyPr wrap="square" lIns="0" tIns="0" rIns="0" bIns="0" rtlCol="0" anchor="ctr">
            <a:noAutofit/>
          </a:bodyPr>
          <a:lstStyle/>
          <a:p>
            <a:pPr marL="0" indent="0" algn="l">
              <a:spcBef>
                <a:spcPts val="0"/>
              </a:spcBef>
              <a:buNone/>
            </a:pPr>
            <a:r>
              <a:rPr lang="uz-Latn-UZ" sz="1450" b="1" i="0" dirty="0">
                <a:solidFill>
                  <a:srgbClr val="14213D"/>
                </a:solidFill>
                <a:latin typeface="Arial"/>
                <a:cs typeface="Arial"/>
              </a:rPr>
              <a:t>ShHT — muloqot sherigi</a:t>
            </a:r>
            <a:endParaRPr lang="uz-Latn-UZ" sz="1450" b="1" i="0" dirty="0">
              <a:solidFill>
                <a:srgbClr val="14213D"/>
              </a:solidFill>
              <a:latin typeface="Arial"/>
              <a:cs typeface="Arial"/>
            </a:endParaRPr>
          </a:p>
        </p:txBody>
      </p:sp>
      <p:sp>
        <p:nvSpPr>
          <p:cNvPr id="61" name="TextBox 61"/>
          <p:cNvSpPr/>
          <p:nvPr/>
        </p:nvSpPr>
        <p:spPr>
          <a:xfrm>
            <a:off x="9756648" y="5824728"/>
            <a:ext cx="1773936" cy="274320"/>
          </a:xfrm>
          <a:prstGeom prst="rect">
            <a:avLst/>
          </a:prstGeom>
          <a:noFill/>
          <a:ln>
            <a:noFill/>
          </a:ln>
        </p:spPr>
        <p:txBody>
          <a:bodyPr wrap="square" lIns="0" tIns="0" rIns="0" bIns="0" rtlCol="0" anchor="ctr">
            <a:noAutofit/>
          </a:bodyPr>
          <a:lstStyle/>
          <a:p>
            <a:pPr marL="0" indent="0" algn="l">
              <a:spcBef>
                <a:spcPts val="0"/>
              </a:spcBef>
              <a:buNone/>
            </a:pPr>
            <a:r>
              <a:rPr lang="uz-Latn-UZ" sz="1300" b="1" i="0" dirty="0">
                <a:solidFill>
                  <a:srgbClr val="C8102E"/>
                </a:solidFill>
                <a:latin typeface="Arial"/>
                <a:cs typeface="Arial"/>
              </a:rPr>
              <a:t>2012</a:t>
            </a:r>
            <a:endParaRPr lang="uz-Latn-UZ" sz="1300" b="1" i="0" dirty="0">
              <a:solidFill>
                <a:srgbClr val="C8102E"/>
              </a:solidFill>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2-QISM  •  DIPLOMATIK FAOLIYAT</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NATO va AQSh bilan munosabatlar</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2-ma’ruzachi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11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Shape 10"/>
          <p:cNvSpPr/>
          <p:nvPr/>
        </p:nvSpPr>
        <p:spPr>
          <a:xfrm>
            <a:off x="548640" y="1627632"/>
            <a:ext cx="3514344" cy="4526280"/>
          </a:xfrm>
          <a:prstGeom prst="rect">
            <a:avLst/>
          </a:prstGeom>
          <a:solidFill>
            <a:srgbClr val="F1F3F6"/>
          </a:solidFill>
          <a:ln>
            <a:noFill/>
          </a:ln>
        </p:spPr>
      </p:sp>
      <p:sp>
        <p:nvSpPr>
          <p:cNvPr id="11" name="Shape 11"/>
          <p:cNvSpPr/>
          <p:nvPr/>
        </p:nvSpPr>
        <p:spPr>
          <a:xfrm>
            <a:off x="548640" y="1627632"/>
            <a:ext cx="3514344" cy="73152"/>
          </a:xfrm>
          <a:prstGeom prst="rect">
            <a:avLst/>
          </a:prstGeom>
          <a:solidFill>
            <a:srgbClr val="C8102E"/>
          </a:solidFill>
          <a:ln>
            <a:noFill/>
          </a:ln>
        </p:spPr>
      </p:sp>
      <p:sp>
        <p:nvSpPr>
          <p:cNvPr id="12" name="TextBox 12"/>
          <p:cNvSpPr/>
          <p:nvPr/>
        </p:nvSpPr>
        <p:spPr>
          <a:xfrm>
            <a:off x="804672" y="1828800"/>
            <a:ext cx="3002280" cy="530352"/>
          </a:xfrm>
          <a:prstGeom prst="rect">
            <a:avLst/>
          </a:prstGeom>
          <a:noFill/>
          <a:ln>
            <a:noFill/>
          </a:ln>
        </p:spPr>
        <p:txBody>
          <a:bodyPr wrap="square" lIns="0" tIns="0" rIns="0" bIns="0" rtlCol="0" anchor="ctr">
            <a:noAutofit/>
          </a:bodyPr>
          <a:lstStyle/>
          <a:p>
            <a:pPr marL="0" indent="0" algn="l">
              <a:spcBef>
                <a:spcPts val="0"/>
              </a:spcBef>
              <a:buNone/>
            </a:pPr>
            <a:r>
              <a:rPr lang="uz-Latn-UZ" sz="2000" b="1" i="0" dirty="0">
                <a:solidFill>
                  <a:srgbClr val="14213D"/>
                </a:solidFill>
                <a:latin typeface="Arial"/>
                <a:cs typeface="Arial"/>
              </a:rPr>
              <a:t>NATO (1952-yildan)</a:t>
            </a:r>
            <a:endParaRPr lang="uz-Latn-UZ" sz="2000" b="1" i="0" dirty="0">
              <a:solidFill>
                <a:srgbClr val="14213D"/>
              </a:solidFill>
              <a:latin typeface="Arial"/>
              <a:cs typeface="Arial"/>
            </a:endParaRPr>
          </a:p>
        </p:txBody>
      </p:sp>
      <p:cxnSp>
        <p:nvCxnSpPr>
          <p:cNvPr id="13" name="Line 13"/>
          <p:cNvCxnSpPr/>
          <p:nvPr/>
        </p:nvCxnSpPr>
        <p:spPr>
          <a:xfrm>
            <a:off x="804672" y="2468880"/>
            <a:ext cx="3002280" cy="0"/>
          </a:xfrm>
          <a:prstGeom prst="line">
            <a:avLst/>
          </a:prstGeom>
          <a:ln w="12700">
            <a:solidFill>
              <a:srgbClr val="D1D5DB"/>
            </a:solidFill>
          </a:ln>
        </p:spPr>
      </p:cxnSp>
      <p:sp>
        <p:nvSpPr>
          <p:cNvPr id="14" name="TextBox 14"/>
          <p:cNvSpPr/>
          <p:nvPr/>
        </p:nvSpPr>
        <p:spPr>
          <a:xfrm>
            <a:off x="804672" y="2615184"/>
            <a:ext cx="3002280" cy="3383280"/>
          </a:xfrm>
          <a:prstGeom prst="rect">
            <a:avLst/>
          </a:prstGeom>
          <a:noFill/>
          <a:ln>
            <a:noFill/>
          </a:ln>
        </p:spPr>
        <p:txBody>
          <a:bodyPr wrap="square" lIns="0" tIns="0" rIns="0" bIns="0" rtlCol="0" anchor="t">
            <a:noAutofit/>
          </a:bodyPr>
          <a:lstStyle/>
          <a:p>
            <a:pPr marL="256032" indent="-256032" algn="l">
              <a:spcBef>
                <a:spcPts val="0"/>
              </a:spcBef>
              <a:buClr>
                <a:srgbClr val="C8102E"/>
              </a:buClr>
              <a:buFont typeface="Arial"/>
              <a:buChar char="•"/>
            </a:pPr>
            <a:r>
              <a:rPr lang="uz-Latn-UZ" sz="1700" b="0" i="0" dirty="0">
                <a:solidFill>
                  <a:srgbClr val="1F2937"/>
                </a:solidFill>
                <a:latin typeface="Arial"/>
                <a:cs typeface="Arial"/>
              </a:rPr>
              <a:t>Koreya urushidan so‘ng a’zo bo‘ldi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Izmirda NATO Quruqlikdagi qo‘shinlar qo‘mondonligi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Afg‘onistonda ISAFga 2 marta qo‘mondonlik qildi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Finlyandiya (2023) va Shvetsiya (2024) a’zoligini ratifikatsiya qildi</a:t>
            </a:r>
            <a:endParaRPr lang="uz-Latn-UZ" sz="1700" b="0" i="0" dirty="0">
              <a:solidFill>
                <a:srgbClr val="1F2937"/>
              </a:solidFill>
              <a:latin typeface="Arial"/>
              <a:cs typeface="Arial"/>
            </a:endParaRPr>
          </a:p>
        </p:txBody>
      </p:sp>
      <p:sp>
        <p:nvSpPr>
          <p:cNvPr id="15" name="Shape 15"/>
          <p:cNvSpPr/>
          <p:nvPr/>
        </p:nvSpPr>
        <p:spPr>
          <a:xfrm>
            <a:off x="4337304" y="1627632"/>
            <a:ext cx="3514344" cy="4526280"/>
          </a:xfrm>
          <a:prstGeom prst="rect">
            <a:avLst/>
          </a:prstGeom>
          <a:solidFill>
            <a:srgbClr val="F1F3F6"/>
          </a:solidFill>
          <a:ln>
            <a:noFill/>
          </a:ln>
        </p:spPr>
      </p:sp>
      <p:sp>
        <p:nvSpPr>
          <p:cNvPr id="16" name="Shape 16"/>
          <p:cNvSpPr/>
          <p:nvPr/>
        </p:nvSpPr>
        <p:spPr>
          <a:xfrm>
            <a:off x="4337304" y="1627632"/>
            <a:ext cx="3514344" cy="73152"/>
          </a:xfrm>
          <a:prstGeom prst="rect">
            <a:avLst/>
          </a:prstGeom>
          <a:solidFill>
            <a:srgbClr val="14213D"/>
          </a:solidFill>
          <a:ln>
            <a:noFill/>
          </a:ln>
        </p:spPr>
      </p:sp>
      <p:sp>
        <p:nvSpPr>
          <p:cNvPr id="17" name="TextBox 17"/>
          <p:cNvSpPr/>
          <p:nvPr/>
        </p:nvSpPr>
        <p:spPr>
          <a:xfrm>
            <a:off x="4593336" y="1828800"/>
            <a:ext cx="3002280" cy="530352"/>
          </a:xfrm>
          <a:prstGeom prst="rect">
            <a:avLst/>
          </a:prstGeom>
          <a:noFill/>
          <a:ln>
            <a:noFill/>
          </a:ln>
        </p:spPr>
        <p:txBody>
          <a:bodyPr wrap="square" lIns="0" tIns="0" rIns="0" bIns="0" rtlCol="0" anchor="ctr">
            <a:noAutofit/>
          </a:bodyPr>
          <a:lstStyle/>
          <a:p>
            <a:pPr marL="0" indent="0" algn="l">
              <a:spcBef>
                <a:spcPts val="0"/>
              </a:spcBef>
              <a:buNone/>
            </a:pPr>
            <a:r>
              <a:rPr lang="uz-Latn-UZ" sz="2000" b="1" i="0" dirty="0">
                <a:solidFill>
                  <a:srgbClr val="14213D"/>
                </a:solidFill>
                <a:latin typeface="Arial"/>
                <a:cs typeface="Arial"/>
              </a:rPr>
              <a:t>Anqara sammiti (2026)</a:t>
            </a:r>
            <a:endParaRPr lang="uz-Latn-UZ" sz="2000" b="1" i="0" dirty="0">
              <a:solidFill>
                <a:srgbClr val="14213D"/>
              </a:solidFill>
              <a:latin typeface="Arial"/>
              <a:cs typeface="Arial"/>
            </a:endParaRPr>
          </a:p>
        </p:txBody>
      </p:sp>
      <p:cxnSp>
        <p:nvCxnSpPr>
          <p:cNvPr id="18" name="Line 18"/>
          <p:cNvCxnSpPr/>
          <p:nvPr/>
        </p:nvCxnSpPr>
        <p:spPr>
          <a:xfrm>
            <a:off x="4593336" y="2468880"/>
            <a:ext cx="3002280" cy="0"/>
          </a:xfrm>
          <a:prstGeom prst="line">
            <a:avLst/>
          </a:prstGeom>
          <a:ln w="12700">
            <a:solidFill>
              <a:srgbClr val="D1D5DB"/>
            </a:solidFill>
          </a:ln>
        </p:spPr>
      </p:cxnSp>
      <p:sp>
        <p:nvSpPr>
          <p:cNvPr id="19" name="TextBox 19"/>
          <p:cNvSpPr/>
          <p:nvPr/>
        </p:nvSpPr>
        <p:spPr>
          <a:xfrm>
            <a:off x="4593336" y="2615184"/>
            <a:ext cx="3002280" cy="3383280"/>
          </a:xfrm>
          <a:prstGeom prst="rect">
            <a:avLst/>
          </a:prstGeom>
          <a:noFill/>
          <a:ln>
            <a:noFill/>
          </a:ln>
        </p:spPr>
        <p:txBody>
          <a:bodyPr wrap="square" lIns="0" tIns="0" rIns="0" bIns="0" rtlCol="0" anchor="t">
            <a:noAutofit/>
          </a:bodyPr>
          <a:lstStyle/>
          <a:p>
            <a:pPr marL="256032" indent="-256032" algn="l">
              <a:spcBef>
                <a:spcPts val="0"/>
              </a:spcBef>
              <a:buClr>
                <a:srgbClr val="C8102E"/>
              </a:buClr>
              <a:buFont typeface="Arial"/>
              <a:buChar char="•"/>
            </a:pPr>
            <a:r>
              <a:rPr lang="uz-Latn-UZ" sz="1700" b="0" i="0" dirty="0">
                <a:solidFill>
                  <a:srgbClr val="1F2937"/>
                </a:solidFill>
                <a:latin typeface="Arial"/>
                <a:cs typeface="Arial"/>
              </a:rPr>
              <a:t>7–8-iyul — NATOning 36-sammiti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5-modda: jamoaviy mudofaa tasdiqlandi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Ukrainaga 70 mlrd € harbiy yordam va’dasi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50 mlrd $ dan ortiq yangi mudofaa xaridlari</a:t>
            </a:r>
            <a:endParaRPr lang="uz-Latn-UZ" sz="1700" b="0" i="0" dirty="0">
              <a:solidFill>
                <a:srgbClr val="1F2937"/>
              </a:solidFill>
              <a:latin typeface="Arial"/>
              <a:cs typeface="Arial"/>
            </a:endParaRPr>
          </a:p>
        </p:txBody>
      </p:sp>
      <p:sp>
        <p:nvSpPr>
          <p:cNvPr id="20" name="Shape 20"/>
          <p:cNvSpPr/>
          <p:nvPr/>
        </p:nvSpPr>
        <p:spPr>
          <a:xfrm>
            <a:off x="8125968" y="1627632"/>
            <a:ext cx="3514344" cy="4526280"/>
          </a:xfrm>
          <a:prstGeom prst="rect">
            <a:avLst/>
          </a:prstGeom>
          <a:solidFill>
            <a:srgbClr val="F1F3F6"/>
          </a:solidFill>
          <a:ln>
            <a:noFill/>
          </a:ln>
        </p:spPr>
      </p:sp>
      <p:sp>
        <p:nvSpPr>
          <p:cNvPr id="21" name="Shape 21"/>
          <p:cNvSpPr/>
          <p:nvPr/>
        </p:nvSpPr>
        <p:spPr>
          <a:xfrm>
            <a:off x="8125968" y="1627632"/>
            <a:ext cx="3514344" cy="73152"/>
          </a:xfrm>
          <a:prstGeom prst="rect">
            <a:avLst/>
          </a:prstGeom>
          <a:solidFill>
            <a:srgbClr val="C8102E"/>
          </a:solidFill>
          <a:ln>
            <a:noFill/>
          </a:ln>
        </p:spPr>
      </p:sp>
      <p:sp>
        <p:nvSpPr>
          <p:cNvPr id="22" name="TextBox 22"/>
          <p:cNvSpPr/>
          <p:nvPr/>
        </p:nvSpPr>
        <p:spPr>
          <a:xfrm>
            <a:off x="8382000" y="1828800"/>
            <a:ext cx="3002280" cy="530352"/>
          </a:xfrm>
          <a:prstGeom prst="rect">
            <a:avLst/>
          </a:prstGeom>
          <a:noFill/>
          <a:ln>
            <a:noFill/>
          </a:ln>
        </p:spPr>
        <p:txBody>
          <a:bodyPr wrap="square" lIns="0" tIns="0" rIns="0" bIns="0" rtlCol="0" anchor="ctr">
            <a:noAutofit/>
          </a:bodyPr>
          <a:lstStyle/>
          <a:p>
            <a:pPr marL="0" indent="0" algn="l">
              <a:spcBef>
                <a:spcPts val="0"/>
              </a:spcBef>
              <a:buNone/>
            </a:pPr>
            <a:r>
              <a:rPr lang="uz-Latn-UZ" sz="2000" b="1" i="0" dirty="0">
                <a:solidFill>
                  <a:srgbClr val="14213D"/>
                </a:solidFill>
                <a:latin typeface="Arial"/>
                <a:cs typeface="Arial"/>
              </a:rPr>
              <a:t>AQSh bilan</a:t>
            </a:r>
            <a:endParaRPr lang="uz-Latn-UZ" sz="2000" b="1" i="0" dirty="0">
              <a:solidFill>
                <a:srgbClr val="14213D"/>
              </a:solidFill>
              <a:latin typeface="Arial"/>
              <a:cs typeface="Arial"/>
            </a:endParaRPr>
          </a:p>
        </p:txBody>
      </p:sp>
      <p:cxnSp>
        <p:nvCxnSpPr>
          <p:cNvPr id="23" name="Line 23"/>
          <p:cNvCxnSpPr/>
          <p:nvPr/>
        </p:nvCxnSpPr>
        <p:spPr>
          <a:xfrm>
            <a:off x="8382000" y="2468880"/>
            <a:ext cx="3002280" cy="0"/>
          </a:xfrm>
          <a:prstGeom prst="line">
            <a:avLst/>
          </a:prstGeom>
          <a:ln w="12700">
            <a:solidFill>
              <a:srgbClr val="D1D5DB"/>
            </a:solidFill>
          </a:ln>
        </p:spPr>
      </p:cxnSp>
      <p:sp>
        <p:nvSpPr>
          <p:cNvPr id="24" name="TextBox 24"/>
          <p:cNvSpPr/>
          <p:nvPr/>
        </p:nvSpPr>
        <p:spPr>
          <a:xfrm>
            <a:off x="8382000" y="2615184"/>
            <a:ext cx="3002280" cy="3383280"/>
          </a:xfrm>
          <a:prstGeom prst="rect">
            <a:avLst/>
          </a:prstGeom>
          <a:noFill/>
          <a:ln>
            <a:noFill/>
          </a:ln>
        </p:spPr>
        <p:txBody>
          <a:bodyPr wrap="square" lIns="0" tIns="0" rIns="0" bIns="0" rtlCol="0" anchor="t">
            <a:noAutofit/>
          </a:bodyPr>
          <a:lstStyle/>
          <a:p>
            <a:pPr marL="256032" indent="-256032" algn="l">
              <a:spcBef>
                <a:spcPts val="0"/>
              </a:spcBef>
              <a:buClr>
                <a:srgbClr val="C8102E"/>
              </a:buClr>
              <a:buFont typeface="Arial"/>
              <a:buChar char="•"/>
            </a:pPr>
            <a:r>
              <a:rPr lang="uz-Latn-UZ" sz="1700" b="0" i="0" dirty="0">
                <a:solidFill>
                  <a:srgbClr val="1F2937"/>
                </a:solidFill>
                <a:latin typeface="Arial"/>
                <a:cs typeface="Arial"/>
              </a:rPr>
              <a:t>1947 — Trumen doktrinasi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2019 — S-400 xaridi, F-35 dasturidan chiqarilish</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2024 — 40 ta F-16 sotuvi ma’qullandi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2026 — sanksiyalarni yumshatish muhokamasi</a:t>
            </a:r>
            <a:endParaRPr lang="uz-Latn-UZ" sz="1700" b="0" i="0" dirty="0">
              <a:solidFill>
                <a:srgbClr val="1F2937"/>
              </a:solidFill>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2-QISM  •  DIPLOMATIK FAOLIYAT</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Yevropa Ittifoqi yo‘li</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2-ma’ruzachi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12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Shape 10"/>
          <p:cNvSpPr/>
          <p:nvPr/>
        </p:nvSpPr>
        <p:spPr>
          <a:xfrm>
            <a:off x="685800" y="2670048"/>
            <a:ext cx="10817352" cy="54864"/>
          </a:xfrm>
          <a:prstGeom prst="rect">
            <a:avLst/>
          </a:prstGeom>
          <a:solidFill>
            <a:srgbClr val="D1D5DB"/>
          </a:solidFill>
          <a:ln>
            <a:noFill/>
          </a:ln>
        </p:spPr>
      </p:sp>
      <p:sp>
        <p:nvSpPr>
          <p:cNvPr id="11" name="TextBox 11"/>
          <p:cNvSpPr/>
          <p:nvPr/>
        </p:nvSpPr>
        <p:spPr>
          <a:xfrm>
            <a:off x="685800"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1959</a:t>
            </a:r>
            <a:endParaRPr lang="uz-Latn-UZ" sz="2600" b="1" i="0" dirty="0">
              <a:solidFill>
                <a:srgbClr val="C8102E"/>
              </a:solidFill>
              <a:latin typeface="Arial"/>
              <a:cs typeface="Arial"/>
            </a:endParaRPr>
          </a:p>
        </p:txBody>
      </p:sp>
      <p:sp>
        <p:nvSpPr>
          <p:cNvPr id="12" name="Shape 12"/>
          <p:cNvSpPr/>
          <p:nvPr/>
        </p:nvSpPr>
        <p:spPr>
          <a:xfrm>
            <a:off x="1431798" y="2542032"/>
            <a:ext cx="310896" cy="310896"/>
          </a:xfrm>
          <a:prstGeom prst="ellipse">
            <a:avLst/>
          </a:prstGeom>
          <a:solidFill>
            <a:srgbClr val="FFFFFF"/>
          </a:solidFill>
          <a:ln w="19050">
            <a:solidFill>
              <a:srgbClr val="C8102E"/>
            </a:solidFill>
          </a:ln>
        </p:spPr>
      </p:sp>
      <p:sp>
        <p:nvSpPr>
          <p:cNvPr id="13" name="Shape 13"/>
          <p:cNvSpPr/>
          <p:nvPr/>
        </p:nvSpPr>
        <p:spPr>
          <a:xfrm>
            <a:off x="1504950" y="2615184"/>
            <a:ext cx="164592" cy="164592"/>
          </a:xfrm>
          <a:prstGeom prst="ellipse">
            <a:avLst/>
          </a:prstGeom>
          <a:solidFill>
            <a:srgbClr val="C8102E"/>
          </a:solidFill>
          <a:ln>
            <a:noFill/>
          </a:ln>
        </p:spPr>
      </p:sp>
      <p:sp>
        <p:nvSpPr>
          <p:cNvPr id="14" name="TextBox 14"/>
          <p:cNvSpPr/>
          <p:nvPr/>
        </p:nvSpPr>
        <p:spPr>
          <a:xfrm>
            <a:off x="758952"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Yevropa iqtisodiy hamjamiyatiga assotsiatsiya arizasi</a:t>
            </a:r>
            <a:endParaRPr lang="uz-Latn-UZ" sz="1650" b="0" i="0" dirty="0">
              <a:solidFill>
                <a:srgbClr val="1F2937"/>
              </a:solidFill>
              <a:latin typeface="Arial"/>
              <a:cs typeface="Arial"/>
            </a:endParaRPr>
          </a:p>
        </p:txBody>
      </p:sp>
      <p:sp>
        <p:nvSpPr>
          <p:cNvPr id="15" name="TextBox 15"/>
          <p:cNvSpPr/>
          <p:nvPr/>
        </p:nvSpPr>
        <p:spPr>
          <a:xfrm>
            <a:off x="2488692"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1963</a:t>
            </a:r>
            <a:endParaRPr lang="uz-Latn-UZ" sz="2600" b="1" i="0" dirty="0">
              <a:solidFill>
                <a:srgbClr val="C8102E"/>
              </a:solidFill>
              <a:latin typeface="Arial"/>
              <a:cs typeface="Arial"/>
            </a:endParaRPr>
          </a:p>
        </p:txBody>
      </p:sp>
      <p:sp>
        <p:nvSpPr>
          <p:cNvPr id="16" name="Shape 16"/>
          <p:cNvSpPr/>
          <p:nvPr/>
        </p:nvSpPr>
        <p:spPr>
          <a:xfrm>
            <a:off x="3234690" y="2542032"/>
            <a:ext cx="310896" cy="310896"/>
          </a:xfrm>
          <a:prstGeom prst="ellipse">
            <a:avLst/>
          </a:prstGeom>
          <a:solidFill>
            <a:srgbClr val="FFFFFF"/>
          </a:solidFill>
          <a:ln w="19050">
            <a:solidFill>
              <a:srgbClr val="C8102E"/>
            </a:solidFill>
          </a:ln>
        </p:spPr>
      </p:sp>
      <p:sp>
        <p:nvSpPr>
          <p:cNvPr id="17" name="Shape 17"/>
          <p:cNvSpPr/>
          <p:nvPr/>
        </p:nvSpPr>
        <p:spPr>
          <a:xfrm>
            <a:off x="3307842" y="2615184"/>
            <a:ext cx="164592" cy="164592"/>
          </a:xfrm>
          <a:prstGeom prst="ellipse">
            <a:avLst/>
          </a:prstGeom>
          <a:solidFill>
            <a:srgbClr val="C8102E"/>
          </a:solidFill>
          <a:ln>
            <a:noFill/>
          </a:ln>
        </p:spPr>
      </p:sp>
      <p:sp>
        <p:nvSpPr>
          <p:cNvPr id="18" name="TextBox 18"/>
          <p:cNvSpPr/>
          <p:nvPr/>
        </p:nvSpPr>
        <p:spPr>
          <a:xfrm>
            <a:off x="2561844"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Anqara shartnomasi imzolandi</a:t>
            </a:r>
            <a:endParaRPr lang="uz-Latn-UZ" sz="1650" b="0" i="0" dirty="0">
              <a:solidFill>
                <a:srgbClr val="1F2937"/>
              </a:solidFill>
              <a:latin typeface="Arial"/>
              <a:cs typeface="Arial"/>
            </a:endParaRPr>
          </a:p>
        </p:txBody>
      </p:sp>
      <p:sp>
        <p:nvSpPr>
          <p:cNvPr id="19" name="TextBox 19"/>
          <p:cNvSpPr/>
          <p:nvPr/>
        </p:nvSpPr>
        <p:spPr>
          <a:xfrm>
            <a:off x="4291584"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1987</a:t>
            </a:r>
            <a:endParaRPr lang="uz-Latn-UZ" sz="2600" b="1" i="0" dirty="0">
              <a:solidFill>
                <a:srgbClr val="C8102E"/>
              </a:solidFill>
              <a:latin typeface="Arial"/>
              <a:cs typeface="Arial"/>
            </a:endParaRPr>
          </a:p>
        </p:txBody>
      </p:sp>
      <p:sp>
        <p:nvSpPr>
          <p:cNvPr id="20" name="Shape 20"/>
          <p:cNvSpPr/>
          <p:nvPr/>
        </p:nvSpPr>
        <p:spPr>
          <a:xfrm>
            <a:off x="5037582" y="2542032"/>
            <a:ext cx="310896" cy="310896"/>
          </a:xfrm>
          <a:prstGeom prst="ellipse">
            <a:avLst/>
          </a:prstGeom>
          <a:solidFill>
            <a:srgbClr val="FFFFFF"/>
          </a:solidFill>
          <a:ln w="19050">
            <a:solidFill>
              <a:srgbClr val="C8102E"/>
            </a:solidFill>
          </a:ln>
        </p:spPr>
      </p:sp>
      <p:sp>
        <p:nvSpPr>
          <p:cNvPr id="21" name="Shape 21"/>
          <p:cNvSpPr/>
          <p:nvPr/>
        </p:nvSpPr>
        <p:spPr>
          <a:xfrm>
            <a:off x="5110734" y="2615184"/>
            <a:ext cx="164592" cy="164592"/>
          </a:xfrm>
          <a:prstGeom prst="ellipse">
            <a:avLst/>
          </a:prstGeom>
          <a:solidFill>
            <a:srgbClr val="C8102E"/>
          </a:solidFill>
          <a:ln>
            <a:noFill/>
          </a:ln>
        </p:spPr>
      </p:sp>
      <p:sp>
        <p:nvSpPr>
          <p:cNvPr id="22" name="TextBox 22"/>
          <p:cNvSpPr/>
          <p:nvPr/>
        </p:nvSpPr>
        <p:spPr>
          <a:xfrm>
            <a:off x="4364736"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To‘liq a’zolik uchun ariza</a:t>
            </a:r>
            <a:endParaRPr lang="uz-Latn-UZ" sz="1650" b="0" i="0" dirty="0">
              <a:solidFill>
                <a:srgbClr val="1F2937"/>
              </a:solidFill>
              <a:latin typeface="Arial"/>
              <a:cs typeface="Arial"/>
            </a:endParaRPr>
          </a:p>
        </p:txBody>
      </p:sp>
      <p:sp>
        <p:nvSpPr>
          <p:cNvPr id="23" name="TextBox 23"/>
          <p:cNvSpPr/>
          <p:nvPr/>
        </p:nvSpPr>
        <p:spPr>
          <a:xfrm>
            <a:off x="6094476"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1996</a:t>
            </a:r>
            <a:endParaRPr lang="uz-Latn-UZ" sz="2600" b="1" i="0" dirty="0">
              <a:solidFill>
                <a:srgbClr val="C8102E"/>
              </a:solidFill>
              <a:latin typeface="Arial"/>
              <a:cs typeface="Arial"/>
            </a:endParaRPr>
          </a:p>
        </p:txBody>
      </p:sp>
      <p:sp>
        <p:nvSpPr>
          <p:cNvPr id="24" name="Shape 24"/>
          <p:cNvSpPr/>
          <p:nvPr/>
        </p:nvSpPr>
        <p:spPr>
          <a:xfrm>
            <a:off x="6840474" y="2542032"/>
            <a:ext cx="310896" cy="310896"/>
          </a:xfrm>
          <a:prstGeom prst="ellipse">
            <a:avLst/>
          </a:prstGeom>
          <a:solidFill>
            <a:srgbClr val="FFFFFF"/>
          </a:solidFill>
          <a:ln w="19050">
            <a:solidFill>
              <a:srgbClr val="C8102E"/>
            </a:solidFill>
          </a:ln>
        </p:spPr>
      </p:sp>
      <p:sp>
        <p:nvSpPr>
          <p:cNvPr id="25" name="Shape 25"/>
          <p:cNvSpPr/>
          <p:nvPr/>
        </p:nvSpPr>
        <p:spPr>
          <a:xfrm>
            <a:off x="6913626" y="2615184"/>
            <a:ext cx="164592" cy="164592"/>
          </a:xfrm>
          <a:prstGeom prst="ellipse">
            <a:avLst/>
          </a:prstGeom>
          <a:solidFill>
            <a:srgbClr val="C8102E"/>
          </a:solidFill>
          <a:ln>
            <a:noFill/>
          </a:ln>
        </p:spPr>
      </p:sp>
      <p:sp>
        <p:nvSpPr>
          <p:cNvPr id="26" name="TextBox 26"/>
          <p:cNvSpPr/>
          <p:nvPr/>
        </p:nvSpPr>
        <p:spPr>
          <a:xfrm>
            <a:off x="6167628"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Bojxona ittifoqi kuchga kirdi</a:t>
            </a:r>
            <a:endParaRPr lang="uz-Latn-UZ" sz="1650" b="0" i="0" dirty="0">
              <a:solidFill>
                <a:srgbClr val="1F2937"/>
              </a:solidFill>
              <a:latin typeface="Arial"/>
              <a:cs typeface="Arial"/>
            </a:endParaRPr>
          </a:p>
        </p:txBody>
      </p:sp>
      <p:sp>
        <p:nvSpPr>
          <p:cNvPr id="27" name="TextBox 27"/>
          <p:cNvSpPr/>
          <p:nvPr/>
        </p:nvSpPr>
        <p:spPr>
          <a:xfrm>
            <a:off x="7897368"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1999</a:t>
            </a:r>
            <a:endParaRPr lang="uz-Latn-UZ" sz="2600" b="1" i="0" dirty="0">
              <a:solidFill>
                <a:srgbClr val="C8102E"/>
              </a:solidFill>
              <a:latin typeface="Arial"/>
              <a:cs typeface="Arial"/>
            </a:endParaRPr>
          </a:p>
        </p:txBody>
      </p:sp>
      <p:sp>
        <p:nvSpPr>
          <p:cNvPr id="28" name="Shape 28"/>
          <p:cNvSpPr/>
          <p:nvPr/>
        </p:nvSpPr>
        <p:spPr>
          <a:xfrm>
            <a:off x="8643366" y="2542032"/>
            <a:ext cx="310896" cy="310896"/>
          </a:xfrm>
          <a:prstGeom prst="ellipse">
            <a:avLst/>
          </a:prstGeom>
          <a:solidFill>
            <a:srgbClr val="FFFFFF"/>
          </a:solidFill>
          <a:ln w="19050">
            <a:solidFill>
              <a:srgbClr val="C8102E"/>
            </a:solidFill>
          </a:ln>
        </p:spPr>
      </p:sp>
      <p:sp>
        <p:nvSpPr>
          <p:cNvPr id="29" name="Shape 29"/>
          <p:cNvSpPr/>
          <p:nvPr/>
        </p:nvSpPr>
        <p:spPr>
          <a:xfrm>
            <a:off x="8716518" y="2615184"/>
            <a:ext cx="164592" cy="164592"/>
          </a:xfrm>
          <a:prstGeom prst="ellipse">
            <a:avLst/>
          </a:prstGeom>
          <a:solidFill>
            <a:srgbClr val="C8102E"/>
          </a:solidFill>
          <a:ln>
            <a:noFill/>
          </a:ln>
        </p:spPr>
      </p:sp>
      <p:sp>
        <p:nvSpPr>
          <p:cNvPr id="30" name="TextBox 30"/>
          <p:cNvSpPr/>
          <p:nvPr/>
        </p:nvSpPr>
        <p:spPr>
          <a:xfrm>
            <a:off x="7970520"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Rasmiy nomzod maqomi (Xelsinki)</a:t>
            </a:r>
            <a:endParaRPr lang="uz-Latn-UZ" sz="1650" b="0" i="0" dirty="0">
              <a:solidFill>
                <a:srgbClr val="1F2937"/>
              </a:solidFill>
              <a:latin typeface="Arial"/>
              <a:cs typeface="Arial"/>
            </a:endParaRPr>
          </a:p>
        </p:txBody>
      </p:sp>
      <p:sp>
        <p:nvSpPr>
          <p:cNvPr id="31" name="TextBox 31"/>
          <p:cNvSpPr/>
          <p:nvPr/>
        </p:nvSpPr>
        <p:spPr>
          <a:xfrm>
            <a:off x="9700260"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2005</a:t>
            </a:r>
            <a:endParaRPr lang="uz-Latn-UZ" sz="2600" b="1" i="0" dirty="0">
              <a:solidFill>
                <a:srgbClr val="C8102E"/>
              </a:solidFill>
              <a:latin typeface="Arial"/>
              <a:cs typeface="Arial"/>
            </a:endParaRPr>
          </a:p>
        </p:txBody>
      </p:sp>
      <p:sp>
        <p:nvSpPr>
          <p:cNvPr id="32" name="Shape 32"/>
          <p:cNvSpPr/>
          <p:nvPr/>
        </p:nvSpPr>
        <p:spPr>
          <a:xfrm>
            <a:off x="10446258" y="2542032"/>
            <a:ext cx="310896" cy="310896"/>
          </a:xfrm>
          <a:prstGeom prst="ellipse">
            <a:avLst/>
          </a:prstGeom>
          <a:solidFill>
            <a:srgbClr val="FFFFFF"/>
          </a:solidFill>
          <a:ln w="19050">
            <a:solidFill>
              <a:srgbClr val="C8102E"/>
            </a:solidFill>
          </a:ln>
        </p:spPr>
      </p:sp>
      <p:sp>
        <p:nvSpPr>
          <p:cNvPr id="33" name="Shape 33"/>
          <p:cNvSpPr/>
          <p:nvPr/>
        </p:nvSpPr>
        <p:spPr>
          <a:xfrm>
            <a:off x="10519410" y="2615184"/>
            <a:ext cx="164592" cy="164592"/>
          </a:xfrm>
          <a:prstGeom prst="ellipse">
            <a:avLst/>
          </a:prstGeom>
          <a:solidFill>
            <a:srgbClr val="C8102E"/>
          </a:solidFill>
          <a:ln>
            <a:noFill/>
          </a:ln>
        </p:spPr>
      </p:sp>
      <p:sp>
        <p:nvSpPr>
          <p:cNvPr id="34" name="TextBox 34"/>
          <p:cNvSpPr/>
          <p:nvPr/>
        </p:nvSpPr>
        <p:spPr>
          <a:xfrm>
            <a:off x="9773412"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A’zolik muzokaralari boshlandi</a:t>
            </a:r>
            <a:endParaRPr lang="uz-Latn-UZ" sz="1650" b="0" i="0" dirty="0">
              <a:solidFill>
                <a:srgbClr val="1F2937"/>
              </a:solidFill>
              <a:latin typeface="Arial"/>
              <a:cs typeface="Arial"/>
            </a:endParaRPr>
          </a:p>
        </p:txBody>
      </p:sp>
      <p:sp>
        <p:nvSpPr>
          <p:cNvPr id="35" name="Shape 35"/>
          <p:cNvSpPr/>
          <p:nvPr/>
        </p:nvSpPr>
        <p:spPr>
          <a:xfrm>
            <a:off x="548640" y="5029200"/>
            <a:ext cx="11091672" cy="1097280"/>
          </a:xfrm>
          <a:prstGeom prst="rect">
            <a:avLst/>
          </a:prstGeom>
          <a:solidFill>
            <a:srgbClr val="F1F3F6"/>
          </a:solidFill>
          <a:ln>
            <a:noFill/>
          </a:ln>
        </p:spPr>
      </p:sp>
      <p:sp>
        <p:nvSpPr>
          <p:cNvPr id="36" name="Shape 36"/>
          <p:cNvSpPr/>
          <p:nvPr/>
        </p:nvSpPr>
        <p:spPr>
          <a:xfrm>
            <a:off x="548640" y="5029200"/>
            <a:ext cx="82296" cy="1097280"/>
          </a:xfrm>
          <a:prstGeom prst="rect">
            <a:avLst/>
          </a:prstGeom>
          <a:solidFill>
            <a:srgbClr val="C8102E"/>
          </a:solidFill>
          <a:ln>
            <a:noFill/>
          </a:ln>
        </p:spPr>
      </p:sp>
      <p:sp>
        <p:nvSpPr>
          <p:cNvPr id="37" name="TextBox 37"/>
          <p:cNvSpPr/>
          <p:nvPr/>
        </p:nvSpPr>
        <p:spPr>
          <a:xfrm>
            <a:off x="868680" y="5074920"/>
            <a:ext cx="10607040" cy="1005840"/>
          </a:xfrm>
          <a:prstGeom prst="rect">
            <a:avLst/>
          </a:prstGeom>
          <a:noFill/>
          <a:ln>
            <a:noFill/>
          </a:ln>
        </p:spPr>
        <p:txBody>
          <a:bodyPr wrap="square" lIns="0" tIns="0" rIns="0" bIns="0" rtlCol="0" anchor="ctr">
            <a:noAutofit/>
          </a:bodyPr>
          <a:lstStyle/>
          <a:p>
            <a:pPr marL="0" indent="0" algn="l">
              <a:spcBef>
                <a:spcPts val="0"/>
              </a:spcBef>
              <a:buNone/>
            </a:pPr>
            <a:r>
              <a:rPr lang="uz-Latn-UZ" sz="1650" b="0" i="1" dirty="0">
                <a:solidFill>
                  <a:srgbClr val="14213D"/>
                </a:solidFill>
                <a:latin typeface="Arial"/>
                <a:cs typeface="Arial"/>
              </a:rPr>
              <a:t>YeIga a’zo bo‘lishga intilish qonunchilik, siyosiy institutlar va iqtisodiyotni YeI standartlariga moslashtirish imkonini beradi. Muzokaralar 2018-yildan to‘xtagan, ammo YeI — eng yirik savdo sherigi.</a:t>
            </a:r>
            <a:endParaRPr lang="uz-Latn-UZ" sz="1650" b="0" i="1" dirty="0">
              <a:solidFill>
                <a:srgbClr val="14213D"/>
              </a:solidFill>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Shape 2"/>
          <p:cNvSpPr/>
          <p:nvPr/>
        </p:nvSpPr>
        <p:spPr>
          <a:xfrm>
            <a:off x="0" y="0"/>
            <a:ext cx="320040" cy="6858000"/>
          </a:xfrm>
          <a:prstGeom prst="rect">
            <a:avLst/>
          </a:prstGeom>
          <a:solidFill>
            <a:srgbClr val="C8102E"/>
          </a:solidFill>
          <a:ln>
            <a:noFill/>
          </a:ln>
        </p:spPr>
      </p:sp>
      <p:sp>
        <p:nvSpPr>
          <p:cNvPr id="3" name="TextBox 3"/>
          <p:cNvSpPr/>
          <p:nvPr/>
        </p:nvSpPr>
        <p:spPr>
          <a:xfrm>
            <a:off x="914400" y="1005840"/>
            <a:ext cx="3017520" cy="2103120"/>
          </a:xfrm>
          <a:prstGeom prst="rect">
            <a:avLst/>
          </a:prstGeom>
          <a:noFill/>
          <a:ln>
            <a:noFill/>
          </a:ln>
        </p:spPr>
        <p:txBody>
          <a:bodyPr wrap="square" lIns="0" tIns="0" rIns="0" bIns="0" rtlCol="0" anchor="b">
            <a:noAutofit/>
          </a:bodyPr>
          <a:lstStyle/>
          <a:p>
            <a:pPr marL="0" indent="0" algn="l">
              <a:spcBef>
                <a:spcPts val="0"/>
              </a:spcBef>
              <a:buNone/>
            </a:pPr>
            <a:r>
              <a:rPr lang="uz-Latn-UZ" sz="12000" b="1" i="0" dirty="0">
                <a:solidFill>
                  <a:srgbClr val="C8102E"/>
                </a:solidFill>
                <a:latin typeface="Arial"/>
                <a:cs typeface="Arial"/>
              </a:rPr>
              <a:t>03</a:t>
            </a:r>
            <a:endParaRPr lang="uz-Latn-UZ" sz="12000" b="1" i="0" dirty="0">
              <a:solidFill>
                <a:srgbClr val="C8102E"/>
              </a:solidFill>
              <a:latin typeface="Arial"/>
              <a:cs typeface="Arial"/>
            </a:endParaRPr>
          </a:p>
        </p:txBody>
      </p:sp>
      <p:sp>
        <p:nvSpPr>
          <p:cNvPr id="4" name="Shape 4"/>
          <p:cNvSpPr/>
          <p:nvPr/>
        </p:nvSpPr>
        <p:spPr>
          <a:xfrm>
            <a:off x="914400" y="3429000"/>
            <a:ext cx="2103120" cy="502920"/>
          </a:xfrm>
          <a:prstGeom prst="roundRect">
            <a:avLst>
              <a:gd name="adj" fmla="val 50000"/>
            </a:avLst>
          </a:prstGeom>
          <a:solidFill>
            <a:srgbClr val="C8102E"/>
          </a:solidFill>
          <a:ln>
            <a:noFill/>
          </a:ln>
        </p:spPr>
        <p:txBody>
          <a:bodyPr wrap="square" lIns="0" tIns="0" rIns="0" bIns="0" rtlCol="0" anchor="ctr">
            <a:noAutofit/>
          </a:bodyPr>
          <a:lstStyle/>
          <a:p>
            <a:pPr marL="0" indent="0" algn="ctr">
              <a:spcBef>
                <a:spcPts val="0"/>
              </a:spcBef>
              <a:buNone/>
            </a:pPr>
            <a:r>
              <a:rPr lang="uz-Latn-UZ" sz="1700" b="1" i="0" dirty="0">
                <a:solidFill>
                  <a:srgbClr val="FFFFFF"/>
                </a:solidFill>
                <a:latin typeface="Arial"/>
                <a:cs typeface="Arial"/>
              </a:rPr>
              <a:t>3-ma’ruzachi</a:t>
            </a:r>
            <a:endParaRPr lang="uz-Latn-UZ" sz="1700" b="1" i="0" dirty="0">
              <a:solidFill>
                <a:srgbClr val="FFFFFF"/>
              </a:solidFill>
              <a:latin typeface="Arial"/>
              <a:cs typeface="Arial"/>
            </a:endParaRPr>
          </a:p>
        </p:txBody>
      </p:sp>
      <p:sp>
        <p:nvSpPr>
          <p:cNvPr id="5" name="TextBox 5"/>
          <p:cNvSpPr/>
          <p:nvPr/>
        </p:nvSpPr>
        <p:spPr>
          <a:xfrm>
            <a:off x="4206240" y="914400"/>
            <a:ext cx="7498080" cy="2514600"/>
          </a:xfrm>
          <a:prstGeom prst="rect">
            <a:avLst/>
          </a:prstGeom>
          <a:noFill/>
          <a:ln>
            <a:noFill/>
          </a:ln>
        </p:spPr>
        <p:txBody>
          <a:bodyPr wrap="square" lIns="0" tIns="0" rIns="0" bIns="0" rtlCol="0" anchor="b">
            <a:noAutofit/>
          </a:bodyPr>
          <a:lstStyle/>
          <a:p>
            <a:pPr marL="0" indent="0" algn="l">
              <a:lnSpc>
                <a:spcPct val="95000"/>
              </a:lnSpc>
              <a:spcBef>
                <a:spcPts val="0"/>
              </a:spcBef>
              <a:buNone/>
            </a:pPr>
            <a:r>
              <a:rPr lang="uz-Latn-UZ" sz="3600" b="1" i="0" dirty="0">
                <a:solidFill>
                  <a:srgbClr val="FFFFFF"/>
                </a:solidFill>
                <a:latin typeface="Arial"/>
                <a:cs typeface="Arial"/>
              </a:rPr>
              <a:t>Turkiya madaniyati va ijtimoiy hayotining siyosatdagi o‘rni</a:t>
            </a:r>
            <a:endParaRPr lang="uz-Latn-UZ" sz="3600" b="1" i="0" dirty="0">
              <a:solidFill>
                <a:srgbClr val="FFFFFF"/>
              </a:solidFill>
              <a:latin typeface="Arial"/>
              <a:cs typeface="Arial"/>
            </a:endParaRPr>
          </a:p>
        </p:txBody>
      </p:sp>
      <p:sp>
        <p:nvSpPr>
          <p:cNvPr id="6" name="Shape 6"/>
          <p:cNvSpPr/>
          <p:nvPr/>
        </p:nvSpPr>
        <p:spPr>
          <a:xfrm>
            <a:off x="4206240" y="3675888"/>
            <a:ext cx="1097280" cy="64008"/>
          </a:xfrm>
          <a:prstGeom prst="rect">
            <a:avLst/>
          </a:prstGeom>
          <a:solidFill>
            <a:srgbClr val="C8102E"/>
          </a:solidFill>
          <a:ln>
            <a:noFill/>
          </a:ln>
        </p:spPr>
      </p:sp>
      <p:sp>
        <p:nvSpPr>
          <p:cNvPr id="7" name="TextBox 7"/>
          <p:cNvSpPr/>
          <p:nvPr/>
        </p:nvSpPr>
        <p:spPr>
          <a:xfrm>
            <a:off x="4206240" y="3931920"/>
            <a:ext cx="7498080" cy="2011680"/>
          </a:xfrm>
          <a:prstGeom prst="rect">
            <a:avLst/>
          </a:prstGeom>
          <a:noFill/>
          <a:ln>
            <a:noFill/>
          </a:ln>
        </p:spPr>
        <p:txBody>
          <a:bodyPr wrap="square" lIns="0" tIns="0" rIns="0" bIns="0" rtlCol="0" anchor="t">
            <a:noAutofit/>
          </a:bodyPr>
          <a:lstStyle/>
          <a:p>
            <a:pPr marL="320040" indent="-320040" algn="l">
              <a:spcBef>
                <a:spcPts val="0"/>
              </a:spcBef>
              <a:buClr>
                <a:srgbClr val="C8102E"/>
              </a:buClr>
              <a:buFont typeface="Arial"/>
              <a:buChar char="•"/>
            </a:pPr>
            <a:r>
              <a:rPr lang="uz-Latn-UZ" sz="1900" b="0" i="0" dirty="0">
                <a:solidFill>
                  <a:srgbClr val="CBD5E1"/>
                </a:solidFill>
                <a:latin typeface="Arial"/>
                <a:cs typeface="Arial"/>
              </a:rPr>
              <a:t>Siyosatni shakllantiruvchi omillar</a:t>
            </a:r>
            <a:endParaRPr lang="uz-Latn-UZ" sz="1900" b="0" i="0" dirty="0">
              <a:solidFill>
                <a:srgbClr val="CBD5E1"/>
              </a:solidFill>
              <a:latin typeface="Arial"/>
              <a:cs typeface="Arial"/>
            </a:endParaRPr>
          </a:p>
          <a:p>
            <a:pPr marL="320040" indent="-320040" algn="l">
              <a:spcBef>
                <a:spcPts val="700"/>
              </a:spcBef>
              <a:buClr>
                <a:srgbClr val="C8102E"/>
              </a:buClr>
              <a:buFont typeface="Arial"/>
              <a:buChar char="•"/>
            </a:pPr>
            <a:r>
              <a:rPr lang="uz-Latn-UZ" sz="1900" b="0" i="0" dirty="0">
                <a:solidFill>
                  <a:srgbClr val="CBD5E1"/>
                </a:solidFill>
                <a:latin typeface="Arial"/>
                <a:cs typeface="Arial"/>
              </a:rPr>
              <a:t>Usmonli merosi, islom va dunyoviylik</a:t>
            </a:r>
            <a:endParaRPr lang="uz-Latn-UZ" sz="1900" b="0" i="0" dirty="0">
              <a:solidFill>
                <a:srgbClr val="CBD5E1"/>
              </a:solidFill>
              <a:latin typeface="Arial"/>
              <a:cs typeface="Arial"/>
            </a:endParaRPr>
          </a:p>
          <a:p>
            <a:pPr marL="320040" indent="-320040" algn="l">
              <a:spcBef>
                <a:spcPts val="700"/>
              </a:spcBef>
              <a:buClr>
                <a:srgbClr val="C8102E"/>
              </a:buClr>
              <a:buFont typeface="Arial"/>
              <a:buChar char="•"/>
            </a:pPr>
            <a:r>
              <a:rPr lang="uz-Latn-UZ" sz="1900" b="0" i="0" dirty="0">
                <a:solidFill>
                  <a:srgbClr val="CBD5E1"/>
                </a:solidFill>
                <a:latin typeface="Arial"/>
                <a:cs typeface="Arial"/>
              </a:rPr>
              <a:t>Milliy o‘zlik va etnik xilma-xillik</a:t>
            </a:r>
            <a:endParaRPr lang="uz-Latn-UZ" sz="1900" b="0" i="0" dirty="0">
              <a:solidFill>
                <a:srgbClr val="CBD5E1"/>
              </a:solidFill>
              <a:latin typeface="Arial"/>
              <a:cs typeface="Arial"/>
            </a:endParaRPr>
          </a:p>
          <a:p>
            <a:pPr marL="320040" indent="-320040" algn="l">
              <a:spcBef>
                <a:spcPts val="700"/>
              </a:spcBef>
              <a:buClr>
                <a:srgbClr val="C8102E"/>
              </a:buClr>
              <a:buFont typeface="Arial"/>
              <a:buChar char="•"/>
            </a:pPr>
            <a:r>
              <a:rPr lang="uz-Latn-UZ" sz="1900" b="0" i="0" dirty="0">
                <a:solidFill>
                  <a:srgbClr val="CBD5E1"/>
                </a:solidFill>
                <a:latin typeface="Arial"/>
                <a:cs typeface="Arial"/>
              </a:rPr>
              <a:t>Madaniyat va o‘zlik — tashqi siyosatda</a:t>
            </a:r>
            <a:endParaRPr lang="uz-Latn-UZ" sz="1900" b="0" i="0" dirty="0">
              <a:solidFill>
                <a:srgbClr val="CBD5E1"/>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CBD5E1"/>
                </a:solidFill>
                <a:latin typeface="Arial"/>
                <a:cs typeface="Arial"/>
              </a:rPr>
              <a:t>13 / 29</a:t>
            </a:r>
            <a:endParaRPr lang="uz-Latn-UZ" sz="1050" b="0" i="0" dirty="0">
              <a:solidFill>
                <a:srgbClr val="CBD5E1"/>
              </a:solidFill>
              <a:latin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3-QISM  •  MADANIYAT VA IJTIMOIY HAYOT</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Siyosatni shakllantiruvchi omillar</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3-ma’ruzachi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14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TextBox 10"/>
          <p:cNvSpPr/>
          <p:nvPr/>
        </p:nvSpPr>
        <p:spPr>
          <a:xfrm>
            <a:off x="548640" y="1517904"/>
            <a:ext cx="11091672" cy="512064"/>
          </a:xfrm>
          <a:prstGeom prst="rect">
            <a:avLst/>
          </a:prstGeom>
          <a:noFill/>
          <a:ln>
            <a:noFill/>
          </a:ln>
        </p:spPr>
        <p:txBody>
          <a:bodyPr wrap="square" lIns="0" tIns="0" rIns="0" bIns="0" rtlCol="0" anchor="ctr">
            <a:noAutofit/>
          </a:bodyPr>
          <a:lstStyle/>
          <a:p>
            <a:pPr marL="0" indent="0" algn="l">
              <a:spcBef>
                <a:spcPts val="0"/>
              </a:spcBef>
              <a:buNone/>
            </a:pPr>
            <a:r>
              <a:rPr lang="uz-Latn-UZ" sz="1700" b="0" i="1" dirty="0">
                <a:solidFill>
                  <a:srgbClr val="14213D"/>
                </a:solidFill>
                <a:latin typeface="Arial"/>
                <a:cs typeface="Arial"/>
              </a:rPr>
              <a:t>Turkiya — Yevropa va Osiyo chorrahasida joylashgan, boy tarixiy merosga va o‘ziga xos madaniyatga ega davlat</a:t>
            </a:r>
            <a:endParaRPr lang="uz-Latn-UZ" sz="1700" b="0" i="1" dirty="0">
              <a:solidFill>
                <a:srgbClr val="14213D"/>
              </a:solidFill>
              <a:latin typeface="Arial"/>
              <a:cs typeface="Arial"/>
            </a:endParaRPr>
          </a:p>
        </p:txBody>
      </p:sp>
      <p:sp>
        <p:nvSpPr>
          <p:cNvPr id="11" name="Shape 11"/>
          <p:cNvSpPr/>
          <p:nvPr/>
        </p:nvSpPr>
        <p:spPr>
          <a:xfrm>
            <a:off x="548640" y="2121408"/>
            <a:ext cx="3544824" cy="1897380"/>
          </a:xfrm>
          <a:prstGeom prst="rect">
            <a:avLst/>
          </a:prstGeom>
          <a:solidFill>
            <a:srgbClr val="F1F3F6"/>
          </a:solidFill>
          <a:ln>
            <a:noFill/>
          </a:ln>
        </p:spPr>
      </p:sp>
      <p:sp>
        <p:nvSpPr>
          <p:cNvPr id="12" name="Shape 12"/>
          <p:cNvSpPr/>
          <p:nvPr/>
        </p:nvSpPr>
        <p:spPr>
          <a:xfrm>
            <a:off x="777240" y="2350008"/>
            <a:ext cx="457200" cy="457200"/>
          </a:xfrm>
          <a:prstGeom prst="ellipse">
            <a:avLst/>
          </a:prstGeom>
          <a:solidFill>
            <a:srgbClr val="C8102E"/>
          </a:solidFill>
          <a:ln>
            <a:noFill/>
          </a:ln>
        </p:spPr>
        <p:txBody>
          <a:bodyPr wrap="square" lIns="0" tIns="0" rIns="0" bIns="0" rtlCol="0" anchor="ctr">
            <a:noAutofit/>
          </a:bodyPr>
          <a:lstStyle/>
          <a:p>
            <a:pPr marL="0" indent="0" algn="ctr">
              <a:spcBef>
                <a:spcPts val="0"/>
              </a:spcBef>
              <a:buNone/>
            </a:pPr>
            <a:r>
              <a:rPr lang="uz-Latn-UZ" sz="1600" b="1" i="0" dirty="0">
                <a:solidFill>
                  <a:srgbClr val="FFFFFF"/>
                </a:solidFill>
                <a:latin typeface="Arial"/>
                <a:cs typeface="Arial"/>
              </a:rPr>
              <a:t>1</a:t>
            </a:r>
            <a:endParaRPr lang="uz-Latn-UZ" sz="1600" b="1" i="0" dirty="0">
              <a:solidFill>
                <a:srgbClr val="FFFFFF"/>
              </a:solidFill>
              <a:latin typeface="Arial"/>
              <a:cs typeface="Arial"/>
            </a:endParaRPr>
          </a:p>
        </p:txBody>
      </p:sp>
      <p:sp>
        <p:nvSpPr>
          <p:cNvPr id="13" name="TextBox 13"/>
          <p:cNvSpPr/>
          <p:nvPr/>
        </p:nvSpPr>
        <p:spPr>
          <a:xfrm>
            <a:off x="1371600" y="2322576"/>
            <a:ext cx="2538984" cy="512064"/>
          </a:xfrm>
          <a:prstGeom prst="rect">
            <a:avLst/>
          </a:prstGeom>
          <a:noFill/>
          <a:ln>
            <a:noFill/>
          </a:ln>
        </p:spPr>
        <p:txBody>
          <a:bodyPr wrap="square" lIns="0" tIns="0" rIns="0" bIns="0" rtlCol="0" anchor="ctr">
            <a:noAutofit/>
          </a:bodyPr>
          <a:lstStyle/>
          <a:p>
            <a:pPr marL="0" indent="0" algn="l">
              <a:spcBef>
                <a:spcPts val="0"/>
              </a:spcBef>
              <a:buNone/>
            </a:pPr>
            <a:r>
              <a:rPr lang="uz-Latn-UZ" sz="1850" b="1" i="0" dirty="0">
                <a:solidFill>
                  <a:srgbClr val="14213D"/>
                </a:solidFill>
                <a:latin typeface="Arial"/>
                <a:cs typeface="Arial"/>
              </a:rPr>
              <a:t>Tarix</a:t>
            </a:r>
            <a:endParaRPr lang="uz-Latn-UZ" sz="1850" b="1" i="0" dirty="0">
              <a:solidFill>
                <a:srgbClr val="14213D"/>
              </a:solidFill>
              <a:latin typeface="Arial"/>
              <a:cs typeface="Arial"/>
            </a:endParaRPr>
          </a:p>
        </p:txBody>
      </p:sp>
      <p:sp>
        <p:nvSpPr>
          <p:cNvPr id="14" name="TextBox 14"/>
          <p:cNvSpPr/>
          <p:nvPr/>
        </p:nvSpPr>
        <p:spPr>
          <a:xfrm>
            <a:off x="777240" y="2990088"/>
            <a:ext cx="3087624" cy="909828"/>
          </a:xfrm>
          <a:prstGeom prst="rect">
            <a:avLst/>
          </a:prstGeom>
          <a:noFill/>
          <a:ln>
            <a:noFill/>
          </a:ln>
        </p:spPr>
        <p:txBody>
          <a:bodyPr wrap="square" lIns="0" tIns="0" rIns="0" bIns="0" rtlCol="0" anchor="t">
            <a:noAutofit/>
          </a:bodyPr>
          <a:lstStyle/>
          <a:p>
            <a:pPr marL="0" indent="0" algn="l">
              <a:lnSpc>
                <a:spcPct val="104000"/>
              </a:lnSpc>
              <a:spcBef>
                <a:spcPts val="0"/>
              </a:spcBef>
              <a:buNone/>
            </a:pPr>
            <a:r>
              <a:rPr lang="uz-Latn-UZ" sz="1600" b="0" i="0" dirty="0">
                <a:solidFill>
                  <a:srgbClr val="1F2937"/>
                </a:solidFill>
                <a:latin typeface="Arial"/>
                <a:cs typeface="Arial"/>
              </a:rPr>
              <a:t>Usmonli merosi va 1923-yildan Respublika an’analari</a:t>
            </a:r>
            <a:endParaRPr lang="uz-Latn-UZ" sz="1600" b="0" i="0" dirty="0">
              <a:solidFill>
                <a:srgbClr val="1F2937"/>
              </a:solidFill>
              <a:latin typeface="Arial"/>
              <a:cs typeface="Arial"/>
            </a:endParaRPr>
          </a:p>
        </p:txBody>
      </p:sp>
      <p:sp>
        <p:nvSpPr>
          <p:cNvPr id="15" name="Shape 15"/>
          <p:cNvSpPr/>
          <p:nvPr/>
        </p:nvSpPr>
        <p:spPr>
          <a:xfrm>
            <a:off x="4322064" y="2121408"/>
            <a:ext cx="3544824" cy="1897380"/>
          </a:xfrm>
          <a:prstGeom prst="rect">
            <a:avLst/>
          </a:prstGeom>
          <a:solidFill>
            <a:srgbClr val="F1F3F6"/>
          </a:solidFill>
          <a:ln>
            <a:noFill/>
          </a:ln>
        </p:spPr>
      </p:sp>
      <p:sp>
        <p:nvSpPr>
          <p:cNvPr id="16" name="Shape 16"/>
          <p:cNvSpPr/>
          <p:nvPr/>
        </p:nvSpPr>
        <p:spPr>
          <a:xfrm>
            <a:off x="4550664" y="2350008"/>
            <a:ext cx="457200" cy="457200"/>
          </a:xfrm>
          <a:prstGeom prst="ellipse">
            <a:avLst/>
          </a:prstGeom>
          <a:solidFill>
            <a:srgbClr val="14213D"/>
          </a:solidFill>
          <a:ln>
            <a:noFill/>
          </a:ln>
        </p:spPr>
        <p:txBody>
          <a:bodyPr wrap="square" lIns="0" tIns="0" rIns="0" bIns="0" rtlCol="0" anchor="ctr">
            <a:noAutofit/>
          </a:bodyPr>
          <a:lstStyle/>
          <a:p>
            <a:pPr marL="0" indent="0" algn="ctr">
              <a:spcBef>
                <a:spcPts val="0"/>
              </a:spcBef>
              <a:buNone/>
            </a:pPr>
            <a:r>
              <a:rPr lang="uz-Latn-UZ" sz="1600" b="1" i="0" dirty="0">
                <a:solidFill>
                  <a:srgbClr val="FFFFFF"/>
                </a:solidFill>
                <a:latin typeface="Arial"/>
                <a:cs typeface="Arial"/>
              </a:rPr>
              <a:t>2</a:t>
            </a:r>
            <a:endParaRPr lang="uz-Latn-UZ" sz="1600" b="1" i="0" dirty="0">
              <a:solidFill>
                <a:srgbClr val="FFFFFF"/>
              </a:solidFill>
              <a:latin typeface="Arial"/>
              <a:cs typeface="Arial"/>
            </a:endParaRPr>
          </a:p>
        </p:txBody>
      </p:sp>
      <p:sp>
        <p:nvSpPr>
          <p:cNvPr id="17" name="TextBox 17"/>
          <p:cNvSpPr/>
          <p:nvPr/>
        </p:nvSpPr>
        <p:spPr>
          <a:xfrm>
            <a:off x="5145024" y="2322576"/>
            <a:ext cx="2538984" cy="512064"/>
          </a:xfrm>
          <a:prstGeom prst="rect">
            <a:avLst/>
          </a:prstGeom>
          <a:noFill/>
          <a:ln>
            <a:noFill/>
          </a:ln>
        </p:spPr>
        <p:txBody>
          <a:bodyPr wrap="square" lIns="0" tIns="0" rIns="0" bIns="0" rtlCol="0" anchor="ctr">
            <a:noAutofit/>
          </a:bodyPr>
          <a:lstStyle/>
          <a:p>
            <a:pPr marL="0" indent="0" algn="l">
              <a:spcBef>
                <a:spcPts val="0"/>
              </a:spcBef>
              <a:buNone/>
            </a:pPr>
            <a:r>
              <a:rPr lang="uz-Latn-UZ" sz="1850" b="1" i="0" dirty="0">
                <a:solidFill>
                  <a:srgbClr val="14213D"/>
                </a:solidFill>
                <a:latin typeface="Arial"/>
                <a:cs typeface="Arial"/>
              </a:rPr>
              <a:t>Din</a:t>
            </a:r>
            <a:endParaRPr lang="uz-Latn-UZ" sz="1850" b="1" i="0" dirty="0">
              <a:solidFill>
                <a:srgbClr val="14213D"/>
              </a:solidFill>
              <a:latin typeface="Arial"/>
              <a:cs typeface="Arial"/>
            </a:endParaRPr>
          </a:p>
        </p:txBody>
      </p:sp>
      <p:sp>
        <p:nvSpPr>
          <p:cNvPr id="18" name="TextBox 18"/>
          <p:cNvSpPr/>
          <p:nvPr/>
        </p:nvSpPr>
        <p:spPr>
          <a:xfrm>
            <a:off x="4550664" y="2990088"/>
            <a:ext cx="3087624" cy="909828"/>
          </a:xfrm>
          <a:prstGeom prst="rect">
            <a:avLst/>
          </a:prstGeom>
          <a:noFill/>
          <a:ln>
            <a:noFill/>
          </a:ln>
        </p:spPr>
        <p:txBody>
          <a:bodyPr wrap="square" lIns="0" tIns="0" rIns="0" bIns="0" rtlCol="0" anchor="t">
            <a:noAutofit/>
          </a:bodyPr>
          <a:lstStyle/>
          <a:p>
            <a:pPr marL="0" indent="0" algn="l">
              <a:lnSpc>
                <a:spcPct val="104000"/>
              </a:lnSpc>
              <a:spcBef>
                <a:spcPts val="0"/>
              </a:spcBef>
              <a:buNone/>
            </a:pPr>
            <a:r>
              <a:rPr lang="uz-Latn-UZ" sz="1600" b="0" i="0" dirty="0">
                <a:solidFill>
                  <a:srgbClr val="1F2937"/>
                </a:solidFill>
                <a:latin typeface="Arial"/>
                <a:cs typeface="Arial"/>
              </a:rPr>
              <a:t>Aholining ko‘pchiligi musulmon; davlat — dunyoviy (Konstitutsiya, 2-modda)</a:t>
            </a:r>
            <a:endParaRPr lang="uz-Latn-UZ" sz="1600" b="0" i="0" dirty="0">
              <a:solidFill>
                <a:srgbClr val="1F2937"/>
              </a:solidFill>
              <a:latin typeface="Arial"/>
              <a:cs typeface="Arial"/>
            </a:endParaRPr>
          </a:p>
        </p:txBody>
      </p:sp>
      <p:sp>
        <p:nvSpPr>
          <p:cNvPr id="19" name="Shape 19"/>
          <p:cNvSpPr/>
          <p:nvPr/>
        </p:nvSpPr>
        <p:spPr>
          <a:xfrm>
            <a:off x="8095488" y="2121408"/>
            <a:ext cx="3544824" cy="1897380"/>
          </a:xfrm>
          <a:prstGeom prst="rect">
            <a:avLst/>
          </a:prstGeom>
          <a:solidFill>
            <a:srgbClr val="F1F3F6"/>
          </a:solidFill>
          <a:ln>
            <a:noFill/>
          </a:ln>
        </p:spPr>
      </p:sp>
      <p:sp>
        <p:nvSpPr>
          <p:cNvPr id="20" name="Shape 20"/>
          <p:cNvSpPr/>
          <p:nvPr/>
        </p:nvSpPr>
        <p:spPr>
          <a:xfrm>
            <a:off x="8324088" y="2350008"/>
            <a:ext cx="457200" cy="457200"/>
          </a:xfrm>
          <a:prstGeom prst="ellipse">
            <a:avLst/>
          </a:prstGeom>
          <a:solidFill>
            <a:srgbClr val="C8102E"/>
          </a:solidFill>
          <a:ln>
            <a:noFill/>
          </a:ln>
        </p:spPr>
        <p:txBody>
          <a:bodyPr wrap="square" lIns="0" tIns="0" rIns="0" bIns="0" rtlCol="0" anchor="ctr">
            <a:noAutofit/>
          </a:bodyPr>
          <a:lstStyle/>
          <a:p>
            <a:pPr marL="0" indent="0" algn="ctr">
              <a:spcBef>
                <a:spcPts val="0"/>
              </a:spcBef>
              <a:buNone/>
            </a:pPr>
            <a:r>
              <a:rPr lang="uz-Latn-UZ" sz="1600" b="1" i="0" dirty="0">
                <a:solidFill>
                  <a:srgbClr val="FFFFFF"/>
                </a:solidFill>
                <a:latin typeface="Arial"/>
                <a:cs typeface="Arial"/>
              </a:rPr>
              <a:t>3</a:t>
            </a:r>
            <a:endParaRPr lang="uz-Latn-UZ" sz="1600" b="1" i="0" dirty="0">
              <a:solidFill>
                <a:srgbClr val="FFFFFF"/>
              </a:solidFill>
              <a:latin typeface="Arial"/>
              <a:cs typeface="Arial"/>
            </a:endParaRPr>
          </a:p>
        </p:txBody>
      </p:sp>
      <p:sp>
        <p:nvSpPr>
          <p:cNvPr id="21" name="TextBox 21"/>
          <p:cNvSpPr/>
          <p:nvPr/>
        </p:nvSpPr>
        <p:spPr>
          <a:xfrm>
            <a:off x="8918448" y="2322576"/>
            <a:ext cx="2538984" cy="512064"/>
          </a:xfrm>
          <a:prstGeom prst="rect">
            <a:avLst/>
          </a:prstGeom>
          <a:noFill/>
          <a:ln>
            <a:noFill/>
          </a:ln>
        </p:spPr>
        <p:txBody>
          <a:bodyPr wrap="square" lIns="0" tIns="0" rIns="0" bIns="0" rtlCol="0" anchor="ctr">
            <a:noAutofit/>
          </a:bodyPr>
          <a:lstStyle/>
          <a:p>
            <a:pPr marL="0" indent="0" algn="l">
              <a:spcBef>
                <a:spcPts val="0"/>
              </a:spcBef>
              <a:buNone/>
            </a:pPr>
            <a:r>
              <a:rPr lang="uz-Latn-UZ" sz="1850" b="1" i="0" dirty="0">
                <a:solidFill>
                  <a:srgbClr val="14213D"/>
                </a:solidFill>
                <a:latin typeface="Arial"/>
                <a:cs typeface="Arial"/>
              </a:rPr>
              <a:t>Milliy qadriyatlar</a:t>
            </a:r>
            <a:endParaRPr lang="uz-Latn-UZ" sz="1850" b="1" i="0" dirty="0">
              <a:solidFill>
                <a:srgbClr val="14213D"/>
              </a:solidFill>
              <a:latin typeface="Arial"/>
              <a:cs typeface="Arial"/>
            </a:endParaRPr>
          </a:p>
        </p:txBody>
      </p:sp>
      <p:sp>
        <p:nvSpPr>
          <p:cNvPr id="22" name="TextBox 22"/>
          <p:cNvSpPr/>
          <p:nvPr/>
        </p:nvSpPr>
        <p:spPr>
          <a:xfrm>
            <a:off x="8324088" y="2990088"/>
            <a:ext cx="3087624" cy="909828"/>
          </a:xfrm>
          <a:prstGeom prst="rect">
            <a:avLst/>
          </a:prstGeom>
          <a:noFill/>
          <a:ln>
            <a:noFill/>
          </a:ln>
        </p:spPr>
        <p:txBody>
          <a:bodyPr wrap="square" lIns="0" tIns="0" rIns="0" bIns="0" rtlCol="0" anchor="t">
            <a:noAutofit/>
          </a:bodyPr>
          <a:lstStyle/>
          <a:p>
            <a:pPr marL="0" indent="0" algn="l">
              <a:lnSpc>
                <a:spcPct val="104000"/>
              </a:lnSpc>
              <a:spcBef>
                <a:spcPts val="0"/>
              </a:spcBef>
              <a:buNone/>
            </a:pPr>
            <a:r>
              <a:rPr lang="uz-Latn-UZ" sz="1600" b="0" i="0" dirty="0">
                <a:solidFill>
                  <a:srgbClr val="1F2937"/>
                </a:solidFill>
                <a:latin typeface="Arial"/>
                <a:cs typeface="Arial"/>
              </a:rPr>
              <a:t>Vatanparvarlik, turk tili va Otaturk merosiga hurmat</a:t>
            </a:r>
            <a:endParaRPr lang="uz-Latn-UZ" sz="1600" b="0" i="0" dirty="0">
              <a:solidFill>
                <a:srgbClr val="1F2937"/>
              </a:solidFill>
              <a:latin typeface="Arial"/>
              <a:cs typeface="Arial"/>
            </a:endParaRPr>
          </a:p>
        </p:txBody>
      </p:sp>
      <p:sp>
        <p:nvSpPr>
          <p:cNvPr id="23" name="Shape 23"/>
          <p:cNvSpPr/>
          <p:nvPr/>
        </p:nvSpPr>
        <p:spPr>
          <a:xfrm>
            <a:off x="548640" y="4247388"/>
            <a:ext cx="3544824" cy="1897380"/>
          </a:xfrm>
          <a:prstGeom prst="rect">
            <a:avLst/>
          </a:prstGeom>
          <a:solidFill>
            <a:srgbClr val="F1F3F6"/>
          </a:solidFill>
          <a:ln>
            <a:noFill/>
          </a:ln>
        </p:spPr>
      </p:sp>
      <p:sp>
        <p:nvSpPr>
          <p:cNvPr id="24" name="Shape 24"/>
          <p:cNvSpPr/>
          <p:nvPr/>
        </p:nvSpPr>
        <p:spPr>
          <a:xfrm>
            <a:off x="777240" y="4475988"/>
            <a:ext cx="457200" cy="457200"/>
          </a:xfrm>
          <a:prstGeom prst="ellipse">
            <a:avLst/>
          </a:prstGeom>
          <a:solidFill>
            <a:srgbClr val="14213D"/>
          </a:solidFill>
          <a:ln>
            <a:noFill/>
          </a:ln>
        </p:spPr>
        <p:txBody>
          <a:bodyPr wrap="square" lIns="0" tIns="0" rIns="0" bIns="0" rtlCol="0" anchor="ctr">
            <a:noAutofit/>
          </a:bodyPr>
          <a:lstStyle/>
          <a:p>
            <a:pPr marL="0" indent="0" algn="ctr">
              <a:spcBef>
                <a:spcPts val="0"/>
              </a:spcBef>
              <a:buNone/>
            </a:pPr>
            <a:r>
              <a:rPr lang="uz-Latn-UZ" sz="1600" b="1" i="0" dirty="0">
                <a:solidFill>
                  <a:srgbClr val="FFFFFF"/>
                </a:solidFill>
                <a:latin typeface="Arial"/>
                <a:cs typeface="Arial"/>
              </a:rPr>
              <a:t>4</a:t>
            </a:r>
            <a:endParaRPr lang="uz-Latn-UZ" sz="1600" b="1" i="0" dirty="0">
              <a:solidFill>
                <a:srgbClr val="FFFFFF"/>
              </a:solidFill>
              <a:latin typeface="Arial"/>
              <a:cs typeface="Arial"/>
            </a:endParaRPr>
          </a:p>
        </p:txBody>
      </p:sp>
      <p:sp>
        <p:nvSpPr>
          <p:cNvPr id="25" name="TextBox 25"/>
          <p:cNvSpPr/>
          <p:nvPr/>
        </p:nvSpPr>
        <p:spPr>
          <a:xfrm>
            <a:off x="1371600" y="4448556"/>
            <a:ext cx="2538984" cy="512064"/>
          </a:xfrm>
          <a:prstGeom prst="rect">
            <a:avLst/>
          </a:prstGeom>
          <a:noFill/>
          <a:ln>
            <a:noFill/>
          </a:ln>
        </p:spPr>
        <p:txBody>
          <a:bodyPr wrap="square" lIns="0" tIns="0" rIns="0" bIns="0" rtlCol="0" anchor="ctr">
            <a:noAutofit/>
          </a:bodyPr>
          <a:lstStyle/>
          <a:p>
            <a:pPr marL="0" indent="0" algn="l">
              <a:spcBef>
                <a:spcPts val="0"/>
              </a:spcBef>
              <a:buNone/>
            </a:pPr>
            <a:r>
              <a:rPr lang="uz-Latn-UZ" sz="1850" b="1" i="0" dirty="0">
                <a:solidFill>
                  <a:srgbClr val="14213D"/>
                </a:solidFill>
                <a:latin typeface="Arial"/>
                <a:cs typeface="Arial"/>
              </a:rPr>
              <a:t>Oila</a:t>
            </a:r>
            <a:endParaRPr lang="uz-Latn-UZ" sz="1850" b="1" i="0" dirty="0">
              <a:solidFill>
                <a:srgbClr val="14213D"/>
              </a:solidFill>
              <a:latin typeface="Arial"/>
              <a:cs typeface="Arial"/>
            </a:endParaRPr>
          </a:p>
        </p:txBody>
      </p:sp>
      <p:sp>
        <p:nvSpPr>
          <p:cNvPr id="26" name="TextBox 26"/>
          <p:cNvSpPr/>
          <p:nvPr/>
        </p:nvSpPr>
        <p:spPr>
          <a:xfrm>
            <a:off x="777240" y="5116068"/>
            <a:ext cx="3087624" cy="909828"/>
          </a:xfrm>
          <a:prstGeom prst="rect">
            <a:avLst/>
          </a:prstGeom>
          <a:noFill/>
          <a:ln>
            <a:noFill/>
          </a:ln>
        </p:spPr>
        <p:txBody>
          <a:bodyPr wrap="square" lIns="0" tIns="0" rIns="0" bIns="0" rtlCol="0" anchor="t">
            <a:noAutofit/>
          </a:bodyPr>
          <a:lstStyle/>
          <a:p>
            <a:pPr marL="0" indent="0" algn="l">
              <a:lnSpc>
                <a:spcPct val="104000"/>
              </a:lnSpc>
              <a:spcBef>
                <a:spcPts val="0"/>
              </a:spcBef>
              <a:buNone/>
            </a:pPr>
            <a:r>
              <a:rPr lang="uz-Latn-UZ" sz="1600" b="0" i="0" dirty="0">
                <a:solidFill>
                  <a:srgbClr val="1F2937"/>
                </a:solidFill>
                <a:latin typeface="Arial"/>
                <a:cs typeface="Arial"/>
              </a:rPr>
              <a:t>Oila — turk jamiyatining asosi (Konstitutsiya, 41-modda)</a:t>
            </a:r>
            <a:endParaRPr lang="uz-Latn-UZ" sz="1600" b="0" i="0" dirty="0">
              <a:solidFill>
                <a:srgbClr val="1F2937"/>
              </a:solidFill>
              <a:latin typeface="Arial"/>
              <a:cs typeface="Arial"/>
            </a:endParaRPr>
          </a:p>
        </p:txBody>
      </p:sp>
      <p:sp>
        <p:nvSpPr>
          <p:cNvPr id="27" name="Shape 27"/>
          <p:cNvSpPr/>
          <p:nvPr/>
        </p:nvSpPr>
        <p:spPr>
          <a:xfrm>
            <a:off x="4322064" y="4247388"/>
            <a:ext cx="3544824" cy="1897380"/>
          </a:xfrm>
          <a:prstGeom prst="rect">
            <a:avLst/>
          </a:prstGeom>
          <a:solidFill>
            <a:srgbClr val="F1F3F6"/>
          </a:solidFill>
          <a:ln>
            <a:noFill/>
          </a:ln>
        </p:spPr>
      </p:sp>
      <p:sp>
        <p:nvSpPr>
          <p:cNvPr id="28" name="Shape 28"/>
          <p:cNvSpPr/>
          <p:nvPr/>
        </p:nvSpPr>
        <p:spPr>
          <a:xfrm>
            <a:off x="4550664" y="4475988"/>
            <a:ext cx="457200" cy="457200"/>
          </a:xfrm>
          <a:prstGeom prst="ellipse">
            <a:avLst/>
          </a:prstGeom>
          <a:solidFill>
            <a:srgbClr val="C8102E"/>
          </a:solidFill>
          <a:ln>
            <a:noFill/>
          </a:ln>
        </p:spPr>
        <p:txBody>
          <a:bodyPr wrap="square" lIns="0" tIns="0" rIns="0" bIns="0" rtlCol="0" anchor="ctr">
            <a:noAutofit/>
          </a:bodyPr>
          <a:lstStyle/>
          <a:p>
            <a:pPr marL="0" indent="0" algn="ctr">
              <a:spcBef>
                <a:spcPts val="0"/>
              </a:spcBef>
              <a:buNone/>
            </a:pPr>
            <a:r>
              <a:rPr lang="uz-Latn-UZ" sz="1600" b="1" i="0" dirty="0">
                <a:solidFill>
                  <a:srgbClr val="FFFFFF"/>
                </a:solidFill>
                <a:latin typeface="Arial"/>
                <a:cs typeface="Arial"/>
              </a:rPr>
              <a:t>5</a:t>
            </a:r>
            <a:endParaRPr lang="uz-Latn-UZ" sz="1600" b="1" i="0" dirty="0">
              <a:solidFill>
                <a:srgbClr val="FFFFFF"/>
              </a:solidFill>
              <a:latin typeface="Arial"/>
              <a:cs typeface="Arial"/>
            </a:endParaRPr>
          </a:p>
        </p:txBody>
      </p:sp>
      <p:sp>
        <p:nvSpPr>
          <p:cNvPr id="29" name="TextBox 29"/>
          <p:cNvSpPr/>
          <p:nvPr/>
        </p:nvSpPr>
        <p:spPr>
          <a:xfrm>
            <a:off x="5145024" y="4448556"/>
            <a:ext cx="2538984" cy="512064"/>
          </a:xfrm>
          <a:prstGeom prst="rect">
            <a:avLst/>
          </a:prstGeom>
          <a:noFill/>
          <a:ln>
            <a:noFill/>
          </a:ln>
        </p:spPr>
        <p:txBody>
          <a:bodyPr wrap="square" lIns="0" tIns="0" rIns="0" bIns="0" rtlCol="0" anchor="ctr">
            <a:noAutofit/>
          </a:bodyPr>
          <a:lstStyle/>
          <a:p>
            <a:pPr marL="0" indent="0" algn="l">
              <a:spcBef>
                <a:spcPts val="0"/>
              </a:spcBef>
              <a:buNone/>
            </a:pPr>
            <a:r>
              <a:rPr lang="uz-Latn-UZ" sz="1850" b="1" i="0" dirty="0">
                <a:solidFill>
                  <a:srgbClr val="14213D"/>
                </a:solidFill>
                <a:latin typeface="Arial"/>
                <a:cs typeface="Arial"/>
              </a:rPr>
              <a:t>Ta’lim</a:t>
            </a:r>
            <a:endParaRPr lang="uz-Latn-UZ" sz="1850" b="1" i="0" dirty="0">
              <a:solidFill>
                <a:srgbClr val="14213D"/>
              </a:solidFill>
              <a:latin typeface="Arial"/>
              <a:cs typeface="Arial"/>
            </a:endParaRPr>
          </a:p>
        </p:txBody>
      </p:sp>
      <p:sp>
        <p:nvSpPr>
          <p:cNvPr id="30" name="TextBox 30"/>
          <p:cNvSpPr/>
          <p:nvPr/>
        </p:nvSpPr>
        <p:spPr>
          <a:xfrm>
            <a:off x="4550664" y="5116068"/>
            <a:ext cx="3087624" cy="909828"/>
          </a:xfrm>
          <a:prstGeom prst="rect">
            <a:avLst/>
          </a:prstGeom>
          <a:noFill/>
          <a:ln>
            <a:noFill/>
          </a:ln>
        </p:spPr>
        <p:txBody>
          <a:bodyPr wrap="square" lIns="0" tIns="0" rIns="0" bIns="0" rtlCol="0" anchor="t">
            <a:noAutofit/>
          </a:bodyPr>
          <a:lstStyle/>
          <a:p>
            <a:pPr marL="0" indent="0" algn="l">
              <a:lnSpc>
                <a:spcPct val="104000"/>
              </a:lnSpc>
              <a:spcBef>
                <a:spcPts val="0"/>
              </a:spcBef>
              <a:buNone/>
            </a:pPr>
            <a:r>
              <a:rPr lang="uz-Latn-UZ" sz="1600" b="0" i="0" dirty="0">
                <a:solidFill>
                  <a:srgbClr val="1F2937"/>
                </a:solidFill>
                <a:latin typeface="Arial"/>
                <a:cs typeface="Arial"/>
              </a:rPr>
              <a:t>2012-yildan 12 yillik majburiy ta’lim</a:t>
            </a:r>
            <a:endParaRPr lang="uz-Latn-UZ" sz="1600" b="0" i="0" dirty="0">
              <a:solidFill>
                <a:srgbClr val="1F2937"/>
              </a:solidFill>
              <a:latin typeface="Arial"/>
              <a:cs typeface="Arial"/>
            </a:endParaRPr>
          </a:p>
        </p:txBody>
      </p:sp>
      <p:sp>
        <p:nvSpPr>
          <p:cNvPr id="31" name="Shape 31"/>
          <p:cNvSpPr/>
          <p:nvPr/>
        </p:nvSpPr>
        <p:spPr>
          <a:xfrm>
            <a:off x="8095488" y="4247388"/>
            <a:ext cx="3544824" cy="1897380"/>
          </a:xfrm>
          <a:prstGeom prst="rect">
            <a:avLst/>
          </a:prstGeom>
          <a:solidFill>
            <a:srgbClr val="F1F3F6"/>
          </a:solidFill>
          <a:ln>
            <a:noFill/>
          </a:ln>
        </p:spPr>
      </p:sp>
      <p:sp>
        <p:nvSpPr>
          <p:cNvPr id="32" name="Shape 32"/>
          <p:cNvSpPr/>
          <p:nvPr/>
        </p:nvSpPr>
        <p:spPr>
          <a:xfrm>
            <a:off x="8324088" y="4475988"/>
            <a:ext cx="457200" cy="457200"/>
          </a:xfrm>
          <a:prstGeom prst="ellipse">
            <a:avLst/>
          </a:prstGeom>
          <a:solidFill>
            <a:srgbClr val="14213D"/>
          </a:solidFill>
          <a:ln>
            <a:noFill/>
          </a:ln>
        </p:spPr>
        <p:txBody>
          <a:bodyPr wrap="square" lIns="0" tIns="0" rIns="0" bIns="0" rtlCol="0" anchor="ctr">
            <a:noAutofit/>
          </a:bodyPr>
          <a:lstStyle/>
          <a:p>
            <a:pPr marL="0" indent="0" algn="ctr">
              <a:spcBef>
                <a:spcPts val="0"/>
              </a:spcBef>
              <a:buNone/>
            </a:pPr>
            <a:r>
              <a:rPr lang="uz-Latn-UZ" sz="1600" b="1" i="0" dirty="0">
                <a:solidFill>
                  <a:srgbClr val="FFFFFF"/>
                </a:solidFill>
                <a:latin typeface="Arial"/>
                <a:cs typeface="Arial"/>
              </a:rPr>
              <a:t>6</a:t>
            </a:r>
            <a:endParaRPr lang="uz-Latn-UZ" sz="1600" b="1" i="0" dirty="0">
              <a:solidFill>
                <a:srgbClr val="FFFFFF"/>
              </a:solidFill>
              <a:latin typeface="Arial"/>
              <a:cs typeface="Arial"/>
            </a:endParaRPr>
          </a:p>
        </p:txBody>
      </p:sp>
      <p:sp>
        <p:nvSpPr>
          <p:cNvPr id="33" name="TextBox 33"/>
          <p:cNvSpPr/>
          <p:nvPr/>
        </p:nvSpPr>
        <p:spPr>
          <a:xfrm>
            <a:off x="8918448" y="4448556"/>
            <a:ext cx="2538984" cy="512064"/>
          </a:xfrm>
          <a:prstGeom prst="rect">
            <a:avLst/>
          </a:prstGeom>
          <a:noFill/>
          <a:ln>
            <a:noFill/>
          </a:ln>
        </p:spPr>
        <p:txBody>
          <a:bodyPr wrap="square" lIns="0" tIns="0" rIns="0" bIns="0" rtlCol="0" anchor="ctr">
            <a:noAutofit/>
          </a:bodyPr>
          <a:lstStyle/>
          <a:p>
            <a:pPr marL="0" indent="0" algn="l">
              <a:spcBef>
                <a:spcPts val="0"/>
              </a:spcBef>
              <a:buNone/>
            </a:pPr>
            <a:r>
              <a:rPr lang="uz-Latn-UZ" sz="1850" b="1" i="0" dirty="0">
                <a:solidFill>
                  <a:srgbClr val="14213D"/>
                </a:solidFill>
                <a:latin typeface="Arial"/>
                <a:cs typeface="Arial"/>
              </a:rPr>
              <a:t>Ijtimoiy qatlamlar</a:t>
            </a:r>
            <a:endParaRPr lang="uz-Latn-UZ" sz="1850" b="1" i="0" dirty="0">
              <a:solidFill>
                <a:srgbClr val="14213D"/>
              </a:solidFill>
              <a:latin typeface="Arial"/>
              <a:cs typeface="Arial"/>
            </a:endParaRPr>
          </a:p>
        </p:txBody>
      </p:sp>
      <p:sp>
        <p:nvSpPr>
          <p:cNvPr id="34" name="TextBox 34"/>
          <p:cNvSpPr/>
          <p:nvPr/>
        </p:nvSpPr>
        <p:spPr>
          <a:xfrm>
            <a:off x="8324088" y="5116068"/>
            <a:ext cx="3087624" cy="909828"/>
          </a:xfrm>
          <a:prstGeom prst="rect">
            <a:avLst/>
          </a:prstGeom>
          <a:noFill/>
          <a:ln>
            <a:noFill/>
          </a:ln>
        </p:spPr>
        <p:txBody>
          <a:bodyPr wrap="square" lIns="0" tIns="0" rIns="0" bIns="0" rtlCol="0" anchor="t">
            <a:noAutofit/>
          </a:bodyPr>
          <a:lstStyle/>
          <a:p>
            <a:pPr marL="0" indent="0" algn="l">
              <a:lnSpc>
                <a:spcPct val="104000"/>
              </a:lnSpc>
              <a:spcBef>
                <a:spcPts val="0"/>
              </a:spcBef>
              <a:buNone/>
            </a:pPr>
            <a:r>
              <a:rPr lang="uz-Latn-UZ" sz="1600" b="0" i="0" dirty="0">
                <a:solidFill>
                  <a:srgbClr val="1F2937"/>
                </a:solidFill>
                <a:latin typeface="Arial"/>
                <a:cs typeface="Arial"/>
              </a:rPr>
              <a:t>Shahar va qishloq, turli avlodlar va dunyoqarashdagi saylovchilar</a:t>
            </a:r>
            <a:endParaRPr lang="uz-Latn-UZ" sz="1600" b="0" i="0" dirty="0">
              <a:solidFill>
                <a:srgbClr val="1F2937"/>
              </a:solidFill>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3-QISM  •  MADANIYAT VA IJTIMOIY HAYOT</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Usmonli merosi, islom va dunyoviylik</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3-ma’ruzachi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15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Shape 10"/>
          <p:cNvSpPr/>
          <p:nvPr/>
        </p:nvSpPr>
        <p:spPr>
          <a:xfrm>
            <a:off x="685800" y="2670048"/>
            <a:ext cx="10817352" cy="54864"/>
          </a:xfrm>
          <a:prstGeom prst="rect">
            <a:avLst/>
          </a:prstGeom>
          <a:solidFill>
            <a:srgbClr val="D1D5DB"/>
          </a:solidFill>
          <a:ln>
            <a:noFill/>
          </a:ln>
        </p:spPr>
      </p:sp>
      <p:sp>
        <p:nvSpPr>
          <p:cNvPr id="11" name="TextBox 11"/>
          <p:cNvSpPr/>
          <p:nvPr/>
        </p:nvSpPr>
        <p:spPr>
          <a:xfrm>
            <a:off x="685800"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1922</a:t>
            </a:r>
            <a:endParaRPr lang="uz-Latn-UZ" sz="2600" b="1" i="0" dirty="0">
              <a:solidFill>
                <a:srgbClr val="C8102E"/>
              </a:solidFill>
              <a:latin typeface="Arial"/>
              <a:cs typeface="Arial"/>
            </a:endParaRPr>
          </a:p>
        </p:txBody>
      </p:sp>
      <p:sp>
        <p:nvSpPr>
          <p:cNvPr id="12" name="Shape 12"/>
          <p:cNvSpPr/>
          <p:nvPr/>
        </p:nvSpPr>
        <p:spPr>
          <a:xfrm>
            <a:off x="1431798" y="2542032"/>
            <a:ext cx="310896" cy="310896"/>
          </a:xfrm>
          <a:prstGeom prst="ellipse">
            <a:avLst/>
          </a:prstGeom>
          <a:solidFill>
            <a:srgbClr val="FFFFFF"/>
          </a:solidFill>
          <a:ln w="19050">
            <a:solidFill>
              <a:srgbClr val="C8102E"/>
            </a:solidFill>
          </a:ln>
        </p:spPr>
      </p:sp>
      <p:sp>
        <p:nvSpPr>
          <p:cNvPr id="13" name="Shape 13"/>
          <p:cNvSpPr/>
          <p:nvPr/>
        </p:nvSpPr>
        <p:spPr>
          <a:xfrm>
            <a:off x="1504950" y="2615184"/>
            <a:ext cx="164592" cy="164592"/>
          </a:xfrm>
          <a:prstGeom prst="ellipse">
            <a:avLst/>
          </a:prstGeom>
          <a:solidFill>
            <a:srgbClr val="C8102E"/>
          </a:solidFill>
          <a:ln>
            <a:noFill/>
          </a:ln>
        </p:spPr>
      </p:sp>
      <p:sp>
        <p:nvSpPr>
          <p:cNvPr id="14" name="TextBox 14"/>
          <p:cNvSpPr/>
          <p:nvPr/>
        </p:nvSpPr>
        <p:spPr>
          <a:xfrm>
            <a:off x="758952"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Saltanat bekor qilindi</a:t>
            </a:r>
            <a:endParaRPr lang="uz-Latn-UZ" sz="1650" b="0" i="0" dirty="0">
              <a:solidFill>
                <a:srgbClr val="1F2937"/>
              </a:solidFill>
              <a:latin typeface="Arial"/>
              <a:cs typeface="Arial"/>
            </a:endParaRPr>
          </a:p>
        </p:txBody>
      </p:sp>
      <p:sp>
        <p:nvSpPr>
          <p:cNvPr id="15" name="TextBox 15"/>
          <p:cNvSpPr/>
          <p:nvPr/>
        </p:nvSpPr>
        <p:spPr>
          <a:xfrm>
            <a:off x="2488692"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1924</a:t>
            </a:r>
            <a:endParaRPr lang="uz-Latn-UZ" sz="2600" b="1" i="0" dirty="0">
              <a:solidFill>
                <a:srgbClr val="C8102E"/>
              </a:solidFill>
              <a:latin typeface="Arial"/>
              <a:cs typeface="Arial"/>
            </a:endParaRPr>
          </a:p>
        </p:txBody>
      </p:sp>
      <p:sp>
        <p:nvSpPr>
          <p:cNvPr id="16" name="Shape 16"/>
          <p:cNvSpPr/>
          <p:nvPr/>
        </p:nvSpPr>
        <p:spPr>
          <a:xfrm>
            <a:off x="3234690" y="2542032"/>
            <a:ext cx="310896" cy="310896"/>
          </a:xfrm>
          <a:prstGeom prst="ellipse">
            <a:avLst/>
          </a:prstGeom>
          <a:solidFill>
            <a:srgbClr val="FFFFFF"/>
          </a:solidFill>
          <a:ln w="19050">
            <a:solidFill>
              <a:srgbClr val="C8102E"/>
            </a:solidFill>
          </a:ln>
        </p:spPr>
      </p:sp>
      <p:sp>
        <p:nvSpPr>
          <p:cNvPr id="17" name="Shape 17"/>
          <p:cNvSpPr/>
          <p:nvPr/>
        </p:nvSpPr>
        <p:spPr>
          <a:xfrm>
            <a:off x="3307842" y="2615184"/>
            <a:ext cx="164592" cy="164592"/>
          </a:xfrm>
          <a:prstGeom prst="ellipse">
            <a:avLst/>
          </a:prstGeom>
          <a:solidFill>
            <a:srgbClr val="C8102E"/>
          </a:solidFill>
          <a:ln>
            <a:noFill/>
          </a:ln>
        </p:spPr>
      </p:sp>
      <p:sp>
        <p:nvSpPr>
          <p:cNvPr id="18" name="TextBox 18"/>
          <p:cNvSpPr/>
          <p:nvPr/>
        </p:nvSpPr>
        <p:spPr>
          <a:xfrm>
            <a:off x="2561844"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Xalifalik bekor qilindi; Diyanet tashkil etildi</a:t>
            </a:r>
            <a:endParaRPr lang="uz-Latn-UZ" sz="1650" b="0" i="0" dirty="0">
              <a:solidFill>
                <a:srgbClr val="1F2937"/>
              </a:solidFill>
              <a:latin typeface="Arial"/>
              <a:cs typeface="Arial"/>
            </a:endParaRPr>
          </a:p>
        </p:txBody>
      </p:sp>
      <p:sp>
        <p:nvSpPr>
          <p:cNvPr id="19" name="TextBox 19"/>
          <p:cNvSpPr/>
          <p:nvPr/>
        </p:nvSpPr>
        <p:spPr>
          <a:xfrm>
            <a:off x="4291584"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1926</a:t>
            </a:r>
            <a:endParaRPr lang="uz-Latn-UZ" sz="2600" b="1" i="0" dirty="0">
              <a:solidFill>
                <a:srgbClr val="C8102E"/>
              </a:solidFill>
              <a:latin typeface="Arial"/>
              <a:cs typeface="Arial"/>
            </a:endParaRPr>
          </a:p>
        </p:txBody>
      </p:sp>
      <p:sp>
        <p:nvSpPr>
          <p:cNvPr id="20" name="Shape 20"/>
          <p:cNvSpPr/>
          <p:nvPr/>
        </p:nvSpPr>
        <p:spPr>
          <a:xfrm>
            <a:off x="5037582" y="2542032"/>
            <a:ext cx="310896" cy="310896"/>
          </a:xfrm>
          <a:prstGeom prst="ellipse">
            <a:avLst/>
          </a:prstGeom>
          <a:solidFill>
            <a:srgbClr val="FFFFFF"/>
          </a:solidFill>
          <a:ln w="19050">
            <a:solidFill>
              <a:srgbClr val="C8102E"/>
            </a:solidFill>
          </a:ln>
        </p:spPr>
      </p:sp>
      <p:sp>
        <p:nvSpPr>
          <p:cNvPr id="21" name="Shape 21"/>
          <p:cNvSpPr/>
          <p:nvPr/>
        </p:nvSpPr>
        <p:spPr>
          <a:xfrm>
            <a:off x="5110734" y="2615184"/>
            <a:ext cx="164592" cy="164592"/>
          </a:xfrm>
          <a:prstGeom prst="ellipse">
            <a:avLst/>
          </a:prstGeom>
          <a:solidFill>
            <a:srgbClr val="C8102E"/>
          </a:solidFill>
          <a:ln>
            <a:noFill/>
          </a:ln>
        </p:spPr>
      </p:sp>
      <p:sp>
        <p:nvSpPr>
          <p:cNvPr id="22" name="TextBox 22"/>
          <p:cNvSpPr/>
          <p:nvPr/>
        </p:nvSpPr>
        <p:spPr>
          <a:xfrm>
            <a:off x="4364736"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Yangi Fuqarolik kodeksi qabul qilindi</a:t>
            </a:r>
            <a:endParaRPr lang="uz-Latn-UZ" sz="1650" b="0" i="0" dirty="0">
              <a:solidFill>
                <a:srgbClr val="1F2937"/>
              </a:solidFill>
              <a:latin typeface="Arial"/>
              <a:cs typeface="Arial"/>
            </a:endParaRPr>
          </a:p>
        </p:txBody>
      </p:sp>
      <p:sp>
        <p:nvSpPr>
          <p:cNvPr id="23" name="TextBox 23"/>
          <p:cNvSpPr/>
          <p:nvPr/>
        </p:nvSpPr>
        <p:spPr>
          <a:xfrm>
            <a:off x="6094476"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1928</a:t>
            </a:r>
            <a:endParaRPr lang="uz-Latn-UZ" sz="2600" b="1" i="0" dirty="0">
              <a:solidFill>
                <a:srgbClr val="C8102E"/>
              </a:solidFill>
              <a:latin typeface="Arial"/>
              <a:cs typeface="Arial"/>
            </a:endParaRPr>
          </a:p>
        </p:txBody>
      </p:sp>
      <p:sp>
        <p:nvSpPr>
          <p:cNvPr id="24" name="Shape 24"/>
          <p:cNvSpPr/>
          <p:nvPr/>
        </p:nvSpPr>
        <p:spPr>
          <a:xfrm>
            <a:off x="6840474" y="2542032"/>
            <a:ext cx="310896" cy="310896"/>
          </a:xfrm>
          <a:prstGeom prst="ellipse">
            <a:avLst/>
          </a:prstGeom>
          <a:solidFill>
            <a:srgbClr val="FFFFFF"/>
          </a:solidFill>
          <a:ln w="19050">
            <a:solidFill>
              <a:srgbClr val="C8102E"/>
            </a:solidFill>
          </a:ln>
        </p:spPr>
      </p:sp>
      <p:sp>
        <p:nvSpPr>
          <p:cNvPr id="25" name="Shape 25"/>
          <p:cNvSpPr/>
          <p:nvPr/>
        </p:nvSpPr>
        <p:spPr>
          <a:xfrm>
            <a:off x="6913626" y="2615184"/>
            <a:ext cx="164592" cy="164592"/>
          </a:xfrm>
          <a:prstGeom prst="ellipse">
            <a:avLst/>
          </a:prstGeom>
          <a:solidFill>
            <a:srgbClr val="C8102E"/>
          </a:solidFill>
          <a:ln>
            <a:noFill/>
          </a:ln>
        </p:spPr>
      </p:sp>
      <p:sp>
        <p:nvSpPr>
          <p:cNvPr id="26" name="TextBox 26"/>
          <p:cNvSpPr/>
          <p:nvPr/>
        </p:nvSpPr>
        <p:spPr>
          <a:xfrm>
            <a:off x="6167628"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Lotin alifbosiga o‘tildi</a:t>
            </a:r>
            <a:endParaRPr lang="uz-Latn-UZ" sz="1650" b="0" i="0" dirty="0">
              <a:solidFill>
                <a:srgbClr val="1F2937"/>
              </a:solidFill>
              <a:latin typeface="Arial"/>
              <a:cs typeface="Arial"/>
            </a:endParaRPr>
          </a:p>
        </p:txBody>
      </p:sp>
      <p:sp>
        <p:nvSpPr>
          <p:cNvPr id="27" name="TextBox 27"/>
          <p:cNvSpPr/>
          <p:nvPr/>
        </p:nvSpPr>
        <p:spPr>
          <a:xfrm>
            <a:off x="7897368"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1934</a:t>
            </a:r>
            <a:endParaRPr lang="uz-Latn-UZ" sz="2600" b="1" i="0" dirty="0">
              <a:solidFill>
                <a:srgbClr val="C8102E"/>
              </a:solidFill>
              <a:latin typeface="Arial"/>
              <a:cs typeface="Arial"/>
            </a:endParaRPr>
          </a:p>
        </p:txBody>
      </p:sp>
      <p:sp>
        <p:nvSpPr>
          <p:cNvPr id="28" name="Shape 28"/>
          <p:cNvSpPr/>
          <p:nvPr/>
        </p:nvSpPr>
        <p:spPr>
          <a:xfrm>
            <a:off x="8643366" y="2542032"/>
            <a:ext cx="310896" cy="310896"/>
          </a:xfrm>
          <a:prstGeom prst="ellipse">
            <a:avLst/>
          </a:prstGeom>
          <a:solidFill>
            <a:srgbClr val="FFFFFF"/>
          </a:solidFill>
          <a:ln w="19050">
            <a:solidFill>
              <a:srgbClr val="C8102E"/>
            </a:solidFill>
          </a:ln>
        </p:spPr>
      </p:sp>
      <p:sp>
        <p:nvSpPr>
          <p:cNvPr id="29" name="Shape 29"/>
          <p:cNvSpPr/>
          <p:nvPr/>
        </p:nvSpPr>
        <p:spPr>
          <a:xfrm>
            <a:off x="8716518" y="2615184"/>
            <a:ext cx="164592" cy="164592"/>
          </a:xfrm>
          <a:prstGeom prst="ellipse">
            <a:avLst/>
          </a:prstGeom>
          <a:solidFill>
            <a:srgbClr val="C8102E"/>
          </a:solidFill>
          <a:ln>
            <a:noFill/>
          </a:ln>
        </p:spPr>
      </p:sp>
      <p:sp>
        <p:nvSpPr>
          <p:cNvPr id="30" name="TextBox 30"/>
          <p:cNvSpPr/>
          <p:nvPr/>
        </p:nvSpPr>
        <p:spPr>
          <a:xfrm>
            <a:off x="7970520"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Ayollarga saylash va saylanish huquqi berildi</a:t>
            </a:r>
            <a:endParaRPr lang="uz-Latn-UZ" sz="1650" b="0" i="0" dirty="0">
              <a:solidFill>
                <a:srgbClr val="1F2937"/>
              </a:solidFill>
              <a:latin typeface="Arial"/>
              <a:cs typeface="Arial"/>
            </a:endParaRPr>
          </a:p>
        </p:txBody>
      </p:sp>
      <p:sp>
        <p:nvSpPr>
          <p:cNvPr id="31" name="TextBox 31"/>
          <p:cNvSpPr/>
          <p:nvPr/>
        </p:nvSpPr>
        <p:spPr>
          <a:xfrm>
            <a:off x="9700260" y="1737360"/>
            <a:ext cx="1802892" cy="594360"/>
          </a:xfrm>
          <a:prstGeom prst="rect">
            <a:avLst/>
          </a:prstGeom>
          <a:noFill/>
          <a:ln>
            <a:noFill/>
          </a:ln>
        </p:spPr>
        <p:txBody>
          <a:bodyPr wrap="square" lIns="0" tIns="0" rIns="0" bIns="0" rtlCol="0" anchor="b">
            <a:noAutofit/>
          </a:bodyPr>
          <a:lstStyle/>
          <a:p>
            <a:pPr marL="0" indent="0" algn="ctr">
              <a:spcBef>
                <a:spcPts val="0"/>
              </a:spcBef>
              <a:buNone/>
            </a:pPr>
            <a:r>
              <a:rPr lang="uz-Latn-UZ" sz="2600" b="1" i="0" dirty="0">
                <a:solidFill>
                  <a:srgbClr val="C8102E"/>
                </a:solidFill>
                <a:latin typeface="Arial"/>
                <a:cs typeface="Arial"/>
              </a:rPr>
              <a:t>1937</a:t>
            </a:r>
            <a:endParaRPr lang="uz-Latn-UZ" sz="2600" b="1" i="0" dirty="0">
              <a:solidFill>
                <a:srgbClr val="C8102E"/>
              </a:solidFill>
              <a:latin typeface="Arial"/>
              <a:cs typeface="Arial"/>
            </a:endParaRPr>
          </a:p>
        </p:txBody>
      </p:sp>
      <p:sp>
        <p:nvSpPr>
          <p:cNvPr id="32" name="Shape 32"/>
          <p:cNvSpPr/>
          <p:nvPr/>
        </p:nvSpPr>
        <p:spPr>
          <a:xfrm>
            <a:off x="10446258" y="2542032"/>
            <a:ext cx="310896" cy="310896"/>
          </a:xfrm>
          <a:prstGeom prst="ellipse">
            <a:avLst/>
          </a:prstGeom>
          <a:solidFill>
            <a:srgbClr val="FFFFFF"/>
          </a:solidFill>
          <a:ln w="19050">
            <a:solidFill>
              <a:srgbClr val="C8102E"/>
            </a:solidFill>
          </a:ln>
        </p:spPr>
      </p:sp>
      <p:sp>
        <p:nvSpPr>
          <p:cNvPr id="33" name="Shape 33"/>
          <p:cNvSpPr/>
          <p:nvPr/>
        </p:nvSpPr>
        <p:spPr>
          <a:xfrm>
            <a:off x="10519410" y="2615184"/>
            <a:ext cx="164592" cy="164592"/>
          </a:xfrm>
          <a:prstGeom prst="ellipse">
            <a:avLst/>
          </a:prstGeom>
          <a:solidFill>
            <a:srgbClr val="C8102E"/>
          </a:solidFill>
          <a:ln>
            <a:noFill/>
          </a:ln>
        </p:spPr>
      </p:sp>
      <p:sp>
        <p:nvSpPr>
          <p:cNvPr id="34" name="TextBox 34"/>
          <p:cNvSpPr/>
          <p:nvPr/>
        </p:nvSpPr>
        <p:spPr>
          <a:xfrm>
            <a:off x="9773412" y="3063240"/>
            <a:ext cx="1656588" cy="1828800"/>
          </a:xfrm>
          <a:prstGeom prst="rect">
            <a:avLst/>
          </a:prstGeom>
          <a:noFill/>
          <a:ln>
            <a:noFill/>
          </a:ln>
        </p:spPr>
        <p:txBody>
          <a:bodyPr wrap="square" lIns="0" tIns="0" rIns="0" bIns="0" rtlCol="0" anchor="t">
            <a:noAutofit/>
          </a:bodyPr>
          <a:lstStyle/>
          <a:p>
            <a:pPr marL="0" indent="0" algn="ctr">
              <a:spcBef>
                <a:spcPts val="0"/>
              </a:spcBef>
              <a:buNone/>
            </a:pPr>
            <a:r>
              <a:rPr lang="uz-Latn-UZ" sz="1650" b="0" i="0" dirty="0">
                <a:solidFill>
                  <a:srgbClr val="1F2937"/>
                </a:solidFill>
                <a:latin typeface="Arial"/>
                <a:cs typeface="Arial"/>
              </a:rPr>
              <a:t>Dunyoviylik tamoyili Konstitutsiyaga kiritildi</a:t>
            </a:r>
            <a:endParaRPr lang="uz-Latn-UZ" sz="1650" b="0" i="0" dirty="0">
              <a:solidFill>
                <a:srgbClr val="1F2937"/>
              </a:solidFill>
              <a:latin typeface="Arial"/>
              <a:cs typeface="Arial"/>
            </a:endParaRPr>
          </a:p>
        </p:txBody>
      </p:sp>
      <p:sp>
        <p:nvSpPr>
          <p:cNvPr id="35" name="Shape 35"/>
          <p:cNvSpPr/>
          <p:nvPr/>
        </p:nvSpPr>
        <p:spPr>
          <a:xfrm>
            <a:off x="548640" y="5029200"/>
            <a:ext cx="11091672" cy="1097280"/>
          </a:xfrm>
          <a:prstGeom prst="rect">
            <a:avLst/>
          </a:prstGeom>
          <a:solidFill>
            <a:srgbClr val="F1F3F6"/>
          </a:solidFill>
          <a:ln>
            <a:noFill/>
          </a:ln>
        </p:spPr>
      </p:sp>
      <p:sp>
        <p:nvSpPr>
          <p:cNvPr id="36" name="Shape 36"/>
          <p:cNvSpPr/>
          <p:nvPr/>
        </p:nvSpPr>
        <p:spPr>
          <a:xfrm>
            <a:off x="548640" y="5029200"/>
            <a:ext cx="82296" cy="1097280"/>
          </a:xfrm>
          <a:prstGeom prst="rect">
            <a:avLst/>
          </a:prstGeom>
          <a:solidFill>
            <a:srgbClr val="C8102E"/>
          </a:solidFill>
          <a:ln>
            <a:noFill/>
          </a:ln>
        </p:spPr>
      </p:sp>
      <p:sp>
        <p:nvSpPr>
          <p:cNvPr id="37" name="TextBox 37"/>
          <p:cNvSpPr/>
          <p:nvPr/>
        </p:nvSpPr>
        <p:spPr>
          <a:xfrm>
            <a:off x="868680" y="5074920"/>
            <a:ext cx="10607040" cy="1005840"/>
          </a:xfrm>
          <a:prstGeom prst="rect">
            <a:avLst/>
          </a:prstGeom>
          <a:noFill/>
          <a:ln>
            <a:noFill/>
          </a:ln>
        </p:spPr>
        <p:txBody>
          <a:bodyPr wrap="square" lIns="0" tIns="0" rIns="0" bIns="0" rtlCol="0" anchor="ctr">
            <a:noAutofit/>
          </a:bodyPr>
          <a:lstStyle/>
          <a:p>
            <a:pPr marL="0" indent="0" algn="l">
              <a:spcBef>
                <a:spcPts val="0"/>
              </a:spcBef>
              <a:buNone/>
            </a:pPr>
            <a:r>
              <a:rPr lang="uz-Latn-UZ" sz="1650" b="0" i="1" dirty="0">
                <a:solidFill>
                  <a:srgbClr val="14213D"/>
                </a:solidFill>
                <a:latin typeface="Arial"/>
                <a:cs typeface="Arial"/>
              </a:rPr>
              <a:t>Usmonli merosi, islom, dunyoviylik va zamonaviy turmush tarzi chambarchas bog‘liq — bu partiyalar, saylovchilar va davlat siyosatiga ta’sir qiladi (2023-yilgi saylovda ishtirok — 87%).</a:t>
            </a:r>
            <a:endParaRPr lang="uz-Latn-UZ" sz="1650" b="0" i="1" dirty="0">
              <a:solidFill>
                <a:srgbClr val="14213D"/>
              </a:solidFill>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3-QISM  •  MADANIYAT VA IJTIMOIY HAYOT</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Milliy o‘zlik va etnik xilma-xillik</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3-ma’ruzachi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16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TextBox 10"/>
          <p:cNvSpPr/>
          <p:nvPr/>
        </p:nvSpPr>
        <p:spPr>
          <a:xfrm>
            <a:off x="548640" y="1517904"/>
            <a:ext cx="11091672" cy="512064"/>
          </a:xfrm>
          <a:prstGeom prst="rect">
            <a:avLst/>
          </a:prstGeom>
          <a:noFill/>
          <a:ln>
            <a:noFill/>
          </a:ln>
        </p:spPr>
        <p:txBody>
          <a:bodyPr wrap="square" lIns="0" tIns="0" rIns="0" bIns="0" rtlCol="0" anchor="ctr">
            <a:noAutofit/>
          </a:bodyPr>
          <a:lstStyle/>
          <a:p>
            <a:pPr marL="0" indent="0" algn="l">
              <a:spcBef>
                <a:spcPts val="0"/>
              </a:spcBef>
              <a:buNone/>
            </a:pPr>
            <a:r>
              <a:rPr lang="uz-Latn-UZ" sz="1700" b="0" i="1" dirty="0">
                <a:solidFill>
                  <a:srgbClr val="14213D"/>
                </a:solidFill>
                <a:latin typeface="Arial"/>
                <a:cs typeface="Arial"/>
              </a:rPr>
              <a:t>Bu masalalar milliy birlik, fuqarolik huquqlari va davlat siyosati haqidagi qarashlarga ta’sir ko‘rsatadi</a:t>
            </a:r>
            <a:endParaRPr lang="uz-Latn-UZ" sz="1700" b="0" i="1" dirty="0">
              <a:solidFill>
                <a:srgbClr val="14213D"/>
              </a:solidFill>
              <a:latin typeface="Arial"/>
              <a:cs typeface="Arial"/>
            </a:endParaRPr>
          </a:p>
        </p:txBody>
      </p:sp>
      <p:sp>
        <p:nvSpPr>
          <p:cNvPr id="11" name="Shape 11"/>
          <p:cNvSpPr/>
          <p:nvPr/>
        </p:nvSpPr>
        <p:spPr>
          <a:xfrm>
            <a:off x="548640" y="2121408"/>
            <a:ext cx="3514344" cy="4023360"/>
          </a:xfrm>
          <a:prstGeom prst="rect">
            <a:avLst/>
          </a:prstGeom>
          <a:solidFill>
            <a:srgbClr val="F1F3F6"/>
          </a:solidFill>
          <a:ln>
            <a:noFill/>
          </a:ln>
        </p:spPr>
      </p:sp>
      <p:sp>
        <p:nvSpPr>
          <p:cNvPr id="12" name="Shape 12"/>
          <p:cNvSpPr/>
          <p:nvPr/>
        </p:nvSpPr>
        <p:spPr>
          <a:xfrm>
            <a:off x="548640" y="2121408"/>
            <a:ext cx="3514344" cy="73152"/>
          </a:xfrm>
          <a:prstGeom prst="rect">
            <a:avLst/>
          </a:prstGeom>
          <a:solidFill>
            <a:srgbClr val="C8102E"/>
          </a:solidFill>
          <a:ln>
            <a:noFill/>
          </a:ln>
        </p:spPr>
      </p:sp>
      <p:sp>
        <p:nvSpPr>
          <p:cNvPr id="13" name="TextBox 13"/>
          <p:cNvSpPr/>
          <p:nvPr/>
        </p:nvSpPr>
        <p:spPr>
          <a:xfrm>
            <a:off x="804672" y="2322576"/>
            <a:ext cx="3002280" cy="530352"/>
          </a:xfrm>
          <a:prstGeom prst="rect">
            <a:avLst/>
          </a:prstGeom>
          <a:noFill/>
          <a:ln>
            <a:noFill/>
          </a:ln>
        </p:spPr>
        <p:txBody>
          <a:bodyPr wrap="square" lIns="0" tIns="0" rIns="0" bIns="0" rtlCol="0" anchor="ctr">
            <a:noAutofit/>
          </a:bodyPr>
          <a:lstStyle/>
          <a:p>
            <a:pPr marL="0" indent="0" algn="l">
              <a:spcBef>
                <a:spcPts val="0"/>
              </a:spcBef>
              <a:buNone/>
            </a:pPr>
            <a:r>
              <a:rPr lang="uz-Latn-UZ" sz="2000" b="1" i="0" dirty="0">
                <a:solidFill>
                  <a:srgbClr val="14213D"/>
                </a:solidFill>
                <a:latin typeface="Arial"/>
                <a:cs typeface="Arial"/>
              </a:rPr>
              <a:t>Milliy o‘zlik</a:t>
            </a:r>
            <a:endParaRPr lang="uz-Latn-UZ" sz="2000" b="1" i="0" dirty="0">
              <a:solidFill>
                <a:srgbClr val="14213D"/>
              </a:solidFill>
              <a:latin typeface="Arial"/>
              <a:cs typeface="Arial"/>
            </a:endParaRPr>
          </a:p>
        </p:txBody>
      </p:sp>
      <p:cxnSp>
        <p:nvCxnSpPr>
          <p:cNvPr id="14" name="Line 14"/>
          <p:cNvCxnSpPr/>
          <p:nvPr/>
        </p:nvCxnSpPr>
        <p:spPr>
          <a:xfrm>
            <a:off x="804672" y="2962656"/>
            <a:ext cx="3002280" cy="0"/>
          </a:xfrm>
          <a:prstGeom prst="line">
            <a:avLst/>
          </a:prstGeom>
          <a:ln w="12700">
            <a:solidFill>
              <a:srgbClr val="D1D5DB"/>
            </a:solidFill>
          </a:ln>
        </p:spPr>
      </p:cxnSp>
      <p:sp>
        <p:nvSpPr>
          <p:cNvPr id="15" name="TextBox 15"/>
          <p:cNvSpPr/>
          <p:nvPr/>
        </p:nvSpPr>
        <p:spPr>
          <a:xfrm>
            <a:off x="804672" y="3108960"/>
            <a:ext cx="3002280" cy="2880360"/>
          </a:xfrm>
          <a:prstGeom prst="rect">
            <a:avLst/>
          </a:prstGeom>
          <a:noFill/>
          <a:ln>
            <a:noFill/>
          </a:ln>
        </p:spPr>
        <p:txBody>
          <a:bodyPr wrap="square" lIns="0" tIns="0" rIns="0" bIns="0" rtlCol="0" anchor="t">
            <a:noAutofit/>
          </a:bodyPr>
          <a:lstStyle/>
          <a:p>
            <a:pPr marL="256032" indent="-256032" algn="l">
              <a:spcBef>
                <a:spcPts val="0"/>
              </a:spcBef>
              <a:buClr>
                <a:srgbClr val="C8102E"/>
              </a:buClr>
              <a:buFont typeface="Arial"/>
              <a:buChar char="•"/>
            </a:pPr>
            <a:r>
              <a:rPr lang="uz-Latn-UZ" sz="1700" b="0" i="0" dirty="0">
                <a:solidFill>
                  <a:srgbClr val="1F2937"/>
                </a:solidFill>
                <a:latin typeface="Arial"/>
                <a:cs typeface="Arial"/>
              </a:rPr>
              <a:t>Turk milliy o‘zligi siyosiy hayotda muhim o‘rin tutadi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Konstitutsiya, 66-modda: fuqarolik asosidagi «turk» tushunchasi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Davlat tili — turk tili</a:t>
            </a:r>
            <a:endParaRPr lang="uz-Latn-UZ" sz="1700" b="0" i="0" dirty="0">
              <a:solidFill>
                <a:srgbClr val="1F2937"/>
              </a:solidFill>
              <a:latin typeface="Arial"/>
              <a:cs typeface="Arial"/>
            </a:endParaRPr>
          </a:p>
        </p:txBody>
      </p:sp>
      <p:sp>
        <p:nvSpPr>
          <p:cNvPr id="16" name="Shape 16"/>
          <p:cNvSpPr/>
          <p:nvPr/>
        </p:nvSpPr>
        <p:spPr>
          <a:xfrm>
            <a:off x="4337304" y="2121408"/>
            <a:ext cx="3514344" cy="4023360"/>
          </a:xfrm>
          <a:prstGeom prst="rect">
            <a:avLst/>
          </a:prstGeom>
          <a:solidFill>
            <a:srgbClr val="F1F3F6"/>
          </a:solidFill>
          <a:ln>
            <a:noFill/>
          </a:ln>
        </p:spPr>
      </p:sp>
      <p:sp>
        <p:nvSpPr>
          <p:cNvPr id="17" name="Shape 17"/>
          <p:cNvSpPr/>
          <p:nvPr/>
        </p:nvSpPr>
        <p:spPr>
          <a:xfrm>
            <a:off x="4337304" y="2121408"/>
            <a:ext cx="3514344" cy="73152"/>
          </a:xfrm>
          <a:prstGeom prst="rect">
            <a:avLst/>
          </a:prstGeom>
          <a:solidFill>
            <a:srgbClr val="14213D"/>
          </a:solidFill>
          <a:ln>
            <a:noFill/>
          </a:ln>
        </p:spPr>
      </p:sp>
      <p:sp>
        <p:nvSpPr>
          <p:cNvPr id="18" name="TextBox 18"/>
          <p:cNvSpPr/>
          <p:nvPr/>
        </p:nvSpPr>
        <p:spPr>
          <a:xfrm>
            <a:off x="4593336" y="2322576"/>
            <a:ext cx="3002280" cy="530352"/>
          </a:xfrm>
          <a:prstGeom prst="rect">
            <a:avLst/>
          </a:prstGeom>
          <a:noFill/>
          <a:ln>
            <a:noFill/>
          </a:ln>
        </p:spPr>
        <p:txBody>
          <a:bodyPr wrap="square" lIns="0" tIns="0" rIns="0" bIns="0" rtlCol="0" anchor="ctr">
            <a:noAutofit/>
          </a:bodyPr>
          <a:lstStyle/>
          <a:p>
            <a:pPr marL="0" indent="0" algn="l">
              <a:spcBef>
                <a:spcPts val="0"/>
              </a:spcBef>
              <a:buNone/>
            </a:pPr>
            <a:r>
              <a:rPr lang="uz-Latn-UZ" sz="2000" b="1" i="0" dirty="0">
                <a:solidFill>
                  <a:srgbClr val="14213D"/>
                </a:solidFill>
                <a:latin typeface="Arial"/>
                <a:cs typeface="Arial"/>
              </a:rPr>
              <a:t>Etnik xilma-xillik</a:t>
            </a:r>
            <a:endParaRPr lang="uz-Latn-UZ" sz="2000" b="1" i="0" dirty="0">
              <a:solidFill>
                <a:srgbClr val="14213D"/>
              </a:solidFill>
              <a:latin typeface="Arial"/>
              <a:cs typeface="Arial"/>
            </a:endParaRPr>
          </a:p>
        </p:txBody>
      </p:sp>
      <p:cxnSp>
        <p:nvCxnSpPr>
          <p:cNvPr id="19" name="Line 19"/>
          <p:cNvCxnSpPr/>
          <p:nvPr/>
        </p:nvCxnSpPr>
        <p:spPr>
          <a:xfrm>
            <a:off x="4593336" y="2962656"/>
            <a:ext cx="3002280" cy="0"/>
          </a:xfrm>
          <a:prstGeom prst="line">
            <a:avLst/>
          </a:prstGeom>
          <a:ln w="12700">
            <a:solidFill>
              <a:srgbClr val="D1D5DB"/>
            </a:solidFill>
          </a:ln>
        </p:spPr>
      </p:cxnSp>
      <p:sp>
        <p:nvSpPr>
          <p:cNvPr id="20" name="TextBox 20"/>
          <p:cNvSpPr/>
          <p:nvPr/>
        </p:nvSpPr>
        <p:spPr>
          <a:xfrm>
            <a:off x="4593336" y="3108960"/>
            <a:ext cx="3002280" cy="2880360"/>
          </a:xfrm>
          <a:prstGeom prst="rect">
            <a:avLst/>
          </a:prstGeom>
          <a:noFill/>
          <a:ln>
            <a:noFill/>
          </a:ln>
        </p:spPr>
        <p:txBody>
          <a:bodyPr wrap="square" lIns="0" tIns="0" rIns="0" bIns="0" rtlCol="0" anchor="t">
            <a:noAutofit/>
          </a:bodyPr>
          <a:lstStyle/>
          <a:p>
            <a:pPr marL="256032" indent="-256032" algn="l">
              <a:spcBef>
                <a:spcPts val="0"/>
              </a:spcBef>
              <a:buClr>
                <a:srgbClr val="C8102E"/>
              </a:buClr>
              <a:buFont typeface="Arial"/>
              <a:buChar char="•"/>
            </a:pPr>
            <a:r>
              <a:rPr lang="uz-Latn-UZ" sz="1700" b="0" i="0" dirty="0">
                <a:solidFill>
                  <a:srgbClr val="1F2937"/>
                </a:solidFill>
                <a:latin typeface="Arial"/>
                <a:cs typeface="Arial"/>
              </a:rPr>
              <a:t>Kurdlar — eng yirik etnik ozchilik</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Arablar, cherkaslar, lazlar va boshqa xalqlar</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Rang-barang madaniy an’analar</a:t>
            </a:r>
            <a:endParaRPr lang="uz-Latn-UZ" sz="1700" b="0" i="0" dirty="0">
              <a:solidFill>
                <a:srgbClr val="1F2937"/>
              </a:solidFill>
              <a:latin typeface="Arial"/>
              <a:cs typeface="Arial"/>
            </a:endParaRPr>
          </a:p>
        </p:txBody>
      </p:sp>
      <p:sp>
        <p:nvSpPr>
          <p:cNvPr id="21" name="Shape 21"/>
          <p:cNvSpPr/>
          <p:nvPr/>
        </p:nvSpPr>
        <p:spPr>
          <a:xfrm>
            <a:off x="8125968" y="2121408"/>
            <a:ext cx="3514344" cy="4023360"/>
          </a:xfrm>
          <a:prstGeom prst="rect">
            <a:avLst/>
          </a:prstGeom>
          <a:solidFill>
            <a:srgbClr val="F1F3F6"/>
          </a:solidFill>
          <a:ln>
            <a:noFill/>
          </a:ln>
        </p:spPr>
      </p:sp>
      <p:sp>
        <p:nvSpPr>
          <p:cNvPr id="22" name="Shape 22"/>
          <p:cNvSpPr/>
          <p:nvPr/>
        </p:nvSpPr>
        <p:spPr>
          <a:xfrm>
            <a:off x="8125968" y="2121408"/>
            <a:ext cx="3514344" cy="73152"/>
          </a:xfrm>
          <a:prstGeom prst="rect">
            <a:avLst/>
          </a:prstGeom>
          <a:solidFill>
            <a:srgbClr val="C8102E"/>
          </a:solidFill>
          <a:ln>
            <a:noFill/>
          </a:ln>
        </p:spPr>
      </p:sp>
      <p:sp>
        <p:nvSpPr>
          <p:cNvPr id="23" name="TextBox 23"/>
          <p:cNvSpPr/>
          <p:nvPr/>
        </p:nvSpPr>
        <p:spPr>
          <a:xfrm>
            <a:off x="8382000" y="2322576"/>
            <a:ext cx="3002280" cy="530352"/>
          </a:xfrm>
          <a:prstGeom prst="rect">
            <a:avLst/>
          </a:prstGeom>
          <a:noFill/>
          <a:ln>
            <a:noFill/>
          </a:ln>
        </p:spPr>
        <p:txBody>
          <a:bodyPr wrap="square" lIns="0" tIns="0" rIns="0" bIns="0" rtlCol="0" anchor="ctr">
            <a:noAutofit/>
          </a:bodyPr>
          <a:lstStyle/>
          <a:p>
            <a:pPr marL="0" indent="0" algn="l">
              <a:spcBef>
                <a:spcPts val="0"/>
              </a:spcBef>
              <a:buNone/>
            </a:pPr>
            <a:r>
              <a:rPr lang="uz-Latn-UZ" sz="2000" b="1" i="0" dirty="0">
                <a:solidFill>
                  <a:srgbClr val="14213D"/>
                </a:solidFill>
                <a:latin typeface="Arial"/>
                <a:cs typeface="Arial"/>
              </a:rPr>
              <a:t>Kurd masalasi</a:t>
            </a:r>
            <a:endParaRPr lang="uz-Latn-UZ" sz="2000" b="1" i="0" dirty="0">
              <a:solidFill>
                <a:srgbClr val="14213D"/>
              </a:solidFill>
              <a:latin typeface="Arial"/>
              <a:cs typeface="Arial"/>
            </a:endParaRPr>
          </a:p>
        </p:txBody>
      </p:sp>
      <p:cxnSp>
        <p:nvCxnSpPr>
          <p:cNvPr id="24" name="Line 24"/>
          <p:cNvCxnSpPr/>
          <p:nvPr/>
        </p:nvCxnSpPr>
        <p:spPr>
          <a:xfrm>
            <a:off x="8382000" y="2962656"/>
            <a:ext cx="3002280" cy="0"/>
          </a:xfrm>
          <a:prstGeom prst="line">
            <a:avLst/>
          </a:prstGeom>
          <a:ln w="12700">
            <a:solidFill>
              <a:srgbClr val="D1D5DB"/>
            </a:solidFill>
          </a:ln>
        </p:spPr>
      </p:cxnSp>
      <p:sp>
        <p:nvSpPr>
          <p:cNvPr id="25" name="TextBox 25"/>
          <p:cNvSpPr/>
          <p:nvPr/>
        </p:nvSpPr>
        <p:spPr>
          <a:xfrm>
            <a:off x="8382000" y="3108960"/>
            <a:ext cx="3002280" cy="2880360"/>
          </a:xfrm>
          <a:prstGeom prst="rect">
            <a:avLst/>
          </a:prstGeom>
          <a:noFill/>
          <a:ln>
            <a:noFill/>
          </a:ln>
        </p:spPr>
        <p:txBody>
          <a:bodyPr wrap="square" lIns="0" tIns="0" rIns="0" bIns="0" rtlCol="0" anchor="t">
            <a:noAutofit/>
          </a:bodyPr>
          <a:lstStyle/>
          <a:p>
            <a:pPr marL="256032" indent="-256032" algn="l">
              <a:spcBef>
                <a:spcPts val="0"/>
              </a:spcBef>
              <a:buClr>
                <a:srgbClr val="C8102E"/>
              </a:buClr>
              <a:buFont typeface="Arial"/>
              <a:buChar char="•"/>
            </a:pPr>
            <a:r>
              <a:rPr lang="uz-Latn-UZ" sz="1700" b="0" i="0" dirty="0">
                <a:solidFill>
                  <a:srgbClr val="1F2937"/>
                </a:solidFill>
                <a:latin typeface="Arial"/>
                <a:cs typeface="Arial"/>
              </a:rPr>
              <a:t>Til va madaniy huquqlar: 2009 — TRT kurd tilida, 2012 — maktabda tanlov fani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Siyosiy vakillik va xavfsizlik</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2025 — PKK tarqatib yuborilishini e’lon qildi</a:t>
            </a:r>
            <a:endParaRPr lang="uz-Latn-UZ" sz="1700" b="0" i="0" dirty="0">
              <a:solidFill>
                <a:srgbClr val="1F2937"/>
              </a:solidFill>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3-QISM  •  MADANIYAT VA IJTIMOIY HAYOT</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Madaniyat va o‘zlik — tashqi siyosatda</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3-ma’ruzachi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17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Shape 10"/>
          <p:cNvSpPr/>
          <p:nvPr/>
        </p:nvSpPr>
        <p:spPr>
          <a:xfrm>
            <a:off x="548640" y="1627632"/>
            <a:ext cx="5408676" cy="2125980"/>
          </a:xfrm>
          <a:prstGeom prst="rect">
            <a:avLst/>
          </a:prstGeom>
          <a:solidFill>
            <a:srgbClr val="F1F3F6"/>
          </a:solidFill>
          <a:ln>
            <a:noFill/>
          </a:ln>
        </p:spPr>
      </p:sp>
      <p:sp>
        <p:nvSpPr>
          <p:cNvPr id="11" name="Shape 11"/>
          <p:cNvSpPr/>
          <p:nvPr/>
        </p:nvSpPr>
        <p:spPr>
          <a:xfrm>
            <a:off x="548640" y="1627632"/>
            <a:ext cx="82296" cy="2125980"/>
          </a:xfrm>
          <a:prstGeom prst="rect">
            <a:avLst/>
          </a:prstGeom>
          <a:solidFill>
            <a:srgbClr val="C8102E"/>
          </a:solidFill>
          <a:ln>
            <a:noFill/>
          </a:ln>
        </p:spPr>
      </p:sp>
      <p:sp>
        <p:nvSpPr>
          <p:cNvPr id="12" name="TextBox 12"/>
          <p:cNvSpPr/>
          <p:nvPr/>
        </p:nvSpPr>
        <p:spPr>
          <a:xfrm>
            <a:off x="868680" y="1773936"/>
            <a:ext cx="4860036" cy="457200"/>
          </a:xfrm>
          <a:prstGeom prst="rect">
            <a:avLst/>
          </a:prstGeom>
          <a:noFill/>
          <a:ln>
            <a:noFill/>
          </a:ln>
        </p:spPr>
        <p:txBody>
          <a:bodyPr wrap="square" lIns="0" tIns="0" rIns="0" bIns="0" rtlCol="0" anchor="ctr">
            <a:noAutofit/>
          </a:bodyPr>
          <a:lstStyle/>
          <a:p>
            <a:pPr marL="0" indent="0" algn="l">
              <a:spcBef>
                <a:spcPts val="0"/>
              </a:spcBef>
              <a:buNone/>
            </a:pPr>
            <a:r>
              <a:rPr lang="uz-Latn-UZ" sz="1900" b="1" i="0" dirty="0">
                <a:solidFill>
                  <a:srgbClr val="14213D"/>
                </a:solidFill>
                <a:latin typeface="Arial"/>
                <a:cs typeface="Arial"/>
              </a:rPr>
              <a:t>Turkiylik</a:t>
            </a:r>
            <a:endParaRPr lang="uz-Latn-UZ" sz="1900" b="1" i="0" dirty="0">
              <a:solidFill>
                <a:srgbClr val="14213D"/>
              </a:solidFill>
              <a:latin typeface="Arial"/>
              <a:cs typeface="Arial"/>
            </a:endParaRPr>
          </a:p>
        </p:txBody>
      </p:sp>
      <p:sp>
        <p:nvSpPr>
          <p:cNvPr id="13" name="TextBox 13"/>
          <p:cNvSpPr/>
          <p:nvPr/>
        </p:nvSpPr>
        <p:spPr>
          <a:xfrm>
            <a:off x="868680" y="2286000"/>
            <a:ext cx="4860036" cy="1339596"/>
          </a:xfrm>
          <a:prstGeom prst="rect">
            <a:avLst/>
          </a:prstGeom>
          <a:noFill/>
          <a:ln>
            <a:noFill/>
          </a:ln>
        </p:spPr>
        <p:txBody>
          <a:bodyPr wrap="square" lIns="0" tIns="0" rIns="0" bIns="0" rtlCol="0" anchor="t">
            <a:noAutofit/>
          </a:bodyPr>
          <a:lstStyle/>
          <a:p>
            <a:pPr marL="0" indent="0" algn="l">
              <a:lnSpc>
                <a:spcPct val="104000"/>
              </a:lnSpc>
              <a:spcBef>
                <a:spcPts val="0"/>
              </a:spcBef>
              <a:buNone/>
            </a:pPr>
            <a:r>
              <a:rPr lang="uz-Latn-UZ" sz="1650" b="0" i="0" dirty="0">
                <a:solidFill>
                  <a:srgbClr val="1F2937"/>
                </a:solidFill>
                <a:latin typeface="Arial"/>
                <a:cs typeface="Arial"/>
              </a:rPr>
              <a:t>Umumiy til, tarix va madaniyat — Turkiy davlatlar tashkiloti, TURKSOY va Markaziy Osiyo bilan qardoshlik aloqalari asosi.</a:t>
            </a:r>
            <a:endParaRPr lang="uz-Latn-UZ" sz="1650" b="0" i="0" dirty="0">
              <a:solidFill>
                <a:srgbClr val="1F2937"/>
              </a:solidFill>
              <a:latin typeface="Arial"/>
              <a:cs typeface="Arial"/>
            </a:endParaRPr>
          </a:p>
        </p:txBody>
      </p:sp>
      <p:sp>
        <p:nvSpPr>
          <p:cNvPr id="14" name="Shape 14"/>
          <p:cNvSpPr/>
          <p:nvPr/>
        </p:nvSpPr>
        <p:spPr>
          <a:xfrm>
            <a:off x="6231636" y="1627632"/>
            <a:ext cx="5408676" cy="2125980"/>
          </a:xfrm>
          <a:prstGeom prst="rect">
            <a:avLst/>
          </a:prstGeom>
          <a:solidFill>
            <a:srgbClr val="F1F3F6"/>
          </a:solidFill>
          <a:ln>
            <a:noFill/>
          </a:ln>
        </p:spPr>
      </p:sp>
      <p:sp>
        <p:nvSpPr>
          <p:cNvPr id="15" name="Shape 15"/>
          <p:cNvSpPr/>
          <p:nvPr/>
        </p:nvSpPr>
        <p:spPr>
          <a:xfrm>
            <a:off x="6231636" y="1627632"/>
            <a:ext cx="82296" cy="2125980"/>
          </a:xfrm>
          <a:prstGeom prst="rect">
            <a:avLst/>
          </a:prstGeom>
          <a:solidFill>
            <a:srgbClr val="14213D"/>
          </a:solidFill>
          <a:ln>
            <a:noFill/>
          </a:ln>
        </p:spPr>
      </p:sp>
      <p:sp>
        <p:nvSpPr>
          <p:cNvPr id="16" name="TextBox 16"/>
          <p:cNvSpPr/>
          <p:nvPr/>
        </p:nvSpPr>
        <p:spPr>
          <a:xfrm>
            <a:off x="6551676" y="1773936"/>
            <a:ext cx="4860036" cy="457200"/>
          </a:xfrm>
          <a:prstGeom prst="rect">
            <a:avLst/>
          </a:prstGeom>
          <a:noFill/>
          <a:ln>
            <a:noFill/>
          </a:ln>
        </p:spPr>
        <p:txBody>
          <a:bodyPr wrap="square" lIns="0" tIns="0" rIns="0" bIns="0" rtlCol="0" anchor="ctr">
            <a:noAutofit/>
          </a:bodyPr>
          <a:lstStyle/>
          <a:p>
            <a:pPr marL="0" indent="0" algn="l">
              <a:spcBef>
                <a:spcPts val="0"/>
              </a:spcBef>
              <a:buNone/>
            </a:pPr>
            <a:r>
              <a:rPr lang="uz-Latn-UZ" sz="1900" b="1" i="0" dirty="0">
                <a:solidFill>
                  <a:srgbClr val="14213D"/>
                </a:solidFill>
                <a:latin typeface="Arial"/>
                <a:cs typeface="Arial"/>
              </a:rPr>
              <a:t>Islom madaniyati</a:t>
            </a:r>
            <a:endParaRPr lang="uz-Latn-UZ" sz="1900" b="1" i="0" dirty="0">
              <a:solidFill>
                <a:srgbClr val="14213D"/>
              </a:solidFill>
              <a:latin typeface="Arial"/>
              <a:cs typeface="Arial"/>
            </a:endParaRPr>
          </a:p>
        </p:txBody>
      </p:sp>
      <p:sp>
        <p:nvSpPr>
          <p:cNvPr id="17" name="TextBox 17"/>
          <p:cNvSpPr/>
          <p:nvPr/>
        </p:nvSpPr>
        <p:spPr>
          <a:xfrm>
            <a:off x="6551676" y="2286000"/>
            <a:ext cx="4860036" cy="1339596"/>
          </a:xfrm>
          <a:prstGeom prst="rect">
            <a:avLst/>
          </a:prstGeom>
          <a:noFill/>
          <a:ln>
            <a:noFill/>
          </a:ln>
        </p:spPr>
        <p:txBody>
          <a:bodyPr wrap="square" lIns="0" tIns="0" rIns="0" bIns="0" rtlCol="0" anchor="t">
            <a:noAutofit/>
          </a:bodyPr>
          <a:lstStyle/>
          <a:p>
            <a:pPr marL="0" indent="0" algn="l">
              <a:lnSpc>
                <a:spcPct val="104000"/>
              </a:lnSpc>
              <a:spcBef>
                <a:spcPts val="0"/>
              </a:spcBef>
              <a:buNone/>
            </a:pPr>
            <a:r>
              <a:rPr lang="uz-Latn-UZ" sz="1650" b="0" i="0" dirty="0">
                <a:solidFill>
                  <a:srgbClr val="1F2937"/>
                </a:solidFill>
                <a:latin typeface="Arial"/>
                <a:cs typeface="Arial"/>
              </a:rPr>
              <a:t>1969 — Islom hamkorlik tashkiloti asoschilaridan; G‘azo, Somali va Afg‘onistonga gumanitar yordam.</a:t>
            </a:r>
            <a:endParaRPr lang="uz-Latn-UZ" sz="1650" b="0" i="0" dirty="0">
              <a:solidFill>
                <a:srgbClr val="1F2937"/>
              </a:solidFill>
              <a:latin typeface="Arial"/>
              <a:cs typeface="Arial"/>
            </a:endParaRPr>
          </a:p>
        </p:txBody>
      </p:sp>
      <p:sp>
        <p:nvSpPr>
          <p:cNvPr id="18" name="Shape 18"/>
          <p:cNvSpPr/>
          <p:nvPr/>
        </p:nvSpPr>
        <p:spPr>
          <a:xfrm>
            <a:off x="548640" y="4027932"/>
            <a:ext cx="5408676" cy="2125980"/>
          </a:xfrm>
          <a:prstGeom prst="rect">
            <a:avLst/>
          </a:prstGeom>
          <a:solidFill>
            <a:srgbClr val="F1F3F6"/>
          </a:solidFill>
          <a:ln>
            <a:noFill/>
          </a:ln>
        </p:spPr>
      </p:sp>
      <p:sp>
        <p:nvSpPr>
          <p:cNvPr id="19" name="Shape 19"/>
          <p:cNvSpPr/>
          <p:nvPr/>
        </p:nvSpPr>
        <p:spPr>
          <a:xfrm>
            <a:off x="548640" y="4027932"/>
            <a:ext cx="82296" cy="2125980"/>
          </a:xfrm>
          <a:prstGeom prst="rect">
            <a:avLst/>
          </a:prstGeom>
          <a:solidFill>
            <a:srgbClr val="14213D"/>
          </a:solidFill>
          <a:ln>
            <a:noFill/>
          </a:ln>
        </p:spPr>
      </p:sp>
      <p:sp>
        <p:nvSpPr>
          <p:cNvPr id="20" name="TextBox 20"/>
          <p:cNvSpPr/>
          <p:nvPr/>
        </p:nvSpPr>
        <p:spPr>
          <a:xfrm>
            <a:off x="868680" y="4174236"/>
            <a:ext cx="4860036" cy="457200"/>
          </a:xfrm>
          <a:prstGeom prst="rect">
            <a:avLst/>
          </a:prstGeom>
          <a:noFill/>
          <a:ln>
            <a:noFill/>
          </a:ln>
        </p:spPr>
        <p:txBody>
          <a:bodyPr wrap="square" lIns="0" tIns="0" rIns="0" bIns="0" rtlCol="0" anchor="ctr">
            <a:noAutofit/>
          </a:bodyPr>
          <a:lstStyle/>
          <a:p>
            <a:pPr marL="0" indent="0" algn="l">
              <a:spcBef>
                <a:spcPts val="0"/>
              </a:spcBef>
              <a:buNone/>
            </a:pPr>
            <a:r>
              <a:rPr lang="uz-Latn-UZ" sz="1900" b="1" i="0" dirty="0">
                <a:solidFill>
                  <a:srgbClr val="14213D"/>
                </a:solidFill>
                <a:latin typeface="Arial"/>
                <a:cs typeface="Arial"/>
              </a:rPr>
              <a:t>Dunyoviylik va Yevropa</a:t>
            </a:r>
            <a:endParaRPr lang="uz-Latn-UZ" sz="1900" b="1" i="0" dirty="0">
              <a:solidFill>
                <a:srgbClr val="14213D"/>
              </a:solidFill>
              <a:latin typeface="Arial"/>
              <a:cs typeface="Arial"/>
            </a:endParaRPr>
          </a:p>
        </p:txBody>
      </p:sp>
      <p:sp>
        <p:nvSpPr>
          <p:cNvPr id="21" name="TextBox 21"/>
          <p:cNvSpPr/>
          <p:nvPr/>
        </p:nvSpPr>
        <p:spPr>
          <a:xfrm>
            <a:off x="868680" y="4686300"/>
            <a:ext cx="4860036" cy="1339596"/>
          </a:xfrm>
          <a:prstGeom prst="rect">
            <a:avLst/>
          </a:prstGeom>
          <a:noFill/>
          <a:ln>
            <a:noFill/>
          </a:ln>
        </p:spPr>
        <p:txBody>
          <a:bodyPr wrap="square" lIns="0" tIns="0" rIns="0" bIns="0" rtlCol="0" anchor="t">
            <a:noAutofit/>
          </a:bodyPr>
          <a:lstStyle/>
          <a:p>
            <a:pPr marL="0" indent="0" algn="l">
              <a:lnSpc>
                <a:spcPct val="104000"/>
              </a:lnSpc>
              <a:spcBef>
                <a:spcPts val="0"/>
              </a:spcBef>
              <a:buNone/>
            </a:pPr>
            <a:r>
              <a:rPr lang="uz-Latn-UZ" sz="1650" b="0" i="0" dirty="0">
                <a:solidFill>
                  <a:srgbClr val="1F2937"/>
                </a:solidFill>
                <a:latin typeface="Arial"/>
                <a:cs typeface="Arial"/>
              </a:rPr>
              <a:t>1949 — Yevropa Kengashi, 1952 — NATO, 1999-yildan YeIga nomzod: yevropacha institutlar bilan integratsiya.</a:t>
            </a:r>
            <a:endParaRPr lang="uz-Latn-UZ" sz="1650" b="0" i="0" dirty="0">
              <a:solidFill>
                <a:srgbClr val="1F2937"/>
              </a:solidFill>
              <a:latin typeface="Arial"/>
              <a:cs typeface="Arial"/>
            </a:endParaRPr>
          </a:p>
        </p:txBody>
      </p:sp>
      <p:sp>
        <p:nvSpPr>
          <p:cNvPr id="22" name="Shape 22"/>
          <p:cNvSpPr/>
          <p:nvPr/>
        </p:nvSpPr>
        <p:spPr>
          <a:xfrm>
            <a:off x="6231636" y="4027932"/>
            <a:ext cx="5408676" cy="2125980"/>
          </a:xfrm>
          <a:prstGeom prst="rect">
            <a:avLst/>
          </a:prstGeom>
          <a:solidFill>
            <a:srgbClr val="F1F3F6"/>
          </a:solidFill>
          <a:ln>
            <a:noFill/>
          </a:ln>
        </p:spPr>
      </p:sp>
      <p:sp>
        <p:nvSpPr>
          <p:cNvPr id="23" name="Shape 23"/>
          <p:cNvSpPr/>
          <p:nvPr/>
        </p:nvSpPr>
        <p:spPr>
          <a:xfrm>
            <a:off x="6231636" y="4027932"/>
            <a:ext cx="82296" cy="2125980"/>
          </a:xfrm>
          <a:prstGeom prst="rect">
            <a:avLst/>
          </a:prstGeom>
          <a:solidFill>
            <a:srgbClr val="C8102E"/>
          </a:solidFill>
          <a:ln>
            <a:noFill/>
          </a:ln>
        </p:spPr>
      </p:sp>
      <p:sp>
        <p:nvSpPr>
          <p:cNvPr id="24" name="TextBox 24"/>
          <p:cNvSpPr/>
          <p:nvPr/>
        </p:nvSpPr>
        <p:spPr>
          <a:xfrm>
            <a:off x="6551676" y="4174236"/>
            <a:ext cx="4860036" cy="457200"/>
          </a:xfrm>
          <a:prstGeom prst="rect">
            <a:avLst/>
          </a:prstGeom>
          <a:noFill/>
          <a:ln>
            <a:noFill/>
          </a:ln>
        </p:spPr>
        <p:txBody>
          <a:bodyPr wrap="square" lIns="0" tIns="0" rIns="0" bIns="0" rtlCol="0" anchor="ctr">
            <a:noAutofit/>
          </a:bodyPr>
          <a:lstStyle/>
          <a:p>
            <a:pPr marL="0" indent="0" algn="l">
              <a:spcBef>
                <a:spcPts val="0"/>
              </a:spcBef>
              <a:buNone/>
            </a:pPr>
            <a:r>
              <a:rPr lang="uz-Latn-UZ" sz="1900" b="1" i="0" dirty="0">
                <a:solidFill>
                  <a:srgbClr val="14213D"/>
                </a:solidFill>
                <a:latin typeface="Arial"/>
                <a:cs typeface="Arial"/>
              </a:rPr>
              <a:t>Mehmondo‘stlik va birdamlik</a:t>
            </a:r>
            <a:endParaRPr lang="uz-Latn-UZ" sz="1900" b="1" i="0" dirty="0">
              <a:solidFill>
                <a:srgbClr val="14213D"/>
              </a:solidFill>
              <a:latin typeface="Arial"/>
              <a:cs typeface="Arial"/>
            </a:endParaRPr>
          </a:p>
        </p:txBody>
      </p:sp>
      <p:sp>
        <p:nvSpPr>
          <p:cNvPr id="25" name="TextBox 25"/>
          <p:cNvSpPr/>
          <p:nvPr/>
        </p:nvSpPr>
        <p:spPr>
          <a:xfrm>
            <a:off x="6551676" y="4686300"/>
            <a:ext cx="4860036" cy="1339596"/>
          </a:xfrm>
          <a:prstGeom prst="rect">
            <a:avLst/>
          </a:prstGeom>
          <a:noFill/>
          <a:ln>
            <a:noFill/>
          </a:ln>
        </p:spPr>
        <p:txBody>
          <a:bodyPr wrap="square" lIns="0" tIns="0" rIns="0" bIns="0" rtlCol="0" anchor="t">
            <a:noAutofit/>
          </a:bodyPr>
          <a:lstStyle/>
          <a:p>
            <a:pPr marL="0" indent="0" algn="l">
              <a:lnSpc>
                <a:spcPct val="104000"/>
              </a:lnSpc>
              <a:spcBef>
                <a:spcPts val="0"/>
              </a:spcBef>
              <a:buNone/>
            </a:pPr>
            <a:r>
              <a:rPr lang="uz-Latn-UZ" sz="1650" b="0" i="0" dirty="0">
                <a:solidFill>
                  <a:srgbClr val="1F2937"/>
                </a:solidFill>
                <a:latin typeface="Arial"/>
                <a:cs typeface="Arial"/>
              </a:rPr>
              <a:t>Millionlab qochqinlarni qabul qilish va «insonparvar tashqi siyosat» — ijtimoiy qadriyatlarning tashqi siyosatdagi aksi.</a:t>
            </a:r>
            <a:endParaRPr lang="uz-Latn-UZ" sz="1650" b="0" i="0" dirty="0">
              <a:solidFill>
                <a:srgbClr val="1F2937"/>
              </a:solidFill>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Shape 2"/>
          <p:cNvSpPr/>
          <p:nvPr/>
        </p:nvSpPr>
        <p:spPr>
          <a:xfrm>
            <a:off x="0" y="0"/>
            <a:ext cx="320040" cy="6858000"/>
          </a:xfrm>
          <a:prstGeom prst="rect">
            <a:avLst/>
          </a:prstGeom>
          <a:solidFill>
            <a:srgbClr val="C8102E"/>
          </a:solidFill>
          <a:ln>
            <a:noFill/>
          </a:ln>
        </p:spPr>
      </p:sp>
      <p:sp>
        <p:nvSpPr>
          <p:cNvPr id="3" name="TextBox 3"/>
          <p:cNvSpPr/>
          <p:nvPr/>
        </p:nvSpPr>
        <p:spPr>
          <a:xfrm>
            <a:off x="914400" y="1005840"/>
            <a:ext cx="3017520" cy="2103120"/>
          </a:xfrm>
          <a:prstGeom prst="rect">
            <a:avLst/>
          </a:prstGeom>
          <a:noFill/>
          <a:ln>
            <a:noFill/>
          </a:ln>
        </p:spPr>
        <p:txBody>
          <a:bodyPr wrap="square" lIns="0" tIns="0" rIns="0" bIns="0" rtlCol="0" anchor="b">
            <a:noAutofit/>
          </a:bodyPr>
          <a:lstStyle/>
          <a:p>
            <a:pPr marL="0" indent="0" algn="l">
              <a:spcBef>
                <a:spcPts val="0"/>
              </a:spcBef>
              <a:buNone/>
            </a:pPr>
            <a:r>
              <a:rPr lang="uz-Latn-UZ" sz="12000" b="1" i="0" dirty="0">
                <a:solidFill>
                  <a:srgbClr val="C8102E"/>
                </a:solidFill>
                <a:latin typeface="Arial"/>
                <a:cs typeface="Arial"/>
              </a:rPr>
              <a:t>04</a:t>
            </a:r>
            <a:endParaRPr lang="uz-Latn-UZ" sz="12000" b="1" i="0" dirty="0">
              <a:solidFill>
                <a:srgbClr val="C8102E"/>
              </a:solidFill>
              <a:latin typeface="Arial"/>
              <a:cs typeface="Arial"/>
            </a:endParaRPr>
          </a:p>
        </p:txBody>
      </p:sp>
      <p:sp>
        <p:nvSpPr>
          <p:cNvPr id="4" name="Shape 4"/>
          <p:cNvSpPr/>
          <p:nvPr/>
        </p:nvSpPr>
        <p:spPr>
          <a:xfrm>
            <a:off x="914400" y="3429000"/>
            <a:ext cx="2103120" cy="502920"/>
          </a:xfrm>
          <a:prstGeom prst="roundRect">
            <a:avLst>
              <a:gd name="adj" fmla="val 50000"/>
            </a:avLst>
          </a:prstGeom>
          <a:solidFill>
            <a:srgbClr val="C8102E"/>
          </a:solidFill>
          <a:ln>
            <a:noFill/>
          </a:ln>
        </p:spPr>
        <p:txBody>
          <a:bodyPr wrap="square" lIns="0" tIns="0" rIns="0" bIns="0" rtlCol="0" anchor="ctr">
            <a:noAutofit/>
          </a:bodyPr>
          <a:lstStyle/>
          <a:p>
            <a:pPr marL="0" indent="0" algn="ctr">
              <a:spcBef>
                <a:spcPts val="0"/>
              </a:spcBef>
              <a:buNone/>
            </a:pPr>
            <a:r>
              <a:rPr lang="uz-Latn-UZ" sz="1700" b="1" i="0" dirty="0">
                <a:solidFill>
                  <a:srgbClr val="FFFFFF"/>
                </a:solidFill>
                <a:latin typeface="Arial"/>
                <a:cs typeface="Arial"/>
              </a:rPr>
              <a:t>4-ma’ruzachi</a:t>
            </a:r>
            <a:endParaRPr lang="uz-Latn-UZ" sz="1700" b="1" i="0" dirty="0">
              <a:solidFill>
                <a:srgbClr val="FFFFFF"/>
              </a:solidFill>
              <a:latin typeface="Arial"/>
              <a:cs typeface="Arial"/>
            </a:endParaRPr>
          </a:p>
        </p:txBody>
      </p:sp>
      <p:sp>
        <p:nvSpPr>
          <p:cNvPr id="5" name="TextBox 5"/>
          <p:cNvSpPr/>
          <p:nvPr/>
        </p:nvSpPr>
        <p:spPr>
          <a:xfrm>
            <a:off x="4206240" y="914400"/>
            <a:ext cx="7498080" cy="2514600"/>
          </a:xfrm>
          <a:prstGeom prst="rect">
            <a:avLst/>
          </a:prstGeom>
          <a:noFill/>
          <a:ln>
            <a:noFill/>
          </a:ln>
        </p:spPr>
        <p:txBody>
          <a:bodyPr wrap="square" lIns="0" tIns="0" rIns="0" bIns="0" rtlCol="0" anchor="b">
            <a:noAutofit/>
          </a:bodyPr>
          <a:lstStyle/>
          <a:p>
            <a:pPr marL="0" indent="0" algn="l">
              <a:lnSpc>
                <a:spcPct val="95000"/>
              </a:lnSpc>
              <a:spcBef>
                <a:spcPts val="0"/>
              </a:spcBef>
              <a:buNone/>
            </a:pPr>
            <a:r>
              <a:rPr lang="uz-Latn-UZ" sz="3600" b="1" i="0" dirty="0">
                <a:solidFill>
                  <a:srgbClr val="FFFFFF"/>
                </a:solidFill>
                <a:latin typeface="Arial"/>
                <a:cs typeface="Arial"/>
              </a:rPr>
              <a:t>Boshqa davlatlar diplomatiyasidan qaysi jihatlari bilan ajralib turadi</a:t>
            </a:r>
            <a:endParaRPr lang="uz-Latn-UZ" sz="3600" b="1" i="0" dirty="0">
              <a:solidFill>
                <a:srgbClr val="FFFFFF"/>
              </a:solidFill>
              <a:latin typeface="Arial"/>
              <a:cs typeface="Arial"/>
            </a:endParaRPr>
          </a:p>
        </p:txBody>
      </p:sp>
      <p:sp>
        <p:nvSpPr>
          <p:cNvPr id="6" name="Shape 6"/>
          <p:cNvSpPr/>
          <p:nvPr/>
        </p:nvSpPr>
        <p:spPr>
          <a:xfrm>
            <a:off x="4206240" y="3675888"/>
            <a:ext cx="1097280" cy="64008"/>
          </a:xfrm>
          <a:prstGeom prst="rect">
            <a:avLst/>
          </a:prstGeom>
          <a:solidFill>
            <a:srgbClr val="C8102E"/>
          </a:solidFill>
          <a:ln>
            <a:noFill/>
          </a:ln>
        </p:spPr>
      </p:sp>
      <p:sp>
        <p:nvSpPr>
          <p:cNvPr id="7" name="TextBox 7"/>
          <p:cNvSpPr/>
          <p:nvPr/>
        </p:nvSpPr>
        <p:spPr>
          <a:xfrm>
            <a:off x="4206240" y="3931920"/>
            <a:ext cx="7498080" cy="2011680"/>
          </a:xfrm>
          <a:prstGeom prst="rect">
            <a:avLst/>
          </a:prstGeom>
          <a:noFill/>
          <a:ln>
            <a:noFill/>
          </a:ln>
        </p:spPr>
        <p:txBody>
          <a:bodyPr wrap="square" lIns="0" tIns="0" rIns="0" bIns="0" rtlCol="0" anchor="t">
            <a:noAutofit/>
          </a:bodyPr>
          <a:lstStyle/>
          <a:p>
            <a:pPr marL="320040" indent="-320040" algn="l">
              <a:spcBef>
                <a:spcPts val="0"/>
              </a:spcBef>
              <a:buClr>
                <a:srgbClr val="C8102E"/>
              </a:buClr>
              <a:buFont typeface="Arial"/>
              <a:buChar char="•"/>
            </a:pPr>
            <a:r>
              <a:rPr lang="uz-Latn-UZ" sz="1900" b="0" i="0" dirty="0">
                <a:solidFill>
                  <a:srgbClr val="CBD5E1"/>
                </a:solidFill>
                <a:latin typeface="Arial"/>
                <a:cs typeface="Arial"/>
              </a:rPr>
              <a:t>Tarixiy meros va zamonaviy siyosat</a:t>
            </a:r>
            <a:endParaRPr lang="uz-Latn-UZ" sz="1900" b="0" i="0" dirty="0">
              <a:solidFill>
                <a:srgbClr val="CBD5E1"/>
              </a:solidFill>
              <a:latin typeface="Arial"/>
              <a:cs typeface="Arial"/>
            </a:endParaRPr>
          </a:p>
          <a:p>
            <a:pPr marL="320040" indent="-320040" algn="l">
              <a:spcBef>
                <a:spcPts val="700"/>
              </a:spcBef>
              <a:buClr>
                <a:srgbClr val="C8102E"/>
              </a:buClr>
              <a:buFont typeface="Arial"/>
              <a:buChar char="•"/>
            </a:pPr>
            <a:r>
              <a:rPr lang="uz-Latn-UZ" sz="1900" b="0" i="0" dirty="0">
                <a:solidFill>
                  <a:srgbClr val="CBD5E1"/>
                </a:solidFill>
                <a:latin typeface="Arial"/>
                <a:cs typeface="Arial"/>
              </a:rPr>
              <a:t>«Yumshoq kuch»dan faol foydalanish</a:t>
            </a:r>
            <a:endParaRPr lang="uz-Latn-UZ" sz="1900" b="0" i="0" dirty="0">
              <a:solidFill>
                <a:srgbClr val="CBD5E1"/>
              </a:solidFill>
              <a:latin typeface="Arial"/>
              <a:cs typeface="Arial"/>
            </a:endParaRPr>
          </a:p>
          <a:p>
            <a:pPr marL="320040" indent="-320040" algn="l">
              <a:spcBef>
                <a:spcPts val="700"/>
              </a:spcBef>
              <a:buClr>
                <a:srgbClr val="C8102E"/>
              </a:buClr>
              <a:buFont typeface="Arial"/>
              <a:buChar char="•"/>
            </a:pPr>
            <a:r>
              <a:rPr lang="uz-Latn-UZ" sz="1900" b="0" i="0" dirty="0">
                <a:solidFill>
                  <a:srgbClr val="CBD5E1"/>
                </a:solidFill>
                <a:latin typeface="Arial"/>
                <a:cs typeface="Arial"/>
              </a:rPr>
              <a:t>Geografik joylashuv</a:t>
            </a:r>
            <a:endParaRPr lang="uz-Latn-UZ" sz="1900" b="0" i="0" dirty="0">
              <a:solidFill>
                <a:srgbClr val="CBD5E1"/>
              </a:solidFill>
              <a:latin typeface="Arial"/>
              <a:cs typeface="Arial"/>
            </a:endParaRPr>
          </a:p>
          <a:p>
            <a:pPr marL="320040" indent="-320040" algn="l">
              <a:spcBef>
                <a:spcPts val="700"/>
              </a:spcBef>
              <a:buClr>
                <a:srgbClr val="C8102E"/>
              </a:buClr>
              <a:buFont typeface="Arial"/>
              <a:buChar char="•"/>
            </a:pPr>
            <a:r>
              <a:rPr lang="uz-Latn-UZ" sz="1900" b="0" i="0" dirty="0">
                <a:solidFill>
                  <a:srgbClr val="CBD5E1"/>
                </a:solidFill>
                <a:latin typeface="Arial"/>
                <a:cs typeface="Arial"/>
              </a:rPr>
              <a:t>Ko‘p yo‘nalishli diplomatiya</a:t>
            </a:r>
            <a:endParaRPr lang="uz-Latn-UZ" sz="1900" b="0" i="0" dirty="0">
              <a:solidFill>
                <a:srgbClr val="CBD5E1"/>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CBD5E1"/>
                </a:solidFill>
                <a:latin typeface="Arial"/>
                <a:cs typeface="Arial"/>
              </a:rPr>
              <a:t>18 / 29</a:t>
            </a:r>
            <a:endParaRPr lang="uz-Latn-UZ" sz="1050" b="0" i="0" dirty="0">
              <a:solidFill>
                <a:srgbClr val="CBD5E1"/>
              </a:solidFill>
              <a:latin typeface="Arial"/>
              <a:cs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4-QISM  •  QIYOSIY TAHLIL</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700" b="1" i="0" dirty="0">
                <a:solidFill>
                  <a:srgbClr val="14213D"/>
                </a:solidFill>
                <a:latin typeface="Arial"/>
                <a:cs typeface="Arial"/>
              </a:rPr>
              <a:t>1-jihat: tarixiy meros va zamonaviy siyosat</a:t>
            </a:r>
            <a:endParaRPr lang="uz-Latn-UZ" sz="27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4-ma’ruzachi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19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TextBox 10"/>
          <p:cNvSpPr/>
          <p:nvPr/>
        </p:nvSpPr>
        <p:spPr>
          <a:xfrm>
            <a:off x="548640" y="1517904"/>
            <a:ext cx="11091672" cy="512064"/>
          </a:xfrm>
          <a:prstGeom prst="rect">
            <a:avLst/>
          </a:prstGeom>
          <a:noFill/>
          <a:ln>
            <a:noFill/>
          </a:ln>
        </p:spPr>
        <p:txBody>
          <a:bodyPr wrap="square" lIns="0" tIns="0" rIns="0" bIns="0" rtlCol="0" anchor="ctr">
            <a:noAutofit/>
          </a:bodyPr>
          <a:lstStyle/>
          <a:p>
            <a:pPr marL="0" indent="0" algn="l">
              <a:spcBef>
                <a:spcPts val="0"/>
              </a:spcBef>
              <a:buNone/>
            </a:pPr>
            <a:r>
              <a:rPr lang="uz-Latn-UZ" sz="1700" b="0" i="1" dirty="0">
                <a:solidFill>
                  <a:srgbClr val="14213D"/>
                </a:solidFill>
                <a:latin typeface="Arial"/>
                <a:cs typeface="Arial"/>
              </a:rPr>
              <a:t>Usmonli davridagi tarixiy, madaniy va geografik aloqalar bugungi tashqi siyosatda ham qo‘llaniladi</a:t>
            </a:r>
            <a:endParaRPr lang="uz-Latn-UZ" sz="1700" b="0" i="1" dirty="0">
              <a:solidFill>
                <a:srgbClr val="14213D"/>
              </a:solidFill>
              <a:latin typeface="Arial"/>
              <a:cs typeface="Arial"/>
            </a:endParaRPr>
          </a:p>
        </p:txBody>
      </p:sp>
      <p:sp>
        <p:nvSpPr>
          <p:cNvPr id="11" name="Shape 11"/>
          <p:cNvSpPr/>
          <p:nvPr/>
        </p:nvSpPr>
        <p:spPr>
          <a:xfrm>
            <a:off x="548640" y="2121408"/>
            <a:ext cx="3514344" cy="4023360"/>
          </a:xfrm>
          <a:prstGeom prst="rect">
            <a:avLst/>
          </a:prstGeom>
          <a:solidFill>
            <a:srgbClr val="F1F3F6"/>
          </a:solidFill>
          <a:ln>
            <a:noFill/>
          </a:ln>
        </p:spPr>
      </p:sp>
      <p:sp>
        <p:nvSpPr>
          <p:cNvPr id="12" name="Shape 12"/>
          <p:cNvSpPr/>
          <p:nvPr/>
        </p:nvSpPr>
        <p:spPr>
          <a:xfrm>
            <a:off x="548640" y="2121408"/>
            <a:ext cx="3514344" cy="73152"/>
          </a:xfrm>
          <a:prstGeom prst="rect">
            <a:avLst/>
          </a:prstGeom>
          <a:solidFill>
            <a:srgbClr val="C8102E"/>
          </a:solidFill>
          <a:ln>
            <a:noFill/>
          </a:ln>
        </p:spPr>
      </p:sp>
      <p:sp>
        <p:nvSpPr>
          <p:cNvPr id="13" name="TextBox 13"/>
          <p:cNvSpPr/>
          <p:nvPr/>
        </p:nvSpPr>
        <p:spPr>
          <a:xfrm>
            <a:off x="804672" y="2322576"/>
            <a:ext cx="3002280" cy="530352"/>
          </a:xfrm>
          <a:prstGeom prst="rect">
            <a:avLst/>
          </a:prstGeom>
          <a:noFill/>
          <a:ln>
            <a:noFill/>
          </a:ln>
        </p:spPr>
        <p:txBody>
          <a:bodyPr wrap="square" lIns="0" tIns="0" rIns="0" bIns="0" rtlCol="0" anchor="ctr">
            <a:noAutofit/>
          </a:bodyPr>
          <a:lstStyle/>
          <a:p>
            <a:pPr marL="0" indent="0" algn="l">
              <a:spcBef>
                <a:spcPts val="0"/>
              </a:spcBef>
              <a:buNone/>
            </a:pPr>
            <a:r>
              <a:rPr lang="uz-Latn-UZ" sz="2000" b="1" i="0" dirty="0">
                <a:solidFill>
                  <a:srgbClr val="14213D"/>
                </a:solidFill>
                <a:latin typeface="Arial"/>
                <a:cs typeface="Arial"/>
              </a:rPr>
              <a:t>Bolqon</a:t>
            </a:r>
            <a:endParaRPr lang="uz-Latn-UZ" sz="2000" b="1" i="0" dirty="0">
              <a:solidFill>
                <a:srgbClr val="14213D"/>
              </a:solidFill>
              <a:latin typeface="Arial"/>
              <a:cs typeface="Arial"/>
            </a:endParaRPr>
          </a:p>
        </p:txBody>
      </p:sp>
      <p:cxnSp>
        <p:nvCxnSpPr>
          <p:cNvPr id="14" name="Line 14"/>
          <p:cNvCxnSpPr/>
          <p:nvPr/>
        </p:nvCxnSpPr>
        <p:spPr>
          <a:xfrm>
            <a:off x="804672" y="2962656"/>
            <a:ext cx="3002280" cy="0"/>
          </a:xfrm>
          <a:prstGeom prst="line">
            <a:avLst/>
          </a:prstGeom>
          <a:ln w="12700">
            <a:solidFill>
              <a:srgbClr val="D1D5DB"/>
            </a:solidFill>
          </a:ln>
        </p:spPr>
      </p:cxnSp>
      <p:sp>
        <p:nvSpPr>
          <p:cNvPr id="15" name="TextBox 15"/>
          <p:cNvSpPr/>
          <p:nvPr/>
        </p:nvSpPr>
        <p:spPr>
          <a:xfrm>
            <a:off x="804672" y="3108960"/>
            <a:ext cx="3002280" cy="2880360"/>
          </a:xfrm>
          <a:prstGeom prst="rect">
            <a:avLst/>
          </a:prstGeom>
          <a:noFill/>
          <a:ln>
            <a:noFill/>
          </a:ln>
        </p:spPr>
        <p:txBody>
          <a:bodyPr wrap="square" lIns="0" tIns="0" rIns="0" bIns="0" rtlCol="0" anchor="t">
            <a:noAutofit/>
          </a:bodyPr>
          <a:lstStyle/>
          <a:p>
            <a:pPr marL="256032" indent="-256032" algn="l">
              <a:spcBef>
                <a:spcPts val="0"/>
              </a:spcBef>
              <a:buClr>
                <a:srgbClr val="C8102E"/>
              </a:buClr>
              <a:buFont typeface="Arial"/>
              <a:buChar char="•"/>
            </a:pPr>
            <a:r>
              <a:rPr lang="uz-Latn-UZ" sz="1700" b="0" i="0" dirty="0">
                <a:solidFill>
                  <a:srgbClr val="1F2937"/>
                </a:solidFill>
                <a:latin typeface="Arial"/>
                <a:cs typeface="Arial"/>
              </a:rPr>
              <a:t>Bosniya va Gersegovina, Kosovo (2008-yildan tan olingan)</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TIKA — Usmonli obidalarini tiklash</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Turkiya–Bosniya–Serbiya va Turkiya–Bosniya–Xorvatiya muloqotlari</a:t>
            </a:r>
            <a:endParaRPr lang="uz-Latn-UZ" sz="1700" b="0" i="0" dirty="0">
              <a:solidFill>
                <a:srgbClr val="1F2937"/>
              </a:solidFill>
              <a:latin typeface="Arial"/>
              <a:cs typeface="Arial"/>
            </a:endParaRPr>
          </a:p>
        </p:txBody>
      </p:sp>
      <p:sp>
        <p:nvSpPr>
          <p:cNvPr id="16" name="Shape 16"/>
          <p:cNvSpPr/>
          <p:nvPr/>
        </p:nvSpPr>
        <p:spPr>
          <a:xfrm>
            <a:off x="4337304" y="2121408"/>
            <a:ext cx="3514344" cy="4023360"/>
          </a:xfrm>
          <a:prstGeom prst="rect">
            <a:avLst/>
          </a:prstGeom>
          <a:solidFill>
            <a:srgbClr val="F1F3F6"/>
          </a:solidFill>
          <a:ln>
            <a:noFill/>
          </a:ln>
        </p:spPr>
      </p:sp>
      <p:sp>
        <p:nvSpPr>
          <p:cNvPr id="17" name="Shape 17"/>
          <p:cNvSpPr/>
          <p:nvPr/>
        </p:nvSpPr>
        <p:spPr>
          <a:xfrm>
            <a:off x="4337304" y="2121408"/>
            <a:ext cx="3514344" cy="73152"/>
          </a:xfrm>
          <a:prstGeom prst="rect">
            <a:avLst/>
          </a:prstGeom>
          <a:solidFill>
            <a:srgbClr val="14213D"/>
          </a:solidFill>
          <a:ln>
            <a:noFill/>
          </a:ln>
        </p:spPr>
      </p:sp>
      <p:sp>
        <p:nvSpPr>
          <p:cNvPr id="18" name="TextBox 18"/>
          <p:cNvSpPr/>
          <p:nvPr/>
        </p:nvSpPr>
        <p:spPr>
          <a:xfrm>
            <a:off x="4593336" y="2322576"/>
            <a:ext cx="3002280" cy="530352"/>
          </a:xfrm>
          <a:prstGeom prst="rect">
            <a:avLst/>
          </a:prstGeom>
          <a:noFill/>
          <a:ln>
            <a:noFill/>
          </a:ln>
        </p:spPr>
        <p:txBody>
          <a:bodyPr wrap="square" lIns="0" tIns="0" rIns="0" bIns="0" rtlCol="0" anchor="ctr">
            <a:noAutofit/>
          </a:bodyPr>
          <a:lstStyle/>
          <a:p>
            <a:pPr marL="0" indent="0" algn="l">
              <a:spcBef>
                <a:spcPts val="0"/>
              </a:spcBef>
              <a:buNone/>
            </a:pPr>
            <a:r>
              <a:rPr lang="uz-Latn-UZ" sz="2000" b="1" i="0" dirty="0">
                <a:solidFill>
                  <a:srgbClr val="14213D"/>
                </a:solidFill>
                <a:latin typeface="Arial"/>
                <a:cs typeface="Arial"/>
              </a:rPr>
              <a:t>Yaqin Sharq va Afrika</a:t>
            </a:r>
            <a:endParaRPr lang="uz-Latn-UZ" sz="2000" b="1" i="0" dirty="0">
              <a:solidFill>
                <a:srgbClr val="14213D"/>
              </a:solidFill>
              <a:latin typeface="Arial"/>
              <a:cs typeface="Arial"/>
            </a:endParaRPr>
          </a:p>
        </p:txBody>
      </p:sp>
      <p:cxnSp>
        <p:nvCxnSpPr>
          <p:cNvPr id="19" name="Line 19"/>
          <p:cNvCxnSpPr/>
          <p:nvPr/>
        </p:nvCxnSpPr>
        <p:spPr>
          <a:xfrm>
            <a:off x="4593336" y="2962656"/>
            <a:ext cx="3002280" cy="0"/>
          </a:xfrm>
          <a:prstGeom prst="line">
            <a:avLst/>
          </a:prstGeom>
          <a:ln w="12700">
            <a:solidFill>
              <a:srgbClr val="D1D5DB"/>
            </a:solidFill>
          </a:ln>
        </p:spPr>
      </p:cxnSp>
      <p:sp>
        <p:nvSpPr>
          <p:cNvPr id="20" name="TextBox 20"/>
          <p:cNvSpPr/>
          <p:nvPr/>
        </p:nvSpPr>
        <p:spPr>
          <a:xfrm>
            <a:off x="4593336" y="3108960"/>
            <a:ext cx="3002280" cy="2880360"/>
          </a:xfrm>
          <a:prstGeom prst="rect">
            <a:avLst/>
          </a:prstGeom>
          <a:noFill/>
          <a:ln>
            <a:noFill/>
          </a:ln>
        </p:spPr>
        <p:txBody>
          <a:bodyPr wrap="square" lIns="0" tIns="0" rIns="0" bIns="0" rtlCol="0" anchor="t">
            <a:noAutofit/>
          </a:bodyPr>
          <a:lstStyle/>
          <a:p>
            <a:pPr marL="256032" indent="-256032" algn="l">
              <a:spcBef>
                <a:spcPts val="0"/>
              </a:spcBef>
              <a:buClr>
                <a:srgbClr val="C8102E"/>
              </a:buClr>
              <a:buFont typeface="Arial"/>
              <a:buChar char="•"/>
            </a:pPr>
            <a:r>
              <a:rPr lang="uz-Latn-UZ" sz="1700" b="0" i="0" dirty="0">
                <a:solidFill>
                  <a:srgbClr val="1F2937"/>
                </a:solidFill>
                <a:latin typeface="Arial"/>
                <a:cs typeface="Arial"/>
              </a:rPr>
              <a:t>2019 — Liviya bilan dengiz yurisdiksiyasi memorandumi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Somaliga yirik gumanitar va rivojlanish yordami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Suriya va Iroq bilan tarixiy aloqalar</a:t>
            </a:r>
            <a:endParaRPr lang="uz-Latn-UZ" sz="1700" b="0" i="0" dirty="0">
              <a:solidFill>
                <a:srgbClr val="1F2937"/>
              </a:solidFill>
              <a:latin typeface="Arial"/>
              <a:cs typeface="Arial"/>
            </a:endParaRPr>
          </a:p>
        </p:txBody>
      </p:sp>
      <p:sp>
        <p:nvSpPr>
          <p:cNvPr id="21" name="Shape 21"/>
          <p:cNvSpPr/>
          <p:nvPr/>
        </p:nvSpPr>
        <p:spPr>
          <a:xfrm>
            <a:off x="8125968" y="2121408"/>
            <a:ext cx="3514344" cy="4023360"/>
          </a:xfrm>
          <a:prstGeom prst="rect">
            <a:avLst/>
          </a:prstGeom>
          <a:solidFill>
            <a:srgbClr val="F1F3F6"/>
          </a:solidFill>
          <a:ln>
            <a:noFill/>
          </a:ln>
        </p:spPr>
      </p:sp>
      <p:sp>
        <p:nvSpPr>
          <p:cNvPr id="22" name="Shape 22"/>
          <p:cNvSpPr/>
          <p:nvPr/>
        </p:nvSpPr>
        <p:spPr>
          <a:xfrm>
            <a:off x="8125968" y="2121408"/>
            <a:ext cx="3514344" cy="73152"/>
          </a:xfrm>
          <a:prstGeom prst="rect">
            <a:avLst/>
          </a:prstGeom>
          <a:solidFill>
            <a:srgbClr val="C8102E"/>
          </a:solidFill>
          <a:ln>
            <a:noFill/>
          </a:ln>
        </p:spPr>
      </p:sp>
      <p:sp>
        <p:nvSpPr>
          <p:cNvPr id="23" name="TextBox 23"/>
          <p:cNvSpPr/>
          <p:nvPr/>
        </p:nvSpPr>
        <p:spPr>
          <a:xfrm>
            <a:off x="8382000" y="2322576"/>
            <a:ext cx="3002280" cy="530352"/>
          </a:xfrm>
          <a:prstGeom prst="rect">
            <a:avLst/>
          </a:prstGeom>
          <a:noFill/>
          <a:ln>
            <a:noFill/>
          </a:ln>
        </p:spPr>
        <p:txBody>
          <a:bodyPr wrap="square" lIns="0" tIns="0" rIns="0" bIns="0" rtlCol="0" anchor="ctr">
            <a:noAutofit/>
          </a:bodyPr>
          <a:lstStyle/>
          <a:p>
            <a:pPr marL="0" indent="0" algn="l">
              <a:spcBef>
                <a:spcPts val="0"/>
              </a:spcBef>
              <a:buNone/>
            </a:pPr>
            <a:r>
              <a:rPr lang="uz-Latn-UZ" sz="2000" b="1" i="0" dirty="0">
                <a:solidFill>
                  <a:srgbClr val="14213D"/>
                </a:solidFill>
                <a:latin typeface="Arial"/>
                <a:cs typeface="Arial"/>
              </a:rPr>
              <a:t>Qiyosiy nigoh</a:t>
            </a:r>
            <a:endParaRPr lang="uz-Latn-UZ" sz="2000" b="1" i="0" dirty="0">
              <a:solidFill>
                <a:srgbClr val="14213D"/>
              </a:solidFill>
              <a:latin typeface="Arial"/>
              <a:cs typeface="Arial"/>
            </a:endParaRPr>
          </a:p>
        </p:txBody>
      </p:sp>
      <p:cxnSp>
        <p:nvCxnSpPr>
          <p:cNvPr id="24" name="Line 24"/>
          <p:cNvCxnSpPr/>
          <p:nvPr/>
        </p:nvCxnSpPr>
        <p:spPr>
          <a:xfrm>
            <a:off x="8382000" y="2962656"/>
            <a:ext cx="3002280" cy="0"/>
          </a:xfrm>
          <a:prstGeom prst="line">
            <a:avLst/>
          </a:prstGeom>
          <a:ln w="12700">
            <a:solidFill>
              <a:srgbClr val="D1D5DB"/>
            </a:solidFill>
          </a:ln>
        </p:spPr>
      </p:cxnSp>
      <p:sp>
        <p:nvSpPr>
          <p:cNvPr id="25" name="TextBox 25"/>
          <p:cNvSpPr/>
          <p:nvPr/>
        </p:nvSpPr>
        <p:spPr>
          <a:xfrm>
            <a:off x="8382000" y="3108960"/>
            <a:ext cx="3002280" cy="2880360"/>
          </a:xfrm>
          <a:prstGeom prst="rect">
            <a:avLst/>
          </a:prstGeom>
          <a:noFill/>
          <a:ln>
            <a:noFill/>
          </a:ln>
        </p:spPr>
        <p:txBody>
          <a:bodyPr wrap="square" lIns="0" tIns="0" rIns="0" bIns="0" rtlCol="0" anchor="t">
            <a:noAutofit/>
          </a:bodyPr>
          <a:lstStyle/>
          <a:p>
            <a:pPr marL="256032" indent="-256032" algn="l">
              <a:spcBef>
                <a:spcPts val="0"/>
              </a:spcBef>
              <a:buClr>
                <a:srgbClr val="C8102E"/>
              </a:buClr>
              <a:buFont typeface="Arial"/>
              <a:buChar char="•"/>
            </a:pPr>
            <a:r>
              <a:rPr lang="uz-Latn-UZ" sz="1700" b="0" i="0" dirty="0">
                <a:solidFill>
                  <a:srgbClr val="1F2937"/>
                </a:solidFill>
                <a:latin typeface="Arial"/>
                <a:cs typeface="Arial"/>
              </a:rPr>
              <a:t>Buyuk Britaniya — Millatlar Hamdo‘stligi</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Fransiya — Frankofoniya</a:t>
            </a:r>
            <a:endParaRPr lang="uz-Latn-UZ" sz="1700" b="0" i="0" dirty="0">
              <a:solidFill>
                <a:srgbClr val="1F2937"/>
              </a:solidFill>
              <a:latin typeface="Arial"/>
              <a:cs typeface="Arial"/>
            </a:endParaRPr>
          </a:p>
          <a:p>
            <a:pPr marL="256032" indent="-256032" algn="l">
              <a:spcBef>
                <a:spcPts val="1000"/>
              </a:spcBef>
              <a:buClr>
                <a:srgbClr val="C8102E"/>
              </a:buClr>
              <a:buFont typeface="Arial"/>
              <a:buChar char="•"/>
            </a:pPr>
            <a:r>
              <a:rPr lang="uz-Latn-UZ" sz="1700" b="0" i="0" dirty="0">
                <a:solidFill>
                  <a:srgbClr val="1F2937"/>
                </a:solidFill>
                <a:latin typeface="Arial"/>
                <a:cs typeface="Arial"/>
              </a:rPr>
              <a:t>Turkiya — Usmonli merosi, turkiy dunyo va Islom olami bir vaqtda</a:t>
            </a:r>
            <a:endParaRPr lang="uz-Latn-UZ" sz="1700" b="0" i="0" dirty="0">
              <a:solidFill>
                <a:srgbClr val="1F2937"/>
              </a:solidFill>
              <a:latin typeface="Arial"/>
              <a:cs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4-QISM  •  QIYOSIY TAHLIL</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700" b="1" i="0" dirty="0">
                <a:solidFill>
                  <a:srgbClr val="14213D"/>
                </a:solidFill>
                <a:latin typeface="Arial"/>
                <a:cs typeface="Arial"/>
              </a:rPr>
              <a:t>2-jihat: «yumshoq kuch»dan faol foydalanish</a:t>
            </a:r>
            <a:endParaRPr lang="uz-Latn-UZ" sz="27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4-ma’ruzachi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20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Shape 10"/>
          <p:cNvSpPr/>
          <p:nvPr/>
        </p:nvSpPr>
        <p:spPr>
          <a:xfrm>
            <a:off x="548640" y="1627632"/>
            <a:ext cx="2601468" cy="2011680"/>
          </a:xfrm>
          <a:prstGeom prst="rect">
            <a:avLst/>
          </a:prstGeom>
          <a:solidFill>
            <a:srgbClr val="14213D"/>
          </a:solidFill>
          <a:ln>
            <a:noFill/>
          </a:ln>
        </p:spPr>
      </p:sp>
      <p:sp>
        <p:nvSpPr>
          <p:cNvPr id="11" name="TextBox 11"/>
          <p:cNvSpPr/>
          <p:nvPr/>
        </p:nvSpPr>
        <p:spPr>
          <a:xfrm>
            <a:off x="731520" y="1737360"/>
            <a:ext cx="2235708" cy="822960"/>
          </a:xfrm>
          <a:prstGeom prst="rect">
            <a:avLst/>
          </a:prstGeom>
          <a:noFill/>
          <a:ln>
            <a:noFill/>
          </a:ln>
        </p:spPr>
        <p:txBody>
          <a:bodyPr wrap="square" lIns="0" tIns="0" rIns="0" bIns="0" rtlCol="0" anchor="ctr">
            <a:noAutofit/>
          </a:bodyPr>
          <a:lstStyle/>
          <a:p>
            <a:pPr marL="0" indent="0" algn="ctr">
              <a:spcBef>
                <a:spcPts val="0"/>
              </a:spcBef>
              <a:buNone/>
            </a:pPr>
            <a:r>
              <a:rPr lang="uz-Latn-UZ" sz="3600" b="1" i="0" dirty="0">
                <a:solidFill>
                  <a:srgbClr val="FFFFFF"/>
                </a:solidFill>
                <a:latin typeface="Arial"/>
                <a:cs typeface="Arial"/>
              </a:rPr>
              <a:t>93</a:t>
            </a:r>
            <a:endParaRPr lang="uz-Latn-UZ" sz="3600" b="1" i="0" dirty="0">
              <a:solidFill>
                <a:srgbClr val="FFFFFF"/>
              </a:solidFill>
              <a:latin typeface="Arial"/>
              <a:cs typeface="Arial"/>
            </a:endParaRPr>
          </a:p>
        </p:txBody>
      </p:sp>
      <p:sp>
        <p:nvSpPr>
          <p:cNvPr id="12" name="TextBox 12"/>
          <p:cNvSpPr/>
          <p:nvPr/>
        </p:nvSpPr>
        <p:spPr>
          <a:xfrm>
            <a:off x="731520" y="2606040"/>
            <a:ext cx="2235708" cy="960120"/>
          </a:xfrm>
          <a:prstGeom prst="rect">
            <a:avLst/>
          </a:prstGeom>
          <a:noFill/>
          <a:ln>
            <a:noFill/>
          </a:ln>
        </p:spPr>
        <p:txBody>
          <a:bodyPr wrap="square" lIns="0" tIns="0" rIns="0" bIns="0" rtlCol="0" anchor="t">
            <a:noAutofit/>
          </a:bodyPr>
          <a:lstStyle/>
          <a:p>
            <a:pPr marL="0" indent="0" algn="ctr">
              <a:spcBef>
                <a:spcPts val="0"/>
              </a:spcBef>
              <a:buNone/>
            </a:pPr>
            <a:r>
              <a:rPr lang="uz-Latn-UZ" sz="1400" b="0" i="0" dirty="0">
                <a:solidFill>
                  <a:srgbClr val="FFFFFF"/>
                </a:solidFill>
                <a:latin typeface="Arial"/>
                <a:cs typeface="Arial"/>
              </a:rPr>
              <a:t>Yunus Emre madaniyat markazi 69 mamlakatda</a:t>
            </a:r>
            <a:endParaRPr lang="uz-Latn-UZ" sz="1400" b="0" i="0" dirty="0">
              <a:solidFill>
                <a:srgbClr val="FFFFFF"/>
              </a:solidFill>
              <a:latin typeface="Arial"/>
              <a:cs typeface="Arial"/>
            </a:endParaRPr>
          </a:p>
        </p:txBody>
      </p:sp>
      <p:sp>
        <p:nvSpPr>
          <p:cNvPr id="13" name="Shape 13"/>
          <p:cNvSpPr/>
          <p:nvPr/>
        </p:nvSpPr>
        <p:spPr>
          <a:xfrm>
            <a:off x="3378708" y="1627632"/>
            <a:ext cx="2601468" cy="2011680"/>
          </a:xfrm>
          <a:prstGeom prst="rect">
            <a:avLst/>
          </a:prstGeom>
          <a:solidFill>
            <a:srgbClr val="C8102E"/>
          </a:solidFill>
          <a:ln>
            <a:noFill/>
          </a:ln>
        </p:spPr>
      </p:sp>
      <p:sp>
        <p:nvSpPr>
          <p:cNvPr id="14" name="TextBox 14"/>
          <p:cNvSpPr/>
          <p:nvPr/>
        </p:nvSpPr>
        <p:spPr>
          <a:xfrm>
            <a:off x="3561588" y="1737360"/>
            <a:ext cx="2235708" cy="822960"/>
          </a:xfrm>
          <a:prstGeom prst="rect">
            <a:avLst/>
          </a:prstGeom>
          <a:noFill/>
          <a:ln>
            <a:noFill/>
          </a:ln>
        </p:spPr>
        <p:txBody>
          <a:bodyPr wrap="square" lIns="0" tIns="0" rIns="0" bIns="0" rtlCol="0" anchor="ctr">
            <a:noAutofit/>
          </a:bodyPr>
          <a:lstStyle/>
          <a:p>
            <a:pPr marL="0" indent="0" algn="ctr">
              <a:spcBef>
                <a:spcPts val="0"/>
              </a:spcBef>
              <a:buNone/>
            </a:pPr>
            <a:r>
              <a:rPr lang="uz-Latn-UZ" sz="3600" b="1" i="0" dirty="0">
                <a:solidFill>
                  <a:srgbClr val="FFFFFF"/>
                </a:solidFill>
                <a:latin typeface="Arial"/>
                <a:cs typeface="Arial"/>
              </a:rPr>
              <a:t>125 668</a:t>
            </a:r>
            <a:endParaRPr lang="uz-Latn-UZ" sz="3600" b="1" i="0" dirty="0">
              <a:solidFill>
                <a:srgbClr val="FFFFFF"/>
              </a:solidFill>
              <a:latin typeface="Arial"/>
              <a:cs typeface="Arial"/>
            </a:endParaRPr>
          </a:p>
        </p:txBody>
      </p:sp>
      <p:sp>
        <p:nvSpPr>
          <p:cNvPr id="15" name="TextBox 15"/>
          <p:cNvSpPr/>
          <p:nvPr/>
        </p:nvSpPr>
        <p:spPr>
          <a:xfrm>
            <a:off x="3561588" y="2606040"/>
            <a:ext cx="2235708" cy="960120"/>
          </a:xfrm>
          <a:prstGeom prst="rect">
            <a:avLst/>
          </a:prstGeom>
          <a:noFill/>
          <a:ln>
            <a:noFill/>
          </a:ln>
        </p:spPr>
        <p:txBody>
          <a:bodyPr wrap="square" lIns="0" tIns="0" rIns="0" bIns="0" rtlCol="0" anchor="t">
            <a:noAutofit/>
          </a:bodyPr>
          <a:lstStyle/>
          <a:p>
            <a:pPr marL="0" indent="0" algn="ctr">
              <a:spcBef>
                <a:spcPts val="0"/>
              </a:spcBef>
              <a:buNone/>
            </a:pPr>
            <a:r>
              <a:rPr lang="uz-Latn-UZ" sz="1400" b="0" i="0" dirty="0">
                <a:solidFill>
                  <a:srgbClr val="FFFFFF"/>
                </a:solidFill>
                <a:latin typeface="Arial"/>
                <a:cs typeface="Arial"/>
              </a:rPr>
              <a:t>«Türkiye Bursları»ga ariza — 171 mamlakatdan (2025)</a:t>
            </a:r>
            <a:endParaRPr lang="uz-Latn-UZ" sz="1400" b="0" i="0" dirty="0">
              <a:solidFill>
                <a:srgbClr val="FFFFFF"/>
              </a:solidFill>
              <a:latin typeface="Arial"/>
              <a:cs typeface="Arial"/>
            </a:endParaRPr>
          </a:p>
        </p:txBody>
      </p:sp>
      <p:sp>
        <p:nvSpPr>
          <p:cNvPr id="16" name="Shape 16"/>
          <p:cNvSpPr/>
          <p:nvPr/>
        </p:nvSpPr>
        <p:spPr>
          <a:xfrm>
            <a:off x="6208776" y="1627632"/>
            <a:ext cx="2601468" cy="2011680"/>
          </a:xfrm>
          <a:prstGeom prst="rect">
            <a:avLst/>
          </a:prstGeom>
          <a:solidFill>
            <a:srgbClr val="14213D"/>
          </a:solidFill>
          <a:ln>
            <a:noFill/>
          </a:ln>
        </p:spPr>
      </p:sp>
      <p:sp>
        <p:nvSpPr>
          <p:cNvPr id="17" name="TextBox 17"/>
          <p:cNvSpPr/>
          <p:nvPr/>
        </p:nvSpPr>
        <p:spPr>
          <a:xfrm>
            <a:off x="6391656" y="1737360"/>
            <a:ext cx="2235708" cy="822960"/>
          </a:xfrm>
          <a:prstGeom prst="rect">
            <a:avLst/>
          </a:prstGeom>
          <a:noFill/>
          <a:ln>
            <a:noFill/>
          </a:ln>
        </p:spPr>
        <p:txBody>
          <a:bodyPr wrap="square" lIns="0" tIns="0" rIns="0" bIns="0" rtlCol="0" anchor="ctr">
            <a:noAutofit/>
          </a:bodyPr>
          <a:lstStyle/>
          <a:p>
            <a:pPr marL="0" indent="0" algn="ctr">
              <a:spcBef>
                <a:spcPts val="0"/>
              </a:spcBef>
              <a:buNone/>
            </a:pPr>
            <a:r>
              <a:rPr lang="uz-Latn-UZ" sz="3600" b="1" i="0" dirty="0">
                <a:solidFill>
                  <a:srgbClr val="FFFFFF"/>
                </a:solidFill>
                <a:latin typeface="Arial"/>
                <a:cs typeface="Arial"/>
              </a:rPr>
              <a:t>600+</a:t>
            </a:r>
            <a:endParaRPr lang="uz-Latn-UZ" sz="3600" b="1" i="0" dirty="0">
              <a:solidFill>
                <a:srgbClr val="FFFFFF"/>
              </a:solidFill>
              <a:latin typeface="Arial"/>
              <a:cs typeface="Arial"/>
            </a:endParaRPr>
          </a:p>
        </p:txBody>
      </p:sp>
      <p:sp>
        <p:nvSpPr>
          <p:cNvPr id="18" name="TextBox 18"/>
          <p:cNvSpPr/>
          <p:nvPr/>
        </p:nvSpPr>
        <p:spPr>
          <a:xfrm>
            <a:off x="6391656" y="2606040"/>
            <a:ext cx="2235708" cy="960120"/>
          </a:xfrm>
          <a:prstGeom prst="rect">
            <a:avLst/>
          </a:prstGeom>
          <a:noFill/>
          <a:ln>
            <a:noFill/>
          </a:ln>
        </p:spPr>
        <p:txBody>
          <a:bodyPr wrap="square" lIns="0" tIns="0" rIns="0" bIns="0" rtlCol="0" anchor="t">
            <a:noAutofit/>
          </a:bodyPr>
          <a:lstStyle/>
          <a:p>
            <a:pPr marL="0" indent="0" algn="ctr">
              <a:spcBef>
                <a:spcPts val="0"/>
              </a:spcBef>
              <a:buNone/>
            </a:pPr>
            <a:r>
              <a:rPr lang="uz-Latn-UZ" sz="1400" b="0" i="0" dirty="0">
                <a:solidFill>
                  <a:srgbClr val="FFFFFF"/>
                </a:solidFill>
                <a:latin typeface="Arial"/>
                <a:cs typeface="Arial"/>
              </a:rPr>
              <a:t>Maarif fondi ta’lim muassasasi 64 mamlakatda</a:t>
            </a:r>
            <a:endParaRPr lang="uz-Latn-UZ" sz="1400" b="0" i="0" dirty="0">
              <a:solidFill>
                <a:srgbClr val="FFFFFF"/>
              </a:solidFill>
              <a:latin typeface="Arial"/>
              <a:cs typeface="Arial"/>
            </a:endParaRPr>
          </a:p>
        </p:txBody>
      </p:sp>
      <p:sp>
        <p:nvSpPr>
          <p:cNvPr id="19" name="Shape 19"/>
          <p:cNvSpPr/>
          <p:nvPr/>
        </p:nvSpPr>
        <p:spPr>
          <a:xfrm>
            <a:off x="9038844" y="1627632"/>
            <a:ext cx="2601468" cy="2011680"/>
          </a:xfrm>
          <a:prstGeom prst="rect">
            <a:avLst/>
          </a:prstGeom>
          <a:solidFill>
            <a:srgbClr val="C8102E"/>
          </a:solidFill>
          <a:ln>
            <a:noFill/>
          </a:ln>
        </p:spPr>
      </p:sp>
      <p:sp>
        <p:nvSpPr>
          <p:cNvPr id="20" name="TextBox 20"/>
          <p:cNvSpPr/>
          <p:nvPr/>
        </p:nvSpPr>
        <p:spPr>
          <a:xfrm>
            <a:off x="9221724" y="1737360"/>
            <a:ext cx="2235708" cy="822960"/>
          </a:xfrm>
          <a:prstGeom prst="rect">
            <a:avLst/>
          </a:prstGeom>
          <a:noFill/>
          <a:ln>
            <a:noFill/>
          </a:ln>
        </p:spPr>
        <p:txBody>
          <a:bodyPr wrap="square" lIns="0" tIns="0" rIns="0" bIns="0" rtlCol="0" anchor="ctr">
            <a:noAutofit/>
          </a:bodyPr>
          <a:lstStyle/>
          <a:p>
            <a:pPr marL="0" indent="0" algn="ctr">
              <a:spcBef>
                <a:spcPts val="0"/>
              </a:spcBef>
              <a:buNone/>
            </a:pPr>
            <a:r>
              <a:rPr lang="uz-Latn-UZ" sz="3600" b="1" i="0" dirty="0">
                <a:solidFill>
                  <a:srgbClr val="FFFFFF"/>
                </a:solidFill>
                <a:latin typeface="Arial"/>
                <a:cs typeface="Arial"/>
              </a:rPr>
              <a:t>130+</a:t>
            </a:r>
            <a:endParaRPr lang="uz-Latn-UZ" sz="3600" b="1" i="0" dirty="0">
              <a:solidFill>
                <a:srgbClr val="FFFFFF"/>
              </a:solidFill>
              <a:latin typeface="Arial"/>
              <a:cs typeface="Arial"/>
            </a:endParaRPr>
          </a:p>
        </p:txBody>
      </p:sp>
      <p:sp>
        <p:nvSpPr>
          <p:cNvPr id="21" name="TextBox 21"/>
          <p:cNvSpPr/>
          <p:nvPr/>
        </p:nvSpPr>
        <p:spPr>
          <a:xfrm>
            <a:off x="9221724" y="2606040"/>
            <a:ext cx="2235708" cy="960120"/>
          </a:xfrm>
          <a:prstGeom prst="rect">
            <a:avLst/>
          </a:prstGeom>
          <a:noFill/>
          <a:ln>
            <a:noFill/>
          </a:ln>
        </p:spPr>
        <p:txBody>
          <a:bodyPr wrap="square" lIns="0" tIns="0" rIns="0" bIns="0" rtlCol="0" anchor="t">
            <a:noAutofit/>
          </a:bodyPr>
          <a:lstStyle/>
          <a:p>
            <a:pPr marL="0" indent="0" algn="ctr">
              <a:spcBef>
                <a:spcPts val="0"/>
              </a:spcBef>
              <a:buNone/>
            </a:pPr>
            <a:r>
              <a:rPr lang="uz-Latn-UZ" sz="1400" b="0" i="0" dirty="0">
                <a:solidFill>
                  <a:srgbClr val="FFFFFF"/>
                </a:solidFill>
                <a:latin typeface="Arial"/>
                <a:cs typeface="Arial"/>
              </a:rPr>
              <a:t>mamlakatga Turkish Airlines parvozlari — Ginnes rekordi</a:t>
            </a:r>
            <a:endParaRPr lang="uz-Latn-UZ" sz="1400" b="0" i="0" dirty="0">
              <a:solidFill>
                <a:srgbClr val="FFFFFF"/>
              </a:solidFill>
              <a:latin typeface="Arial"/>
              <a:cs typeface="Arial"/>
            </a:endParaRPr>
          </a:p>
        </p:txBody>
      </p:sp>
      <p:sp>
        <p:nvSpPr>
          <p:cNvPr id="22" name="Shape 22"/>
          <p:cNvSpPr/>
          <p:nvPr/>
        </p:nvSpPr>
        <p:spPr>
          <a:xfrm>
            <a:off x="658368" y="4023360"/>
            <a:ext cx="182880" cy="182880"/>
          </a:xfrm>
          <a:prstGeom prst="ellipse">
            <a:avLst/>
          </a:prstGeom>
          <a:solidFill>
            <a:srgbClr val="C8102E"/>
          </a:solidFill>
          <a:ln>
            <a:noFill/>
          </a:ln>
        </p:spPr>
      </p:sp>
      <p:sp>
        <p:nvSpPr>
          <p:cNvPr id="23" name="TextBox 23"/>
          <p:cNvSpPr/>
          <p:nvPr/>
        </p:nvSpPr>
        <p:spPr>
          <a:xfrm>
            <a:off x="1051560" y="3895344"/>
            <a:ext cx="10588752" cy="667512"/>
          </a:xfrm>
          <a:prstGeom prst="rect">
            <a:avLst/>
          </a:prstGeom>
          <a:noFill/>
          <a:ln>
            <a:noFill/>
          </a:ln>
        </p:spPr>
        <p:txBody>
          <a:bodyPr wrap="square" lIns="0" tIns="0" rIns="0" bIns="0" rtlCol="0" anchor="t">
            <a:noAutofit/>
          </a:bodyPr>
          <a:lstStyle/>
          <a:p>
            <a:pPr marL="0" indent="0" algn="l">
              <a:spcBef>
                <a:spcPts val="0"/>
              </a:spcBef>
              <a:buNone/>
            </a:pPr>
            <a:r>
              <a:rPr lang="uz-Latn-UZ" sz="1800" b="1" i="0" dirty="0">
                <a:solidFill>
                  <a:srgbClr val="14213D"/>
                </a:solidFill>
                <a:latin typeface="Arial"/>
                <a:cs typeface="Arial"/>
              </a:rPr>
              <a:t>Vositalar: </a:t>
            </a:r>
            <a:r>
              <a:rPr lang="uz-Latn-UZ" sz="1800" b="0" i="0" dirty="0">
                <a:solidFill>
                  <a:srgbClr val="1F2937"/>
                </a:solidFill>
                <a:latin typeface="Arial"/>
                <a:cs typeface="Arial"/>
              </a:rPr>
              <a:t>madaniyat, til, ta’lim, seriallar, turizm va gumanitar loyihalar.</a:t>
            </a:r>
            <a:endParaRPr lang="uz-Latn-UZ" sz="1800" b="0" i="0" dirty="0">
              <a:solidFill>
                <a:srgbClr val="1F2937"/>
              </a:solidFill>
              <a:latin typeface="Arial"/>
              <a:cs typeface="Arial"/>
            </a:endParaRPr>
          </a:p>
        </p:txBody>
      </p:sp>
      <p:cxnSp>
        <p:nvCxnSpPr>
          <p:cNvPr id="24" name="Line 24"/>
          <p:cNvCxnSpPr/>
          <p:nvPr/>
        </p:nvCxnSpPr>
        <p:spPr>
          <a:xfrm>
            <a:off x="1051560" y="4599432"/>
            <a:ext cx="10588752" cy="0"/>
          </a:xfrm>
          <a:prstGeom prst="line">
            <a:avLst/>
          </a:prstGeom>
          <a:ln w="12700">
            <a:solidFill>
              <a:srgbClr val="E5E7EB"/>
            </a:solidFill>
          </a:ln>
        </p:spPr>
      </p:cxnSp>
      <p:sp>
        <p:nvSpPr>
          <p:cNvPr id="25" name="Shape 25"/>
          <p:cNvSpPr/>
          <p:nvPr/>
        </p:nvSpPr>
        <p:spPr>
          <a:xfrm>
            <a:off x="658368" y="4800600"/>
            <a:ext cx="182880" cy="182880"/>
          </a:xfrm>
          <a:prstGeom prst="ellipse">
            <a:avLst/>
          </a:prstGeom>
          <a:solidFill>
            <a:srgbClr val="C8102E"/>
          </a:solidFill>
          <a:ln>
            <a:noFill/>
          </a:ln>
        </p:spPr>
      </p:sp>
      <p:sp>
        <p:nvSpPr>
          <p:cNvPr id="26" name="TextBox 26"/>
          <p:cNvSpPr/>
          <p:nvPr/>
        </p:nvSpPr>
        <p:spPr>
          <a:xfrm>
            <a:off x="1051560" y="4672584"/>
            <a:ext cx="10588752" cy="667512"/>
          </a:xfrm>
          <a:prstGeom prst="rect">
            <a:avLst/>
          </a:prstGeom>
          <a:noFill/>
          <a:ln>
            <a:noFill/>
          </a:ln>
        </p:spPr>
        <p:txBody>
          <a:bodyPr wrap="square" lIns="0" tIns="0" rIns="0" bIns="0" rtlCol="0" anchor="t">
            <a:noAutofit/>
          </a:bodyPr>
          <a:lstStyle/>
          <a:p>
            <a:pPr marL="0" indent="0" algn="l">
              <a:spcBef>
                <a:spcPts val="0"/>
              </a:spcBef>
              <a:buNone/>
            </a:pPr>
            <a:r>
              <a:rPr lang="uz-Latn-UZ" sz="1800" b="1" i="0" dirty="0">
                <a:solidFill>
                  <a:srgbClr val="14213D"/>
                </a:solidFill>
                <a:latin typeface="Arial"/>
                <a:cs typeface="Arial"/>
              </a:rPr>
              <a:t>TIKA: </a:t>
            </a:r>
            <a:r>
              <a:rPr lang="uz-Latn-UZ" sz="1800" b="0" i="0" dirty="0">
                <a:solidFill>
                  <a:srgbClr val="1F2937"/>
                </a:solidFill>
                <a:latin typeface="Arial"/>
                <a:cs typeface="Arial"/>
              </a:rPr>
              <a:t>turli mamlakatlarda ijtimoiy va madaniy loyihalar — 150 dan ortiq mamlakatda.</a:t>
            </a:r>
            <a:endParaRPr lang="uz-Latn-UZ" sz="1800" b="0" i="0" dirty="0">
              <a:solidFill>
                <a:srgbClr val="1F2937"/>
              </a:solidFill>
              <a:latin typeface="Arial"/>
              <a:cs typeface="Arial"/>
            </a:endParaRPr>
          </a:p>
        </p:txBody>
      </p:sp>
      <p:cxnSp>
        <p:nvCxnSpPr>
          <p:cNvPr id="27" name="Line 27"/>
          <p:cNvCxnSpPr/>
          <p:nvPr/>
        </p:nvCxnSpPr>
        <p:spPr>
          <a:xfrm>
            <a:off x="1051560" y="5376672"/>
            <a:ext cx="10588752" cy="0"/>
          </a:xfrm>
          <a:prstGeom prst="line">
            <a:avLst/>
          </a:prstGeom>
          <a:ln w="12700">
            <a:solidFill>
              <a:srgbClr val="E5E7EB"/>
            </a:solidFill>
          </a:ln>
        </p:spPr>
      </p:cxnSp>
      <p:sp>
        <p:nvSpPr>
          <p:cNvPr id="28" name="Shape 28"/>
          <p:cNvSpPr/>
          <p:nvPr/>
        </p:nvSpPr>
        <p:spPr>
          <a:xfrm>
            <a:off x="658368" y="5577840"/>
            <a:ext cx="182880" cy="182880"/>
          </a:xfrm>
          <a:prstGeom prst="ellipse">
            <a:avLst/>
          </a:prstGeom>
          <a:solidFill>
            <a:srgbClr val="C8102E"/>
          </a:solidFill>
          <a:ln>
            <a:noFill/>
          </a:ln>
        </p:spPr>
      </p:sp>
      <p:sp>
        <p:nvSpPr>
          <p:cNvPr id="29" name="TextBox 29"/>
          <p:cNvSpPr/>
          <p:nvPr/>
        </p:nvSpPr>
        <p:spPr>
          <a:xfrm>
            <a:off x="1051560" y="5449824"/>
            <a:ext cx="10588752" cy="667512"/>
          </a:xfrm>
          <a:prstGeom prst="rect">
            <a:avLst/>
          </a:prstGeom>
          <a:noFill/>
          <a:ln>
            <a:noFill/>
          </a:ln>
        </p:spPr>
        <p:txBody>
          <a:bodyPr wrap="square" lIns="0" tIns="0" rIns="0" bIns="0" rtlCol="0" anchor="t">
            <a:noAutofit/>
          </a:bodyPr>
          <a:lstStyle/>
          <a:p>
            <a:pPr marL="0" indent="0" algn="l">
              <a:spcBef>
                <a:spcPts val="0"/>
              </a:spcBef>
              <a:buNone/>
            </a:pPr>
            <a:r>
              <a:rPr lang="uz-Latn-UZ" sz="1800" b="1" i="0" dirty="0">
                <a:solidFill>
                  <a:srgbClr val="14213D"/>
                </a:solidFill>
                <a:latin typeface="Arial"/>
                <a:cs typeface="Arial"/>
              </a:rPr>
              <a:t>Seriallar va turizm: </a:t>
            </a:r>
            <a:r>
              <a:rPr lang="uz-Latn-UZ" sz="1800" b="0" i="0" dirty="0">
                <a:solidFill>
                  <a:srgbClr val="1F2937"/>
                </a:solidFill>
                <a:latin typeface="Arial"/>
                <a:cs typeface="Arial"/>
              </a:rPr>
              <a:t>turk seriallari eng ko‘p eksport qilinadigan seriallar qatorida; har yili o‘n millionlab xorijiy sayyohlar.</a:t>
            </a:r>
            <a:endParaRPr lang="uz-Latn-UZ" sz="1800" b="0" i="0" dirty="0">
              <a:solidFill>
                <a:srgbClr val="1F2937"/>
              </a:solidFill>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4-QISM  •  QIYOSIY TAHLIL</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3-jihat: geografik joylashuv</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4-ma’ruzachi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21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TextBox 10"/>
          <p:cNvSpPr/>
          <p:nvPr/>
        </p:nvSpPr>
        <p:spPr>
          <a:xfrm>
            <a:off x="548640" y="1517904"/>
            <a:ext cx="11091672" cy="512064"/>
          </a:xfrm>
          <a:prstGeom prst="rect">
            <a:avLst/>
          </a:prstGeom>
          <a:noFill/>
          <a:ln>
            <a:noFill/>
          </a:ln>
        </p:spPr>
        <p:txBody>
          <a:bodyPr wrap="square" lIns="0" tIns="0" rIns="0" bIns="0" rtlCol="0" anchor="ctr">
            <a:noAutofit/>
          </a:bodyPr>
          <a:lstStyle/>
          <a:p>
            <a:pPr marL="0" indent="0" algn="l">
              <a:spcBef>
                <a:spcPts val="0"/>
              </a:spcBef>
              <a:buNone/>
            </a:pPr>
            <a:r>
              <a:rPr lang="uz-Latn-UZ" sz="1700" b="0" i="1" dirty="0">
                <a:solidFill>
                  <a:srgbClr val="14213D"/>
                </a:solidFill>
                <a:latin typeface="Arial"/>
                <a:cs typeface="Arial"/>
              </a:rPr>
              <a:t>To‘rt mintaqa bilan bir vaqtning o‘zida faol diplomatik aloqalar</a:t>
            </a:r>
            <a:endParaRPr lang="uz-Latn-UZ" sz="1700" b="0" i="1" dirty="0">
              <a:solidFill>
                <a:srgbClr val="14213D"/>
              </a:solidFill>
              <a:latin typeface="Arial"/>
              <a:cs typeface="Arial"/>
            </a:endParaRPr>
          </a:p>
        </p:txBody>
      </p:sp>
      <p:sp>
        <p:nvSpPr>
          <p:cNvPr id="11" name="Shape 11"/>
          <p:cNvSpPr/>
          <p:nvPr/>
        </p:nvSpPr>
        <p:spPr>
          <a:xfrm>
            <a:off x="548640" y="2121408"/>
            <a:ext cx="5408676" cy="1874520"/>
          </a:xfrm>
          <a:prstGeom prst="rect">
            <a:avLst/>
          </a:prstGeom>
          <a:solidFill>
            <a:srgbClr val="F1F3F6"/>
          </a:solidFill>
          <a:ln>
            <a:noFill/>
          </a:ln>
        </p:spPr>
      </p:sp>
      <p:sp>
        <p:nvSpPr>
          <p:cNvPr id="12" name="Shape 12"/>
          <p:cNvSpPr/>
          <p:nvPr/>
        </p:nvSpPr>
        <p:spPr>
          <a:xfrm>
            <a:off x="548640" y="2121408"/>
            <a:ext cx="82296" cy="1874520"/>
          </a:xfrm>
          <a:prstGeom prst="rect">
            <a:avLst/>
          </a:prstGeom>
          <a:solidFill>
            <a:srgbClr val="C8102E"/>
          </a:solidFill>
          <a:ln>
            <a:noFill/>
          </a:ln>
        </p:spPr>
      </p:sp>
      <p:sp>
        <p:nvSpPr>
          <p:cNvPr id="13" name="TextBox 13"/>
          <p:cNvSpPr/>
          <p:nvPr/>
        </p:nvSpPr>
        <p:spPr>
          <a:xfrm>
            <a:off x="868680" y="2267712"/>
            <a:ext cx="4860036" cy="457200"/>
          </a:xfrm>
          <a:prstGeom prst="rect">
            <a:avLst/>
          </a:prstGeom>
          <a:noFill/>
          <a:ln>
            <a:noFill/>
          </a:ln>
        </p:spPr>
        <p:txBody>
          <a:bodyPr wrap="square" lIns="0" tIns="0" rIns="0" bIns="0" rtlCol="0" anchor="ctr">
            <a:noAutofit/>
          </a:bodyPr>
          <a:lstStyle/>
          <a:p>
            <a:pPr marL="0" indent="0" algn="l">
              <a:spcBef>
                <a:spcPts val="0"/>
              </a:spcBef>
              <a:buNone/>
            </a:pPr>
            <a:r>
              <a:rPr lang="uz-Latn-UZ" sz="1900" b="1" i="0" dirty="0">
                <a:solidFill>
                  <a:srgbClr val="14213D"/>
                </a:solidFill>
                <a:latin typeface="Arial"/>
                <a:cs typeface="Arial"/>
              </a:rPr>
              <a:t>Yevropa</a:t>
            </a:r>
            <a:endParaRPr lang="uz-Latn-UZ" sz="1900" b="1" i="0" dirty="0">
              <a:solidFill>
                <a:srgbClr val="14213D"/>
              </a:solidFill>
              <a:latin typeface="Arial"/>
              <a:cs typeface="Arial"/>
            </a:endParaRPr>
          </a:p>
        </p:txBody>
      </p:sp>
      <p:sp>
        <p:nvSpPr>
          <p:cNvPr id="14" name="TextBox 14"/>
          <p:cNvSpPr/>
          <p:nvPr/>
        </p:nvSpPr>
        <p:spPr>
          <a:xfrm>
            <a:off x="868680" y="2779776"/>
            <a:ext cx="4860036" cy="1088136"/>
          </a:xfrm>
          <a:prstGeom prst="rect">
            <a:avLst/>
          </a:prstGeom>
          <a:noFill/>
          <a:ln>
            <a:noFill/>
          </a:ln>
        </p:spPr>
        <p:txBody>
          <a:bodyPr wrap="square" lIns="0" tIns="0" rIns="0" bIns="0" rtlCol="0" anchor="t">
            <a:noAutofit/>
          </a:bodyPr>
          <a:lstStyle/>
          <a:p>
            <a:pPr marL="0" indent="0" algn="l">
              <a:lnSpc>
                <a:spcPct val="104000"/>
              </a:lnSpc>
              <a:spcBef>
                <a:spcPts val="0"/>
              </a:spcBef>
              <a:buNone/>
            </a:pPr>
            <a:r>
              <a:rPr lang="uz-Latn-UZ" sz="1650" b="0" i="0" dirty="0">
                <a:solidFill>
                  <a:srgbClr val="1F2937"/>
                </a:solidFill>
                <a:latin typeface="Arial"/>
                <a:cs typeface="Arial"/>
              </a:rPr>
              <a:t>NATO a’zosi (1952), YeI bilan Bojxona ittifoqi (1996), 2026-yilda Anqara NATO sammiti mezboni.</a:t>
            </a:r>
            <a:endParaRPr lang="uz-Latn-UZ" sz="1650" b="0" i="0" dirty="0">
              <a:solidFill>
                <a:srgbClr val="1F2937"/>
              </a:solidFill>
              <a:latin typeface="Arial"/>
              <a:cs typeface="Arial"/>
            </a:endParaRPr>
          </a:p>
        </p:txBody>
      </p:sp>
      <p:sp>
        <p:nvSpPr>
          <p:cNvPr id="15" name="Shape 15"/>
          <p:cNvSpPr/>
          <p:nvPr/>
        </p:nvSpPr>
        <p:spPr>
          <a:xfrm>
            <a:off x="6231636" y="2121408"/>
            <a:ext cx="5408676" cy="1874520"/>
          </a:xfrm>
          <a:prstGeom prst="rect">
            <a:avLst/>
          </a:prstGeom>
          <a:solidFill>
            <a:srgbClr val="F1F3F6"/>
          </a:solidFill>
          <a:ln>
            <a:noFill/>
          </a:ln>
        </p:spPr>
      </p:sp>
      <p:sp>
        <p:nvSpPr>
          <p:cNvPr id="16" name="Shape 16"/>
          <p:cNvSpPr/>
          <p:nvPr/>
        </p:nvSpPr>
        <p:spPr>
          <a:xfrm>
            <a:off x="6231636" y="2121408"/>
            <a:ext cx="82296" cy="1874520"/>
          </a:xfrm>
          <a:prstGeom prst="rect">
            <a:avLst/>
          </a:prstGeom>
          <a:solidFill>
            <a:srgbClr val="14213D"/>
          </a:solidFill>
          <a:ln>
            <a:noFill/>
          </a:ln>
        </p:spPr>
      </p:sp>
      <p:sp>
        <p:nvSpPr>
          <p:cNvPr id="17" name="TextBox 17"/>
          <p:cNvSpPr/>
          <p:nvPr/>
        </p:nvSpPr>
        <p:spPr>
          <a:xfrm>
            <a:off x="6551676" y="2267712"/>
            <a:ext cx="4860036" cy="457200"/>
          </a:xfrm>
          <a:prstGeom prst="rect">
            <a:avLst/>
          </a:prstGeom>
          <a:noFill/>
          <a:ln>
            <a:noFill/>
          </a:ln>
        </p:spPr>
        <p:txBody>
          <a:bodyPr wrap="square" lIns="0" tIns="0" rIns="0" bIns="0" rtlCol="0" anchor="ctr">
            <a:noAutofit/>
          </a:bodyPr>
          <a:lstStyle/>
          <a:p>
            <a:pPr marL="0" indent="0" algn="l">
              <a:spcBef>
                <a:spcPts val="0"/>
              </a:spcBef>
              <a:buNone/>
            </a:pPr>
            <a:r>
              <a:rPr lang="uz-Latn-UZ" sz="1900" b="1" i="0" dirty="0">
                <a:solidFill>
                  <a:srgbClr val="14213D"/>
                </a:solidFill>
                <a:latin typeface="Arial"/>
                <a:cs typeface="Arial"/>
              </a:rPr>
              <a:t>Yaqin Sharq</a:t>
            </a:r>
            <a:endParaRPr lang="uz-Latn-UZ" sz="1900" b="1" i="0" dirty="0">
              <a:solidFill>
                <a:srgbClr val="14213D"/>
              </a:solidFill>
              <a:latin typeface="Arial"/>
              <a:cs typeface="Arial"/>
            </a:endParaRPr>
          </a:p>
        </p:txBody>
      </p:sp>
      <p:sp>
        <p:nvSpPr>
          <p:cNvPr id="18" name="TextBox 18"/>
          <p:cNvSpPr/>
          <p:nvPr/>
        </p:nvSpPr>
        <p:spPr>
          <a:xfrm>
            <a:off x="6551676" y="2779776"/>
            <a:ext cx="4860036" cy="1088136"/>
          </a:xfrm>
          <a:prstGeom prst="rect">
            <a:avLst/>
          </a:prstGeom>
          <a:noFill/>
          <a:ln>
            <a:noFill/>
          </a:ln>
        </p:spPr>
        <p:txBody>
          <a:bodyPr wrap="square" lIns="0" tIns="0" rIns="0" bIns="0" rtlCol="0" anchor="t">
            <a:noAutofit/>
          </a:bodyPr>
          <a:lstStyle/>
          <a:p>
            <a:pPr marL="0" indent="0" algn="l">
              <a:lnSpc>
                <a:spcPct val="104000"/>
              </a:lnSpc>
              <a:spcBef>
                <a:spcPts val="0"/>
              </a:spcBef>
              <a:buNone/>
            </a:pPr>
            <a:r>
              <a:rPr lang="uz-Latn-UZ" sz="1650" b="0" i="0" dirty="0">
                <a:solidFill>
                  <a:srgbClr val="1F2937"/>
                </a:solidFill>
                <a:latin typeface="Arial"/>
                <a:cs typeface="Arial"/>
              </a:rPr>
              <a:t>Suriyaning yangi hukumatini qo‘llab-quvvatlash; G‘azo deklaratsiyasi kafili (2025); Fors ko‘rfazi va Misr bilan yarashuv; «Taraqqiyot yo‘li».</a:t>
            </a:r>
            <a:endParaRPr lang="uz-Latn-UZ" sz="1650" b="0" i="0" dirty="0">
              <a:solidFill>
                <a:srgbClr val="1F2937"/>
              </a:solidFill>
              <a:latin typeface="Arial"/>
              <a:cs typeface="Arial"/>
            </a:endParaRPr>
          </a:p>
        </p:txBody>
      </p:sp>
      <p:sp>
        <p:nvSpPr>
          <p:cNvPr id="19" name="Shape 19"/>
          <p:cNvSpPr/>
          <p:nvPr/>
        </p:nvSpPr>
        <p:spPr>
          <a:xfrm>
            <a:off x="548640" y="4270248"/>
            <a:ext cx="5408676" cy="1874520"/>
          </a:xfrm>
          <a:prstGeom prst="rect">
            <a:avLst/>
          </a:prstGeom>
          <a:solidFill>
            <a:srgbClr val="F1F3F6"/>
          </a:solidFill>
          <a:ln>
            <a:noFill/>
          </a:ln>
        </p:spPr>
      </p:sp>
      <p:sp>
        <p:nvSpPr>
          <p:cNvPr id="20" name="Shape 20"/>
          <p:cNvSpPr/>
          <p:nvPr/>
        </p:nvSpPr>
        <p:spPr>
          <a:xfrm>
            <a:off x="548640" y="4270248"/>
            <a:ext cx="82296" cy="1874520"/>
          </a:xfrm>
          <a:prstGeom prst="rect">
            <a:avLst/>
          </a:prstGeom>
          <a:solidFill>
            <a:srgbClr val="14213D"/>
          </a:solidFill>
          <a:ln>
            <a:noFill/>
          </a:ln>
        </p:spPr>
      </p:sp>
      <p:sp>
        <p:nvSpPr>
          <p:cNvPr id="21" name="TextBox 21"/>
          <p:cNvSpPr/>
          <p:nvPr/>
        </p:nvSpPr>
        <p:spPr>
          <a:xfrm>
            <a:off x="868680" y="4416552"/>
            <a:ext cx="4860036" cy="457200"/>
          </a:xfrm>
          <a:prstGeom prst="rect">
            <a:avLst/>
          </a:prstGeom>
          <a:noFill/>
          <a:ln>
            <a:noFill/>
          </a:ln>
        </p:spPr>
        <p:txBody>
          <a:bodyPr wrap="square" lIns="0" tIns="0" rIns="0" bIns="0" rtlCol="0" anchor="ctr">
            <a:noAutofit/>
          </a:bodyPr>
          <a:lstStyle/>
          <a:p>
            <a:pPr marL="0" indent="0" algn="l">
              <a:spcBef>
                <a:spcPts val="0"/>
              </a:spcBef>
              <a:buNone/>
            </a:pPr>
            <a:r>
              <a:rPr lang="uz-Latn-UZ" sz="1900" b="1" i="0" dirty="0">
                <a:solidFill>
                  <a:srgbClr val="14213D"/>
                </a:solidFill>
                <a:latin typeface="Arial"/>
                <a:cs typeface="Arial"/>
              </a:rPr>
              <a:t>Kavkaz</a:t>
            </a:r>
            <a:endParaRPr lang="uz-Latn-UZ" sz="1900" b="1" i="0" dirty="0">
              <a:solidFill>
                <a:srgbClr val="14213D"/>
              </a:solidFill>
              <a:latin typeface="Arial"/>
              <a:cs typeface="Arial"/>
            </a:endParaRPr>
          </a:p>
        </p:txBody>
      </p:sp>
      <p:sp>
        <p:nvSpPr>
          <p:cNvPr id="22" name="TextBox 22"/>
          <p:cNvSpPr/>
          <p:nvPr/>
        </p:nvSpPr>
        <p:spPr>
          <a:xfrm>
            <a:off x="868680" y="4928616"/>
            <a:ext cx="4860036" cy="1088136"/>
          </a:xfrm>
          <a:prstGeom prst="rect">
            <a:avLst/>
          </a:prstGeom>
          <a:noFill/>
          <a:ln>
            <a:noFill/>
          </a:ln>
        </p:spPr>
        <p:txBody>
          <a:bodyPr wrap="square" lIns="0" tIns="0" rIns="0" bIns="0" rtlCol="0" anchor="t">
            <a:noAutofit/>
          </a:bodyPr>
          <a:lstStyle/>
          <a:p>
            <a:pPr marL="0" indent="0" algn="l">
              <a:lnSpc>
                <a:spcPct val="104000"/>
              </a:lnSpc>
              <a:spcBef>
                <a:spcPts val="0"/>
              </a:spcBef>
              <a:buNone/>
            </a:pPr>
            <a:r>
              <a:rPr lang="uz-Latn-UZ" sz="1650" b="0" i="0" dirty="0">
                <a:solidFill>
                  <a:srgbClr val="1F2937"/>
                </a:solidFill>
                <a:latin typeface="Arial"/>
                <a:cs typeface="Arial"/>
              </a:rPr>
              <a:t>Ozarbayjon bilan Shusha deklaratsiyasi (2021), Boku–Tbilisi–Qars temir yo‘li (2017), Armaniston bilan normallashtirish jarayoni.</a:t>
            </a:r>
            <a:endParaRPr lang="uz-Latn-UZ" sz="1650" b="0" i="0" dirty="0">
              <a:solidFill>
                <a:srgbClr val="1F2937"/>
              </a:solidFill>
              <a:latin typeface="Arial"/>
              <a:cs typeface="Arial"/>
            </a:endParaRPr>
          </a:p>
        </p:txBody>
      </p:sp>
      <p:sp>
        <p:nvSpPr>
          <p:cNvPr id="23" name="Shape 23"/>
          <p:cNvSpPr/>
          <p:nvPr/>
        </p:nvSpPr>
        <p:spPr>
          <a:xfrm>
            <a:off x="6231636" y="4270248"/>
            <a:ext cx="5408676" cy="1874520"/>
          </a:xfrm>
          <a:prstGeom prst="rect">
            <a:avLst/>
          </a:prstGeom>
          <a:solidFill>
            <a:srgbClr val="F1F3F6"/>
          </a:solidFill>
          <a:ln>
            <a:noFill/>
          </a:ln>
        </p:spPr>
      </p:sp>
      <p:sp>
        <p:nvSpPr>
          <p:cNvPr id="24" name="Shape 24"/>
          <p:cNvSpPr/>
          <p:nvPr/>
        </p:nvSpPr>
        <p:spPr>
          <a:xfrm>
            <a:off x="6231636" y="4270248"/>
            <a:ext cx="82296" cy="1874520"/>
          </a:xfrm>
          <a:prstGeom prst="rect">
            <a:avLst/>
          </a:prstGeom>
          <a:solidFill>
            <a:srgbClr val="C8102E"/>
          </a:solidFill>
          <a:ln>
            <a:noFill/>
          </a:ln>
        </p:spPr>
      </p:sp>
      <p:sp>
        <p:nvSpPr>
          <p:cNvPr id="25" name="TextBox 25"/>
          <p:cNvSpPr/>
          <p:nvPr/>
        </p:nvSpPr>
        <p:spPr>
          <a:xfrm>
            <a:off x="6551676" y="4416552"/>
            <a:ext cx="4860036" cy="457200"/>
          </a:xfrm>
          <a:prstGeom prst="rect">
            <a:avLst/>
          </a:prstGeom>
          <a:noFill/>
          <a:ln>
            <a:noFill/>
          </a:ln>
        </p:spPr>
        <p:txBody>
          <a:bodyPr wrap="square" lIns="0" tIns="0" rIns="0" bIns="0" rtlCol="0" anchor="ctr">
            <a:noAutofit/>
          </a:bodyPr>
          <a:lstStyle/>
          <a:p>
            <a:pPr marL="0" indent="0" algn="l">
              <a:spcBef>
                <a:spcPts val="0"/>
              </a:spcBef>
              <a:buNone/>
            </a:pPr>
            <a:r>
              <a:rPr lang="uz-Latn-UZ" sz="1900" b="1" i="0" dirty="0">
                <a:solidFill>
                  <a:srgbClr val="14213D"/>
                </a:solidFill>
                <a:latin typeface="Arial"/>
                <a:cs typeface="Arial"/>
              </a:rPr>
              <a:t>Markaziy Osiyo</a:t>
            </a:r>
            <a:endParaRPr lang="uz-Latn-UZ" sz="1900" b="1" i="0" dirty="0">
              <a:solidFill>
                <a:srgbClr val="14213D"/>
              </a:solidFill>
              <a:latin typeface="Arial"/>
              <a:cs typeface="Arial"/>
            </a:endParaRPr>
          </a:p>
        </p:txBody>
      </p:sp>
      <p:sp>
        <p:nvSpPr>
          <p:cNvPr id="26" name="TextBox 26"/>
          <p:cNvSpPr/>
          <p:nvPr/>
        </p:nvSpPr>
        <p:spPr>
          <a:xfrm>
            <a:off x="6551676" y="4928616"/>
            <a:ext cx="4860036" cy="1088136"/>
          </a:xfrm>
          <a:prstGeom prst="rect">
            <a:avLst/>
          </a:prstGeom>
          <a:noFill/>
          <a:ln>
            <a:noFill/>
          </a:ln>
        </p:spPr>
        <p:txBody>
          <a:bodyPr wrap="square" lIns="0" tIns="0" rIns="0" bIns="0" rtlCol="0" anchor="t">
            <a:noAutofit/>
          </a:bodyPr>
          <a:lstStyle/>
          <a:p>
            <a:pPr marL="0" indent="0" algn="l">
              <a:lnSpc>
                <a:spcPct val="104000"/>
              </a:lnSpc>
              <a:spcBef>
                <a:spcPts val="0"/>
              </a:spcBef>
              <a:buNone/>
            </a:pPr>
            <a:r>
              <a:rPr lang="uz-Latn-UZ" sz="1650" b="0" i="0" dirty="0">
                <a:solidFill>
                  <a:srgbClr val="1F2937"/>
                </a:solidFill>
                <a:latin typeface="Arial"/>
                <a:cs typeface="Arial"/>
              </a:rPr>
              <a:t>Turkiy davlatlar tashkiloti: 2022 — Samarqand sammiti, 2026-yil 29–30-oktabr — Anqara sammiti.</a:t>
            </a:r>
            <a:endParaRPr lang="uz-Latn-UZ" sz="1650" b="0" i="0" dirty="0">
              <a:solidFill>
                <a:srgbClr val="1F2937"/>
              </a:solidFill>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4-QISM  •  QIYOSIY TAHLIL</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4-jihat: ko‘p yo‘nalishli diplomatiya</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4-ma’ruzachi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22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Shape 10"/>
          <p:cNvSpPr/>
          <p:nvPr/>
        </p:nvSpPr>
        <p:spPr>
          <a:xfrm>
            <a:off x="548640" y="1627632"/>
            <a:ext cx="5715000" cy="3840480"/>
          </a:xfrm>
          <a:prstGeom prst="rect">
            <a:avLst/>
          </a:prstGeom>
          <a:solidFill>
            <a:srgbClr val="F1F3F6"/>
          </a:solidFill>
          <a:ln>
            <a:noFill/>
          </a:ln>
        </p:spPr>
      </p:sp>
      <p:sp>
        <p:nvSpPr>
          <p:cNvPr id="11" name="TextBox 11"/>
          <p:cNvSpPr/>
          <p:nvPr/>
        </p:nvSpPr>
        <p:spPr>
          <a:xfrm>
            <a:off x="822960" y="1792224"/>
            <a:ext cx="5166360" cy="411480"/>
          </a:xfrm>
          <a:prstGeom prst="rect">
            <a:avLst/>
          </a:prstGeom>
          <a:noFill/>
          <a:ln>
            <a:noFill/>
          </a:ln>
        </p:spPr>
        <p:txBody>
          <a:bodyPr wrap="square" lIns="0" tIns="0" rIns="0" bIns="0" rtlCol="0" anchor="ctr">
            <a:noAutofit/>
          </a:bodyPr>
          <a:lstStyle/>
          <a:p>
            <a:pPr marL="0" indent="0" algn="l">
              <a:spcBef>
                <a:spcPts val="0"/>
              </a:spcBef>
              <a:buNone/>
            </a:pPr>
            <a:r>
              <a:rPr lang="uz-Latn-UZ" sz="1550" b="1" i="0" dirty="0">
                <a:solidFill>
                  <a:srgbClr val="14213D"/>
                </a:solidFill>
                <a:latin typeface="Arial"/>
                <a:cs typeface="Arial"/>
              </a:rPr>
              <a:t>Diplomatik tarmoq hajmi (Lowy instituti, 2024)</a:t>
            </a:r>
            <a:endParaRPr lang="uz-Latn-UZ" sz="1550" b="1" i="0" dirty="0">
              <a:solidFill>
                <a:srgbClr val="14213D"/>
              </a:solidFill>
              <a:latin typeface="Arial"/>
              <a:cs typeface="Arial"/>
            </a:endParaRPr>
          </a:p>
        </p:txBody>
      </p:sp>
      <p:sp>
        <p:nvSpPr>
          <p:cNvPr id="12" name="TextBox 12"/>
          <p:cNvSpPr/>
          <p:nvPr/>
        </p:nvSpPr>
        <p:spPr>
          <a:xfrm>
            <a:off x="822960" y="2359152"/>
            <a:ext cx="1280160" cy="594360"/>
          </a:xfrm>
          <a:prstGeom prst="rect">
            <a:avLst/>
          </a:prstGeom>
          <a:noFill/>
          <a:ln>
            <a:noFill/>
          </a:ln>
        </p:spPr>
        <p:txBody>
          <a:bodyPr wrap="square" lIns="0" tIns="0" rIns="0" bIns="0" rtlCol="0" anchor="ctr">
            <a:noAutofit/>
          </a:bodyPr>
          <a:lstStyle/>
          <a:p>
            <a:pPr marL="0" indent="0" algn="l">
              <a:spcBef>
                <a:spcPts val="0"/>
              </a:spcBef>
              <a:buNone/>
            </a:pPr>
            <a:r>
              <a:rPr lang="uz-Latn-UZ" sz="1550" b="0" i="0" dirty="0">
                <a:solidFill>
                  <a:srgbClr val="1F2937"/>
                </a:solidFill>
                <a:latin typeface="Arial"/>
                <a:cs typeface="Arial"/>
              </a:rPr>
              <a:t>Xitoy</a:t>
            </a:r>
            <a:endParaRPr lang="uz-Latn-UZ" sz="1550" b="0" i="0" dirty="0">
              <a:solidFill>
                <a:srgbClr val="1F2937"/>
              </a:solidFill>
              <a:latin typeface="Arial"/>
              <a:cs typeface="Arial"/>
            </a:endParaRPr>
          </a:p>
        </p:txBody>
      </p:sp>
      <p:sp>
        <p:nvSpPr>
          <p:cNvPr id="13" name="Shape 13"/>
          <p:cNvSpPr/>
          <p:nvPr/>
        </p:nvSpPr>
        <p:spPr>
          <a:xfrm>
            <a:off x="2148840" y="2489911"/>
            <a:ext cx="3383280" cy="332842"/>
          </a:xfrm>
          <a:prstGeom prst="rect">
            <a:avLst/>
          </a:prstGeom>
          <a:solidFill>
            <a:srgbClr val="8A96AD"/>
          </a:solidFill>
          <a:ln>
            <a:noFill/>
          </a:ln>
        </p:spPr>
      </p:sp>
      <p:sp>
        <p:nvSpPr>
          <p:cNvPr id="14" name="TextBox 14"/>
          <p:cNvSpPr/>
          <p:nvPr/>
        </p:nvSpPr>
        <p:spPr>
          <a:xfrm>
            <a:off x="5605272" y="2359152"/>
            <a:ext cx="640080" cy="594360"/>
          </a:xfrm>
          <a:prstGeom prst="rect">
            <a:avLst/>
          </a:prstGeom>
          <a:noFill/>
          <a:ln>
            <a:noFill/>
          </a:ln>
        </p:spPr>
        <p:txBody>
          <a:bodyPr wrap="square" lIns="0" tIns="0" rIns="0" bIns="0" rtlCol="0" anchor="ctr">
            <a:noAutofit/>
          </a:bodyPr>
          <a:lstStyle/>
          <a:p>
            <a:pPr marL="0" indent="0" algn="l">
              <a:spcBef>
                <a:spcPts val="0"/>
              </a:spcBef>
              <a:buNone/>
            </a:pPr>
            <a:r>
              <a:rPr lang="uz-Latn-UZ" sz="1500" b="1" i="0" dirty="0">
                <a:solidFill>
                  <a:srgbClr val="14213D"/>
                </a:solidFill>
                <a:latin typeface="Arial"/>
                <a:cs typeface="Arial"/>
              </a:rPr>
              <a:t>274</a:t>
            </a:r>
            <a:endParaRPr lang="uz-Latn-UZ" sz="1500" b="1" i="0" dirty="0">
              <a:solidFill>
                <a:srgbClr val="14213D"/>
              </a:solidFill>
              <a:latin typeface="Arial"/>
              <a:cs typeface="Arial"/>
            </a:endParaRPr>
          </a:p>
        </p:txBody>
      </p:sp>
      <p:sp>
        <p:nvSpPr>
          <p:cNvPr id="15" name="TextBox 15"/>
          <p:cNvSpPr/>
          <p:nvPr/>
        </p:nvSpPr>
        <p:spPr>
          <a:xfrm>
            <a:off x="822960" y="2953512"/>
            <a:ext cx="1280160" cy="594360"/>
          </a:xfrm>
          <a:prstGeom prst="rect">
            <a:avLst/>
          </a:prstGeom>
          <a:noFill/>
          <a:ln>
            <a:noFill/>
          </a:ln>
        </p:spPr>
        <p:txBody>
          <a:bodyPr wrap="square" lIns="0" tIns="0" rIns="0" bIns="0" rtlCol="0" anchor="ctr">
            <a:noAutofit/>
          </a:bodyPr>
          <a:lstStyle/>
          <a:p>
            <a:pPr marL="0" indent="0" algn="l">
              <a:spcBef>
                <a:spcPts val="0"/>
              </a:spcBef>
              <a:buNone/>
            </a:pPr>
            <a:r>
              <a:rPr lang="uz-Latn-UZ" sz="1550" b="0" i="0" dirty="0">
                <a:solidFill>
                  <a:srgbClr val="1F2937"/>
                </a:solidFill>
                <a:latin typeface="Arial"/>
                <a:cs typeface="Arial"/>
              </a:rPr>
              <a:t>AQSh</a:t>
            </a:r>
            <a:endParaRPr lang="uz-Latn-UZ" sz="1550" b="0" i="0" dirty="0">
              <a:solidFill>
                <a:srgbClr val="1F2937"/>
              </a:solidFill>
              <a:latin typeface="Arial"/>
              <a:cs typeface="Arial"/>
            </a:endParaRPr>
          </a:p>
        </p:txBody>
      </p:sp>
      <p:sp>
        <p:nvSpPr>
          <p:cNvPr id="16" name="Shape 16"/>
          <p:cNvSpPr/>
          <p:nvPr/>
        </p:nvSpPr>
        <p:spPr>
          <a:xfrm>
            <a:off x="2148840" y="3084271"/>
            <a:ext cx="3346237" cy="332842"/>
          </a:xfrm>
          <a:prstGeom prst="rect">
            <a:avLst/>
          </a:prstGeom>
          <a:solidFill>
            <a:srgbClr val="8A96AD"/>
          </a:solidFill>
          <a:ln>
            <a:noFill/>
          </a:ln>
        </p:spPr>
      </p:sp>
      <p:sp>
        <p:nvSpPr>
          <p:cNvPr id="17" name="TextBox 17"/>
          <p:cNvSpPr/>
          <p:nvPr/>
        </p:nvSpPr>
        <p:spPr>
          <a:xfrm>
            <a:off x="5568229" y="2953512"/>
            <a:ext cx="640080" cy="594360"/>
          </a:xfrm>
          <a:prstGeom prst="rect">
            <a:avLst/>
          </a:prstGeom>
          <a:noFill/>
          <a:ln>
            <a:noFill/>
          </a:ln>
        </p:spPr>
        <p:txBody>
          <a:bodyPr wrap="square" lIns="0" tIns="0" rIns="0" bIns="0" rtlCol="0" anchor="ctr">
            <a:noAutofit/>
          </a:bodyPr>
          <a:lstStyle/>
          <a:p>
            <a:pPr marL="0" indent="0" algn="l">
              <a:spcBef>
                <a:spcPts val="0"/>
              </a:spcBef>
              <a:buNone/>
            </a:pPr>
            <a:r>
              <a:rPr lang="uz-Latn-UZ" sz="1500" b="1" i="0" dirty="0">
                <a:solidFill>
                  <a:srgbClr val="14213D"/>
                </a:solidFill>
                <a:latin typeface="Arial"/>
                <a:cs typeface="Arial"/>
              </a:rPr>
              <a:t>271</a:t>
            </a:r>
            <a:endParaRPr lang="uz-Latn-UZ" sz="1500" b="1" i="0" dirty="0">
              <a:solidFill>
                <a:srgbClr val="14213D"/>
              </a:solidFill>
              <a:latin typeface="Arial"/>
              <a:cs typeface="Arial"/>
            </a:endParaRPr>
          </a:p>
        </p:txBody>
      </p:sp>
      <p:sp>
        <p:nvSpPr>
          <p:cNvPr id="18" name="TextBox 18"/>
          <p:cNvSpPr/>
          <p:nvPr/>
        </p:nvSpPr>
        <p:spPr>
          <a:xfrm>
            <a:off x="822960" y="3547872"/>
            <a:ext cx="1280160" cy="594360"/>
          </a:xfrm>
          <a:prstGeom prst="rect">
            <a:avLst/>
          </a:prstGeom>
          <a:noFill/>
          <a:ln>
            <a:noFill/>
          </a:ln>
        </p:spPr>
        <p:txBody>
          <a:bodyPr wrap="square" lIns="0" tIns="0" rIns="0" bIns="0" rtlCol="0" anchor="ctr">
            <a:noAutofit/>
          </a:bodyPr>
          <a:lstStyle/>
          <a:p>
            <a:pPr marL="0" indent="0" algn="l">
              <a:spcBef>
                <a:spcPts val="0"/>
              </a:spcBef>
              <a:buNone/>
            </a:pPr>
            <a:r>
              <a:rPr lang="uz-Latn-UZ" sz="1550" b="1" i="0" dirty="0">
                <a:solidFill>
                  <a:srgbClr val="C8102E"/>
                </a:solidFill>
                <a:latin typeface="Arial"/>
                <a:cs typeface="Arial"/>
              </a:rPr>
              <a:t>Turkiya</a:t>
            </a:r>
            <a:endParaRPr lang="uz-Latn-UZ" sz="1550" b="1" i="0" dirty="0">
              <a:solidFill>
                <a:srgbClr val="C8102E"/>
              </a:solidFill>
              <a:latin typeface="Arial"/>
              <a:cs typeface="Arial"/>
            </a:endParaRPr>
          </a:p>
        </p:txBody>
      </p:sp>
      <p:sp>
        <p:nvSpPr>
          <p:cNvPr id="19" name="Shape 19"/>
          <p:cNvSpPr/>
          <p:nvPr/>
        </p:nvSpPr>
        <p:spPr>
          <a:xfrm>
            <a:off x="2148840" y="3678631"/>
            <a:ext cx="3111630" cy="332842"/>
          </a:xfrm>
          <a:prstGeom prst="rect">
            <a:avLst/>
          </a:prstGeom>
          <a:solidFill>
            <a:srgbClr val="C8102E"/>
          </a:solidFill>
          <a:ln>
            <a:noFill/>
          </a:ln>
        </p:spPr>
      </p:sp>
      <p:sp>
        <p:nvSpPr>
          <p:cNvPr id="20" name="TextBox 20"/>
          <p:cNvSpPr/>
          <p:nvPr/>
        </p:nvSpPr>
        <p:spPr>
          <a:xfrm>
            <a:off x="5333622" y="3547872"/>
            <a:ext cx="640080" cy="594360"/>
          </a:xfrm>
          <a:prstGeom prst="rect">
            <a:avLst/>
          </a:prstGeom>
          <a:noFill/>
          <a:ln>
            <a:noFill/>
          </a:ln>
        </p:spPr>
        <p:txBody>
          <a:bodyPr wrap="square" lIns="0" tIns="0" rIns="0" bIns="0" rtlCol="0" anchor="ctr">
            <a:noAutofit/>
          </a:bodyPr>
          <a:lstStyle/>
          <a:p>
            <a:pPr marL="0" indent="0" algn="l">
              <a:spcBef>
                <a:spcPts val="0"/>
              </a:spcBef>
              <a:buNone/>
            </a:pPr>
            <a:r>
              <a:rPr lang="uz-Latn-UZ" sz="1500" b="1" i="0" dirty="0">
                <a:solidFill>
                  <a:srgbClr val="C8102E"/>
                </a:solidFill>
                <a:latin typeface="Arial"/>
                <a:cs typeface="Arial"/>
              </a:rPr>
              <a:t>252</a:t>
            </a:r>
            <a:endParaRPr lang="uz-Latn-UZ" sz="1500" b="1" i="0" dirty="0">
              <a:solidFill>
                <a:srgbClr val="C8102E"/>
              </a:solidFill>
              <a:latin typeface="Arial"/>
              <a:cs typeface="Arial"/>
            </a:endParaRPr>
          </a:p>
        </p:txBody>
      </p:sp>
      <p:sp>
        <p:nvSpPr>
          <p:cNvPr id="21" name="TextBox 21"/>
          <p:cNvSpPr/>
          <p:nvPr/>
        </p:nvSpPr>
        <p:spPr>
          <a:xfrm>
            <a:off x="822960" y="4142232"/>
            <a:ext cx="1280160" cy="594360"/>
          </a:xfrm>
          <a:prstGeom prst="rect">
            <a:avLst/>
          </a:prstGeom>
          <a:noFill/>
          <a:ln>
            <a:noFill/>
          </a:ln>
        </p:spPr>
        <p:txBody>
          <a:bodyPr wrap="square" lIns="0" tIns="0" rIns="0" bIns="0" rtlCol="0" anchor="ctr">
            <a:noAutofit/>
          </a:bodyPr>
          <a:lstStyle/>
          <a:p>
            <a:pPr marL="0" indent="0" algn="l">
              <a:spcBef>
                <a:spcPts val="0"/>
              </a:spcBef>
              <a:buNone/>
            </a:pPr>
            <a:r>
              <a:rPr lang="uz-Latn-UZ" sz="1550" b="0" i="0" dirty="0">
                <a:solidFill>
                  <a:srgbClr val="1F2937"/>
                </a:solidFill>
                <a:latin typeface="Arial"/>
                <a:cs typeface="Arial"/>
              </a:rPr>
              <a:t>Yaponiya</a:t>
            </a:r>
            <a:endParaRPr lang="uz-Latn-UZ" sz="1550" b="0" i="0" dirty="0">
              <a:solidFill>
                <a:srgbClr val="1F2937"/>
              </a:solidFill>
              <a:latin typeface="Arial"/>
              <a:cs typeface="Arial"/>
            </a:endParaRPr>
          </a:p>
        </p:txBody>
      </p:sp>
      <p:sp>
        <p:nvSpPr>
          <p:cNvPr id="22" name="Shape 22"/>
          <p:cNvSpPr/>
          <p:nvPr/>
        </p:nvSpPr>
        <p:spPr>
          <a:xfrm>
            <a:off x="2148840" y="4272991"/>
            <a:ext cx="3099282" cy="332842"/>
          </a:xfrm>
          <a:prstGeom prst="rect">
            <a:avLst/>
          </a:prstGeom>
          <a:solidFill>
            <a:srgbClr val="8A96AD"/>
          </a:solidFill>
          <a:ln>
            <a:noFill/>
          </a:ln>
        </p:spPr>
      </p:sp>
      <p:sp>
        <p:nvSpPr>
          <p:cNvPr id="23" name="TextBox 23"/>
          <p:cNvSpPr/>
          <p:nvPr/>
        </p:nvSpPr>
        <p:spPr>
          <a:xfrm>
            <a:off x="5321274" y="4142232"/>
            <a:ext cx="640080" cy="594360"/>
          </a:xfrm>
          <a:prstGeom prst="rect">
            <a:avLst/>
          </a:prstGeom>
          <a:noFill/>
          <a:ln>
            <a:noFill/>
          </a:ln>
        </p:spPr>
        <p:txBody>
          <a:bodyPr wrap="square" lIns="0" tIns="0" rIns="0" bIns="0" rtlCol="0" anchor="ctr">
            <a:noAutofit/>
          </a:bodyPr>
          <a:lstStyle/>
          <a:p>
            <a:pPr marL="0" indent="0" algn="l">
              <a:spcBef>
                <a:spcPts val="0"/>
              </a:spcBef>
              <a:buNone/>
            </a:pPr>
            <a:r>
              <a:rPr lang="uz-Latn-UZ" sz="1500" b="1" i="0" dirty="0">
                <a:solidFill>
                  <a:srgbClr val="14213D"/>
                </a:solidFill>
                <a:latin typeface="Arial"/>
                <a:cs typeface="Arial"/>
              </a:rPr>
              <a:t>251</a:t>
            </a:r>
            <a:endParaRPr lang="uz-Latn-UZ" sz="1500" b="1" i="0" dirty="0">
              <a:solidFill>
                <a:srgbClr val="14213D"/>
              </a:solidFill>
              <a:latin typeface="Arial"/>
              <a:cs typeface="Arial"/>
            </a:endParaRPr>
          </a:p>
        </p:txBody>
      </p:sp>
      <p:sp>
        <p:nvSpPr>
          <p:cNvPr id="24" name="TextBox 24"/>
          <p:cNvSpPr/>
          <p:nvPr/>
        </p:nvSpPr>
        <p:spPr>
          <a:xfrm>
            <a:off x="822960" y="4736592"/>
            <a:ext cx="1280160" cy="594360"/>
          </a:xfrm>
          <a:prstGeom prst="rect">
            <a:avLst/>
          </a:prstGeom>
          <a:noFill/>
          <a:ln>
            <a:noFill/>
          </a:ln>
        </p:spPr>
        <p:txBody>
          <a:bodyPr wrap="square" lIns="0" tIns="0" rIns="0" bIns="0" rtlCol="0" anchor="ctr">
            <a:noAutofit/>
          </a:bodyPr>
          <a:lstStyle/>
          <a:p>
            <a:pPr marL="0" indent="0" algn="l">
              <a:spcBef>
                <a:spcPts val="0"/>
              </a:spcBef>
              <a:buNone/>
            </a:pPr>
            <a:r>
              <a:rPr lang="uz-Latn-UZ" sz="1550" b="0" i="0" dirty="0">
                <a:solidFill>
                  <a:srgbClr val="1F2937"/>
                </a:solidFill>
                <a:latin typeface="Arial"/>
                <a:cs typeface="Arial"/>
              </a:rPr>
              <a:t>Fransiya</a:t>
            </a:r>
            <a:endParaRPr lang="uz-Latn-UZ" sz="1550" b="0" i="0" dirty="0">
              <a:solidFill>
                <a:srgbClr val="1F2937"/>
              </a:solidFill>
              <a:latin typeface="Arial"/>
              <a:cs typeface="Arial"/>
            </a:endParaRPr>
          </a:p>
        </p:txBody>
      </p:sp>
      <p:sp>
        <p:nvSpPr>
          <p:cNvPr id="25" name="Shape 25"/>
          <p:cNvSpPr/>
          <p:nvPr/>
        </p:nvSpPr>
        <p:spPr>
          <a:xfrm>
            <a:off x="2148840" y="4867351"/>
            <a:ext cx="3074587" cy="332842"/>
          </a:xfrm>
          <a:prstGeom prst="rect">
            <a:avLst/>
          </a:prstGeom>
          <a:solidFill>
            <a:srgbClr val="8A96AD"/>
          </a:solidFill>
          <a:ln>
            <a:noFill/>
          </a:ln>
        </p:spPr>
      </p:sp>
      <p:sp>
        <p:nvSpPr>
          <p:cNvPr id="26" name="TextBox 26"/>
          <p:cNvSpPr/>
          <p:nvPr/>
        </p:nvSpPr>
        <p:spPr>
          <a:xfrm>
            <a:off x="5296579" y="4736592"/>
            <a:ext cx="640080" cy="594360"/>
          </a:xfrm>
          <a:prstGeom prst="rect">
            <a:avLst/>
          </a:prstGeom>
          <a:noFill/>
          <a:ln>
            <a:noFill/>
          </a:ln>
        </p:spPr>
        <p:txBody>
          <a:bodyPr wrap="square" lIns="0" tIns="0" rIns="0" bIns="0" rtlCol="0" anchor="ctr">
            <a:noAutofit/>
          </a:bodyPr>
          <a:lstStyle/>
          <a:p>
            <a:pPr marL="0" indent="0" algn="l">
              <a:spcBef>
                <a:spcPts val="0"/>
              </a:spcBef>
              <a:buNone/>
            </a:pPr>
            <a:r>
              <a:rPr lang="uz-Latn-UZ" sz="1500" b="1" i="0" dirty="0">
                <a:solidFill>
                  <a:srgbClr val="14213D"/>
                </a:solidFill>
                <a:latin typeface="Arial"/>
                <a:cs typeface="Arial"/>
              </a:rPr>
              <a:t>249</a:t>
            </a:r>
            <a:endParaRPr lang="uz-Latn-UZ" sz="1500" b="1" i="0" dirty="0">
              <a:solidFill>
                <a:srgbClr val="14213D"/>
              </a:solidFill>
              <a:latin typeface="Arial"/>
              <a:cs typeface="Arial"/>
            </a:endParaRPr>
          </a:p>
        </p:txBody>
      </p:sp>
      <p:sp>
        <p:nvSpPr>
          <p:cNvPr id="27" name="TextBox 27"/>
          <p:cNvSpPr/>
          <p:nvPr/>
        </p:nvSpPr>
        <p:spPr>
          <a:xfrm>
            <a:off x="6537960" y="1627632"/>
            <a:ext cx="5102352" cy="411480"/>
          </a:xfrm>
          <a:prstGeom prst="rect">
            <a:avLst/>
          </a:prstGeom>
          <a:noFill/>
          <a:ln>
            <a:noFill/>
          </a:ln>
        </p:spPr>
        <p:txBody>
          <a:bodyPr wrap="square" lIns="0" tIns="0" rIns="0" bIns="0" rtlCol="0" anchor="ctr">
            <a:noAutofit/>
          </a:bodyPr>
          <a:lstStyle/>
          <a:p>
            <a:pPr marL="0" indent="0" algn="l">
              <a:spcBef>
                <a:spcPts val="0"/>
              </a:spcBef>
              <a:buNone/>
            </a:pPr>
            <a:r>
              <a:rPr lang="uz-Latn-UZ" sz="1550" b="1" i="0" dirty="0">
                <a:solidFill>
                  <a:srgbClr val="14213D"/>
                </a:solidFill>
                <a:latin typeface="Arial"/>
                <a:cs typeface="Arial"/>
              </a:rPr>
              <a:t>Diplomatiya vositalari</a:t>
            </a:r>
            <a:endParaRPr lang="uz-Latn-UZ" sz="1550" b="1" i="0" dirty="0">
              <a:solidFill>
                <a:srgbClr val="14213D"/>
              </a:solidFill>
              <a:latin typeface="Arial"/>
              <a:cs typeface="Arial"/>
            </a:endParaRPr>
          </a:p>
        </p:txBody>
      </p:sp>
      <p:sp>
        <p:nvSpPr>
          <p:cNvPr id="28" name="Shape 28"/>
          <p:cNvSpPr/>
          <p:nvPr/>
        </p:nvSpPr>
        <p:spPr>
          <a:xfrm>
            <a:off x="6537960" y="2240280"/>
            <a:ext cx="1463040" cy="484632"/>
          </a:xfrm>
          <a:prstGeom prst="roundRect">
            <a:avLst>
              <a:gd name="adj" fmla="val 30000"/>
            </a:avLst>
          </a:prstGeom>
          <a:solidFill>
            <a:srgbClr val="14213D"/>
          </a:solidFill>
          <a:ln>
            <a:noFill/>
          </a:ln>
        </p:spPr>
        <p:txBody>
          <a:bodyPr wrap="square" lIns="27432" tIns="0" rIns="27432" bIns="0" rtlCol="0" anchor="ctr">
            <a:noAutofit/>
          </a:bodyPr>
          <a:lstStyle/>
          <a:p>
            <a:pPr marL="0" indent="0" algn="ctr">
              <a:spcBef>
                <a:spcPts val="0"/>
              </a:spcBef>
              <a:buNone/>
            </a:pPr>
            <a:r>
              <a:rPr lang="uz-Latn-UZ" sz="1400" b="1" i="0" dirty="0">
                <a:solidFill>
                  <a:srgbClr val="FFFFFF"/>
                </a:solidFill>
                <a:latin typeface="Arial"/>
                <a:cs typeface="Arial"/>
              </a:rPr>
              <a:t>Siyosiy</a:t>
            </a:r>
            <a:endParaRPr lang="uz-Latn-UZ" sz="1400" b="1" i="0" dirty="0">
              <a:solidFill>
                <a:srgbClr val="FFFFFF"/>
              </a:solidFill>
              <a:latin typeface="Arial"/>
              <a:cs typeface="Arial"/>
            </a:endParaRPr>
          </a:p>
        </p:txBody>
      </p:sp>
      <p:sp>
        <p:nvSpPr>
          <p:cNvPr id="29" name="TextBox 29"/>
          <p:cNvSpPr/>
          <p:nvPr/>
        </p:nvSpPr>
        <p:spPr>
          <a:xfrm>
            <a:off x="8183880" y="2148840"/>
            <a:ext cx="3456432" cy="667512"/>
          </a:xfrm>
          <a:prstGeom prst="rect">
            <a:avLst/>
          </a:prstGeom>
          <a:noFill/>
          <a:ln>
            <a:noFill/>
          </a:ln>
        </p:spPr>
        <p:txBody>
          <a:bodyPr wrap="square" lIns="0" tIns="0" rIns="0" bIns="0" rtlCol="0" anchor="ctr">
            <a:noAutofit/>
          </a:bodyPr>
          <a:lstStyle/>
          <a:p>
            <a:pPr marL="0" indent="0" algn="l">
              <a:spcBef>
                <a:spcPts val="0"/>
              </a:spcBef>
              <a:buNone/>
            </a:pPr>
            <a:r>
              <a:rPr lang="uz-Latn-UZ" sz="1500" b="0" i="0" dirty="0">
                <a:solidFill>
                  <a:srgbClr val="1F2937"/>
                </a:solidFill>
                <a:latin typeface="Arial"/>
                <a:cs typeface="Arial"/>
              </a:rPr>
              <a:t>keng diplomatik tarmoq va vositachilik</a:t>
            </a:r>
            <a:endParaRPr lang="uz-Latn-UZ" sz="1500" b="0" i="0" dirty="0">
              <a:solidFill>
                <a:srgbClr val="1F2937"/>
              </a:solidFill>
              <a:latin typeface="Arial"/>
              <a:cs typeface="Arial"/>
            </a:endParaRPr>
          </a:p>
        </p:txBody>
      </p:sp>
      <p:sp>
        <p:nvSpPr>
          <p:cNvPr id="30" name="Shape 30"/>
          <p:cNvSpPr/>
          <p:nvPr/>
        </p:nvSpPr>
        <p:spPr>
          <a:xfrm>
            <a:off x="6537960" y="2907792"/>
            <a:ext cx="1463040" cy="484632"/>
          </a:xfrm>
          <a:prstGeom prst="roundRect">
            <a:avLst>
              <a:gd name="adj" fmla="val 30000"/>
            </a:avLst>
          </a:prstGeom>
          <a:solidFill>
            <a:srgbClr val="C8102E"/>
          </a:solidFill>
          <a:ln>
            <a:noFill/>
          </a:ln>
        </p:spPr>
        <p:txBody>
          <a:bodyPr wrap="square" lIns="27432" tIns="0" rIns="27432" bIns="0" rtlCol="0" anchor="ctr">
            <a:noAutofit/>
          </a:bodyPr>
          <a:lstStyle/>
          <a:p>
            <a:pPr marL="0" indent="0" algn="ctr">
              <a:spcBef>
                <a:spcPts val="0"/>
              </a:spcBef>
              <a:buNone/>
            </a:pPr>
            <a:r>
              <a:rPr lang="uz-Latn-UZ" sz="1400" b="1" i="0" dirty="0">
                <a:solidFill>
                  <a:srgbClr val="FFFFFF"/>
                </a:solidFill>
                <a:latin typeface="Arial"/>
                <a:cs typeface="Arial"/>
              </a:rPr>
              <a:t>Iqtisodiy</a:t>
            </a:r>
            <a:endParaRPr lang="uz-Latn-UZ" sz="1400" b="1" i="0" dirty="0">
              <a:solidFill>
                <a:srgbClr val="FFFFFF"/>
              </a:solidFill>
              <a:latin typeface="Arial"/>
              <a:cs typeface="Arial"/>
            </a:endParaRPr>
          </a:p>
        </p:txBody>
      </p:sp>
      <p:sp>
        <p:nvSpPr>
          <p:cNvPr id="31" name="TextBox 31"/>
          <p:cNvSpPr/>
          <p:nvPr/>
        </p:nvSpPr>
        <p:spPr>
          <a:xfrm>
            <a:off x="8183880" y="2816352"/>
            <a:ext cx="3456432" cy="667512"/>
          </a:xfrm>
          <a:prstGeom prst="rect">
            <a:avLst/>
          </a:prstGeom>
          <a:noFill/>
          <a:ln>
            <a:noFill/>
          </a:ln>
        </p:spPr>
        <p:txBody>
          <a:bodyPr wrap="square" lIns="0" tIns="0" rIns="0" bIns="0" rtlCol="0" anchor="ctr">
            <a:noAutofit/>
          </a:bodyPr>
          <a:lstStyle/>
          <a:p>
            <a:pPr marL="0" indent="0" algn="l">
              <a:spcBef>
                <a:spcPts val="0"/>
              </a:spcBef>
              <a:buNone/>
            </a:pPr>
            <a:r>
              <a:rPr lang="uz-Latn-UZ" sz="1500" b="0" i="0" dirty="0">
                <a:solidFill>
                  <a:srgbClr val="1F2937"/>
                </a:solidFill>
                <a:latin typeface="Arial"/>
                <a:cs typeface="Arial"/>
              </a:rPr>
              <a:t>273,4 mlrd $ eksport (2025)</a:t>
            </a:r>
            <a:endParaRPr lang="uz-Latn-UZ" sz="1500" b="0" i="0" dirty="0">
              <a:solidFill>
                <a:srgbClr val="1F2937"/>
              </a:solidFill>
              <a:latin typeface="Arial"/>
              <a:cs typeface="Arial"/>
            </a:endParaRPr>
          </a:p>
        </p:txBody>
      </p:sp>
      <p:sp>
        <p:nvSpPr>
          <p:cNvPr id="32" name="Shape 32"/>
          <p:cNvSpPr/>
          <p:nvPr/>
        </p:nvSpPr>
        <p:spPr>
          <a:xfrm>
            <a:off x="6537960" y="3575304"/>
            <a:ext cx="1463040" cy="484632"/>
          </a:xfrm>
          <a:prstGeom prst="roundRect">
            <a:avLst>
              <a:gd name="adj" fmla="val 30000"/>
            </a:avLst>
          </a:prstGeom>
          <a:solidFill>
            <a:srgbClr val="14213D"/>
          </a:solidFill>
          <a:ln>
            <a:noFill/>
          </a:ln>
        </p:spPr>
        <p:txBody>
          <a:bodyPr wrap="square" lIns="27432" tIns="0" rIns="27432" bIns="0" rtlCol="0" anchor="ctr">
            <a:noAutofit/>
          </a:bodyPr>
          <a:lstStyle/>
          <a:p>
            <a:pPr marL="0" indent="0" algn="ctr">
              <a:spcBef>
                <a:spcPts val="0"/>
              </a:spcBef>
              <a:buNone/>
            </a:pPr>
            <a:r>
              <a:rPr lang="uz-Latn-UZ" sz="1400" b="1" i="0" dirty="0">
                <a:solidFill>
                  <a:srgbClr val="FFFFFF"/>
                </a:solidFill>
                <a:latin typeface="Arial"/>
                <a:cs typeface="Arial"/>
              </a:rPr>
              <a:t>Harbiy</a:t>
            </a:r>
            <a:endParaRPr lang="uz-Latn-UZ" sz="1400" b="1" i="0" dirty="0">
              <a:solidFill>
                <a:srgbClr val="FFFFFF"/>
              </a:solidFill>
              <a:latin typeface="Arial"/>
              <a:cs typeface="Arial"/>
            </a:endParaRPr>
          </a:p>
        </p:txBody>
      </p:sp>
      <p:sp>
        <p:nvSpPr>
          <p:cNvPr id="33" name="TextBox 33"/>
          <p:cNvSpPr/>
          <p:nvPr/>
        </p:nvSpPr>
        <p:spPr>
          <a:xfrm>
            <a:off x="8183880" y="3483864"/>
            <a:ext cx="3456432" cy="667512"/>
          </a:xfrm>
          <a:prstGeom prst="rect">
            <a:avLst/>
          </a:prstGeom>
          <a:noFill/>
          <a:ln>
            <a:noFill/>
          </a:ln>
        </p:spPr>
        <p:txBody>
          <a:bodyPr wrap="square" lIns="0" tIns="0" rIns="0" bIns="0" rtlCol="0" anchor="ctr">
            <a:noAutofit/>
          </a:bodyPr>
          <a:lstStyle/>
          <a:p>
            <a:pPr marL="0" indent="0" algn="l">
              <a:spcBef>
                <a:spcPts val="0"/>
              </a:spcBef>
              <a:buNone/>
            </a:pPr>
            <a:r>
              <a:rPr lang="uz-Latn-UZ" sz="1500" b="0" i="0" dirty="0">
                <a:solidFill>
                  <a:srgbClr val="1F2937"/>
                </a:solidFill>
                <a:latin typeface="Arial"/>
                <a:cs typeface="Arial"/>
              </a:rPr>
              <a:t>NATOdagi 2-yirik armiya, mudofaa eksporti</a:t>
            </a:r>
            <a:endParaRPr lang="uz-Latn-UZ" sz="1500" b="0" i="0" dirty="0">
              <a:solidFill>
                <a:srgbClr val="1F2937"/>
              </a:solidFill>
              <a:latin typeface="Arial"/>
              <a:cs typeface="Arial"/>
            </a:endParaRPr>
          </a:p>
        </p:txBody>
      </p:sp>
      <p:sp>
        <p:nvSpPr>
          <p:cNvPr id="34" name="Shape 34"/>
          <p:cNvSpPr/>
          <p:nvPr/>
        </p:nvSpPr>
        <p:spPr>
          <a:xfrm>
            <a:off x="6537960" y="4242816"/>
            <a:ext cx="1463040" cy="484632"/>
          </a:xfrm>
          <a:prstGeom prst="roundRect">
            <a:avLst>
              <a:gd name="adj" fmla="val 30000"/>
            </a:avLst>
          </a:prstGeom>
          <a:solidFill>
            <a:srgbClr val="C8102E"/>
          </a:solidFill>
          <a:ln>
            <a:noFill/>
          </a:ln>
        </p:spPr>
        <p:txBody>
          <a:bodyPr wrap="square" lIns="27432" tIns="0" rIns="27432" bIns="0" rtlCol="0" anchor="ctr">
            <a:noAutofit/>
          </a:bodyPr>
          <a:lstStyle/>
          <a:p>
            <a:pPr marL="0" indent="0" algn="ctr">
              <a:spcBef>
                <a:spcPts val="0"/>
              </a:spcBef>
              <a:buNone/>
            </a:pPr>
            <a:r>
              <a:rPr lang="uz-Latn-UZ" sz="1400" b="1" i="0" dirty="0">
                <a:solidFill>
                  <a:srgbClr val="FFFFFF"/>
                </a:solidFill>
                <a:latin typeface="Arial"/>
                <a:cs typeface="Arial"/>
              </a:rPr>
              <a:t>Madaniy</a:t>
            </a:r>
            <a:endParaRPr lang="uz-Latn-UZ" sz="1400" b="1" i="0" dirty="0">
              <a:solidFill>
                <a:srgbClr val="FFFFFF"/>
              </a:solidFill>
              <a:latin typeface="Arial"/>
              <a:cs typeface="Arial"/>
            </a:endParaRPr>
          </a:p>
        </p:txBody>
      </p:sp>
      <p:sp>
        <p:nvSpPr>
          <p:cNvPr id="35" name="TextBox 35"/>
          <p:cNvSpPr/>
          <p:nvPr/>
        </p:nvSpPr>
        <p:spPr>
          <a:xfrm>
            <a:off x="8183880" y="4151376"/>
            <a:ext cx="3456432" cy="667512"/>
          </a:xfrm>
          <a:prstGeom prst="rect">
            <a:avLst/>
          </a:prstGeom>
          <a:noFill/>
          <a:ln>
            <a:noFill/>
          </a:ln>
        </p:spPr>
        <p:txBody>
          <a:bodyPr wrap="square" lIns="0" tIns="0" rIns="0" bIns="0" rtlCol="0" anchor="ctr">
            <a:noAutofit/>
          </a:bodyPr>
          <a:lstStyle/>
          <a:p>
            <a:pPr marL="0" indent="0" algn="l">
              <a:spcBef>
                <a:spcPts val="0"/>
              </a:spcBef>
              <a:buNone/>
            </a:pPr>
            <a:r>
              <a:rPr lang="uz-Latn-UZ" sz="1500" b="0" i="0" dirty="0">
                <a:solidFill>
                  <a:srgbClr val="1F2937"/>
                </a:solidFill>
                <a:latin typeface="Arial"/>
                <a:cs typeface="Arial"/>
              </a:rPr>
              <a:t>Yunus Emre, seriallar, ta’lim grantlari</a:t>
            </a:r>
            <a:endParaRPr lang="uz-Latn-UZ" sz="1500" b="0" i="0" dirty="0">
              <a:solidFill>
                <a:srgbClr val="1F2937"/>
              </a:solidFill>
              <a:latin typeface="Arial"/>
              <a:cs typeface="Arial"/>
            </a:endParaRPr>
          </a:p>
        </p:txBody>
      </p:sp>
      <p:sp>
        <p:nvSpPr>
          <p:cNvPr id="36" name="Shape 36"/>
          <p:cNvSpPr/>
          <p:nvPr/>
        </p:nvSpPr>
        <p:spPr>
          <a:xfrm>
            <a:off x="6537960" y="4910328"/>
            <a:ext cx="1463040" cy="484632"/>
          </a:xfrm>
          <a:prstGeom prst="roundRect">
            <a:avLst>
              <a:gd name="adj" fmla="val 30000"/>
            </a:avLst>
          </a:prstGeom>
          <a:solidFill>
            <a:srgbClr val="14213D"/>
          </a:solidFill>
          <a:ln>
            <a:noFill/>
          </a:ln>
        </p:spPr>
        <p:txBody>
          <a:bodyPr wrap="square" lIns="27432" tIns="0" rIns="27432" bIns="0" rtlCol="0" anchor="ctr">
            <a:noAutofit/>
          </a:bodyPr>
          <a:lstStyle/>
          <a:p>
            <a:pPr marL="0" indent="0" algn="ctr">
              <a:spcBef>
                <a:spcPts val="0"/>
              </a:spcBef>
              <a:buNone/>
            </a:pPr>
            <a:r>
              <a:rPr lang="uz-Latn-UZ" sz="1400" b="1" i="0" dirty="0">
                <a:solidFill>
                  <a:srgbClr val="FFFFFF"/>
                </a:solidFill>
                <a:latin typeface="Arial"/>
                <a:cs typeface="Arial"/>
              </a:rPr>
              <a:t>Gumanitar</a:t>
            </a:r>
            <a:endParaRPr lang="uz-Latn-UZ" sz="1400" b="1" i="0" dirty="0">
              <a:solidFill>
                <a:srgbClr val="FFFFFF"/>
              </a:solidFill>
              <a:latin typeface="Arial"/>
              <a:cs typeface="Arial"/>
            </a:endParaRPr>
          </a:p>
        </p:txBody>
      </p:sp>
      <p:sp>
        <p:nvSpPr>
          <p:cNvPr id="37" name="TextBox 37"/>
          <p:cNvSpPr/>
          <p:nvPr/>
        </p:nvSpPr>
        <p:spPr>
          <a:xfrm>
            <a:off x="8183880" y="4818888"/>
            <a:ext cx="3456432" cy="667512"/>
          </a:xfrm>
          <a:prstGeom prst="rect">
            <a:avLst/>
          </a:prstGeom>
          <a:noFill/>
          <a:ln>
            <a:noFill/>
          </a:ln>
        </p:spPr>
        <p:txBody>
          <a:bodyPr wrap="square" lIns="0" tIns="0" rIns="0" bIns="0" rtlCol="0" anchor="ctr">
            <a:noAutofit/>
          </a:bodyPr>
          <a:lstStyle/>
          <a:p>
            <a:pPr marL="0" indent="0" algn="l">
              <a:spcBef>
                <a:spcPts val="0"/>
              </a:spcBef>
              <a:buNone/>
            </a:pPr>
            <a:r>
              <a:rPr lang="uz-Latn-UZ" sz="1500" b="0" i="0" dirty="0">
                <a:solidFill>
                  <a:srgbClr val="1F2937"/>
                </a:solidFill>
                <a:latin typeface="Arial"/>
                <a:cs typeface="Arial"/>
              </a:rPr>
              <a:t>TIKA, Qizil Yarim Oy, qochqinlarga yordam</a:t>
            </a:r>
            <a:endParaRPr lang="uz-Latn-UZ" sz="1500" b="0" i="0" dirty="0">
              <a:solidFill>
                <a:srgbClr val="1F2937"/>
              </a:solidFill>
              <a:latin typeface="Arial"/>
              <a:cs typeface="Arial"/>
            </a:endParaRPr>
          </a:p>
        </p:txBody>
      </p:sp>
      <p:sp>
        <p:nvSpPr>
          <p:cNvPr id="38" name="Shape 38"/>
          <p:cNvSpPr/>
          <p:nvPr/>
        </p:nvSpPr>
        <p:spPr>
          <a:xfrm>
            <a:off x="548640" y="5596128"/>
            <a:ext cx="11091672" cy="566928"/>
          </a:xfrm>
          <a:prstGeom prst="rect">
            <a:avLst/>
          </a:prstGeom>
          <a:solidFill>
            <a:srgbClr val="F1F3F6"/>
          </a:solidFill>
          <a:ln>
            <a:noFill/>
          </a:ln>
        </p:spPr>
      </p:sp>
      <p:sp>
        <p:nvSpPr>
          <p:cNvPr id="39" name="Shape 39"/>
          <p:cNvSpPr/>
          <p:nvPr/>
        </p:nvSpPr>
        <p:spPr>
          <a:xfrm>
            <a:off x="548640" y="5596128"/>
            <a:ext cx="82296" cy="566928"/>
          </a:xfrm>
          <a:prstGeom prst="rect">
            <a:avLst/>
          </a:prstGeom>
          <a:solidFill>
            <a:srgbClr val="C8102E"/>
          </a:solidFill>
          <a:ln>
            <a:noFill/>
          </a:ln>
        </p:spPr>
      </p:sp>
      <p:sp>
        <p:nvSpPr>
          <p:cNvPr id="40" name="TextBox 40"/>
          <p:cNvSpPr/>
          <p:nvPr/>
        </p:nvSpPr>
        <p:spPr>
          <a:xfrm>
            <a:off x="868680" y="5641848"/>
            <a:ext cx="10607040" cy="475488"/>
          </a:xfrm>
          <a:prstGeom prst="rect">
            <a:avLst/>
          </a:prstGeom>
          <a:noFill/>
          <a:ln>
            <a:noFill/>
          </a:ln>
        </p:spPr>
        <p:txBody>
          <a:bodyPr wrap="square" lIns="0" tIns="0" rIns="0" bIns="0" rtlCol="0" anchor="ctr">
            <a:noAutofit/>
          </a:bodyPr>
          <a:lstStyle/>
          <a:p>
            <a:pPr marL="0" indent="0" algn="l">
              <a:spcBef>
                <a:spcPts val="0"/>
              </a:spcBef>
              <a:buNone/>
            </a:pPr>
            <a:r>
              <a:rPr lang="uz-Latn-UZ" sz="1550" b="0" i="1" dirty="0">
                <a:solidFill>
                  <a:srgbClr val="14213D"/>
                </a:solidFill>
                <a:latin typeface="Arial"/>
                <a:cs typeface="Arial"/>
              </a:rPr>
              <a:t>Ko‘p davlatlar bir-ikki vositaga tayanadi — Turkiya ularning barchasini birgalikda qo‘llaydi.</a:t>
            </a:r>
            <a:endParaRPr lang="uz-Latn-UZ" sz="1550" b="0" i="1" dirty="0">
              <a:solidFill>
                <a:srgbClr val="14213D"/>
              </a:solidFill>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Shape 2"/>
          <p:cNvSpPr/>
          <p:nvPr/>
        </p:nvSpPr>
        <p:spPr>
          <a:xfrm>
            <a:off x="0" y="0"/>
            <a:ext cx="320040" cy="6858000"/>
          </a:xfrm>
          <a:prstGeom prst="rect">
            <a:avLst/>
          </a:prstGeom>
          <a:solidFill>
            <a:srgbClr val="C8102E"/>
          </a:solidFill>
          <a:ln>
            <a:noFill/>
          </a:ln>
        </p:spPr>
      </p:sp>
      <p:sp>
        <p:nvSpPr>
          <p:cNvPr id="3" name="TextBox 3"/>
          <p:cNvSpPr/>
          <p:nvPr/>
        </p:nvSpPr>
        <p:spPr>
          <a:xfrm>
            <a:off x="914400" y="1005840"/>
            <a:ext cx="3017520" cy="2103120"/>
          </a:xfrm>
          <a:prstGeom prst="rect">
            <a:avLst/>
          </a:prstGeom>
          <a:noFill/>
          <a:ln>
            <a:noFill/>
          </a:ln>
        </p:spPr>
        <p:txBody>
          <a:bodyPr wrap="square" lIns="0" tIns="0" rIns="0" bIns="0" rtlCol="0" anchor="b">
            <a:noAutofit/>
          </a:bodyPr>
          <a:lstStyle/>
          <a:p>
            <a:pPr marL="0" indent="0" algn="l">
              <a:spcBef>
                <a:spcPts val="0"/>
              </a:spcBef>
              <a:buNone/>
            </a:pPr>
            <a:r>
              <a:rPr lang="uz-Latn-UZ" sz="12000" b="1" i="0" dirty="0">
                <a:solidFill>
                  <a:srgbClr val="C8102E"/>
                </a:solidFill>
                <a:latin typeface="Arial"/>
                <a:cs typeface="Arial"/>
              </a:rPr>
              <a:t>05</a:t>
            </a:r>
            <a:endParaRPr lang="uz-Latn-UZ" sz="12000" b="1" i="0" dirty="0">
              <a:solidFill>
                <a:srgbClr val="C8102E"/>
              </a:solidFill>
              <a:latin typeface="Arial"/>
              <a:cs typeface="Arial"/>
            </a:endParaRPr>
          </a:p>
        </p:txBody>
      </p:sp>
      <p:sp>
        <p:nvSpPr>
          <p:cNvPr id="4" name="Shape 4"/>
          <p:cNvSpPr/>
          <p:nvPr/>
        </p:nvSpPr>
        <p:spPr>
          <a:xfrm>
            <a:off x="914400" y="3429000"/>
            <a:ext cx="2103120" cy="502920"/>
          </a:xfrm>
          <a:prstGeom prst="roundRect">
            <a:avLst>
              <a:gd name="adj" fmla="val 50000"/>
            </a:avLst>
          </a:prstGeom>
          <a:solidFill>
            <a:srgbClr val="C8102E"/>
          </a:solidFill>
          <a:ln>
            <a:noFill/>
          </a:ln>
        </p:spPr>
        <p:txBody>
          <a:bodyPr wrap="square" lIns="0" tIns="0" rIns="0" bIns="0" rtlCol="0" anchor="ctr">
            <a:noAutofit/>
          </a:bodyPr>
          <a:lstStyle/>
          <a:p>
            <a:pPr marL="0" indent="0" algn="ctr">
              <a:spcBef>
                <a:spcPts val="0"/>
              </a:spcBef>
              <a:buNone/>
            </a:pPr>
            <a:r>
              <a:rPr lang="uz-Latn-UZ" sz="1700" b="1" i="0" dirty="0">
                <a:solidFill>
                  <a:srgbClr val="FFFFFF"/>
                </a:solidFill>
                <a:latin typeface="Arial"/>
                <a:cs typeface="Arial"/>
              </a:rPr>
              <a:t>5-ma’ruzachi</a:t>
            </a:r>
            <a:endParaRPr lang="uz-Latn-UZ" sz="1700" b="1" i="0" dirty="0">
              <a:solidFill>
                <a:srgbClr val="FFFFFF"/>
              </a:solidFill>
              <a:latin typeface="Arial"/>
              <a:cs typeface="Arial"/>
            </a:endParaRPr>
          </a:p>
        </p:txBody>
      </p:sp>
      <p:sp>
        <p:nvSpPr>
          <p:cNvPr id="5" name="TextBox 5"/>
          <p:cNvSpPr/>
          <p:nvPr/>
        </p:nvSpPr>
        <p:spPr>
          <a:xfrm>
            <a:off x="4206240" y="914400"/>
            <a:ext cx="7498080" cy="2514600"/>
          </a:xfrm>
          <a:prstGeom prst="rect">
            <a:avLst/>
          </a:prstGeom>
          <a:noFill/>
          <a:ln>
            <a:noFill/>
          </a:ln>
        </p:spPr>
        <p:txBody>
          <a:bodyPr wrap="square" lIns="0" tIns="0" rIns="0" bIns="0" rtlCol="0" anchor="b">
            <a:noAutofit/>
          </a:bodyPr>
          <a:lstStyle/>
          <a:p>
            <a:pPr marL="0" indent="0" algn="l">
              <a:lnSpc>
                <a:spcPct val="95000"/>
              </a:lnSpc>
              <a:spcBef>
                <a:spcPts val="0"/>
              </a:spcBef>
              <a:buNone/>
            </a:pPr>
            <a:r>
              <a:rPr lang="uz-Latn-UZ" sz="3600" b="1" i="0" dirty="0">
                <a:solidFill>
                  <a:srgbClr val="FFFFFF"/>
                </a:solidFill>
                <a:latin typeface="Arial"/>
                <a:cs typeface="Arial"/>
              </a:rPr>
              <a:t>Xulosa</a:t>
            </a:r>
            <a:endParaRPr lang="uz-Latn-UZ" sz="3600" b="1" i="0" dirty="0">
              <a:solidFill>
                <a:srgbClr val="FFFFFF"/>
              </a:solidFill>
              <a:latin typeface="Arial"/>
              <a:cs typeface="Arial"/>
            </a:endParaRPr>
          </a:p>
        </p:txBody>
      </p:sp>
      <p:sp>
        <p:nvSpPr>
          <p:cNvPr id="6" name="Shape 6"/>
          <p:cNvSpPr/>
          <p:nvPr/>
        </p:nvSpPr>
        <p:spPr>
          <a:xfrm>
            <a:off x="4206240" y="3675888"/>
            <a:ext cx="1097280" cy="64008"/>
          </a:xfrm>
          <a:prstGeom prst="rect">
            <a:avLst/>
          </a:prstGeom>
          <a:solidFill>
            <a:srgbClr val="C8102E"/>
          </a:solidFill>
          <a:ln>
            <a:noFill/>
          </a:ln>
        </p:spPr>
      </p:sp>
      <p:sp>
        <p:nvSpPr>
          <p:cNvPr id="7" name="TextBox 7"/>
          <p:cNvSpPr/>
          <p:nvPr/>
        </p:nvSpPr>
        <p:spPr>
          <a:xfrm>
            <a:off x="4206240" y="3931920"/>
            <a:ext cx="7498080" cy="2011680"/>
          </a:xfrm>
          <a:prstGeom prst="rect">
            <a:avLst/>
          </a:prstGeom>
          <a:noFill/>
          <a:ln>
            <a:noFill/>
          </a:ln>
        </p:spPr>
        <p:txBody>
          <a:bodyPr wrap="square" lIns="0" tIns="0" rIns="0" bIns="0" rtlCol="0" anchor="t">
            <a:noAutofit/>
          </a:bodyPr>
          <a:lstStyle/>
          <a:p>
            <a:pPr marL="320040" indent="-320040" algn="l">
              <a:spcBef>
                <a:spcPts val="0"/>
              </a:spcBef>
              <a:buClr>
                <a:srgbClr val="C8102E"/>
              </a:buClr>
              <a:buFont typeface="Arial"/>
              <a:buChar char="•"/>
            </a:pPr>
            <a:r>
              <a:rPr lang="uz-Latn-UZ" sz="1900" b="0" i="0" dirty="0">
                <a:solidFill>
                  <a:srgbClr val="CBD5E1"/>
                </a:solidFill>
                <a:latin typeface="Arial"/>
                <a:cs typeface="Arial"/>
              </a:rPr>
              <a:t>Turkiya diplomatiyasi raqamlarda</a:t>
            </a:r>
            <a:endParaRPr lang="uz-Latn-UZ" sz="1900" b="0" i="0" dirty="0">
              <a:solidFill>
                <a:srgbClr val="CBD5E1"/>
              </a:solidFill>
              <a:latin typeface="Arial"/>
              <a:cs typeface="Arial"/>
            </a:endParaRPr>
          </a:p>
          <a:p>
            <a:pPr marL="320040" indent="-320040" algn="l">
              <a:spcBef>
                <a:spcPts val="700"/>
              </a:spcBef>
              <a:buClr>
                <a:srgbClr val="C8102E"/>
              </a:buClr>
              <a:buFont typeface="Arial"/>
              <a:buChar char="•"/>
            </a:pPr>
            <a:r>
              <a:rPr lang="uz-Latn-UZ" sz="1900" b="0" i="0" dirty="0">
                <a:solidFill>
                  <a:srgbClr val="CBD5E1"/>
                </a:solidFill>
                <a:latin typeface="Arial"/>
                <a:cs typeface="Arial"/>
              </a:rPr>
              <a:t>O‘zbekiston uchun ahamiyati</a:t>
            </a:r>
            <a:endParaRPr lang="uz-Latn-UZ" sz="1900" b="0" i="0" dirty="0">
              <a:solidFill>
                <a:srgbClr val="CBD5E1"/>
              </a:solidFill>
              <a:latin typeface="Arial"/>
              <a:cs typeface="Arial"/>
            </a:endParaRPr>
          </a:p>
          <a:p>
            <a:pPr marL="320040" indent="-320040" algn="l">
              <a:spcBef>
                <a:spcPts val="700"/>
              </a:spcBef>
              <a:buClr>
                <a:srgbClr val="C8102E"/>
              </a:buClr>
              <a:buFont typeface="Arial"/>
              <a:buChar char="•"/>
            </a:pPr>
            <a:r>
              <a:rPr lang="uz-Latn-UZ" sz="1900" b="0" i="0" dirty="0">
                <a:solidFill>
                  <a:srgbClr val="CBD5E1"/>
                </a:solidFill>
                <a:latin typeface="Arial"/>
                <a:cs typeface="Arial"/>
              </a:rPr>
              <a:t>Muammolar va istiqbollar</a:t>
            </a:r>
            <a:endParaRPr lang="uz-Latn-UZ" sz="1900" b="0" i="0" dirty="0">
              <a:solidFill>
                <a:srgbClr val="CBD5E1"/>
              </a:solidFill>
              <a:latin typeface="Arial"/>
              <a:cs typeface="Arial"/>
            </a:endParaRPr>
          </a:p>
          <a:p>
            <a:pPr marL="320040" indent="-320040" algn="l">
              <a:spcBef>
                <a:spcPts val="700"/>
              </a:spcBef>
              <a:buClr>
                <a:srgbClr val="C8102E"/>
              </a:buClr>
              <a:buFont typeface="Arial"/>
              <a:buChar char="•"/>
            </a:pPr>
            <a:r>
              <a:rPr lang="uz-Latn-UZ" sz="1900" b="0" i="0" dirty="0">
                <a:solidFill>
                  <a:srgbClr val="CBD5E1"/>
                </a:solidFill>
                <a:latin typeface="Arial"/>
                <a:cs typeface="Arial"/>
              </a:rPr>
              <a:t>Yakuniy xulosa</a:t>
            </a:r>
            <a:endParaRPr lang="uz-Latn-UZ" sz="1900" b="0" i="0" dirty="0">
              <a:solidFill>
                <a:srgbClr val="CBD5E1"/>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CBD5E1"/>
                </a:solidFill>
                <a:latin typeface="Arial"/>
                <a:cs typeface="Arial"/>
              </a:rPr>
              <a:t>23 / 29</a:t>
            </a:r>
            <a:endParaRPr lang="uz-Latn-UZ" sz="1050" b="0" i="0" dirty="0">
              <a:solidFill>
                <a:srgbClr val="CBD5E1"/>
              </a:solidFill>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5-QISM  •  XULOSA</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Turkiya diplomatiyasi raqamlarda</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5-ma’ruzachi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24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Shape 10"/>
          <p:cNvSpPr/>
          <p:nvPr/>
        </p:nvSpPr>
        <p:spPr>
          <a:xfrm>
            <a:off x="548640" y="1627632"/>
            <a:ext cx="3544824" cy="1965960"/>
          </a:xfrm>
          <a:prstGeom prst="rect">
            <a:avLst/>
          </a:prstGeom>
          <a:solidFill>
            <a:srgbClr val="F1F3F6"/>
          </a:solidFill>
          <a:ln>
            <a:noFill/>
          </a:ln>
        </p:spPr>
      </p:sp>
      <p:sp>
        <p:nvSpPr>
          <p:cNvPr id="11" name="Shape 11"/>
          <p:cNvSpPr/>
          <p:nvPr/>
        </p:nvSpPr>
        <p:spPr>
          <a:xfrm>
            <a:off x="548640" y="1627632"/>
            <a:ext cx="3544824" cy="64008"/>
          </a:xfrm>
          <a:prstGeom prst="rect">
            <a:avLst/>
          </a:prstGeom>
          <a:solidFill>
            <a:srgbClr val="C8102E"/>
          </a:solidFill>
          <a:ln>
            <a:noFill/>
          </a:ln>
        </p:spPr>
      </p:sp>
      <p:sp>
        <p:nvSpPr>
          <p:cNvPr id="12" name="TextBox 12"/>
          <p:cNvSpPr/>
          <p:nvPr/>
        </p:nvSpPr>
        <p:spPr>
          <a:xfrm>
            <a:off x="804672" y="1810512"/>
            <a:ext cx="3032760" cy="777240"/>
          </a:xfrm>
          <a:prstGeom prst="rect">
            <a:avLst/>
          </a:prstGeom>
          <a:noFill/>
          <a:ln>
            <a:noFill/>
          </a:ln>
        </p:spPr>
        <p:txBody>
          <a:bodyPr wrap="square" lIns="0" tIns="0" rIns="0" bIns="0" rtlCol="0" anchor="b">
            <a:noAutofit/>
          </a:bodyPr>
          <a:lstStyle/>
          <a:p>
            <a:pPr marL="0" indent="0" algn="l">
              <a:spcBef>
                <a:spcPts val="0"/>
              </a:spcBef>
              <a:buNone/>
            </a:pPr>
            <a:r>
              <a:rPr lang="uz-Latn-UZ" sz="4200" b="1" i="0" dirty="0">
                <a:solidFill>
                  <a:srgbClr val="14213D"/>
                </a:solidFill>
                <a:latin typeface="Arial"/>
                <a:cs typeface="Arial"/>
              </a:rPr>
              <a:t>252</a:t>
            </a:r>
            <a:endParaRPr lang="uz-Latn-UZ" sz="4200" b="1" i="0" dirty="0">
              <a:solidFill>
                <a:srgbClr val="14213D"/>
              </a:solidFill>
              <a:latin typeface="Arial"/>
              <a:cs typeface="Arial"/>
            </a:endParaRPr>
          </a:p>
        </p:txBody>
      </p:sp>
      <p:sp>
        <p:nvSpPr>
          <p:cNvPr id="13" name="TextBox 13"/>
          <p:cNvSpPr/>
          <p:nvPr/>
        </p:nvSpPr>
        <p:spPr>
          <a:xfrm>
            <a:off x="804672" y="2633472"/>
            <a:ext cx="3032760" cy="868680"/>
          </a:xfrm>
          <a:prstGeom prst="rect">
            <a:avLst/>
          </a:prstGeom>
          <a:noFill/>
          <a:ln>
            <a:noFill/>
          </a:ln>
        </p:spPr>
        <p:txBody>
          <a:bodyPr wrap="square" lIns="0" tIns="0" rIns="0" bIns="0" rtlCol="0" anchor="t">
            <a:noAutofit/>
          </a:bodyPr>
          <a:lstStyle/>
          <a:p>
            <a:pPr marL="0" indent="0" algn="l">
              <a:spcBef>
                <a:spcPts val="0"/>
              </a:spcBef>
              <a:buNone/>
            </a:pPr>
            <a:r>
              <a:rPr lang="uz-Latn-UZ" sz="1500" b="0" i="0" dirty="0">
                <a:solidFill>
                  <a:srgbClr val="1F2937"/>
                </a:solidFill>
                <a:latin typeface="Arial"/>
                <a:cs typeface="Arial"/>
              </a:rPr>
              <a:t>diplomatik vakolatxona — dunyoda 3-o‘rin (2024)</a:t>
            </a:r>
            <a:endParaRPr lang="uz-Latn-UZ" sz="1500" b="0" i="0" dirty="0">
              <a:solidFill>
                <a:srgbClr val="1F2937"/>
              </a:solidFill>
              <a:latin typeface="Arial"/>
              <a:cs typeface="Arial"/>
            </a:endParaRPr>
          </a:p>
        </p:txBody>
      </p:sp>
      <p:sp>
        <p:nvSpPr>
          <p:cNvPr id="14" name="Shape 14"/>
          <p:cNvSpPr/>
          <p:nvPr/>
        </p:nvSpPr>
        <p:spPr>
          <a:xfrm>
            <a:off x="4322064" y="1627632"/>
            <a:ext cx="3544824" cy="1965960"/>
          </a:xfrm>
          <a:prstGeom prst="rect">
            <a:avLst/>
          </a:prstGeom>
          <a:solidFill>
            <a:srgbClr val="F1F3F6"/>
          </a:solidFill>
          <a:ln>
            <a:noFill/>
          </a:ln>
        </p:spPr>
      </p:sp>
      <p:sp>
        <p:nvSpPr>
          <p:cNvPr id="15" name="Shape 15"/>
          <p:cNvSpPr/>
          <p:nvPr/>
        </p:nvSpPr>
        <p:spPr>
          <a:xfrm>
            <a:off x="4322064" y="1627632"/>
            <a:ext cx="3544824" cy="64008"/>
          </a:xfrm>
          <a:prstGeom prst="rect">
            <a:avLst/>
          </a:prstGeom>
          <a:solidFill>
            <a:srgbClr val="14213D"/>
          </a:solidFill>
          <a:ln>
            <a:noFill/>
          </a:ln>
        </p:spPr>
      </p:sp>
      <p:sp>
        <p:nvSpPr>
          <p:cNvPr id="16" name="TextBox 16"/>
          <p:cNvSpPr/>
          <p:nvPr/>
        </p:nvSpPr>
        <p:spPr>
          <a:xfrm>
            <a:off x="4578096" y="1810512"/>
            <a:ext cx="3032760" cy="777240"/>
          </a:xfrm>
          <a:prstGeom prst="rect">
            <a:avLst/>
          </a:prstGeom>
          <a:noFill/>
          <a:ln>
            <a:noFill/>
          </a:ln>
        </p:spPr>
        <p:txBody>
          <a:bodyPr wrap="square" lIns="0" tIns="0" rIns="0" bIns="0" rtlCol="0" anchor="b">
            <a:noAutofit/>
          </a:bodyPr>
          <a:lstStyle/>
          <a:p>
            <a:pPr marL="0" indent="0" algn="l">
              <a:spcBef>
                <a:spcPts val="0"/>
              </a:spcBef>
              <a:buNone/>
            </a:pPr>
            <a:r>
              <a:rPr lang="uz-Latn-UZ" sz="4200" b="1" i="0" dirty="0">
                <a:solidFill>
                  <a:srgbClr val="14213D"/>
                </a:solidFill>
                <a:latin typeface="Arial"/>
                <a:cs typeface="Arial"/>
              </a:rPr>
              <a:t>273,4</a:t>
            </a:r>
            <a:endParaRPr lang="uz-Latn-UZ" sz="4200" b="1" i="0" dirty="0">
              <a:solidFill>
                <a:srgbClr val="14213D"/>
              </a:solidFill>
              <a:latin typeface="Arial"/>
              <a:cs typeface="Arial"/>
            </a:endParaRPr>
          </a:p>
        </p:txBody>
      </p:sp>
      <p:sp>
        <p:nvSpPr>
          <p:cNvPr id="17" name="TextBox 17"/>
          <p:cNvSpPr/>
          <p:nvPr/>
        </p:nvSpPr>
        <p:spPr>
          <a:xfrm>
            <a:off x="4578096" y="2633472"/>
            <a:ext cx="3032760" cy="868680"/>
          </a:xfrm>
          <a:prstGeom prst="rect">
            <a:avLst/>
          </a:prstGeom>
          <a:noFill/>
          <a:ln>
            <a:noFill/>
          </a:ln>
        </p:spPr>
        <p:txBody>
          <a:bodyPr wrap="square" lIns="0" tIns="0" rIns="0" bIns="0" rtlCol="0" anchor="t">
            <a:noAutofit/>
          </a:bodyPr>
          <a:lstStyle/>
          <a:p>
            <a:pPr marL="0" indent="0" algn="l">
              <a:spcBef>
                <a:spcPts val="0"/>
              </a:spcBef>
              <a:buNone/>
            </a:pPr>
            <a:r>
              <a:rPr lang="uz-Latn-UZ" sz="1500" b="0" i="0" dirty="0">
                <a:solidFill>
                  <a:srgbClr val="1F2937"/>
                </a:solidFill>
                <a:latin typeface="Arial"/>
                <a:cs typeface="Arial"/>
              </a:rPr>
              <a:t>mlrd $ — tovar eksporti, tarixiy rekord (2025)</a:t>
            </a:r>
            <a:endParaRPr lang="uz-Latn-UZ" sz="1500" b="0" i="0" dirty="0">
              <a:solidFill>
                <a:srgbClr val="1F2937"/>
              </a:solidFill>
              <a:latin typeface="Arial"/>
              <a:cs typeface="Arial"/>
            </a:endParaRPr>
          </a:p>
        </p:txBody>
      </p:sp>
      <p:sp>
        <p:nvSpPr>
          <p:cNvPr id="18" name="Shape 18"/>
          <p:cNvSpPr/>
          <p:nvPr/>
        </p:nvSpPr>
        <p:spPr>
          <a:xfrm>
            <a:off x="8095488" y="1627632"/>
            <a:ext cx="3544824" cy="1965960"/>
          </a:xfrm>
          <a:prstGeom prst="rect">
            <a:avLst/>
          </a:prstGeom>
          <a:solidFill>
            <a:srgbClr val="F1F3F6"/>
          </a:solidFill>
          <a:ln>
            <a:noFill/>
          </a:ln>
        </p:spPr>
      </p:sp>
      <p:sp>
        <p:nvSpPr>
          <p:cNvPr id="19" name="Shape 19"/>
          <p:cNvSpPr/>
          <p:nvPr/>
        </p:nvSpPr>
        <p:spPr>
          <a:xfrm>
            <a:off x="8095488" y="1627632"/>
            <a:ext cx="3544824" cy="64008"/>
          </a:xfrm>
          <a:prstGeom prst="rect">
            <a:avLst/>
          </a:prstGeom>
          <a:solidFill>
            <a:srgbClr val="C8102E"/>
          </a:solidFill>
          <a:ln>
            <a:noFill/>
          </a:ln>
        </p:spPr>
      </p:sp>
      <p:sp>
        <p:nvSpPr>
          <p:cNvPr id="20" name="TextBox 20"/>
          <p:cNvSpPr/>
          <p:nvPr/>
        </p:nvSpPr>
        <p:spPr>
          <a:xfrm>
            <a:off x="8351520" y="1810512"/>
            <a:ext cx="3032760" cy="777240"/>
          </a:xfrm>
          <a:prstGeom prst="rect">
            <a:avLst/>
          </a:prstGeom>
          <a:noFill/>
          <a:ln>
            <a:noFill/>
          </a:ln>
        </p:spPr>
        <p:txBody>
          <a:bodyPr wrap="square" lIns="0" tIns="0" rIns="0" bIns="0" rtlCol="0" anchor="b">
            <a:noAutofit/>
          </a:bodyPr>
          <a:lstStyle/>
          <a:p>
            <a:pPr marL="0" indent="0" algn="l">
              <a:spcBef>
                <a:spcPts val="0"/>
              </a:spcBef>
              <a:buNone/>
            </a:pPr>
            <a:r>
              <a:rPr lang="uz-Latn-UZ" sz="4200" b="1" i="0" dirty="0">
                <a:solidFill>
                  <a:srgbClr val="14213D"/>
                </a:solidFill>
                <a:latin typeface="Arial"/>
                <a:cs typeface="Arial"/>
              </a:rPr>
              <a:t>10,5</a:t>
            </a:r>
            <a:endParaRPr lang="uz-Latn-UZ" sz="4200" b="1" i="0" dirty="0">
              <a:solidFill>
                <a:srgbClr val="14213D"/>
              </a:solidFill>
              <a:latin typeface="Arial"/>
              <a:cs typeface="Arial"/>
            </a:endParaRPr>
          </a:p>
        </p:txBody>
      </p:sp>
      <p:sp>
        <p:nvSpPr>
          <p:cNvPr id="21" name="TextBox 21"/>
          <p:cNvSpPr/>
          <p:nvPr/>
        </p:nvSpPr>
        <p:spPr>
          <a:xfrm>
            <a:off x="8351520" y="2633472"/>
            <a:ext cx="3032760" cy="868680"/>
          </a:xfrm>
          <a:prstGeom prst="rect">
            <a:avLst/>
          </a:prstGeom>
          <a:noFill/>
          <a:ln>
            <a:noFill/>
          </a:ln>
        </p:spPr>
        <p:txBody>
          <a:bodyPr wrap="square" lIns="0" tIns="0" rIns="0" bIns="0" rtlCol="0" anchor="t">
            <a:noAutofit/>
          </a:bodyPr>
          <a:lstStyle/>
          <a:p>
            <a:pPr marL="0" indent="0" algn="l">
              <a:spcBef>
                <a:spcPts val="0"/>
              </a:spcBef>
              <a:buNone/>
            </a:pPr>
            <a:r>
              <a:rPr lang="uz-Latn-UZ" sz="1500" b="0" i="0" dirty="0">
                <a:solidFill>
                  <a:srgbClr val="1F2937"/>
                </a:solidFill>
                <a:latin typeface="Arial"/>
                <a:cs typeface="Arial"/>
              </a:rPr>
              <a:t>mlrd $ — mudofaa va aviatsiya eksporti (2025)</a:t>
            </a:r>
            <a:endParaRPr lang="uz-Latn-UZ" sz="1500" b="0" i="0" dirty="0">
              <a:solidFill>
                <a:srgbClr val="1F2937"/>
              </a:solidFill>
              <a:latin typeface="Arial"/>
              <a:cs typeface="Arial"/>
            </a:endParaRPr>
          </a:p>
        </p:txBody>
      </p:sp>
      <p:sp>
        <p:nvSpPr>
          <p:cNvPr id="22" name="Shape 22"/>
          <p:cNvSpPr/>
          <p:nvPr/>
        </p:nvSpPr>
        <p:spPr>
          <a:xfrm>
            <a:off x="548640" y="3822192"/>
            <a:ext cx="3544824" cy="1965960"/>
          </a:xfrm>
          <a:prstGeom prst="rect">
            <a:avLst/>
          </a:prstGeom>
          <a:solidFill>
            <a:srgbClr val="F1F3F6"/>
          </a:solidFill>
          <a:ln>
            <a:noFill/>
          </a:ln>
        </p:spPr>
      </p:sp>
      <p:sp>
        <p:nvSpPr>
          <p:cNvPr id="23" name="Shape 23"/>
          <p:cNvSpPr/>
          <p:nvPr/>
        </p:nvSpPr>
        <p:spPr>
          <a:xfrm>
            <a:off x="548640" y="3822192"/>
            <a:ext cx="3544824" cy="64008"/>
          </a:xfrm>
          <a:prstGeom prst="rect">
            <a:avLst/>
          </a:prstGeom>
          <a:solidFill>
            <a:srgbClr val="14213D"/>
          </a:solidFill>
          <a:ln>
            <a:noFill/>
          </a:ln>
        </p:spPr>
      </p:sp>
      <p:sp>
        <p:nvSpPr>
          <p:cNvPr id="24" name="TextBox 24"/>
          <p:cNvSpPr/>
          <p:nvPr/>
        </p:nvSpPr>
        <p:spPr>
          <a:xfrm>
            <a:off x="804672" y="4005072"/>
            <a:ext cx="3032760" cy="777240"/>
          </a:xfrm>
          <a:prstGeom prst="rect">
            <a:avLst/>
          </a:prstGeom>
          <a:noFill/>
          <a:ln>
            <a:noFill/>
          </a:ln>
        </p:spPr>
        <p:txBody>
          <a:bodyPr wrap="square" lIns="0" tIns="0" rIns="0" bIns="0" rtlCol="0" anchor="b">
            <a:noAutofit/>
          </a:bodyPr>
          <a:lstStyle/>
          <a:p>
            <a:pPr marL="0" indent="0" algn="l">
              <a:spcBef>
                <a:spcPts val="0"/>
              </a:spcBef>
              <a:buNone/>
            </a:pPr>
            <a:r>
              <a:rPr lang="uz-Latn-UZ" sz="4200" b="1" i="0" dirty="0">
                <a:solidFill>
                  <a:srgbClr val="14213D"/>
                </a:solidFill>
                <a:latin typeface="Arial"/>
                <a:cs typeface="Arial"/>
              </a:rPr>
              <a:t>62</a:t>
            </a:r>
            <a:endParaRPr lang="uz-Latn-UZ" sz="4200" b="1" i="0" dirty="0">
              <a:solidFill>
                <a:srgbClr val="14213D"/>
              </a:solidFill>
              <a:latin typeface="Arial"/>
              <a:cs typeface="Arial"/>
            </a:endParaRPr>
          </a:p>
        </p:txBody>
      </p:sp>
      <p:sp>
        <p:nvSpPr>
          <p:cNvPr id="25" name="TextBox 25"/>
          <p:cNvSpPr/>
          <p:nvPr/>
        </p:nvSpPr>
        <p:spPr>
          <a:xfrm>
            <a:off x="804672" y="4828032"/>
            <a:ext cx="3032760" cy="868680"/>
          </a:xfrm>
          <a:prstGeom prst="rect">
            <a:avLst/>
          </a:prstGeom>
          <a:noFill/>
          <a:ln>
            <a:noFill/>
          </a:ln>
        </p:spPr>
        <p:txBody>
          <a:bodyPr wrap="square" lIns="0" tIns="0" rIns="0" bIns="0" rtlCol="0" anchor="t">
            <a:noAutofit/>
          </a:bodyPr>
          <a:lstStyle/>
          <a:p>
            <a:pPr marL="0" indent="0" algn="l">
              <a:spcBef>
                <a:spcPts val="0"/>
              </a:spcBef>
              <a:buNone/>
            </a:pPr>
            <a:r>
              <a:rPr lang="uz-Latn-UZ" sz="1500" b="0" i="0" dirty="0">
                <a:solidFill>
                  <a:srgbClr val="1F2937"/>
                </a:solidFill>
                <a:latin typeface="Arial"/>
                <a:cs typeface="Arial"/>
              </a:rPr>
              <a:t>TIKA idorasi; loyihalar 150 dan ortiq mamlakatda</a:t>
            </a:r>
            <a:endParaRPr lang="uz-Latn-UZ" sz="1500" b="0" i="0" dirty="0">
              <a:solidFill>
                <a:srgbClr val="1F2937"/>
              </a:solidFill>
              <a:latin typeface="Arial"/>
              <a:cs typeface="Arial"/>
            </a:endParaRPr>
          </a:p>
        </p:txBody>
      </p:sp>
      <p:sp>
        <p:nvSpPr>
          <p:cNvPr id="26" name="Shape 26"/>
          <p:cNvSpPr/>
          <p:nvPr/>
        </p:nvSpPr>
        <p:spPr>
          <a:xfrm>
            <a:off x="4322064" y="3822192"/>
            <a:ext cx="3544824" cy="1965960"/>
          </a:xfrm>
          <a:prstGeom prst="rect">
            <a:avLst/>
          </a:prstGeom>
          <a:solidFill>
            <a:srgbClr val="F1F3F6"/>
          </a:solidFill>
          <a:ln>
            <a:noFill/>
          </a:ln>
        </p:spPr>
      </p:sp>
      <p:sp>
        <p:nvSpPr>
          <p:cNvPr id="27" name="Shape 27"/>
          <p:cNvSpPr/>
          <p:nvPr/>
        </p:nvSpPr>
        <p:spPr>
          <a:xfrm>
            <a:off x="4322064" y="3822192"/>
            <a:ext cx="3544824" cy="64008"/>
          </a:xfrm>
          <a:prstGeom prst="rect">
            <a:avLst/>
          </a:prstGeom>
          <a:solidFill>
            <a:srgbClr val="C8102E"/>
          </a:solidFill>
          <a:ln>
            <a:noFill/>
          </a:ln>
        </p:spPr>
      </p:sp>
      <p:sp>
        <p:nvSpPr>
          <p:cNvPr id="28" name="TextBox 28"/>
          <p:cNvSpPr/>
          <p:nvPr/>
        </p:nvSpPr>
        <p:spPr>
          <a:xfrm>
            <a:off x="4578096" y="4005072"/>
            <a:ext cx="3032760" cy="777240"/>
          </a:xfrm>
          <a:prstGeom prst="rect">
            <a:avLst/>
          </a:prstGeom>
          <a:noFill/>
          <a:ln>
            <a:noFill/>
          </a:ln>
        </p:spPr>
        <p:txBody>
          <a:bodyPr wrap="square" lIns="0" tIns="0" rIns="0" bIns="0" rtlCol="0" anchor="b">
            <a:noAutofit/>
          </a:bodyPr>
          <a:lstStyle/>
          <a:p>
            <a:pPr marL="0" indent="0" algn="l">
              <a:spcBef>
                <a:spcPts val="0"/>
              </a:spcBef>
              <a:buNone/>
            </a:pPr>
            <a:r>
              <a:rPr lang="uz-Latn-UZ" sz="4200" b="1" i="0" dirty="0">
                <a:solidFill>
                  <a:srgbClr val="14213D"/>
                </a:solidFill>
                <a:latin typeface="Arial"/>
                <a:cs typeface="Arial"/>
              </a:rPr>
              <a:t>2,2 mln</a:t>
            </a:r>
            <a:endParaRPr lang="uz-Latn-UZ" sz="4200" b="1" i="0" dirty="0">
              <a:solidFill>
                <a:srgbClr val="14213D"/>
              </a:solidFill>
              <a:latin typeface="Arial"/>
              <a:cs typeface="Arial"/>
            </a:endParaRPr>
          </a:p>
        </p:txBody>
      </p:sp>
      <p:sp>
        <p:nvSpPr>
          <p:cNvPr id="29" name="TextBox 29"/>
          <p:cNvSpPr/>
          <p:nvPr/>
        </p:nvSpPr>
        <p:spPr>
          <a:xfrm>
            <a:off x="4578096" y="4828032"/>
            <a:ext cx="3032760" cy="868680"/>
          </a:xfrm>
          <a:prstGeom prst="rect">
            <a:avLst/>
          </a:prstGeom>
          <a:noFill/>
          <a:ln>
            <a:noFill/>
          </a:ln>
        </p:spPr>
        <p:txBody>
          <a:bodyPr wrap="square" lIns="0" tIns="0" rIns="0" bIns="0" rtlCol="0" anchor="t">
            <a:noAutofit/>
          </a:bodyPr>
          <a:lstStyle/>
          <a:p>
            <a:pPr marL="0" indent="0" algn="l">
              <a:spcBef>
                <a:spcPts val="0"/>
              </a:spcBef>
              <a:buNone/>
            </a:pPr>
            <a:r>
              <a:rPr lang="uz-Latn-UZ" sz="1500" b="0" i="0" dirty="0">
                <a:solidFill>
                  <a:srgbClr val="1F2937"/>
                </a:solidFill>
                <a:latin typeface="Arial"/>
                <a:cs typeface="Arial"/>
              </a:rPr>
              <a:t>suriyalik Turkiyada vaqtinchalik himoya ostida (2026)</a:t>
            </a:r>
            <a:endParaRPr lang="uz-Latn-UZ" sz="1500" b="0" i="0" dirty="0">
              <a:solidFill>
                <a:srgbClr val="1F2937"/>
              </a:solidFill>
              <a:latin typeface="Arial"/>
              <a:cs typeface="Arial"/>
            </a:endParaRPr>
          </a:p>
        </p:txBody>
      </p:sp>
      <p:sp>
        <p:nvSpPr>
          <p:cNvPr id="30" name="Shape 30"/>
          <p:cNvSpPr/>
          <p:nvPr/>
        </p:nvSpPr>
        <p:spPr>
          <a:xfrm>
            <a:off x="8095488" y="3822192"/>
            <a:ext cx="3544824" cy="1965960"/>
          </a:xfrm>
          <a:prstGeom prst="rect">
            <a:avLst/>
          </a:prstGeom>
          <a:solidFill>
            <a:srgbClr val="F1F3F6"/>
          </a:solidFill>
          <a:ln>
            <a:noFill/>
          </a:ln>
        </p:spPr>
      </p:sp>
      <p:sp>
        <p:nvSpPr>
          <p:cNvPr id="31" name="Shape 31"/>
          <p:cNvSpPr/>
          <p:nvPr/>
        </p:nvSpPr>
        <p:spPr>
          <a:xfrm>
            <a:off x="8095488" y="3822192"/>
            <a:ext cx="3544824" cy="64008"/>
          </a:xfrm>
          <a:prstGeom prst="rect">
            <a:avLst/>
          </a:prstGeom>
          <a:solidFill>
            <a:srgbClr val="14213D"/>
          </a:solidFill>
          <a:ln>
            <a:noFill/>
          </a:ln>
        </p:spPr>
      </p:sp>
      <p:sp>
        <p:nvSpPr>
          <p:cNvPr id="32" name="TextBox 32"/>
          <p:cNvSpPr/>
          <p:nvPr/>
        </p:nvSpPr>
        <p:spPr>
          <a:xfrm>
            <a:off x="8351520" y="4005072"/>
            <a:ext cx="3032760" cy="777240"/>
          </a:xfrm>
          <a:prstGeom prst="rect">
            <a:avLst/>
          </a:prstGeom>
          <a:noFill/>
          <a:ln>
            <a:noFill/>
          </a:ln>
        </p:spPr>
        <p:txBody>
          <a:bodyPr wrap="square" lIns="0" tIns="0" rIns="0" bIns="0" rtlCol="0" anchor="b">
            <a:noAutofit/>
          </a:bodyPr>
          <a:lstStyle/>
          <a:p>
            <a:pPr marL="0" indent="0" algn="l">
              <a:spcBef>
                <a:spcPts val="0"/>
              </a:spcBef>
              <a:buNone/>
            </a:pPr>
            <a:r>
              <a:rPr lang="uz-Latn-UZ" sz="4200" b="1" i="0" dirty="0">
                <a:solidFill>
                  <a:srgbClr val="14213D"/>
                </a:solidFill>
                <a:latin typeface="Arial"/>
                <a:cs typeface="Arial"/>
              </a:rPr>
              <a:t>6 400</a:t>
            </a:r>
            <a:endParaRPr lang="uz-Latn-UZ" sz="4200" b="1" i="0" dirty="0">
              <a:solidFill>
                <a:srgbClr val="14213D"/>
              </a:solidFill>
              <a:latin typeface="Arial"/>
              <a:cs typeface="Arial"/>
            </a:endParaRPr>
          </a:p>
        </p:txBody>
      </p:sp>
      <p:sp>
        <p:nvSpPr>
          <p:cNvPr id="33" name="TextBox 33"/>
          <p:cNvSpPr/>
          <p:nvPr/>
        </p:nvSpPr>
        <p:spPr>
          <a:xfrm>
            <a:off x="8351520" y="4828032"/>
            <a:ext cx="3032760" cy="868680"/>
          </a:xfrm>
          <a:prstGeom prst="rect">
            <a:avLst/>
          </a:prstGeom>
          <a:noFill/>
          <a:ln>
            <a:noFill/>
          </a:ln>
        </p:spPr>
        <p:txBody>
          <a:bodyPr wrap="square" lIns="0" tIns="0" rIns="0" bIns="0" rtlCol="0" anchor="t">
            <a:noAutofit/>
          </a:bodyPr>
          <a:lstStyle/>
          <a:p>
            <a:pPr marL="0" indent="0" algn="l">
              <a:spcBef>
                <a:spcPts val="0"/>
              </a:spcBef>
              <a:buNone/>
            </a:pPr>
            <a:r>
              <a:rPr lang="uz-Latn-UZ" sz="1500" b="0" i="0" dirty="0">
                <a:solidFill>
                  <a:srgbClr val="1F2937"/>
                </a:solidFill>
                <a:latin typeface="Arial"/>
                <a:cs typeface="Arial"/>
              </a:rPr>
              <a:t>Antaliya diplomatiya forumi ishtirokchisi (2026)</a:t>
            </a:r>
            <a:endParaRPr lang="uz-Latn-UZ" sz="1500" b="0" i="0" dirty="0">
              <a:solidFill>
                <a:srgbClr val="1F2937"/>
              </a:solidFill>
              <a:latin typeface="Arial"/>
              <a:cs typeface="Arial"/>
            </a:endParaRPr>
          </a:p>
        </p:txBody>
      </p:sp>
      <p:sp>
        <p:nvSpPr>
          <p:cNvPr id="34" name="TextBox 34"/>
          <p:cNvSpPr/>
          <p:nvPr/>
        </p:nvSpPr>
        <p:spPr>
          <a:xfrm>
            <a:off x="548640" y="5943600"/>
            <a:ext cx="11091672" cy="292608"/>
          </a:xfrm>
          <a:prstGeom prst="rect">
            <a:avLst/>
          </a:prstGeom>
          <a:noFill/>
          <a:ln>
            <a:noFill/>
          </a:ln>
        </p:spPr>
        <p:txBody>
          <a:bodyPr wrap="square" lIns="0" tIns="0" rIns="0" bIns="0" rtlCol="0" anchor="ctr">
            <a:noAutofit/>
          </a:bodyPr>
          <a:lstStyle/>
          <a:p>
            <a:pPr marL="0" indent="0" algn="l">
              <a:spcBef>
                <a:spcPts val="0"/>
              </a:spcBef>
              <a:buNone/>
            </a:pPr>
            <a:r>
              <a:rPr lang="uz-Latn-UZ" sz="1150" b="0" i="1" dirty="0">
                <a:solidFill>
                  <a:srgbClr val="6B7280"/>
                </a:solidFill>
                <a:latin typeface="Arial"/>
                <a:cs typeface="Arial"/>
              </a:rPr>
              <a:t>Manbalar: Lowy instituti, TİM, SSB, TIKA, BMT QOKB, Antaliya diplomatiya forumi.</a:t>
            </a:r>
            <a:endParaRPr lang="uz-Latn-UZ" sz="1150" b="0" i="1" dirty="0">
              <a:solidFill>
                <a:srgbClr val="6B7280"/>
              </a:solidFill>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5-QISM  •  XULOSA</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O‘zbekiston uchun ahamiyati</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5-ma’ruzachi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25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Shape 10"/>
          <p:cNvSpPr/>
          <p:nvPr/>
        </p:nvSpPr>
        <p:spPr>
          <a:xfrm>
            <a:off x="548640" y="1627632"/>
            <a:ext cx="2601468" cy="2011680"/>
          </a:xfrm>
          <a:prstGeom prst="rect">
            <a:avLst/>
          </a:prstGeom>
          <a:solidFill>
            <a:srgbClr val="14213D"/>
          </a:solidFill>
          <a:ln>
            <a:noFill/>
          </a:ln>
        </p:spPr>
      </p:sp>
      <p:sp>
        <p:nvSpPr>
          <p:cNvPr id="11" name="TextBox 11"/>
          <p:cNvSpPr/>
          <p:nvPr/>
        </p:nvSpPr>
        <p:spPr>
          <a:xfrm>
            <a:off x="731520" y="1737360"/>
            <a:ext cx="2235708" cy="822960"/>
          </a:xfrm>
          <a:prstGeom prst="rect">
            <a:avLst/>
          </a:prstGeom>
          <a:noFill/>
          <a:ln>
            <a:noFill/>
          </a:ln>
        </p:spPr>
        <p:txBody>
          <a:bodyPr wrap="square" lIns="0" tIns="0" rIns="0" bIns="0" rtlCol="0" anchor="ctr">
            <a:noAutofit/>
          </a:bodyPr>
          <a:lstStyle/>
          <a:p>
            <a:pPr marL="0" indent="0" algn="ctr">
              <a:spcBef>
                <a:spcPts val="0"/>
              </a:spcBef>
              <a:buNone/>
            </a:pPr>
            <a:r>
              <a:rPr lang="uz-Latn-UZ" sz="2900" b="1" i="0" dirty="0">
                <a:solidFill>
                  <a:srgbClr val="FFFFFF"/>
                </a:solidFill>
                <a:latin typeface="Arial"/>
                <a:cs typeface="Arial"/>
              </a:rPr>
              <a:t>~3 mlrd $</a:t>
            </a:r>
            <a:endParaRPr lang="uz-Latn-UZ" sz="2900" b="1" i="0" dirty="0">
              <a:solidFill>
                <a:srgbClr val="FFFFFF"/>
              </a:solidFill>
              <a:latin typeface="Arial"/>
              <a:cs typeface="Arial"/>
            </a:endParaRPr>
          </a:p>
        </p:txBody>
      </p:sp>
      <p:sp>
        <p:nvSpPr>
          <p:cNvPr id="12" name="TextBox 12"/>
          <p:cNvSpPr/>
          <p:nvPr/>
        </p:nvSpPr>
        <p:spPr>
          <a:xfrm>
            <a:off x="731520" y="2606040"/>
            <a:ext cx="2235708" cy="960120"/>
          </a:xfrm>
          <a:prstGeom prst="rect">
            <a:avLst/>
          </a:prstGeom>
          <a:noFill/>
          <a:ln>
            <a:noFill/>
          </a:ln>
        </p:spPr>
        <p:txBody>
          <a:bodyPr wrap="square" lIns="0" tIns="0" rIns="0" bIns="0" rtlCol="0" anchor="t">
            <a:noAutofit/>
          </a:bodyPr>
          <a:lstStyle/>
          <a:p>
            <a:pPr marL="0" indent="0" algn="ctr">
              <a:spcBef>
                <a:spcPts val="0"/>
              </a:spcBef>
              <a:buNone/>
            </a:pPr>
            <a:r>
              <a:rPr lang="uz-Latn-UZ" sz="1400" b="0" i="0" dirty="0">
                <a:solidFill>
                  <a:srgbClr val="FFFFFF"/>
                </a:solidFill>
                <a:latin typeface="Arial"/>
                <a:cs typeface="Arial"/>
              </a:rPr>
              <a:t>o‘zaro savdo (2025); maqsad — 5 mlrd $</a:t>
            </a:r>
            <a:endParaRPr lang="uz-Latn-UZ" sz="1400" b="0" i="0" dirty="0">
              <a:solidFill>
                <a:srgbClr val="FFFFFF"/>
              </a:solidFill>
              <a:latin typeface="Arial"/>
              <a:cs typeface="Arial"/>
            </a:endParaRPr>
          </a:p>
        </p:txBody>
      </p:sp>
      <p:sp>
        <p:nvSpPr>
          <p:cNvPr id="13" name="Shape 13"/>
          <p:cNvSpPr/>
          <p:nvPr/>
        </p:nvSpPr>
        <p:spPr>
          <a:xfrm>
            <a:off x="3378708" y="1627632"/>
            <a:ext cx="2601468" cy="2011680"/>
          </a:xfrm>
          <a:prstGeom prst="rect">
            <a:avLst/>
          </a:prstGeom>
          <a:solidFill>
            <a:srgbClr val="C8102E"/>
          </a:solidFill>
          <a:ln>
            <a:noFill/>
          </a:ln>
        </p:spPr>
      </p:sp>
      <p:sp>
        <p:nvSpPr>
          <p:cNvPr id="14" name="TextBox 14"/>
          <p:cNvSpPr/>
          <p:nvPr/>
        </p:nvSpPr>
        <p:spPr>
          <a:xfrm>
            <a:off x="3561588" y="1737360"/>
            <a:ext cx="2235708" cy="822960"/>
          </a:xfrm>
          <a:prstGeom prst="rect">
            <a:avLst/>
          </a:prstGeom>
          <a:noFill/>
          <a:ln>
            <a:noFill/>
          </a:ln>
        </p:spPr>
        <p:txBody>
          <a:bodyPr wrap="square" lIns="0" tIns="0" rIns="0" bIns="0" rtlCol="0" anchor="ctr">
            <a:noAutofit/>
          </a:bodyPr>
          <a:lstStyle/>
          <a:p>
            <a:pPr marL="0" indent="0" algn="ctr">
              <a:spcBef>
                <a:spcPts val="0"/>
              </a:spcBef>
              <a:buNone/>
            </a:pPr>
            <a:r>
              <a:rPr lang="uz-Latn-UZ" sz="2900" b="1" i="0" dirty="0">
                <a:solidFill>
                  <a:srgbClr val="FFFFFF"/>
                </a:solidFill>
                <a:latin typeface="Arial"/>
                <a:cs typeface="Arial"/>
              </a:rPr>
              <a:t>2 293</a:t>
            </a:r>
            <a:endParaRPr lang="uz-Latn-UZ" sz="2900" b="1" i="0" dirty="0">
              <a:solidFill>
                <a:srgbClr val="FFFFFF"/>
              </a:solidFill>
              <a:latin typeface="Arial"/>
              <a:cs typeface="Arial"/>
            </a:endParaRPr>
          </a:p>
        </p:txBody>
      </p:sp>
      <p:sp>
        <p:nvSpPr>
          <p:cNvPr id="15" name="TextBox 15"/>
          <p:cNvSpPr/>
          <p:nvPr/>
        </p:nvSpPr>
        <p:spPr>
          <a:xfrm>
            <a:off x="3561588" y="2606040"/>
            <a:ext cx="2235708" cy="960120"/>
          </a:xfrm>
          <a:prstGeom prst="rect">
            <a:avLst/>
          </a:prstGeom>
          <a:noFill/>
          <a:ln>
            <a:noFill/>
          </a:ln>
        </p:spPr>
        <p:txBody>
          <a:bodyPr wrap="square" lIns="0" tIns="0" rIns="0" bIns="0" rtlCol="0" anchor="t">
            <a:noAutofit/>
          </a:bodyPr>
          <a:lstStyle/>
          <a:p>
            <a:pPr marL="0" indent="0" algn="ctr">
              <a:spcBef>
                <a:spcPts val="0"/>
              </a:spcBef>
              <a:buNone/>
            </a:pPr>
            <a:r>
              <a:rPr lang="uz-Latn-UZ" sz="1400" b="0" i="0" dirty="0">
                <a:solidFill>
                  <a:srgbClr val="FFFFFF"/>
                </a:solidFill>
                <a:latin typeface="Arial"/>
                <a:cs typeface="Arial"/>
              </a:rPr>
              <a:t>turk kapitalli korxona O‘zbekistonda (01.07.2026)</a:t>
            </a:r>
            <a:endParaRPr lang="uz-Latn-UZ" sz="1400" b="0" i="0" dirty="0">
              <a:solidFill>
                <a:srgbClr val="FFFFFF"/>
              </a:solidFill>
              <a:latin typeface="Arial"/>
              <a:cs typeface="Arial"/>
            </a:endParaRPr>
          </a:p>
        </p:txBody>
      </p:sp>
      <p:sp>
        <p:nvSpPr>
          <p:cNvPr id="16" name="Shape 16"/>
          <p:cNvSpPr/>
          <p:nvPr/>
        </p:nvSpPr>
        <p:spPr>
          <a:xfrm>
            <a:off x="6208776" y="1627632"/>
            <a:ext cx="2601468" cy="2011680"/>
          </a:xfrm>
          <a:prstGeom prst="rect">
            <a:avLst/>
          </a:prstGeom>
          <a:solidFill>
            <a:srgbClr val="14213D"/>
          </a:solidFill>
          <a:ln>
            <a:noFill/>
          </a:ln>
        </p:spPr>
      </p:sp>
      <p:sp>
        <p:nvSpPr>
          <p:cNvPr id="17" name="TextBox 17"/>
          <p:cNvSpPr/>
          <p:nvPr/>
        </p:nvSpPr>
        <p:spPr>
          <a:xfrm>
            <a:off x="6391656" y="1737360"/>
            <a:ext cx="2235708" cy="822960"/>
          </a:xfrm>
          <a:prstGeom prst="rect">
            <a:avLst/>
          </a:prstGeom>
          <a:noFill/>
          <a:ln>
            <a:noFill/>
          </a:ln>
        </p:spPr>
        <p:txBody>
          <a:bodyPr wrap="square" lIns="0" tIns="0" rIns="0" bIns="0" rtlCol="0" anchor="ctr">
            <a:noAutofit/>
          </a:bodyPr>
          <a:lstStyle/>
          <a:p>
            <a:pPr marL="0" indent="0" algn="ctr">
              <a:spcBef>
                <a:spcPts val="0"/>
              </a:spcBef>
              <a:buNone/>
            </a:pPr>
            <a:r>
              <a:rPr lang="uz-Latn-UZ" sz="2900" b="1" i="0" dirty="0">
                <a:solidFill>
                  <a:srgbClr val="FFFFFF"/>
                </a:solidFill>
                <a:latin typeface="Arial"/>
                <a:cs typeface="Arial"/>
              </a:rPr>
              <a:t>5,6 mlrd $</a:t>
            </a:r>
            <a:endParaRPr lang="uz-Latn-UZ" sz="2900" b="1" i="0" dirty="0">
              <a:solidFill>
                <a:srgbClr val="FFFFFF"/>
              </a:solidFill>
              <a:latin typeface="Arial"/>
              <a:cs typeface="Arial"/>
            </a:endParaRPr>
          </a:p>
        </p:txBody>
      </p:sp>
      <p:sp>
        <p:nvSpPr>
          <p:cNvPr id="18" name="TextBox 18"/>
          <p:cNvSpPr/>
          <p:nvPr/>
        </p:nvSpPr>
        <p:spPr>
          <a:xfrm>
            <a:off x="6391656" y="2606040"/>
            <a:ext cx="2235708" cy="960120"/>
          </a:xfrm>
          <a:prstGeom prst="rect">
            <a:avLst/>
          </a:prstGeom>
          <a:noFill/>
          <a:ln>
            <a:noFill/>
          </a:ln>
        </p:spPr>
        <p:txBody>
          <a:bodyPr wrap="square" lIns="0" tIns="0" rIns="0" bIns="0" rtlCol="0" anchor="t">
            <a:noAutofit/>
          </a:bodyPr>
          <a:lstStyle/>
          <a:p>
            <a:pPr marL="0" indent="0" algn="ctr">
              <a:spcBef>
                <a:spcPts val="0"/>
              </a:spcBef>
              <a:buNone/>
            </a:pPr>
            <a:r>
              <a:rPr lang="uz-Latn-UZ" sz="1400" b="0" i="0" dirty="0">
                <a:solidFill>
                  <a:srgbClr val="FFFFFF"/>
                </a:solidFill>
                <a:latin typeface="Arial"/>
                <a:cs typeface="Arial"/>
              </a:rPr>
              <a:t>turk kompaniyalari investitsiyalari</a:t>
            </a:r>
            <a:endParaRPr lang="uz-Latn-UZ" sz="1400" b="0" i="0" dirty="0">
              <a:solidFill>
                <a:srgbClr val="FFFFFF"/>
              </a:solidFill>
              <a:latin typeface="Arial"/>
              <a:cs typeface="Arial"/>
            </a:endParaRPr>
          </a:p>
        </p:txBody>
      </p:sp>
      <p:sp>
        <p:nvSpPr>
          <p:cNvPr id="19" name="Shape 19"/>
          <p:cNvSpPr/>
          <p:nvPr/>
        </p:nvSpPr>
        <p:spPr>
          <a:xfrm>
            <a:off x="9038844" y="1627632"/>
            <a:ext cx="2601468" cy="2011680"/>
          </a:xfrm>
          <a:prstGeom prst="rect">
            <a:avLst/>
          </a:prstGeom>
          <a:solidFill>
            <a:srgbClr val="C8102E"/>
          </a:solidFill>
          <a:ln>
            <a:noFill/>
          </a:ln>
        </p:spPr>
      </p:sp>
      <p:sp>
        <p:nvSpPr>
          <p:cNvPr id="20" name="TextBox 20"/>
          <p:cNvSpPr/>
          <p:nvPr/>
        </p:nvSpPr>
        <p:spPr>
          <a:xfrm>
            <a:off x="9221724" y="1737360"/>
            <a:ext cx="2235708" cy="822960"/>
          </a:xfrm>
          <a:prstGeom prst="rect">
            <a:avLst/>
          </a:prstGeom>
          <a:noFill/>
          <a:ln>
            <a:noFill/>
          </a:ln>
        </p:spPr>
        <p:txBody>
          <a:bodyPr wrap="square" lIns="0" tIns="0" rIns="0" bIns="0" rtlCol="0" anchor="ctr">
            <a:noAutofit/>
          </a:bodyPr>
          <a:lstStyle/>
          <a:p>
            <a:pPr marL="0" indent="0" algn="ctr">
              <a:spcBef>
                <a:spcPts val="0"/>
              </a:spcBef>
              <a:buNone/>
            </a:pPr>
            <a:r>
              <a:rPr lang="uz-Latn-UZ" sz="2900" b="1" i="0" dirty="0">
                <a:solidFill>
                  <a:srgbClr val="FFFFFF"/>
                </a:solidFill>
                <a:latin typeface="Arial"/>
                <a:cs typeface="Arial"/>
              </a:rPr>
              <a:t>10</a:t>
            </a:r>
            <a:endParaRPr lang="uz-Latn-UZ" sz="2900" b="1" i="0" dirty="0">
              <a:solidFill>
                <a:srgbClr val="FFFFFF"/>
              </a:solidFill>
              <a:latin typeface="Arial"/>
              <a:cs typeface="Arial"/>
            </a:endParaRPr>
          </a:p>
        </p:txBody>
      </p:sp>
      <p:sp>
        <p:nvSpPr>
          <p:cNvPr id="21" name="TextBox 21"/>
          <p:cNvSpPr/>
          <p:nvPr/>
        </p:nvSpPr>
        <p:spPr>
          <a:xfrm>
            <a:off x="9221724" y="2606040"/>
            <a:ext cx="2235708" cy="960120"/>
          </a:xfrm>
          <a:prstGeom prst="rect">
            <a:avLst/>
          </a:prstGeom>
          <a:noFill/>
          <a:ln>
            <a:noFill/>
          </a:ln>
        </p:spPr>
        <p:txBody>
          <a:bodyPr wrap="square" lIns="0" tIns="0" rIns="0" bIns="0" rtlCol="0" anchor="t">
            <a:noAutofit/>
          </a:bodyPr>
          <a:lstStyle/>
          <a:p>
            <a:pPr marL="0" indent="0" algn="ctr">
              <a:spcBef>
                <a:spcPts val="0"/>
              </a:spcBef>
              <a:buNone/>
            </a:pPr>
            <a:r>
              <a:rPr lang="uz-Latn-UZ" sz="1400" b="0" i="0" dirty="0">
                <a:solidFill>
                  <a:srgbClr val="FFFFFF"/>
                </a:solidFill>
                <a:latin typeface="Arial"/>
                <a:cs typeface="Arial"/>
              </a:rPr>
              <a:t>hujjat — Strategik hamkorlik kengashining 4-yig‘ilishi (2026)</a:t>
            </a:r>
            <a:endParaRPr lang="uz-Latn-UZ" sz="1400" b="0" i="0" dirty="0">
              <a:solidFill>
                <a:srgbClr val="FFFFFF"/>
              </a:solidFill>
              <a:latin typeface="Arial"/>
              <a:cs typeface="Arial"/>
            </a:endParaRPr>
          </a:p>
        </p:txBody>
      </p:sp>
      <p:sp>
        <p:nvSpPr>
          <p:cNvPr id="22" name="Shape 22"/>
          <p:cNvSpPr/>
          <p:nvPr/>
        </p:nvSpPr>
        <p:spPr>
          <a:xfrm>
            <a:off x="658368" y="4023360"/>
            <a:ext cx="182880" cy="182880"/>
          </a:xfrm>
          <a:prstGeom prst="ellipse">
            <a:avLst/>
          </a:prstGeom>
          <a:solidFill>
            <a:srgbClr val="C8102E"/>
          </a:solidFill>
          <a:ln>
            <a:noFill/>
          </a:ln>
        </p:spPr>
      </p:sp>
      <p:sp>
        <p:nvSpPr>
          <p:cNvPr id="23" name="TextBox 23"/>
          <p:cNvSpPr/>
          <p:nvPr/>
        </p:nvSpPr>
        <p:spPr>
          <a:xfrm>
            <a:off x="1051560" y="3895344"/>
            <a:ext cx="10588752" cy="667512"/>
          </a:xfrm>
          <a:prstGeom prst="rect">
            <a:avLst/>
          </a:prstGeom>
          <a:noFill/>
          <a:ln>
            <a:noFill/>
          </a:ln>
        </p:spPr>
        <p:txBody>
          <a:bodyPr wrap="square" lIns="0" tIns="0" rIns="0" bIns="0" rtlCol="0" anchor="t">
            <a:noAutofit/>
          </a:bodyPr>
          <a:lstStyle/>
          <a:p>
            <a:pPr marL="0" indent="0" algn="l">
              <a:spcBef>
                <a:spcPts val="0"/>
              </a:spcBef>
              <a:buNone/>
            </a:pPr>
            <a:r>
              <a:rPr lang="uz-Latn-UZ" sz="1800" b="1" i="0" dirty="0">
                <a:solidFill>
                  <a:srgbClr val="14213D"/>
                </a:solidFill>
                <a:latin typeface="Arial"/>
                <a:cs typeface="Arial"/>
              </a:rPr>
              <a:t>Tarix: </a:t>
            </a:r>
            <a:r>
              <a:rPr lang="uz-Latn-UZ" sz="1800" b="0" i="0" dirty="0">
                <a:solidFill>
                  <a:srgbClr val="1F2937"/>
                </a:solidFill>
                <a:latin typeface="Arial"/>
                <a:cs typeface="Arial"/>
              </a:rPr>
              <a:t>1991 — mustaqillikni birinchi bo‘lib tan oldi; 2017 — Oliy darajadagi strategik hamkorlik kengashi; 2022 — kompleks strategik sheriklik.</a:t>
            </a:r>
            <a:endParaRPr lang="uz-Latn-UZ" sz="1800" b="0" i="0" dirty="0">
              <a:solidFill>
                <a:srgbClr val="1F2937"/>
              </a:solidFill>
              <a:latin typeface="Arial"/>
              <a:cs typeface="Arial"/>
            </a:endParaRPr>
          </a:p>
        </p:txBody>
      </p:sp>
      <p:cxnSp>
        <p:nvCxnSpPr>
          <p:cNvPr id="24" name="Line 24"/>
          <p:cNvCxnSpPr/>
          <p:nvPr/>
        </p:nvCxnSpPr>
        <p:spPr>
          <a:xfrm>
            <a:off x="1051560" y="4599432"/>
            <a:ext cx="10588752" cy="0"/>
          </a:xfrm>
          <a:prstGeom prst="line">
            <a:avLst/>
          </a:prstGeom>
          <a:ln w="12700">
            <a:solidFill>
              <a:srgbClr val="E5E7EB"/>
            </a:solidFill>
          </a:ln>
        </p:spPr>
      </p:cxnSp>
      <p:sp>
        <p:nvSpPr>
          <p:cNvPr id="25" name="Shape 25"/>
          <p:cNvSpPr/>
          <p:nvPr/>
        </p:nvSpPr>
        <p:spPr>
          <a:xfrm>
            <a:off x="658368" y="4800600"/>
            <a:ext cx="182880" cy="182880"/>
          </a:xfrm>
          <a:prstGeom prst="ellipse">
            <a:avLst/>
          </a:prstGeom>
          <a:solidFill>
            <a:srgbClr val="C8102E"/>
          </a:solidFill>
          <a:ln>
            <a:noFill/>
          </a:ln>
        </p:spPr>
      </p:sp>
      <p:sp>
        <p:nvSpPr>
          <p:cNvPr id="26" name="TextBox 26"/>
          <p:cNvSpPr/>
          <p:nvPr/>
        </p:nvSpPr>
        <p:spPr>
          <a:xfrm>
            <a:off x="1051560" y="4672584"/>
            <a:ext cx="10588752" cy="667512"/>
          </a:xfrm>
          <a:prstGeom prst="rect">
            <a:avLst/>
          </a:prstGeom>
          <a:noFill/>
          <a:ln>
            <a:noFill/>
          </a:ln>
        </p:spPr>
        <p:txBody>
          <a:bodyPr wrap="square" lIns="0" tIns="0" rIns="0" bIns="0" rtlCol="0" anchor="t">
            <a:noAutofit/>
          </a:bodyPr>
          <a:lstStyle/>
          <a:p>
            <a:pPr marL="0" indent="0" algn="l">
              <a:spcBef>
                <a:spcPts val="0"/>
              </a:spcBef>
              <a:buNone/>
            </a:pPr>
            <a:r>
              <a:rPr lang="uz-Latn-UZ" sz="1800" b="1" i="0" dirty="0">
                <a:solidFill>
                  <a:srgbClr val="14213D"/>
                </a:solidFill>
                <a:latin typeface="Arial"/>
                <a:cs typeface="Arial"/>
              </a:rPr>
              <a:t>TDT: </a:t>
            </a:r>
            <a:r>
              <a:rPr lang="uz-Latn-UZ" sz="1800" b="0" i="0" dirty="0">
                <a:solidFill>
                  <a:srgbClr val="1F2937"/>
                </a:solidFill>
                <a:latin typeface="Arial"/>
                <a:cs typeface="Arial"/>
              </a:rPr>
              <a:t>O‘zbekiston 2019-yildan a’zo; 2022 — Samarqand sammiti; 2026-yil oktabr — Anqara sammiti.</a:t>
            </a:r>
            <a:endParaRPr lang="uz-Latn-UZ" sz="1800" b="0" i="0" dirty="0">
              <a:solidFill>
                <a:srgbClr val="1F2937"/>
              </a:solidFill>
              <a:latin typeface="Arial"/>
              <a:cs typeface="Arial"/>
            </a:endParaRPr>
          </a:p>
        </p:txBody>
      </p:sp>
      <p:cxnSp>
        <p:nvCxnSpPr>
          <p:cNvPr id="27" name="Line 27"/>
          <p:cNvCxnSpPr/>
          <p:nvPr/>
        </p:nvCxnSpPr>
        <p:spPr>
          <a:xfrm>
            <a:off x="1051560" y="5376672"/>
            <a:ext cx="10588752" cy="0"/>
          </a:xfrm>
          <a:prstGeom prst="line">
            <a:avLst/>
          </a:prstGeom>
          <a:ln w="12700">
            <a:solidFill>
              <a:srgbClr val="E5E7EB"/>
            </a:solidFill>
          </a:ln>
        </p:spPr>
      </p:cxnSp>
      <p:sp>
        <p:nvSpPr>
          <p:cNvPr id="28" name="Shape 28"/>
          <p:cNvSpPr/>
          <p:nvPr/>
        </p:nvSpPr>
        <p:spPr>
          <a:xfrm>
            <a:off x="658368" y="5577840"/>
            <a:ext cx="182880" cy="182880"/>
          </a:xfrm>
          <a:prstGeom prst="ellipse">
            <a:avLst/>
          </a:prstGeom>
          <a:solidFill>
            <a:srgbClr val="C8102E"/>
          </a:solidFill>
          <a:ln>
            <a:noFill/>
          </a:ln>
        </p:spPr>
      </p:sp>
      <p:sp>
        <p:nvSpPr>
          <p:cNvPr id="29" name="TextBox 29"/>
          <p:cNvSpPr/>
          <p:nvPr/>
        </p:nvSpPr>
        <p:spPr>
          <a:xfrm>
            <a:off x="1051560" y="5449824"/>
            <a:ext cx="10588752" cy="667512"/>
          </a:xfrm>
          <a:prstGeom prst="rect">
            <a:avLst/>
          </a:prstGeom>
          <a:noFill/>
          <a:ln>
            <a:noFill/>
          </a:ln>
        </p:spPr>
        <p:txBody>
          <a:bodyPr wrap="square" lIns="0" tIns="0" rIns="0" bIns="0" rtlCol="0" anchor="t">
            <a:noAutofit/>
          </a:bodyPr>
          <a:lstStyle/>
          <a:p>
            <a:pPr marL="0" indent="0" algn="l">
              <a:spcBef>
                <a:spcPts val="0"/>
              </a:spcBef>
              <a:buNone/>
            </a:pPr>
            <a:r>
              <a:rPr lang="uz-Latn-UZ" sz="1800" b="1" i="0" dirty="0">
                <a:solidFill>
                  <a:srgbClr val="14213D"/>
                </a:solidFill>
                <a:latin typeface="Arial"/>
                <a:cs typeface="Arial"/>
              </a:rPr>
              <a:t>Hamkorlik: </a:t>
            </a:r>
            <a:r>
              <a:rPr lang="uz-Latn-UZ" sz="1800" b="0" i="0" dirty="0">
                <a:solidFill>
                  <a:srgbClr val="1F2937"/>
                </a:solidFill>
                <a:latin typeface="Arial"/>
                <a:cs typeface="Arial"/>
              </a:rPr>
              <a:t>to‘qimachilik, qurilish, energetika, transport-logistika; imtiyozli savdo kelishuvi va ta’lim grantlari.</a:t>
            </a:r>
            <a:endParaRPr lang="uz-Latn-UZ" sz="1800" b="0" i="0" dirty="0">
              <a:solidFill>
                <a:srgbClr val="1F2937"/>
              </a:solidFill>
              <a:latin typeface="Arial"/>
              <a:cs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5-QISM  •  XULOSA</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Muammolar va istiqbollar</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5-ma’ruzachi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26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Shape 10"/>
          <p:cNvSpPr/>
          <p:nvPr/>
        </p:nvSpPr>
        <p:spPr>
          <a:xfrm>
            <a:off x="548640" y="1627632"/>
            <a:ext cx="5408676" cy="4526280"/>
          </a:xfrm>
          <a:prstGeom prst="rect">
            <a:avLst/>
          </a:prstGeom>
          <a:solidFill>
            <a:srgbClr val="F1F3F6"/>
          </a:solidFill>
          <a:ln>
            <a:noFill/>
          </a:ln>
        </p:spPr>
      </p:sp>
      <p:sp>
        <p:nvSpPr>
          <p:cNvPr id="11" name="Shape 11"/>
          <p:cNvSpPr/>
          <p:nvPr/>
        </p:nvSpPr>
        <p:spPr>
          <a:xfrm>
            <a:off x="548640" y="1627632"/>
            <a:ext cx="5408676" cy="73152"/>
          </a:xfrm>
          <a:prstGeom prst="rect">
            <a:avLst/>
          </a:prstGeom>
          <a:solidFill>
            <a:srgbClr val="C8102E"/>
          </a:solidFill>
          <a:ln>
            <a:noFill/>
          </a:ln>
        </p:spPr>
      </p:sp>
      <p:sp>
        <p:nvSpPr>
          <p:cNvPr id="12" name="TextBox 12"/>
          <p:cNvSpPr/>
          <p:nvPr/>
        </p:nvSpPr>
        <p:spPr>
          <a:xfrm>
            <a:off x="804672" y="1828800"/>
            <a:ext cx="4896612" cy="530352"/>
          </a:xfrm>
          <a:prstGeom prst="rect">
            <a:avLst/>
          </a:prstGeom>
          <a:noFill/>
          <a:ln>
            <a:noFill/>
          </a:ln>
        </p:spPr>
        <p:txBody>
          <a:bodyPr wrap="square" lIns="0" tIns="0" rIns="0" bIns="0" rtlCol="0" anchor="ctr">
            <a:noAutofit/>
          </a:bodyPr>
          <a:lstStyle/>
          <a:p>
            <a:pPr marL="0" indent="0" algn="l">
              <a:spcBef>
                <a:spcPts val="0"/>
              </a:spcBef>
              <a:buNone/>
            </a:pPr>
            <a:r>
              <a:rPr lang="uz-Latn-UZ" sz="2200" b="1" i="0" dirty="0">
                <a:solidFill>
                  <a:srgbClr val="14213D"/>
                </a:solidFill>
                <a:latin typeface="Arial"/>
                <a:cs typeface="Arial"/>
              </a:rPr>
              <a:t>Asosiy muammolar</a:t>
            </a:r>
            <a:endParaRPr lang="uz-Latn-UZ" sz="2200" b="1" i="0" dirty="0">
              <a:solidFill>
                <a:srgbClr val="14213D"/>
              </a:solidFill>
              <a:latin typeface="Arial"/>
              <a:cs typeface="Arial"/>
            </a:endParaRPr>
          </a:p>
        </p:txBody>
      </p:sp>
      <p:cxnSp>
        <p:nvCxnSpPr>
          <p:cNvPr id="13" name="Line 13"/>
          <p:cNvCxnSpPr/>
          <p:nvPr/>
        </p:nvCxnSpPr>
        <p:spPr>
          <a:xfrm>
            <a:off x="804672" y="2468880"/>
            <a:ext cx="4896612" cy="0"/>
          </a:xfrm>
          <a:prstGeom prst="line">
            <a:avLst/>
          </a:prstGeom>
          <a:ln w="12700">
            <a:solidFill>
              <a:srgbClr val="D1D5DB"/>
            </a:solidFill>
          </a:ln>
        </p:spPr>
      </p:cxnSp>
      <p:sp>
        <p:nvSpPr>
          <p:cNvPr id="14" name="TextBox 14"/>
          <p:cNvSpPr/>
          <p:nvPr/>
        </p:nvSpPr>
        <p:spPr>
          <a:xfrm>
            <a:off x="804672" y="2615184"/>
            <a:ext cx="4896612" cy="3383280"/>
          </a:xfrm>
          <a:prstGeom prst="rect">
            <a:avLst/>
          </a:prstGeom>
          <a:noFill/>
          <a:ln>
            <a:noFill/>
          </a:ln>
        </p:spPr>
        <p:txBody>
          <a:bodyPr wrap="square" lIns="0" tIns="0" rIns="0" bIns="0" rtlCol="0" anchor="t">
            <a:noAutofit/>
          </a:bodyPr>
          <a:lstStyle/>
          <a:p>
            <a:pPr marL="256032" indent="-256032" algn="l">
              <a:spcBef>
                <a:spcPts val="0"/>
              </a:spcBef>
              <a:buClr>
                <a:srgbClr val="C8102E"/>
              </a:buClr>
              <a:buFont typeface="Arial"/>
              <a:buChar char="•"/>
            </a:pPr>
            <a:r>
              <a:rPr lang="uz-Latn-UZ" sz="1850" b="0" i="0" dirty="0">
                <a:solidFill>
                  <a:srgbClr val="1F2937"/>
                </a:solidFill>
                <a:latin typeface="Arial"/>
                <a:cs typeface="Arial"/>
              </a:rPr>
              <a:t>Yunoniston va Kipr: Egey va Sharqiy O‘rta yer dengizidagi nizolar</a:t>
            </a:r>
            <a:endParaRPr lang="uz-Latn-UZ" sz="1850" b="0" i="0" dirty="0">
              <a:solidFill>
                <a:srgbClr val="1F2937"/>
              </a:solidFill>
              <a:latin typeface="Arial"/>
              <a:cs typeface="Arial"/>
            </a:endParaRPr>
          </a:p>
          <a:p>
            <a:pPr marL="256032" indent="-256032" algn="l">
              <a:spcBef>
                <a:spcPts val="1000"/>
              </a:spcBef>
              <a:buClr>
                <a:srgbClr val="C8102E"/>
              </a:buClr>
              <a:buFont typeface="Arial"/>
              <a:buChar char="•"/>
            </a:pPr>
            <a:r>
              <a:rPr lang="uz-Latn-UZ" sz="1850" b="0" i="0" dirty="0">
                <a:solidFill>
                  <a:srgbClr val="1F2937"/>
                </a:solidFill>
                <a:latin typeface="Arial"/>
                <a:cs typeface="Arial"/>
              </a:rPr>
              <a:t>AQSh bilan S-400, F-35 va sanksiyalar masalasi</a:t>
            </a:r>
            <a:endParaRPr lang="uz-Latn-UZ" sz="1850" b="0" i="0" dirty="0">
              <a:solidFill>
                <a:srgbClr val="1F2937"/>
              </a:solidFill>
              <a:latin typeface="Arial"/>
              <a:cs typeface="Arial"/>
            </a:endParaRPr>
          </a:p>
          <a:p>
            <a:pPr marL="256032" indent="-256032" algn="l">
              <a:spcBef>
                <a:spcPts val="1000"/>
              </a:spcBef>
              <a:buClr>
                <a:srgbClr val="C8102E"/>
              </a:buClr>
              <a:buFont typeface="Arial"/>
              <a:buChar char="•"/>
            </a:pPr>
            <a:r>
              <a:rPr lang="uz-Latn-UZ" sz="1850" b="0" i="0" dirty="0">
                <a:solidFill>
                  <a:srgbClr val="1F2937"/>
                </a:solidFill>
                <a:latin typeface="Arial"/>
                <a:cs typeface="Arial"/>
              </a:rPr>
              <a:t>YeI bilan to‘xtab qolgan a’zolik muzokaralari</a:t>
            </a:r>
            <a:endParaRPr lang="uz-Latn-UZ" sz="1850" b="0" i="0" dirty="0">
              <a:solidFill>
                <a:srgbClr val="1F2937"/>
              </a:solidFill>
              <a:latin typeface="Arial"/>
              <a:cs typeface="Arial"/>
            </a:endParaRPr>
          </a:p>
          <a:p>
            <a:pPr marL="256032" indent="-256032" algn="l">
              <a:spcBef>
                <a:spcPts val="1000"/>
              </a:spcBef>
              <a:buClr>
                <a:srgbClr val="C8102E"/>
              </a:buClr>
              <a:buFont typeface="Arial"/>
              <a:buChar char="•"/>
            </a:pPr>
            <a:r>
              <a:rPr lang="uz-Latn-UZ" sz="1850" b="0" i="0" dirty="0">
                <a:solidFill>
                  <a:srgbClr val="1F2937"/>
                </a:solidFill>
                <a:latin typeface="Arial"/>
                <a:cs typeface="Arial"/>
              </a:rPr>
              <a:t>Mintaqaviy urushlar, terrorizm va migratsiya bosimi</a:t>
            </a:r>
            <a:endParaRPr lang="uz-Latn-UZ" sz="1850" b="0" i="0" dirty="0">
              <a:solidFill>
                <a:srgbClr val="1F2937"/>
              </a:solidFill>
              <a:latin typeface="Arial"/>
              <a:cs typeface="Arial"/>
            </a:endParaRPr>
          </a:p>
          <a:p>
            <a:pPr marL="256032" indent="-256032" algn="l">
              <a:spcBef>
                <a:spcPts val="1000"/>
              </a:spcBef>
              <a:buClr>
                <a:srgbClr val="C8102E"/>
              </a:buClr>
              <a:buFont typeface="Arial"/>
              <a:buChar char="•"/>
            </a:pPr>
            <a:r>
              <a:rPr lang="uz-Latn-UZ" sz="1850" b="0" i="0" dirty="0">
                <a:solidFill>
                  <a:srgbClr val="1F2937"/>
                </a:solidFill>
                <a:latin typeface="Arial"/>
                <a:cs typeface="Arial"/>
              </a:rPr>
              <a:t>Iqtisodiy qiyinchiliklar va yuqori inflyatsiya</a:t>
            </a:r>
            <a:endParaRPr lang="uz-Latn-UZ" sz="1850" b="0" i="0" dirty="0">
              <a:solidFill>
                <a:srgbClr val="1F2937"/>
              </a:solidFill>
              <a:latin typeface="Arial"/>
              <a:cs typeface="Arial"/>
            </a:endParaRPr>
          </a:p>
        </p:txBody>
      </p:sp>
      <p:sp>
        <p:nvSpPr>
          <p:cNvPr id="15" name="Shape 15"/>
          <p:cNvSpPr/>
          <p:nvPr/>
        </p:nvSpPr>
        <p:spPr>
          <a:xfrm>
            <a:off x="6231636" y="1627632"/>
            <a:ext cx="5408676" cy="4526280"/>
          </a:xfrm>
          <a:prstGeom prst="rect">
            <a:avLst/>
          </a:prstGeom>
          <a:solidFill>
            <a:srgbClr val="F1F3F6"/>
          </a:solidFill>
          <a:ln>
            <a:noFill/>
          </a:ln>
        </p:spPr>
      </p:sp>
      <p:sp>
        <p:nvSpPr>
          <p:cNvPr id="16" name="Shape 16"/>
          <p:cNvSpPr/>
          <p:nvPr/>
        </p:nvSpPr>
        <p:spPr>
          <a:xfrm>
            <a:off x="6231636" y="1627632"/>
            <a:ext cx="5408676" cy="73152"/>
          </a:xfrm>
          <a:prstGeom prst="rect">
            <a:avLst/>
          </a:prstGeom>
          <a:solidFill>
            <a:srgbClr val="14213D"/>
          </a:solidFill>
          <a:ln>
            <a:noFill/>
          </a:ln>
        </p:spPr>
      </p:sp>
      <p:sp>
        <p:nvSpPr>
          <p:cNvPr id="17" name="TextBox 17"/>
          <p:cNvSpPr/>
          <p:nvPr/>
        </p:nvSpPr>
        <p:spPr>
          <a:xfrm>
            <a:off x="6487668" y="1828800"/>
            <a:ext cx="4896612" cy="530352"/>
          </a:xfrm>
          <a:prstGeom prst="rect">
            <a:avLst/>
          </a:prstGeom>
          <a:noFill/>
          <a:ln>
            <a:noFill/>
          </a:ln>
        </p:spPr>
        <p:txBody>
          <a:bodyPr wrap="square" lIns="0" tIns="0" rIns="0" bIns="0" rtlCol="0" anchor="ctr">
            <a:noAutofit/>
          </a:bodyPr>
          <a:lstStyle/>
          <a:p>
            <a:pPr marL="0" indent="0" algn="l">
              <a:spcBef>
                <a:spcPts val="0"/>
              </a:spcBef>
              <a:buNone/>
            </a:pPr>
            <a:r>
              <a:rPr lang="uz-Latn-UZ" sz="2200" b="1" i="0" dirty="0">
                <a:solidFill>
                  <a:srgbClr val="14213D"/>
                </a:solidFill>
                <a:latin typeface="Arial"/>
                <a:cs typeface="Arial"/>
              </a:rPr>
              <a:t>Istiqbollar</a:t>
            </a:r>
            <a:endParaRPr lang="uz-Latn-UZ" sz="2200" b="1" i="0" dirty="0">
              <a:solidFill>
                <a:srgbClr val="14213D"/>
              </a:solidFill>
              <a:latin typeface="Arial"/>
              <a:cs typeface="Arial"/>
            </a:endParaRPr>
          </a:p>
        </p:txBody>
      </p:sp>
      <p:cxnSp>
        <p:nvCxnSpPr>
          <p:cNvPr id="18" name="Line 18"/>
          <p:cNvCxnSpPr/>
          <p:nvPr/>
        </p:nvCxnSpPr>
        <p:spPr>
          <a:xfrm>
            <a:off x="6487668" y="2468880"/>
            <a:ext cx="4896612" cy="0"/>
          </a:xfrm>
          <a:prstGeom prst="line">
            <a:avLst/>
          </a:prstGeom>
          <a:ln w="12700">
            <a:solidFill>
              <a:srgbClr val="D1D5DB"/>
            </a:solidFill>
          </a:ln>
        </p:spPr>
      </p:cxnSp>
      <p:sp>
        <p:nvSpPr>
          <p:cNvPr id="19" name="TextBox 19"/>
          <p:cNvSpPr/>
          <p:nvPr/>
        </p:nvSpPr>
        <p:spPr>
          <a:xfrm>
            <a:off x="6487668" y="2615184"/>
            <a:ext cx="4896612" cy="3383280"/>
          </a:xfrm>
          <a:prstGeom prst="rect">
            <a:avLst/>
          </a:prstGeom>
          <a:noFill/>
          <a:ln>
            <a:noFill/>
          </a:ln>
        </p:spPr>
        <p:txBody>
          <a:bodyPr wrap="square" lIns="0" tIns="0" rIns="0" bIns="0" rtlCol="0" anchor="t">
            <a:noAutofit/>
          </a:bodyPr>
          <a:lstStyle/>
          <a:p>
            <a:pPr marL="256032" indent="-256032" algn="l">
              <a:spcBef>
                <a:spcPts val="0"/>
              </a:spcBef>
              <a:buClr>
                <a:srgbClr val="C8102E"/>
              </a:buClr>
              <a:buFont typeface="Arial"/>
              <a:buChar char="•"/>
            </a:pPr>
            <a:r>
              <a:rPr lang="uz-Latn-UZ" sz="1850" b="0" i="0" dirty="0">
                <a:solidFill>
                  <a:srgbClr val="1F2937"/>
                </a:solidFill>
                <a:latin typeface="Arial"/>
                <a:cs typeface="Arial"/>
              </a:rPr>
              <a:t>2023 — Yunoniston bilan Afina deklaratsiyasi: muloqot tiklandi</a:t>
            </a:r>
            <a:endParaRPr lang="uz-Latn-UZ" sz="1850" b="0" i="0" dirty="0">
              <a:solidFill>
                <a:srgbClr val="1F2937"/>
              </a:solidFill>
              <a:latin typeface="Arial"/>
              <a:cs typeface="Arial"/>
            </a:endParaRPr>
          </a:p>
          <a:p>
            <a:pPr marL="256032" indent="-256032" algn="l">
              <a:spcBef>
                <a:spcPts val="1000"/>
              </a:spcBef>
              <a:buClr>
                <a:srgbClr val="C8102E"/>
              </a:buClr>
              <a:buFont typeface="Arial"/>
              <a:buChar char="•"/>
            </a:pPr>
            <a:r>
              <a:rPr lang="uz-Latn-UZ" sz="1850" b="0" i="0" dirty="0">
                <a:solidFill>
                  <a:srgbClr val="1F2937"/>
                </a:solidFill>
                <a:latin typeface="Arial"/>
                <a:cs typeface="Arial"/>
              </a:rPr>
              <a:t>2026 — NATO va TDT sammitlari, COP31 (Antaliya, 9–20-noyabr)</a:t>
            </a:r>
            <a:endParaRPr lang="uz-Latn-UZ" sz="1850" b="0" i="0" dirty="0">
              <a:solidFill>
                <a:srgbClr val="1F2937"/>
              </a:solidFill>
              <a:latin typeface="Arial"/>
              <a:cs typeface="Arial"/>
            </a:endParaRPr>
          </a:p>
          <a:p>
            <a:pPr marL="256032" indent="-256032" algn="l">
              <a:spcBef>
                <a:spcPts val="1000"/>
              </a:spcBef>
              <a:buClr>
                <a:srgbClr val="C8102E"/>
              </a:buClr>
              <a:buFont typeface="Arial"/>
              <a:buChar char="•"/>
            </a:pPr>
            <a:r>
              <a:rPr lang="uz-Latn-UZ" sz="1850" b="0" i="0" dirty="0">
                <a:solidFill>
                  <a:srgbClr val="1F2937"/>
                </a:solidFill>
                <a:latin typeface="Arial"/>
                <a:cs typeface="Arial"/>
              </a:rPr>
              <a:t>Transport yo‘laklari va energetika markazi loyihalari</a:t>
            </a:r>
            <a:endParaRPr lang="uz-Latn-UZ" sz="1850" b="0" i="0" dirty="0">
              <a:solidFill>
                <a:srgbClr val="1F2937"/>
              </a:solidFill>
              <a:latin typeface="Arial"/>
              <a:cs typeface="Arial"/>
            </a:endParaRPr>
          </a:p>
          <a:p>
            <a:pPr marL="256032" indent="-256032" algn="l">
              <a:spcBef>
                <a:spcPts val="1000"/>
              </a:spcBef>
              <a:buClr>
                <a:srgbClr val="C8102E"/>
              </a:buClr>
              <a:buFont typeface="Arial"/>
              <a:buChar char="•"/>
            </a:pPr>
            <a:r>
              <a:rPr lang="uz-Latn-UZ" sz="1850" b="0" i="0" dirty="0">
                <a:solidFill>
                  <a:srgbClr val="1F2937"/>
                </a:solidFill>
                <a:latin typeface="Arial"/>
                <a:cs typeface="Arial"/>
              </a:rPr>
              <a:t>Vositachilik salohiyati — «ko‘prik davlat» roli</a:t>
            </a:r>
            <a:endParaRPr lang="uz-Latn-UZ" sz="1850" b="0" i="0" dirty="0">
              <a:solidFill>
                <a:srgbClr val="1F2937"/>
              </a:solidFill>
              <a:latin typeface="Arial"/>
              <a:cs typeface="Arial"/>
            </a:endParaRPr>
          </a:p>
          <a:p>
            <a:pPr marL="256032" indent="-256032" algn="l">
              <a:spcBef>
                <a:spcPts val="1000"/>
              </a:spcBef>
              <a:buClr>
                <a:srgbClr val="C8102E"/>
              </a:buClr>
              <a:buFont typeface="Arial"/>
              <a:buChar char="•"/>
            </a:pPr>
            <a:r>
              <a:rPr lang="uz-Latn-UZ" sz="1850" b="0" i="0" dirty="0">
                <a:solidFill>
                  <a:srgbClr val="1F2937"/>
                </a:solidFill>
                <a:latin typeface="Arial"/>
                <a:cs typeface="Arial"/>
              </a:rPr>
              <a:t>Turkiy dunyo bilan integratsiyaning chuqurlashuvi</a:t>
            </a:r>
            <a:endParaRPr lang="uz-Latn-UZ" sz="1850" b="0" i="0" dirty="0">
              <a:solidFill>
                <a:srgbClr val="1F2937"/>
              </a:solidFill>
              <a:latin typeface="Arial"/>
              <a:cs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5-QISM  •  XULOSA</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Xulosa</a:t>
            </a:r>
            <a:endParaRPr lang="uz-Latn-UZ" sz="2800" b="1" i="0" dirty="0">
              <a:solidFill>
                <a:srgbClr val="14213D"/>
              </a:solidFill>
              <a:latin typeface="Arial"/>
              <a:cs typeface="Arial"/>
            </a:endParaRPr>
          </a:p>
        </p:txBody>
      </p:sp>
      <p:sp>
        <p:nvSpPr>
          <p:cNvPr id="5" name="Shape 5"/>
          <p:cNvSpPr/>
          <p:nvPr/>
        </p:nvSpPr>
        <p:spPr>
          <a:xfrm>
            <a:off x="9921240" y="603504"/>
            <a:ext cx="1719072" cy="457200"/>
          </a:xfrm>
          <a:prstGeom prst="roundRect">
            <a:avLst>
              <a:gd name="adj" fmla="val 50000"/>
            </a:avLst>
          </a:prstGeom>
          <a:solidFill>
            <a:srgbClr val="14213D"/>
          </a:solidFill>
          <a:ln>
            <a:noFill/>
          </a:ln>
        </p:spPr>
        <p:txBody>
          <a:bodyPr wrap="square" lIns="18288" tIns="0" rIns="18288" bIns="0" rtlCol="0" anchor="ctr">
            <a:noAutofit/>
          </a:bodyPr>
          <a:lstStyle/>
          <a:p>
            <a:pPr marL="0" indent="0" algn="ctr">
              <a:spcBef>
                <a:spcPts val="0"/>
              </a:spcBef>
              <a:buNone/>
            </a:pPr>
            <a:r>
              <a:rPr lang="uz-Latn-UZ" sz="1400" b="1" i="0" dirty="0">
                <a:solidFill>
                  <a:srgbClr val="FFFFFF"/>
                </a:solidFill>
                <a:latin typeface="Arial"/>
                <a:cs typeface="Arial"/>
              </a:rPr>
              <a:t>5-ma’ruzachi</a:t>
            </a:r>
            <a:endParaRPr lang="uz-Latn-UZ" sz="1400" b="1" i="0" dirty="0">
              <a:solidFill>
                <a:srgbClr val="FFFFFF"/>
              </a:solidFill>
              <a:latin typeface="Arial"/>
              <a:cs typeface="Arial"/>
            </a:endParaRPr>
          </a:p>
        </p:txBody>
      </p:sp>
      <p:cxnSp>
        <p:nvCxnSpPr>
          <p:cNvPr id="6" name="Line 6"/>
          <p:cNvCxnSpPr/>
          <p:nvPr/>
        </p:nvCxnSpPr>
        <p:spPr>
          <a:xfrm>
            <a:off x="548640" y="1389888"/>
            <a:ext cx="11091672" cy="0"/>
          </a:xfrm>
          <a:prstGeom prst="line">
            <a:avLst/>
          </a:prstGeom>
          <a:ln w="12700">
            <a:solidFill>
              <a:srgbClr val="D1D5DB"/>
            </a:solidFill>
          </a:ln>
        </p:spPr>
      </p:cxnSp>
      <p:sp>
        <p:nvSpPr>
          <p:cNvPr id="7" name="TextBox 7"/>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8" name="TextBox 8"/>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27 / 29</a:t>
            </a:r>
            <a:endParaRPr lang="uz-Latn-UZ" sz="1050" b="0" i="0" dirty="0">
              <a:solidFill>
                <a:srgbClr val="6B7280"/>
              </a:solidFill>
              <a:latin typeface="Arial"/>
              <a:cs typeface="Arial"/>
            </a:endParaRPr>
          </a:p>
        </p:txBody>
      </p:sp>
      <p:sp>
        <p:nvSpPr>
          <p:cNvPr id="9" name="Shape 9"/>
          <p:cNvSpPr/>
          <p:nvPr/>
        </p:nvSpPr>
        <p:spPr>
          <a:xfrm>
            <a:off x="0" y="6748272"/>
            <a:ext cx="12192000" cy="109728"/>
          </a:xfrm>
          <a:prstGeom prst="rect">
            <a:avLst/>
          </a:prstGeom>
          <a:solidFill>
            <a:srgbClr val="C8102E"/>
          </a:solidFill>
          <a:ln>
            <a:noFill/>
          </a:ln>
        </p:spPr>
      </p:sp>
      <p:sp>
        <p:nvSpPr>
          <p:cNvPr id="10" name="Shape 10"/>
          <p:cNvSpPr/>
          <p:nvPr/>
        </p:nvSpPr>
        <p:spPr>
          <a:xfrm>
            <a:off x="548640" y="1627632"/>
            <a:ext cx="11091672" cy="3246120"/>
          </a:xfrm>
          <a:prstGeom prst="rect">
            <a:avLst/>
          </a:prstGeom>
          <a:solidFill>
            <a:srgbClr val="14213D"/>
          </a:solidFill>
          <a:ln>
            <a:noFill/>
          </a:ln>
        </p:spPr>
      </p:sp>
      <p:sp>
        <p:nvSpPr>
          <p:cNvPr id="11" name="Shape 11"/>
          <p:cNvSpPr/>
          <p:nvPr/>
        </p:nvSpPr>
        <p:spPr>
          <a:xfrm>
            <a:off x="548640" y="1627632"/>
            <a:ext cx="91440" cy="3246120"/>
          </a:xfrm>
          <a:prstGeom prst="rect">
            <a:avLst/>
          </a:prstGeom>
          <a:solidFill>
            <a:srgbClr val="C8102E"/>
          </a:solidFill>
          <a:ln>
            <a:noFill/>
          </a:ln>
        </p:spPr>
      </p:sp>
      <p:sp>
        <p:nvSpPr>
          <p:cNvPr id="12" name="TextBox 12"/>
          <p:cNvSpPr/>
          <p:nvPr/>
        </p:nvSpPr>
        <p:spPr>
          <a:xfrm>
            <a:off x="868680" y="1673352"/>
            <a:ext cx="731520" cy="1143000"/>
          </a:xfrm>
          <a:prstGeom prst="rect">
            <a:avLst/>
          </a:prstGeom>
          <a:noFill/>
          <a:ln>
            <a:noFill/>
          </a:ln>
        </p:spPr>
        <p:txBody>
          <a:bodyPr wrap="square" lIns="0" tIns="0" rIns="0" bIns="0" rtlCol="0" anchor="t">
            <a:noAutofit/>
          </a:bodyPr>
          <a:lstStyle/>
          <a:p>
            <a:pPr marL="0" indent="0" algn="l">
              <a:spcBef>
                <a:spcPts val="0"/>
              </a:spcBef>
              <a:buNone/>
            </a:pPr>
            <a:r>
              <a:rPr lang="uz-Latn-UZ" sz="6600" b="1" i="0" dirty="0">
                <a:solidFill>
                  <a:srgbClr val="C8102E"/>
                </a:solidFill>
                <a:latin typeface="Arial"/>
                <a:cs typeface="Arial"/>
              </a:rPr>
              <a:t>“</a:t>
            </a:r>
            <a:endParaRPr lang="uz-Latn-UZ" sz="6600" b="1" i="0" dirty="0">
              <a:solidFill>
                <a:srgbClr val="C8102E"/>
              </a:solidFill>
              <a:latin typeface="Arial"/>
              <a:cs typeface="Arial"/>
            </a:endParaRPr>
          </a:p>
        </p:txBody>
      </p:sp>
      <p:sp>
        <p:nvSpPr>
          <p:cNvPr id="13" name="TextBox 13"/>
          <p:cNvSpPr/>
          <p:nvPr/>
        </p:nvSpPr>
        <p:spPr>
          <a:xfrm>
            <a:off x="1600200" y="1901952"/>
            <a:ext cx="9692640" cy="2743200"/>
          </a:xfrm>
          <a:prstGeom prst="rect">
            <a:avLst/>
          </a:prstGeom>
          <a:noFill/>
          <a:ln>
            <a:noFill/>
          </a:ln>
        </p:spPr>
        <p:txBody>
          <a:bodyPr wrap="square" lIns="0" tIns="0" rIns="0" bIns="0" rtlCol="0" anchor="ctr">
            <a:noAutofit/>
          </a:bodyPr>
          <a:lstStyle/>
          <a:p>
            <a:pPr marL="0" indent="0" algn="l">
              <a:lnSpc>
                <a:spcPct val="106000"/>
              </a:lnSpc>
              <a:spcBef>
                <a:spcPts val="0"/>
              </a:spcBef>
              <a:buNone/>
            </a:pPr>
            <a:r>
              <a:rPr lang="uz-Latn-UZ" sz="1750" b="0" i="0" dirty="0">
                <a:solidFill>
                  <a:srgbClr val="FFFFFF"/>
                </a:solidFill>
                <a:latin typeface="Arial"/>
                <a:cs typeface="Arial"/>
              </a:rPr>
              <a:t>Xulosa qilib aytganda, Turkiya diplomatiyasi — tarixiy tajriba va zamonaviy siyosat uyg‘unlashgan o‘ziga xos yondashuvdir. Turkiya o‘zining geografik o‘rni, madaniyati va tarixiy aloqalaridan foydalanib, turli hududlar bilan faol munosabat olib boradi. Siyosiy muzokaralar bilan bir qatorda iqtisodiy hamkorlik, madaniy diplomatiya, gumanitar yordam va vositachilikka ham e’tibor qaratadi. Eng muhimi, Turkiya xalqaro munosabatlarda faqat bir yo‘nalish bilan cheklanmay, turli imkoniyatlardan foydalanib, o‘z manfaatlarini ilgari surishga harakat qiladi. Shu jihatlari uning diplomatiyasini o‘ziga xos va ko‘p qirrali qiladi.</a:t>
            </a:r>
            <a:endParaRPr lang="uz-Latn-UZ" sz="1750" b="0" i="0" dirty="0">
              <a:solidFill>
                <a:srgbClr val="FFFFFF"/>
              </a:solidFill>
              <a:latin typeface="Arial"/>
              <a:cs typeface="Arial"/>
            </a:endParaRPr>
          </a:p>
        </p:txBody>
      </p:sp>
      <p:sp>
        <p:nvSpPr>
          <p:cNvPr id="14" name="Shape 14"/>
          <p:cNvSpPr/>
          <p:nvPr/>
        </p:nvSpPr>
        <p:spPr>
          <a:xfrm>
            <a:off x="548640" y="5047488"/>
            <a:ext cx="3544824" cy="420624"/>
          </a:xfrm>
          <a:prstGeom prst="roundRect">
            <a:avLst>
              <a:gd name="adj" fmla="val 50000"/>
            </a:avLst>
          </a:prstGeom>
          <a:solidFill>
            <a:srgbClr val="F1F3F6"/>
          </a:solidFill>
          <a:ln w="15875">
            <a:solidFill>
              <a:srgbClr val="C8102E"/>
            </a:solidFill>
          </a:ln>
        </p:spPr>
        <p:txBody>
          <a:bodyPr wrap="square" lIns="45720" tIns="0" rIns="45720" bIns="0" rtlCol="0" anchor="ctr">
            <a:noAutofit/>
          </a:bodyPr>
          <a:lstStyle/>
          <a:p>
            <a:pPr marL="0" indent="0" algn="ctr">
              <a:spcBef>
                <a:spcPts val="0"/>
              </a:spcBef>
              <a:buNone/>
            </a:pPr>
            <a:r>
              <a:rPr lang="uz-Latn-UZ" sz="1500" b="1" i="0" dirty="0">
                <a:solidFill>
                  <a:srgbClr val="14213D"/>
                </a:solidFill>
                <a:latin typeface="Arial"/>
                <a:cs typeface="Arial"/>
              </a:rPr>
              <a:t>Tarixiy tajriba</a:t>
            </a:r>
            <a:endParaRPr lang="uz-Latn-UZ" sz="1500" b="1" i="0" dirty="0">
              <a:solidFill>
                <a:srgbClr val="14213D"/>
              </a:solidFill>
              <a:latin typeface="Arial"/>
              <a:cs typeface="Arial"/>
            </a:endParaRPr>
          </a:p>
        </p:txBody>
      </p:sp>
      <p:sp>
        <p:nvSpPr>
          <p:cNvPr id="15" name="Shape 15"/>
          <p:cNvSpPr/>
          <p:nvPr/>
        </p:nvSpPr>
        <p:spPr>
          <a:xfrm>
            <a:off x="4322064" y="5047488"/>
            <a:ext cx="3544824" cy="420624"/>
          </a:xfrm>
          <a:prstGeom prst="roundRect">
            <a:avLst>
              <a:gd name="adj" fmla="val 50000"/>
            </a:avLst>
          </a:prstGeom>
          <a:solidFill>
            <a:srgbClr val="F1F3F6"/>
          </a:solidFill>
          <a:ln w="15875">
            <a:solidFill>
              <a:srgbClr val="14213D"/>
            </a:solidFill>
          </a:ln>
        </p:spPr>
        <p:txBody>
          <a:bodyPr wrap="square" lIns="45720" tIns="0" rIns="45720" bIns="0" rtlCol="0" anchor="ctr">
            <a:noAutofit/>
          </a:bodyPr>
          <a:lstStyle/>
          <a:p>
            <a:pPr marL="0" indent="0" algn="ctr">
              <a:spcBef>
                <a:spcPts val="0"/>
              </a:spcBef>
              <a:buNone/>
            </a:pPr>
            <a:r>
              <a:rPr lang="uz-Latn-UZ" sz="1500" b="1" i="0" dirty="0">
                <a:solidFill>
                  <a:srgbClr val="14213D"/>
                </a:solidFill>
                <a:latin typeface="Arial"/>
                <a:cs typeface="Arial"/>
              </a:rPr>
              <a:t>Geografik o‘rin</a:t>
            </a:r>
            <a:endParaRPr lang="uz-Latn-UZ" sz="1500" b="1" i="0" dirty="0">
              <a:solidFill>
                <a:srgbClr val="14213D"/>
              </a:solidFill>
              <a:latin typeface="Arial"/>
              <a:cs typeface="Arial"/>
            </a:endParaRPr>
          </a:p>
        </p:txBody>
      </p:sp>
      <p:sp>
        <p:nvSpPr>
          <p:cNvPr id="16" name="Shape 16"/>
          <p:cNvSpPr/>
          <p:nvPr/>
        </p:nvSpPr>
        <p:spPr>
          <a:xfrm>
            <a:off x="8095488" y="5047488"/>
            <a:ext cx="3544824" cy="420624"/>
          </a:xfrm>
          <a:prstGeom prst="roundRect">
            <a:avLst>
              <a:gd name="adj" fmla="val 50000"/>
            </a:avLst>
          </a:prstGeom>
          <a:solidFill>
            <a:srgbClr val="F1F3F6"/>
          </a:solidFill>
          <a:ln w="15875">
            <a:solidFill>
              <a:srgbClr val="C8102E"/>
            </a:solidFill>
          </a:ln>
        </p:spPr>
        <p:txBody>
          <a:bodyPr wrap="square" lIns="45720" tIns="0" rIns="45720" bIns="0" rtlCol="0" anchor="ctr">
            <a:noAutofit/>
          </a:bodyPr>
          <a:lstStyle/>
          <a:p>
            <a:pPr marL="0" indent="0" algn="ctr">
              <a:spcBef>
                <a:spcPts val="0"/>
              </a:spcBef>
              <a:buNone/>
            </a:pPr>
            <a:r>
              <a:rPr lang="uz-Latn-UZ" sz="1500" b="1" i="0" dirty="0">
                <a:solidFill>
                  <a:srgbClr val="14213D"/>
                </a:solidFill>
                <a:latin typeface="Arial"/>
                <a:cs typeface="Arial"/>
              </a:rPr>
              <a:t>Madaniyat</a:t>
            </a:r>
            <a:endParaRPr lang="uz-Latn-UZ" sz="1500" b="1" i="0" dirty="0">
              <a:solidFill>
                <a:srgbClr val="14213D"/>
              </a:solidFill>
              <a:latin typeface="Arial"/>
              <a:cs typeface="Arial"/>
            </a:endParaRPr>
          </a:p>
        </p:txBody>
      </p:sp>
      <p:sp>
        <p:nvSpPr>
          <p:cNvPr id="17" name="Shape 17"/>
          <p:cNvSpPr/>
          <p:nvPr/>
        </p:nvSpPr>
        <p:spPr>
          <a:xfrm>
            <a:off x="548640" y="5596128"/>
            <a:ext cx="3544824" cy="420624"/>
          </a:xfrm>
          <a:prstGeom prst="roundRect">
            <a:avLst>
              <a:gd name="adj" fmla="val 50000"/>
            </a:avLst>
          </a:prstGeom>
          <a:solidFill>
            <a:srgbClr val="F1F3F6"/>
          </a:solidFill>
          <a:ln w="15875">
            <a:solidFill>
              <a:srgbClr val="14213D"/>
            </a:solidFill>
          </a:ln>
        </p:spPr>
        <p:txBody>
          <a:bodyPr wrap="square" lIns="45720" tIns="0" rIns="45720" bIns="0" rtlCol="0" anchor="ctr">
            <a:noAutofit/>
          </a:bodyPr>
          <a:lstStyle/>
          <a:p>
            <a:pPr marL="0" indent="0" algn="ctr">
              <a:spcBef>
                <a:spcPts val="0"/>
              </a:spcBef>
              <a:buNone/>
            </a:pPr>
            <a:r>
              <a:rPr lang="uz-Latn-UZ" sz="1500" b="1" i="0" dirty="0">
                <a:solidFill>
                  <a:srgbClr val="14213D"/>
                </a:solidFill>
                <a:latin typeface="Arial"/>
                <a:cs typeface="Arial"/>
              </a:rPr>
              <a:t>Vositachilik</a:t>
            </a:r>
            <a:endParaRPr lang="uz-Latn-UZ" sz="1500" b="1" i="0" dirty="0">
              <a:solidFill>
                <a:srgbClr val="14213D"/>
              </a:solidFill>
              <a:latin typeface="Arial"/>
              <a:cs typeface="Arial"/>
            </a:endParaRPr>
          </a:p>
        </p:txBody>
      </p:sp>
      <p:sp>
        <p:nvSpPr>
          <p:cNvPr id="18" name="Shape 18"/>
          <p:cNvSpPr/>
          <p:nvPr/>
        </p:nvSpPr>
        <p:spPr>
          <a:xfrm>
            <a:off x="4322064" y="5596128"/>
            <a:ext cx="3544824" cy="420624"/>
          </a:xfrm>
          <a:prstGeom prst="roundRect">
            <a:avLst>
              <a:gd name="adj" fmla="val 50000"/>
            </a:avLst>
          </a:prstGeom>
          <a:solidFill>
            <a:srgbClr val="F1F3F6"/>
          </a:solidFill>
          <a:ln w="15875">
            <a:solidFill>
              <a:srgbClr val="C8102E"/>
            </a:solidFill>
          </a:ln>
        </p:spPr>
        <p:txBody>
          <a:bodyPr wrap="square" lIns="45720" tIns="0" rIns="45720" bIns="0" rtlCol="0" anchor="ctr">
            <a:noAutofit/>
          </a:bodyPr>
          <a:lstStyle/>
          <a:p>
            <a:pPr marL="0" indent="0" algn="ctr">
              <a:spcBef>
                <a:spcPts val="0"/>
              </a:spcBef>
              <a:buNone/>
            </a:pPr>
            <a:r>
              <a:rPr lang="uz-Latn-UZ" sz="1500" b="1" i="0" dirty="0">
                <a:solidFill>
                  <a:srgbClr val="14213D"/>
                </a:solidFill>
                <a:latin typeface="Arial"/>
                <a:cs typeface="Arial"/>
              </a:rPr>
              <a:t>Gumanitar yordam</a:t>
            </a:r>
            <a:endParaRPr lang="uz-Latn-UZ" sz="1500" b="1" i="0" dirty="0">
              <a:solidFill>
                <a:srgbClr val="14213D"/>
              </a:solidFill>
              <a:latin typeface="Arial"/>
              <a:cs typeface="Arial"/>
            </a:endParaRPr>
          </a:p>
        </p:txBody>
      </p:sp>
      <p:sp>
        <p:nvSpPr>
          <p:cNvPr id="19" name="Shape 19"/>
          <p:cNvSpPr/>
          <p:nvPr/>
        </p:nvSpPr>
        <p:spPr>
          <a:xfrm>
            <a:off x="8095488" y="5596128"/>
            <a:ext cx="3544824" cy="420624"/>
          </a:xfrm>
          <a:prstGeom prst="roundRect">
            <a:avLst>
              <a:gd name="adj" fmla="val 50000"/>
            </a:avLst>
          </a:prstGeom>
          <a:solidFill>
            <a:srgbClr val="F1F3F6"/>
          </a:solidFill>
          <a:ln w="15875">
            <a:solidFill>
              <a:srgbClr val="14213D"/>
            </a:solidFill>
          </a:ln>
        </p:spPr>
        <p:txBody>
          <a:bodyPr wrap="square" lIns="45720" tIns="0" rIns="45720" bIns="0" rtlCol="0" anchor="ctr">
            <a:noAutofit/>
          </a:bodyPr>
          <a:lstStyle/>
          <a:p>
            <a:pPr marL="0" indent="0" algn="ctr">
              <a:spcBef>
                <a:spcPts val="0"/>
              </a:spcBef>
              <a:buNone/>
            </a:pPr>
            <a:r>
              <a:rPr lang="uz-Latn-UZ" sz="1500" b="1" i="0" dirty="0">
                <a:solidFill>
                  <a:srgbClr val="14213D"/>
                </a:solidFill>
                <a:latin typeface="Arial"/>
                <a:cs typeface="Arial"/>
              </a:rPr>
              <a:t>Ko‘p yo‘nalishlilik</a:t>
            </a:r>
            <a:endParaRPr lang="uz-Latn-UZ" sz="1500" b="1" i="0" dirty="0">
              <a:solidFill>
                <a:srgbClr val="14213D"/>
              </a:solidFill>
              <a:latin typeface="Arial"/>
              <a:cs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548640" y="329184"/>
            <a:ext cx="73152" cy="914400"/>
          </a:xfrm>
          <a:prstGeom prst="rect">
            <a:avLst/>
          </a:prstGeom>
          <a:solidFill>
            <a:srgbClr val="C8102E"/>
          </a:solidFill>
          <a:ln>
            <a:noFill/>
          </a:ln>
        </p:spPr>
      </p:sp>
      <p:sp>
        <p:nvSpPr>
          <p:cNvPr id="3" name="TextBox 3"/>
          <p:cNvSpPr/>
          <p:nvPr/>
        </p:nvSpPr>
        <p:spPr>
          <a:xfrm>
            <a:off x="777240" y="274320"/>
            <a:ext cx="8778240" cy="292608"/>
          </a:xfrm>
          <a:prstGeom prst="rect">
            <a:avLst/>
          </a:prstGeom>
          <a:noFill/>
          <a:ln>
            <a:noFill/>
          </a:ln>
        </p:spPr>
        <p:txBody>
          <a:bodyPr wrap="square" lIns="0" tIns="0" rIns="0" bIns="0" rtlCol="0" anchor="ctr">
            <a:noAutofit/>
          </a:bodyPr>
          <a:lstStyle/>
          <a:p>
            <a:pPr marL="0" indent="0" algn="l">
              <a:spcBef>
                <a:spcPts val="0"/>
              </a:spcBef>
              <a:buNone/>
            </a:pPr>
            <a:r>
              <a:rPr lang="uz-Latn-UZ" sz="1100" b="1" i="0" spc="100" dirty="0">
                <a:solidFill>
                  <a:srgbClr val="C8102E"/>
                </a:solidFill>
                <a:latin typeface="Arial"/>
                <a:cs typeface="Arial"/>
              </a:rPr>
              <a:t>MANBALAR</a:t>
            </a:r>
            <a:endParaRPr lang="uz-Latn-UZ" sz="1100" b="1" i="0" spc="100" dirty="0">
              <a:solidFill>
                <a:srgbClr val="C8102E"/>
              </a:solidFill>
              <a:latin typeface="Arial"/>
              <a:cs typeface="Arial"/>
            </a:endParaRPr>
          </a:p>
        </p:txBody>
      </p:sp>
      <p:sp>
        <p:nvSpPr>
          <p:cNvPr id="4" name="TextBox 4"/>
          <p:cNvSpPr/>
          <p:nvPr/>
        </p:nvSpPr>
        <p:spPr>
          <a:xfrm>
            <a:off x="777240" y="566928"/>
            <a:ext cx="9006840" cy="713232"/>
          </a:xfrm>
          <a:prstGeom prst="rect">
            <a:avLst/>
          </a:prstGeom>
          <a:noFill/>
          <a:ln>
            <a:noFill/>
          </a:ln>
        </p:spPr>
        <p:txBody>
          <a:bodyPr wrap="square" lIns="0" tIns="0" rIns="0" bIns="0" rtlCol="0" anchor="ctr">
            <a:noAutofit/>
          </a:bodyPr>
          <a:lstStyle/>
          <a:p>
            <a:pPr marL="0" indent="0" algn="l">
              <a:spcBef>
                <a:spcPts val="0"/>
              </a:spcBef>
              <a:buNone/>
            </a:pPr>
            <a:r>
              <a:rPr lang="uz-Latn-UZ" sz="2800" b="1" i="0" dirty="0">
                <a:solidFill>
                  <a:srgbClr val="14213D"/>
                </a:solidFill>
                <a:latin typeface="Arial"/>
                <a:cs typeface="Arial"/>
              </a:rPr>
              <a:t>Foydalanilgan manbalar</a:t>
            </a:r>
            <a:endParaRPr lang="uz-Latn-UZ" sz="2800" b="1" i="0" dirty="0">
              <a:solidFill>
                <a:srgbClr val="14213D"/>
              </a:solidFill>
              <a:latin typeface="Arial"/>
              <a:cs typeface="Arial"/>
            </a:endParaRPr>
          </a:p>
        </p:txBody>
      </p:sp>
      <p:cxnSp>
        <p:nvCxnSpPr>
          <p:cNvPr id="5" name="Line 5"/>
          <p:cNvCxnSpPr/>
          <p:nvPr/>
        </p:nvCxnSpPr>
        <p:spPr>
          <a:xfrm>
            <a:off x="548640" y="1389888"/>
            <a:ext cx="11091672" cy="0"/>
          </a:xfrm>
          <a:prstGeom prst="line">
            <a:avLst/>
          </a:prstGeom>
          <a:ln w="12700">
            <a:solidFill>
              <a:srgbClr val="D1D5DB"/>
            </a:solidFill>
          </a:ln>
        </p:spPr>
      </p:cxnSp>
      <p:sp>
        <p:nvSpPr>
          <p:cNvPr id="6" name="TextBox 6"/>
          <p:cNvSpPr/>
          <p:nvPr/>
        </p:nvSpPr>
        <p:spPr>
          <a:xfrm>
            <a:off x="548640" y="6364224"/>
            <a:ext cx="7315200" cy="274320"/>
          </a:xfrm>
          <a:prstGeom prst="rect">
            <a:avLst/>
          </a:prstGeom>
          <a:noFill/>
          <a:ln>
            <a:noFill/>
          </a:ln>
        </p:spPr>
        <p:txBody>
          <a:bodyPr wrap="square" lIns="0" tIns="0" rIns="0" bIns="0" rtlCol="0" anchor="ctr">
            <a:noAutofit/>
          </a:bodyPr>
          <a:lstStyle/>
          <a:p>
            <a:pPr marL="0" indent="0" algn="l">
              <a:spcBef>
                <a:spcPts val="0"/>
              </a:spcBef>
              <a:buNone/>
            </a:pPr>
            <a:r>
              <a:rPr lang="uz-Latn-UZ" sz="1050" b="0" i="0" dirty="0">
                <a:solidFill>
                  <a:srgbClr val="6B7280"/>
                </a:solidFill>
                <a:latin typeface="Arial"/>
                <a:cs typeface="Arial"/>
              </a:rPr>
              <a:t>Turkiya davlatining diplomatik faoliyati</a:t>
            </a:r>
            <a:endParaRPr lang="uz-Latn-UZ" sz="1050" b="0" i="0" dirty="0">
              <a:solidFill>
                <a:srgbClr val="6B7280"/>
              </a:solidFill>
              <a:latin typeface="Arial"/>
              <a:cs typeface="Arial"/>
            </a:endParaRPr>
          </a:p>
        </p:txBody>
      </p:sp>
      <p:sp>
        <p:nvSpPr>
          <p:cNvPr id="7" name="TextBox 7"/>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6B7280"/>
                </a:solidFill>
                <a:latin typeface="Arial"/>
                <a:cs typeface="Arial"/>
              </a:rPr>
              <a:t>28 / 29</a:t>
            </a:r>
            <a:endParaRPr lang="uz-Latn-UZ" sz="1050" b="0" i="0" dirty="0">
              <a:solidFill>
                <a:srgbClr val="6B7280"/>
              </a:solidFill>
              <a:latin typeface="Arial"/>
              <a:cs typeface="Arial"/>
            </a:endParaRPr>
          </a:p>
        </p:txBody>
      </p:sp>
      <p:sp>
        <p:nvSpPr>
          <p:cNvPr id="8" name="Shape 8"/>
          <p:cNvSpPr/>
          <p:nvPr/>
        </p:nvSpPr>
        <p:spPr>
          <a:xfrm>
            <a:off x="0" y="6748272"/>
            <a:ext cx="12192000" cy="109728"/>
          </a:xfrm>
          <a:prstGeom prst="rect">
            <a:avLst/>
          </a:prstGeom>
          <a:solidFill>
            <a:srgbClr val="C8102E"/>
          </a:solidFill>
          <a:ln>
            <a:noFill/>
          </a:ln>
        </p:spPr>
      </p:sp>
      <p:sp>
        <p:nvSpPr>
          <p:cNvPr id="9" name="TextBox 9"/>
          <p:cNvSpPr/>
          <p:nvPr/>
        </p:nvSpPr>
        <p:spPr>
          <a:xfrm>
            <a:off x="731520" y="1645920"/>
            <a:ext cx="10881360" cy="4526280"/>
          </a:xfrm>
          <a:prstGeom prst="rect">
            <a:avLst/>
          </a:prstGeom>
          <a:noFill/>
          <a:ln>
            <a:noFill/>
          </a:ln>
        </p:spPr>
        <p:txBody>
          <a:bodyPr wrap="square" lIns="0" tIns="0" rIns="0" bIns="0" rtlCol="0" anchor="t">
            <a:noAutofit/>
          </a:bodyPr>
          <a:lstStyle/>
          <a:p>
            <a:pPr marL="310896" indent="-310896" algn="l">
              <a:spcBef>
                <a:spcPts val="0"/>
              </a:spcBef>
              <a:buClr>
                <a:srgbClr val="C8102E"/>
              </a:buClr>
              <a:buFont typeface="Arial"/>
              <a:buChar char="•"/>
            </a:pPr>
            <a:r>
              <a:rPr lang="uz-Latn-UZ" sz="1750" b="0" i="0" dirty="0">
                <a:solidFill>
                  <a:srgbClr val="1F2937"/>
                </a:solidFill>
                <a:latin typeface="Arial"/>
                <a:cs typeface="Arial"/>
              </a:rPr>
              <a:t>Turkiya Respublikasi Tashqi ishlar vazirligi — mfa.gov.tr</a:t>
            </a:r>
            <a:endParaRPr lang="uz-Latn-UZ" sz="1750" b="0" i="0" dirty="0">
              <a:solidFill>
                <a:srgbClr val="1F2937"/>
              </a:solidFill>
              <a:latin typeface="Arial"/>
              <a:cs typeface="Arial"/>
            </a:endParaRPr>
          </a:p>
          <a:p>
            <a:pPr marL="310896" indent="-310896" algn="l">
              <a:spcBef>
                <a:spcPts val="1200"/>
              </a:spcBef>
              <a:buClr>
                <a:srgbClr val="C8102E"/>
              </a:buClr>
              <a:buFont typeface="Arial"/>
              <a:buChar char="•"/>
            </a:pPr>
            <a:r>
              <a:rPr lang="uz-Latn-UZ" sz="1750" b="0" i="0" dirty="0">
                <a:solidFill>
                  <a:srgbClr val="1F2937"/>
                </a:solidFill>
                <a:latin typeface="Arial"/>
                <a:cs typeface="Arial"/>
              </a:rPr>
              <a:t>NATO: The Ankara Summit Declaration (2026) — nato.int</a:t>
            </a:r>
            <a:endParaRPr lang="uz-Latn-UZ" sz="1750" b="0" i="0" dirty="0">
              <a:solidFill>
                <a:srgbClr val="1F2937"/>
              </a:solidFill>
              <a:latin typeface="Arial"/>
              <a:cs typeface="Arial"/>
            </a:endParaRPr>
          </a:p>
          <a:p>
            <a:pPr marL="310896" indent="-310896" algn="l">
              <a:spcBef>
                <a:spcPts val="1200"/>
              </a:spcBef>
              <a:buClr>
                <a:srgbClr val="C8102E"/>
              </a:buClr>
              <a:buFont typeface="Arial"/>
              <a:buChar char="•"/>
            </a:pPr>
            <a:r>
              <a:rPr lang="uz-Latn-UZ" sz="1750" b="0" i="0" dirty="0">
                <a:solidFill>
                  <a:srgbClr val="1F2937"/>
                </a:solidFill>
                <a:latin typeface="Arial"/>
                <a:cs typeface="Arial"/>
              </a:rPr>
              <a:t>Turkiy davlatlar tashkiloti — turkicstates.org</a:t>
            </a:r>
            <a:endParaRPr lang="uz-Latn-UZ" sz="1750" b="0" i="0" dirty="0">
              <a:solidFill>
                <a:srgbClr val="1F2937"/>
              </a:solidFill>
              <a:latin typeface="Arial"/>
              <a:cs typeface="Arial"/>
            </a:endParaRPr>
          </a:p>
          <a:p>
            <a:pPr marL="310896" indent="-310896" algn="l">
              <a:spcBef>
                <a:spcPts val="1200"/>
              </a:spcBef>
              <a:buClr>
                <a:srgbClr val="C8102E"/>
              </a:buClr>
              <a:buFont typeface="Arial"/>
              <a:buChar char="•"/>
            </a:pPr>
            <a:r>
              <a:rPr lang="uz-Latn-UZ" sz="1750" b="0" i="0" dirty="0">
                <a:solidFill>
                  <a:srgbClr val="1F2937"/>
                </a:solidFill>
                <a:latin typeface="Arial"/>
                <a:cs typeface="Arial"/>
              </a:rPr>
              <a:t>Lowy Institute: Global Diplomacy Index 2024</a:t>
            </a:r>
            <a:endParaRPr lang="uz-Latn-UZ" sz="1750" b="0" i="0" dirty="0">
              <a:solidFill>
                <a:srgbClr val="1F2937"/>
              </a:solidFill>
              <a:latin typeface="Arial"/>
              <a:cs typeface="Arial"/>
            </a:endParaRPr>
          </a:p>
          <a:p>
            <a:pPr marL="310896" indent="-310896" algn="l">
              <a:spcBef>
                <a:spcPts val="1200"/>
              </a:spcBef>
              <a:buClr>
                <a:srgbClr val="C8102E"/>
              </a:buClr>
              <a:buFont typeface="Arial"/>
              <a:buChar char="•"/>
            </a:pPr>
            <a:r>
              <a:rPr lang="uz-Latn-UZ" sz="1750" b="0" i="0" dirty="0">
                <a:solidFill>
                  <a:srgbClr val="1F2937"/>
                </a:solidFill>
                <a:latin typeface="Arial"/>
                <a:cs typeface="Arial"/>
              </a:rPr>
              <a:t>TİM, Turkiya Savdo vazirligi; SSB — mudofaa sanoati eksporti (2025)</a:t>
            </a:r>
            <a:endParaRPr lang="uz-Latn-UZ" sz="1750" b="0" i="0" dirty="0">
              <a:solidFill>
                <a:srgbClr val="1F2937"/>
              </a:solidFill>
              <a:latin typeface="Arial"/>
              <a:cs typeface="Arial"/>
            </a:endParaRPr>
          </a:p>
          <a:p>
            <a:pPr marL="310896" indent="-310896" algn="l">
              <a:spcBef>
                <a:spcPts val="1200"/>
              </a:spcBef>
              <a:buClr>
                <a:srgbClr val="C8102E"/>
              </a:buClr>
              <a:buFont typeface="Arial"/>
              <a:buChar char="•"/>
            </a:pPr>
            <a:r>
              <a:rPr lang="uz-Latn-UZ" sz="1750" b="0" i="0" dirty="0">
                <a:solidFill>
                  <a:srgbClr val="1F2937"/>
                </a:solidFill>
                <a:latin typeface="Arial"/>
                <a:cs typeface="Arial"/>
              </a:rPr>
              <a:t>TIKA, Yunus Emre instituti, Maarif fondi, YTB — rasmiy saytlar</a:t>
            </a:r>
            <a:endParaRPr lang="uz-Latn-UZ" sz="1750" b="0" i="0" dirty="0">
              <a:solidFill>
                <a:srgbClr val="1F2937"/>
              </a:solidFill>
              <a:latin typeface="Arial"/>
              <a:cs typeface="Arial"/>
            </a:endParaRPr>
          </a:p>
          <a:p>
            <a:pPr marL="310896" indent="-310896" algn="l">
              <a:spcBef>
                <a:spcPts val="1200"/>
              </a:spcBef>
              <a:buClr>
                <a:srgbClr val="C8102E"/>
              </a:buClr>
              <a:buFont typeface="Arial"/>
              <a:buChar char="•"/>
            </a:pPr>
            <a:r>
              <a:rPr lang="uz-Latn-UZ" sz="1750" b="0" i="0" dirty="0">
                <a:solidFill>
                  <a:srgbClr val="1F2937"/>
                </a:solidFill>
                <a:latin typeface="Arial"/>
                <a:cs typeface="Arial"/>
              </a:rPr>
              <a:t>BMT QOKB (UNHCR) va Turkiya Migratsiya boshqarmasi ma’lumotlari (2026)</a:t>
            </a:r>
            <a:endParaRPr lang="uz-Latn-UZ" sz="1750" b="0" i="0" dirty="0">
              <a:solidFill>
                <a:srgbClr val="1F2937"/>
              </a:solidFill>
              <a:latin typeface="Arial"/>
              <a:cs typeface="Arial"/>
            </a:endParaRPr>
          </a:p>
          <a:p>
            <a:pPr marL="310896" indent="-310896" algn="l">
              <a:spcBef>
                <a:spcPts val="1200"/>
              </a:spcBef>
              <a:buClr>
                <a:srgbClr val="C8102E"/>
              </a:buClr>
              <a:buFont typeface="Arial"/>
              <a:buChar char="•"/>
            </a:pPr>
            <a:r>
              <a:rPr lang="uz-Latn-UZ" sz="1750" b="0" i="0" dirty="0">
                <a:solidFill>
                  <a:srgbClr val="1F2937"/>
                </a:solidFill>
                <a:latin typeface="Arial"/>
                <a:cs typeface="Arial"/>
              </a:rPr>
              <a:t>O‘zbekiston TIV, Statistika agentligi; Anadolu agentligi — aa.com.tr</a:t>
            </a:r>
            <a:endParaRPr lang="uz-Latn-UZ" sz="1750" b="0" i="0" dirty="0">
              <a:solidFill>
                <a:srgbClr val="1F2937"/>
              </a:solidFill>
              <a:latin typeface="Arial"/>
              <a:cs typeface="Arial"/>
            </a:endParaRPr>
          </a:p>
          <a:p>
            <a:pPr marL="310896" indent="-310896" algn="l">
              <a:spcBef>
                <a:spcPts val="1200"/>
              </a:spcBef>
              <a:buClr>
                <a:srgbClr val="C8102E"/>
              </a:buClr>
              <a:buFont typeface="Arial"/>
              <a:buChar char="•"/>
            </a:pPr>
            <a:r>
              <a:rPr lang="uz-Latn-UZ" sz="1750" b="0" i="0" dirty="0">
                <a:solidFill>
                  <a:srgbClr val="1F2937"/>
                </a:solidFill>
                <a:latin typeface="Arial"/>
                <a:cs typeface="Arial"/>
              </a:rPr>
              <a:t>Turkiya Konstitutsiyasi; TÜİK — aholi statistikasi (2025)</a:t>
            </a:r>
            <a:endParaRPr lang="uz-Latn-UZ" sz="1750" b="0" i="0" dirty="0">
              <a:solidFill>
                <a:srgbClr val="1F2937"/>
              </a:solidFill>
              <a:latin typeface="Arial"/>
              <a:cs typeface="Arial"/>
            </a:endParaRPr>
          </a:p>
          <a:p>
            <a:pPr marL="310896" indent="-310896" algn="l">
              <a:spcBef>
                <a:spcPts val="1200"/>
              </a:spcBef>
              <a:buClr>
                <a:srgbClr val="C8102E"/>
              </a:buClr>
              <a:buFont typeface="Arial"/>
              <a:buChar char="•"/>
            </a:pPr>
            <a:r>
              <a:rPr lang="uz-Latn-UZ" sz="1750" b="0" i="0" dirty="0">
                <a:solidFill>
                  <a:srgbClr val="1F2937"/>
                </a:solidFill>
                <a:latin typeface="Arial"/>
                <a:cs typeface="Arial"/>
              </a:rPr>
              <a:t>Antaliya diplomatiya forumi — antalyadf.org; COP31 — unfccc.int</a:t>
            </a:r>
            <a:endParaRPr lang="uz-Latn-UZ" sz="1750" b="0" i="0" dirty="0">
              <a:solidFill>
                <a:srgbClr val="1F2937"/>
              </a:solidFill>
              <a:latin typeface="Arial"/>
              <a:cs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Shape 2"/>
          <p:cNvSpPr/>
          <p:nvPr/>
        </p:nvSpPr>
        <p:spPr>
          <a:xfrm>
            <a:off x="0" y="0"/>
            <a:ext cx="320040" cy="6858000"/>
          </a:xfrm>
          <a:prstGeom prst="rect">
            <a:avLst/>
          </a:prstGeom>
          <a:solidFill>
            <a:srgbClr val="C8102E"/>
          </a:solidFill>
          <a:ln>
            <a:noFill/>
          </a:ln>
        </p:spPr>
      </p:sp>
      <p:sp>
        <p:nvSpPr>
          <p:cNvPr id="3" name="Flag 3"/>
          <p:cNvSpPr/>
          <p:nvPr/>
        </p:nvSpPr>
        <p:spPr>
          <a:xfrm>
            <a:off x="5204460" y="1097280"/>
            <a:ext cx="1783080" cy="1188720"/>
          </a:xfrm>
          <a:prstGeom prst="rect">
            <a:avLst/>
          </a:prstGeom>
          <a:solidFill>
            <a:srgbClr val="E30A17"/>
          </a:solidFill>
          <a:ln>
            <a:noFill/>
          </a:ln>
        </p:spPr>
      </p:sp>
      <p:sp>
        <p:nvSpPr>
          <p:cNvPr id="4" name="Crescent 4"/>
          <p:cNvSpPr/>
          <p:nvPr/>
        </p:nvSpPr>
        <p:spPr>
          <a:xfrm>
            <a:off x="5501640" y="1394460"/>
            <a:ext cx="594360" cy="594360"/>
          </a:xfrm>
          <a:prstGeom prst="ellipse">
            <a:avLst/>
          </a:prstGeom>
          <a:solidFill>
            <a:srgbClr val="FFFFFF"/>
          </a:solidFill>
          <a:ln>
            <a:noFill/>
          </a:ln>
        </p:spPr>
      </p:sp>
      <p:sp>
        <p:nvSpPr>
          <p:cNvPr id="5" name="Crescent 5"/>
          <p:cNvSpPr/>
          <p:nvPr/>
        </p:nvSpPr>
        <p:spPr>
          <a:xfrm>
            <a:off x="5635371" y="1453896"/>
            <a:ext cx="475488" cy="475488"/>
          </a:xfrm>
          <a:prstGeom prst="ellipse">
            <a:avLst/>
          </a:prstGeom>
          <a:solidFill>
            <a:srgbClr val="E30A17"/>
          </a:solidFill>
          <a:ln>
            <a:noFill/>
          </a:ln>
        </p:spPr>
      </p:sp>
      <p:sp>
        <p:nvSpPr>
          <p:cNvPr id="6" name="Star 6"/>
          <p:cNvSpPr/>
          <p:nvPr/>
        </p:nvSpPr>
        <p:spPr>
          <a:xfrm rot="16200000">
            <a:off x="6024702" y="1557240"/>
            <a:ext cx="282618" cy="268799"/>
          </a:xfrm>
          <a:prstGeom prst="star5">
            <a:avLst/>
          </a:prstGeom>
          <a:solidFill>
            <a:srgbClr val="FFFFFF"/>
          </a:solidFill>
          <a:ln>
            <a:noFill/>
          </a:ln>
        </p:spPr>
      </p:sp>
      <p:sp>
        <p:nvSpPr>
          <p:cNvPr id="7" name="TextBox 7"/>
          <p:cNvSpPr/>
          <p:nvPr/>
        </p:nvSpPr>
        <p:spPr>
          <a:xfrm>
            <a:off x="914400" y="2560320"/>
            <a:ext cx="10363200" cy="1097280"/>
          </a:xfrm>
          <a:prstGeom prst="rect">
            <a:avLst/>
          </a:prstGeom>
          <a:noFill/>
          <a:ln>
            <a:noFill/>
          </a:ln>
        </p:spPr>
        <p:txBody>
          <a:bodyPr wrap="square" lIns="0" tIns="0" rIns="0" bIns="0" rtlCol="0" anchor="ctr">
            <a:noAutofit/>
          </a:bodyPr>
          <a:lstStyle/>
          <a:p>
            <a:pPr marL="0" indent="0" algn="ctr">
              <a:spcBef>
                <a:spcPts val="0"/>
              </a:spcBef>
              <a:buNone/>
            </a:pPr>
            <a:r>
              <a:rPr lang="uz-Latn-UZ" sz="4800" b="1" i="0" dirty="0">
                <a:solidFill>
                  <a:srgbClr val="FFFFFF"/>
                </a:solidFill>
                <a:latin typeface="Arial"/>
                <a:cs typeface="Arial"/>
              </a:rPr>
              <a:t>E’tiboringiz uchun rahmat!</a:t>
            </a:r>
            <a:endParaRPr lang="uz-Latn-UZ" sz="4800" b="1" i="0" dirty="0">
              <a:solidFill>
                <a:srgbClr val="FFFFFF"/>
              </a:solidFill>
              <a:latin typeface="Arial"/>
              <a:cs typeface="Arial"/>
            </a:endParaRPr>
          </a:p>
        </p:txBody>
      </p:sp>
      <p:sp>
        <p:nvSpPr>
          <p:cNvPr id="8" name="Shape 8"/>
          <p:cNvSpPr/>
          <p:nvPr/>
        </p:nvSpPr>
        <p:spPr>
          <a:xfrm>
            <a:off x="5455920" y="3794760"/>
            <a:ext cx="1280160" cy="64008"/>
          </a:xfrm>
          <a:prstGeom prst="rect">
            <a:avLst/>
          </a:prstGeom>
          <a:solidFill>
            <a:srgbClr val="C8102E"/>
          </a:solidFill>
          <a:ln>
            <a:noFill/>
          </a:ln>
        </p:spPr>
      </p:sp>
      <p:sp>
        <p:nvSpPr>
          <p:cNvPr id="9" name="TextBox 9"/>
          <p:cNvSpPr/>
          <p:nvPr/>
        </p:nvSpPr>
        <p:spPr>
          <a:xfrm>
            <a:off x="914400" y="4069080"/>
            <a:ext cx="10363200" cy="640080"/>
          </a:xfrm>
          <a:prstGeom prst="rect">
            <a:avLst/>
          </a:prstGeom>
          <a:noFill/>
          <a:ln>
            <a:noFill/>
          </a:ln>
        </p:spPr>
        <p:txBody>
          <a:bodyPr wrap="square" lIns="0" tIns="0" rIns="0" bIns="0" rtlCol="0" anchor="ctr">
            <a:noAutofit/>
          </a:bodyPr>
          <a:lstStyle/>
          <a:p>
            <a:pPr marL="0" indent="0" algn="ctr">
              <a:spcBef>
                <a:spcPts val="0"/>
              </a:spcBef>
              <a:buNone/>
            </a:pPr>
            <a:r>
              <a:rPr lang="uz-Latn-UZ" sz="2200" b="0" i="0" dirty="0">
                <a:solidFill>
                  <a:srgbClr val="CBD5E1"/>
                </a:solidFill>
                <a:latin typeface="Arial"/>
                <a:cs typeface="Arial"/>
              </a:rPr>
              <a:t>Savollaringiz bo‘lsa, marhamat</a:t>
            </a:r>
            <a:endParaRPr lang="uz-Latn-UZ" sz="2200" b="0" i="0" dirty="0">
              <a:solidFill>
                <a:srgbClr val="CBD5E1"/>
              </a:solidFill>
              <a:latin typeface="Arial"/>
              <a:cs typeface="Arial"/>
            </a:endParaRPr>
          </a:p>
        </p:txBody>
      </p:sp>
      <p:sp>
        <p:nvSpPr>
          <p:cNvPr id="10" name="TextBox 10"/>
          <p:cNvSpPr/>
          <p:nvPr/>
        </p:nvSpPr>
        <p:spPr>
          <a:xfrm>
            <a:off x="9811512" y="6364224"/>
            <a:ext cx="1828800" cy="274320"/>
          </a:xfrm>
          <a:prstGeom prst="rect">
            <a:avLst/>
          </a:prstGeom>
          <a:noFill/>
          <a:ln>
            <a:noFill/>
          </a:ln>
        </p:spPr>
        <p:txBody>
          <a:bodyPr wrap="square" lIns="0" tIns="0" rIns="0" bIns="0" rtlCol="0" anchor="ctr">
            <a:noAutofit/>
          </a:bodyPr>
          <a:lstStyle/>
          <a:p>
            <a:pPr marL="0" indent="0" algn="r">
              <a:spcBef>
                <a:spcPts val="0"/>
              </a:spcBef>
              <a:buNone/>
            </a:pPr>
            <a:r>
              <a:rPr lang="uz-Latn-UZ" sz="1050" b="0" i="0" dirty="0">
                <a:solidFill>
                  <a:srgbClr val="CBD5E1"/>
                </a:solidFill>
                <a:latin typeface="Arial"/>
                <a:cs typeface="Arial"/>
              </a:rPr>
              <a:t>29 / 29</a:t>
            </a:r>
            <a:endParaRPr lang="uz-Latn-UZ" sz="1050" b="0" i="0" dirty="0">
              <a:solidFill>
                <a:srgbClr val="CBD5E1"/>
              </a:solidFill>
              <a:latin typeface="Arial"/>
              <a:cs typeface="Arial"/>
            </a:endParaRPr>
          </a:p>
        </p:txBody>
      </p:sp>
    </p:spTree>
  </p:cSld>
  <p:clrMapOvr>
    <a:masterClrMapping/>
  </p:clrMapOvr>
</p:sld>
</file>

<file path=ppt/theme/theme1.xml><?xml version="1.0" encoding="utf-8"?>
<a:theme xmlns:a="http://schemas.openxmlformats.org/drawingml/2006/main" name="Turkiya">
  <a:themeElements>
    <a:clrScheme name="Turkiya">
      <a:dk1>
        <a:srgbClr val="000000"/>
      </a:dk1>
      <a:lt1>
        <a:srgbClr val="FFFFFF"/>
      </a:lt1>
      <a:dk2>
        <a:srgbClr val="14213D"/>
      </a:dk2>
      <a:lt2>
        <a:srgbClr val="F1F3F6"/>
      </a:lt2>
      <a:accent1>
        <a:srgbClr val="C8102E"/>
      </a:accent1>
      <a:accent2>
        <a:srgbClr val="14213D"/>
      </a:accent2>
      <a:accent3>
        <a:srgbClr val="6B7280"/>
      </a:accent3>
      <a:accent4>
        <a:srgbClr val="F59E0B"/>
      </a:accent4>
      <a:accent5>
        <a:srgbClr val="10B981"/>
      </a:accent5>
      <a:accent6>
        <a:srgbClr val="3B82F6"/>
      </a:accent6>
      <a:hlink>
        <a:srgbClr val="1D4ED8"/>
      </a:hlink>
      <a:folHlink>
        <a:srgbClr val="7C3AED"/>
      </a:folHlink>
    </a:clrScheme>
    <a:fontScheme name="Turkiya">
      <a:majorFont>
        <a:latin typeface="Arial"/>
        <a:ea typeface=""/>
        <a:cs typeface=""/>
      </a:majorFont>
      <a:minorFont>
        <a:latin typeface="Arial"/>
        <a:ea typeface=""/>
        <a:cs typeface=""/>
      </a:minorFont>
    </a:fontScheme>
    <a:fmtScheme name="Turkiya">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Turkiya Notes">
  <a:themeElements>
    <a:clrScheme name="Turkiya">
      <a:dk1>
        <a:srgbClr val="000000"/>
      </a:dk1>
      <a:lt1>
        <a:srgbClr val="FFFFFF"/>
      </a:lt1>
      <a:dk2>
        <a:srgbClr val="14213D"/>
      </a:dk2>
      <a:lt2>
        <a:srgbClr val="F1F3F6"/>
      </a:lt2>
      <a:accent1>
        <a:srgbClr val="C8102E"/>
      </a:accent1>
      <a:accent2>
        <a:srgbClr val="14213D"/>
      </a:accent2>
      <a:accent3>
        <a:srgbClr val="6B7280"/>
      </a:accent3>
      <a:accent4>
        <a:srgbClr val="F59E0B"/>
      </a:accent4>
      <a:accent5>
        <a:srgbClr val="10B981"/>
      </a:accent5>
      <a:accent6>
        <a:srgbClr val="3B82F6"/>
      </a:accent6>
      <a:hlink>
        <a:srgbClr val="1D4ED8"/>
      </a:hlink>
      <a:folHlink>
        <a:srgbClr val="7C3AED"/>
      </a:folHlink>
    </a:clrScheme>
    <a:fontScheme name="Turkiya">
      <a:majorFont>
        <a:latin typeface="Arial"/>
        <a:ea typeface=""/>
        <a:cs typeface=""/>
      </a:majorFont>
      <a:minorFont>
        <a:latin typeface="Arial"/>
        <a:ea typeface=""/>
        <a:cs typeface=""/>
      </a:minorFont>
    </a:fontScheme>
    <a:fmtScheme name="Turkiya">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PresentationFormat>Widescreen</PresentationFormat>
  <Slides>29</Slides>
  <Notes>29</Notes>
</Properties>
</file>

<file path=docProps/core.xml><?xml version="1.0" encoding="utf-8"?>
<cp:coreProperties xmlns:cp="http://schemas.openxmlformats.org/package/2006/metadata/core-properties" xmlns:dc="http://purl.org/dc/elements/1.1/" xmlns:dcterms="http://purl.org/dc/terms/" xmlns:xsi="http://www.w3.org/2001/XMLSchema-instance">
  <dc:title>Turkiya davlatining diplomatik faoliyati</dc:title>
  <dc:creator>Sheraliyeva Dilnuraxon, Xasanova Madinaxon, Mardonqulova Gulsevar, Sotimboyev Temurbek, Xudoyorov Yusufbek</dc:creator>
  <dc:language>uz-Latn-UZ</dc:language>
  <dcterms:created xsi:type="dcterms:W3CDTF">2026-09-27T00:00:00Z</dcterms:created>
  <dcterms:modified xsi:type="dcterms:W3CDTF">2026-09-27T00:00:00Z</dcterms:modified>
</cp:coreProperties>
</file>