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theme" Target="theme/theme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E9AA7">
              <a:alpha val="22000"/>
            </a:srgbClr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9692640" y="3931920"/>
            <a:ext cx="3657600" cy="3657600"/>
          </a:xfrm>
          <a:prstGeom prst="ellipse">
            <a:avLst/>
          </a:prstGeom>
          <a:solidFill>
            <a:srgbClr val="1EB53A">
              <a:alpha val="18000"/>
            </a:srgbClr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4" name="Shape 4"/>
          <p:cNvSpPr/>
          <p:nvPr/>
        </p:nvSpPr>
        <p:spPr>
          <a:xfrm>
            <a:off x="731520" y="960120"/>
            <a:ext cx="822960" cy="5486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2B134"/>
                </a:solidFill>
                <a:latin typeface="Arial"/>
                <a:cs typeface="Arial"/>
              </a:rPr>
              <a:t>ПРЕЗЕНТАЦИЯ</a:t>
            </a:r>
            <a:endParaRPr lang="ru-RU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554480"/>
            <a:ext cx="9509760" cy="21945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800" b="1" i="0" dirty="0">
                <a:solidFill>
                  <a:srgbClr val="FFFFFF"/>
                </a:solidFill>
                <a:latin typeface="Arial"/>
                <a:cs typeface="Arial"/>
              </a:rPr>
              <a:t>Роль и место образования и воспитания в построении нового общества в Узбекистане</a:t>
            </a:r>
            <a:endParaRPr lang="ru-RU" sz="3800" dirty="0"/>
          </a:p>
        </p:txBody>
      </p:sp>
      <p:sp>
        <p:nvSpPr>
          <p:cNvPr id="7" name="Shape 7"/>
          <p:cNvSpPr/>
          <p:nvPr/>
        </p:nvSpPr>
        <p:spPr>
          <a:xfrm>
            <a:off x="731520" y="3840480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1" dirty="0">
                <a:solidFill>
                  <a:srgbClr val="F2B134"/>
                </a:solidFill>
                <a:latin typeface="Arial"/>
                <a:cs typeface="Arial"/>
              </a:rPr>
              <a:t>Образование — фундамент Третьего Ренессанса</a:t>
            </a:r>
            <a:endParaRPr lang="ru-RU" sz="2200" dirty="0"/>
          </a:p>
        </p:txBody>
      </p:sp>
      <p:sp>
        <p:nvSpPr>
          <p:cNvPr id="8" name="Shape 8"/>
          <p:cNvSpPr/>
          <p:nvPr/>
        </p:nvSpPr>
        <p:spPr>
          <a:xfrm>
            <a:off x="731520" y="4800600"/>
            <a:ext cx="950976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C9D6E3"/>
                </a:solidFill>
                <a:latin typeface="Arial"/>
                <a:cs typeface="Arial"/>
              </a:rPr>
              <a:t>Подготовил(а): ______________________</a:t>
            </a:r>
            <a:endParaRPr lang="ru-RU" sz="1600" dirty="0"/>
          </a:p>
          <a:p>
            <a:pPr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C9D6E3"/>
                </a:solidFill>
                <a:latin typeface="Arial"/>
                <a:cs typeface="Arial"/>
              </a:rPr>
              <a:t>Группа: __________        Преподаватель: ______________________</a:t>
            </a:r>
            <a:endParaRPr lang="ru-RU" sz="1600" dirty="0"/>
          </a:p>
        </p:txBody>
      </p:sp>
      <p:sp>
        <p:nvSpPr>
          <p:cNvPr id="9" name="Shape 9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0" y="6615684"/>
            <a:ext cx="12191695" cy="9144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План презентации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2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731520" y="1508760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886968" y="1636776"/>
            <a:ext cx="493776" cy="493776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1600" dirty="0"/>
          </a:p>
        </p:txBody>
      </p:sp>
      <p:sp>
        <p:nvSpPr>
          <p:cNvPr id="11" name="Shape 11"/>
          <p:cNvSpPr/>
          <p:nvPr/>
        </p:nvSpPr>
        <p:spPr>
          <a:xfrm>
            <a:off x="1554480" y="1563624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Актуальность темы</a:t>
            </a:r>
            <a:endParaRPr lang="ru-RU" sz="1700" dirty="0"/>
          </a:p>
        </p:txBody>
      </p:sp>
      <p:sp>
        <p:nvSpPr>
          <p:cNvPr id="12" name="Shape 12"/>
          <p:cNvSpPr/>
          <p:nvPr/>
        </p:nvSpPr>
        <p:spPr>
          <a:xfrm>
            <a:off x="731520" y="2450592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886968" y="2578608"/>
            <a:ext cx="493776" cy="493776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1600" dirty="0"/>
          </a:p>
        </p:txBody>
      </p:sp>
      <p:sp>
        <p:nvSpPr>
          <p:cNvPr id="14" name="Shape 14"/>
          <p:cNvSpPr/>
          <p:nvPr/>
        </p:nvSpPr>
        <p:spPr>
          <a:xfrm>
            <a:off x="1554480" y="250545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Понятие «нового общества» и его истоки</a:t>
            </a:r>
            <a:endParaRPr lang="ru-RU" sz="1700" dirty="0"/>
          </a:p>
        </p:txBody>
      </p:sp>
      <p:sp>
        <p:nvSpPr>
          <p:cNvPr id="15" name="Shape 15"/>
          <p:cNvSpPr/>
          <p:nvPr/>
        </p:nvSpPr>
        <p:spPr>
          <a:xfrm>
            <a:off x="731520" y="3392424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886968" y="3520440"/>
            <a:ext cx="493776" cy="493776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1600" dirty="0"/>
          </a:p>
        </p:txBody>
      </p:sp>
      <p:sp>
        <p:nvSpPr>
          <p:cNvPr id="17" name="Shape 17"/>
          <p:cNvSpPr/>
          <p:nvPr/>
        </p:nvSpPr>
        <p:spPr>
          <a:xfrm>
            <a:off x="1554480" y="34472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Нормативно-правовая база реформ</a:t>
            </a:r>
            <a:endParaRPr lang="ru-RU" sz="1700" dirty="0"/>
          </a:p>
        </p:txBody>
      </p:sp>
      <p:sp>
        <p:nvSpPr>
          <p:cNvPr id="18" name="Shape 18"/>
          <p:cNvSpPr/>
          <p:nvPr/>
        </p:nvSpPr>
        <p:spPr>
          <a:xfrm>
            <a:off x="731520" y="4334256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886968" y="4462272"/>
            <a:ext cx="493776" cy="493776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1600" dirty="0"/>
          </a:p>
        </p:txBody>
      </p:sp>
      <p:sp>
        <p:nvSpPr>
          <p:cNvPr id="20" name="Shape 20"/>
          <p:cNvSpPr/>
          <p:nvPr/>
        </p:nvSpPr>
        <p:spPr>
          <a:xfrm>
            <a:off x="1554480" y="43891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Система непрерывного образования</a:t>
            </a:r>
            <a:endParaRPr lang="ru-RU" sz="1700" dirty="0"/>
          </a:p>
        </p:txBody>
      </p:sp>
      <p:sp>
        <p:nvSpPr>
          <p:cNvPr id="21" name="Shape 21"/>
          <p:cNvSpPr/>
          <p:nvPr/>
        </p:nvSpPr>
        <p:spPr>
          <a:xfrm>
            <a:off x="731520" y="5276088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886968" y="5404104"/>
            <a:ext cx="493776" cy="493776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1600" dirty="0"/>
          </a:p>
        </p:txBody>
      </p:sp>
      <p:sp>
        <p:nvSpPr>
          <p:cNvPr id="23" name="Shape 23"/>
          <p:cNvSpPr/>
          <p:nvPr/>
        </p:nvSpPr>
        <p:spPr>
          <a:xfrm>
            <a:off x="1554480" y="5330952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Единство образования и воспитания</a:t>
            </a:r>
            <a:endParaRPr lang="ru-RU" sz="1700" dirty="0"/>
          </a:p>
        </p:txBody>
      </p:sp>
      <p:sp>
        <p:nvSpPr>
          <p:cNvPr id="24" name="Shape 24"/>
          <p:cNvSpPr/>
          <p:nvPr/>
        </p:nvSpPr>
        <p:spPr>
          <a:xfrm>
            <a:off x="6400800" y="1508760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6556248" y="1636776"/>
            <a:ext cx="493776" cy="49377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ru-RU" sz="1600" dirty="0"/>
          </a:p>
        </p:txBody>
      </p:sp>
      <p:sp>
        <p:nvSpPr>
          <p:cNvPr id="26" name="Shape 26"/>
          <p:cNvSpPr/>
          <p:nvPr/>
        </p:nvSpPr>
        <p:spPr>
          <a:xfrm>
            <a:off x="7223760" y="1563624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Функции образования и направления воспитания</a:t>
            </a:r>
            <a:endParaRPr lang="ru-RU" sz="1700" dirty="0"/>
          </a:p>
        </p:txBody>
      </p:sp>
      <p:sp>
        <p:nvSpPr>
          <p:cNvPr id="27" name="Shape 27"/>
          <p:cNvSpPr/>
          <p:nvPr/>
        </p:nvSpPr>
        <p:spPr>
          <a:xfrm>
            <a:off x="6400800" y="2450592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8" name="Shape 28"/>
          <p:cNvSpPr/>
          <p:nvPr/>
        </p:nvSpPr>
        <p:spPr>
          <a:xfrm>
            <a:off x="6556248" y="2578608"/>
            <a:ext cx="493776" cy="49377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ru-RU" sz="1600" dirty="0"/>
          </a:p>
        </p:txBody>
      </p:sp>
      <p:sp>
        <p:nvSpPr>
          <p:cNvPr id="29" name="Shape 29"/>
          <p:cNvSpPr/>
          <p:nvPr/>
        </p:nvSpPr>
        <p:spPr>
          <a:xfrm>
            <a:off x="7223760" y="2505456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Реформы и результаты в цифрах</a:t>
            </a:r>
            <a:endParaRPr lang="ru-RU" sz="1700" dirty="0"/>
          </a:p>
        </p:txBody>
      </p:sp>
      <p:sp>
        <p:nvSpPr>
          <p:cNvPr id="30" name="Shape 30"/>
          <p:cNvSpPr/>
          <p:nvPr/>
        </p:nvSpPr>
        <p:spPr>
          <a:xfrm>
            <a:off x="6400800" y="3392424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1" name="Shape 31"/>
          <p:cNvSpPr/>
          <p:nvPr/>
        </p:nvSpPr>
        <p:spPr>
          <a:xfrm>
            <a:off x="6556248" y="3520440"/>
            <a:ext cx="493776" cy="49377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lang="ru-RU" sz="1600" dirty="0"/>
          </a:p>
        </p:txBody>
      </p:sp>
      <p:sp>
        <p:nvSpPr>
          <p:cNvPr id="32" name="Shape 32"/>
          <p:cNvSpPr/>
          <p:nvPr/>
        </p:nvSpPr>
        <p:spPr>
          <a:xfrm>
            <a:off x="7223760" y="3447288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Учитель, семья и махалля</a:t>
            </a:r>
            <a:endParaRPr lang="ru-RU" sz="1700" dirty="0"/>
          </a:p>
        </p:txBody>
      </p:sp>
      <p:sp>
        <p:nvSpPr>
          <p:cNvPr id="33" name="Shape 33"/>
          <p:cNvSpPr/>
          <p:nvPr/>
        </p:nvSpPr>
        <p:spPr>
          <a:xfrm>
            <a:off x="6400800" y="4334256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4" name="Shape 34"/>
          <p:cNvSpPr/>
          <p:nvPr/>
        </p:nvSpPr>
        <p:spPr>
          <a:xfrm>
            <a:off x="6556248" y="4462272"/>
            <a:ext cx="493776" cy="49377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lang="ru-RU" sz="1600" dirty="0"/>
          </a:p>
        </p:txBody>
      </p:sp>
      <p:sp>
        <p:nvSpPr>
          <p:cNvPr id="35" name="Shape 35"/>
          <p:cNvSpPr/>
          <p:nvPr/>
        </p:nvSpPr>
        <p:spPr>
          <a:xfrm>
            <a:off x="7223760" y="4389120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Цифровизация образования</a:t>
            </a:r>
            <a:endParaRPr lang="ru-RU" sz="1700" dirty="0"/>
          </a:p>
        </p:txBody>
      </p:sp>
      <p:sp>
        <p:nvSpPr>
          <p:cNvPr id="36" name="Shape 36"/>
          <p:cNvSpPr/>
          <p:nvPr/>
        </p:nvSpPr>
        <p:spPr>
          <a:xfrm>
            <a:off x="6400800" y="5276088"/>
            <a:ext cx="5303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7" name="Shape 37"/>
          <p:cNvSpPr/>
          <p:nvPr/>
        </p:nvSpPr>
        <p:spPr>
          <a:xfrm>
            <a:off x="6556248" y="5404104"/>
            <a:ext cx="493776" cy="49377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lang="ru-RU" sz="1600" dirty="0"/>
          </a:p>
        </p:txBody>
      </p:sp>
      <p:sp>
        <p:nvSpPr>
          <p:cNvPr id="38" name="Shape 38"/>
          <p:cNvSpPr/>
          <p:nvPr/>
        </p:nvSpPr>
        <p:spPr>
          <a:xfrm>
            <a:off x="7223760" y="5330952"/>
            <a:ext cx="438912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Проблемы, пути решения и выводы</a:t>
            </a:r>
            <a:endParaRPr lang="ru-RU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Актуальность темы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3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6675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82296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822960" y="1508760"/>
            <a:ext cx="62636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Молодая страна</a:t>
            </a:r>
            <a:endParaRPr lang="ru-RU" sz="1600" dirty="0"/>
          </a:p>
        </p:txBody>
      </p:sp>
      <p:sp>
        <p:nvSpPr>
          <p:cNvPr id="12" name="Shape 12"/>
          <p:cNvSpPr/>
          <p:nvPr/>
        </p:nvSpPr>
        <p:spPr>
          <a:xfrm>
            <a:off x="822960" y="1847088"/>
            <a:ext cx="62636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Население — более 37 млн человек, около половины из них моложе 30 лет. От качества их образования зависит будущее страны.</a:t>
            </a:r>
            <a:endParaRPr lang="ru-RU" sz="1300" dirty="0"/>
          </a:p>
        </p:txBody>
      </p:sp>
      <p:sp>
        <p:nvSpPr>
          <p:cNvPr id="13" name="Shape 13"/>
          <p:cNvSpPr/>
          <p:nvPr/>
        </p:nvSpPr>
        <p:spPr>
          <a:xfrm>
            <a:off x="548640" y="2633472"/>
            <a:ext cx="6675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548640" y="2633472"/>
            <a:ext cx="82296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822960" y="2724912"/>
            <a:ext cx="62636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Экономика знаний</a:t>
            </a:r>
            <a:endParaRPr lang="ru-RU" sz="1600" dirty="0"/>
          </a:p>
        </p:txBody>
      </p:sp>
      <p:sp>
        <p:nvSpPr>
          <p:cNvPr id="16" name="Shape 16"/>
          <p:cNvSpPr/>
          <p:nvPr/>
        </p:nvSpPr>
        <p:spPr>
          <a:xfrm>
            <a:off x="822960" y="3063240"/>
            <a:ext cx="62636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Конкурентоспособность государства определяется не природными ресурсами, а человеческим капиталом, наукой и инновациями.</a:t>
            </a:r>
            <a:endParaRPr lang="ru-RU" sz="1300" dirty="0"/>
          </a:p>
        </p:txBody>
      </p:sp>
      <p:sp>
        <p:nvSpPr>
          <p:cNvPr id="17" name="Shape 17"/>
          <p:cNvSpPr/>
          <p:nvPr/>
        </p:nvSpPr>
        <p:spPr>
          <a:xfrm>
            <a:off x="548640" y="3849624"/>
            <a:ext cx="6675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548640" y="3849624"/>
            <a:ext cx="82296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822960" y="3941064"/>
            <a:ext cx="62636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Приоритет реформ</a:t>
            </a:r>
            <a:endParaRPr lang="ru-RU" sz="1600" dirty="0"/>
          </a:p>
        </p:txBody>
      </p:sp>
      <p:sp>
        <p:nvSpPr>
          <p:cNvPr id="20" name="Shape 20"/>
          <p:cNvSpPr/>
          <p:nvPr/>
        </p:nvSpPr>
        <p:spPr>
          <a:xfrm>
            <a:off x="822960" y="4279392"/>
            <a:ext cx="62636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С 2017 года образование и воспитание молодёжи объявлены приоритетом государственной политики Нового Узбекистана.</a:t>
            </a:r>
            <a:endParaRPr lang="ru-RU" sz="1300" dirty="0"/>
          </a:p>
        </p:txBody>
      </p:sp>
      <p:sp>
        <p:nvSpPr>
          <p:cNvPr id="21" name="Shape 21"/>
          <p:cNvSpPr/>
          <p:nvPr/>
        </p:nvSpPr>
        <p:spPr>
          <a:xfrm>
            <a:off x="548640" y="5065776"/>
            <a:ext cx="6675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548640" y="5065776"/>
            <a:ext cx="82296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3" name="Shape 23"/>
          <p:cNvSpPr/>
          <p:nvPr/>
        </p:nvSpPr>
        <p:spPr>
          <a:xfrm>
            <a:off x="822960" y="5157216"/>
            <a:ext cx="626364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Стратегические цели</a:t>
            </a:r>
            <a:endParaRPr lang="ru-RU" sz="1600" dirty="0"/>
          </a:p>
        </p:txBody>
      </p:sp>
      <p:sp>
        <p:nvSpPr>
          <p:cNvPr id="24" name="Shape 24"/>
          <p:cNvSpPr/>
          <p:nvPr/>
        </p:nvSpPr>
        <p:spPr>
          <a:xfrm>
            <a:off x="822960" y="5495544"/>
            <a:ext cx="62636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Концепция развития народного образования (УП-5712) ставит цель войти к 2030 году в число 30 передовых стран по рейтингу PISA.</a:t>
            </a:r>
            <a:endParaRPr lang="ru-RU" sz="1300" dirty="0"/>
          </a:p>
        </p:txBody>
      </p:sp>
      <p:sp>
        <p:nvSpPr>
          <p:cNvPr id="25" name="Shape 25"/>
          <p:cNvSpPr/>
          <p:nvPr/>
        </p:nvSpPr>
        <p:spPr>
          <a:xfrm>
            <a:off x="7543800" y="1417320"/>
            <a:ext cx="4114800" cy="4727448"/>
          </a:xfrm>
          <a:prstGeom prst="rect">
            <a:avLst/>
          </a:prstGeom>
          <a:solidFill>
            <a:srgbClr val="0B3C5D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7543800" y="1417320"/>
            <a:ext cx="4114800" cy="73152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7" name="Shape 27"/>
          <p:cNvSpPr/>
          <p:nvPr/>
        </p:nvSpPr>
        <p:spPr>
          <a:xfrm>
            <a:off x="7863840" y="16916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2B134"/>
                </a:solidFill>
                <a:latin typeface="Arial"/>
                <a:cs typeface="Arial"/>
              </a:rPr>
              <a:t>ГЛАВНАЯ ИДЕЯ</a:t>
            </a:r>
            <a:endParaRPr lang="ru-RU" sz="1400" dirty="0"/>
          </a:p>
        </p:txBody>
      </p:sp>
      <p:sp>
        <p:nvSpPr>
          <p:cNvPr id="28" name="Shape 28"/>
          <p:cNvSpPr/>
          <p:nvPr/>
        </p:nvSpPr>
        <p:spPr>
          <a:xfrm>
            <a:off x="7863840" y="2148840"/>
            <a:ext cx="3474720" cy="3840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i="0" dirty="0">
                <a:solidFill>
                  <a:srgbClr val="FFFFFF"/>
                </a:solidFill>
                <a:latin typeface="Arial"/>
                <a:cs typeface="Arial"/>
              </a:rPr>
              <a:t>Образование и воспитание — не просто отрасль социальной сферы, а стратегический фундамент нового общества.</a:t>
            </a:r>
            <a:endParaRPr lang="ru-RU" sz="1900" dirty="0"/>
          </a:p>
          <a:p>
            <a:pPr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C9D6E3"/>
                </a:solidFill>
                <a:latin typeface="Arial"/>
                <a:cs typeface="Arial"/>
              </a:rPr>
              <a:t>От них зависят экономика, безопасность, культура и духовное здоровье нации.</a:t>
            </a:r>
            <a:endParaRPr lang="ru-RU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Что такое «новое общество» в Узбекистане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4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11091672" cy="1188720"/>
          </a:xfrm>
          <a:prstGeom prst="rect">
            <a:avLst/>
          </a:prstGeom>
          <a:solidFill>
            <a:srgbClr val="E6F4F5"/>
          </a:solidFill>
          <a:ln w="12700">
            <a:solidFill>
              <a:srgbClr val="0E9AA7"/>
            </a:solidFill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822960" y="1481328"/>
            <a:ext cx="10607040" cy="10607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Новый Узбекистан </a:t>
            </a: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— суверенная демократическая правовая, социальная и светская республика (ст. 1 Конституции в редакции 2023 г.), где высшей ценностью являются человек, его жизнь, свобода, честь и достоинство.</a:t>
            </a:r>
            <a:endParaRPr lang="ru-RU" sz="1500" dirty="0"/>
          </a:p>
        </p:txBody>
      </p:sp>
      <p:sp>
        <p:nvSpPr>
          <p:cNvPr id="11" name="Shape 11"/>
          <p:cNvSpPr/>
          <p:nvPr/>
        </p:nvSpPr>
        <p:spPr>
          <a:xfrm>
            <a:off x="548640" y="2834640"/>
            <a:ext cx="20848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2" name="Shape 12"/>
          <p:cNvSpPr/>
          <p:nvPr/>
        </p:nvSpPr>
        <p:spPr>
          <a:xfrm>
            <a:off x="548640" y="2834640"/>
            <a:ext cx="2084832" cy="6400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731520" y="3017520"/>
            <a:ext cx="1719072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Правовое государство</a:t>
            </a:r>
            <a:endParaRPr lang="ru-RU" sz="1500" dirty="0"/>
          </a:p>
        </p:txBody>
      </p:sp>
      <p:sp>
        <p:nvSpPr>
          <p:cNvPr id="14" name="Shape 14"/>
          <p:cNvSpPr/>
          <p:nvPr/>
        </p:nvSpPr>
        <p:spPr>
          <a:xfrm>
            <a:off x="731520" y="3675888"/>
            <a:ext cx="1719072" cy="11247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Верховенство закона, защита прав и свобод человека</a:t>
            </a:r>
            <a:endParaRPr lang="ru-RU" sz="1300" dirty="0"/>
          </a:p>
        </p:txBody>
      </p:sp>
      <p:sp>
        <p:nvSpPr>
          <p:cNvPr id="15" name="Shape 15"/>
          <p:cNvSpPr/>
          <p:nvPr/>
        </p:nvSpPr>
        <p:spPr>
          <a:xfrm>
            <a:off x="2796235" y="2834640"/>
            <a:ext cx="20848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2796235" y="2834640"/>
            <a:ext cx="2084832" cy="64008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7" name="Shape 17"/>
          <p:cNvSpPr/>
          <p:nvPr/>
        </p:nvSpPr>
        <p:spPr>
          <a:xfrm>
            <a:off x="2979115" y="3017520"/>
            <a:ext cx="1719072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Гражданское общество</a:t>
            </a:r>
            <a:endParaRPr lang="ru-RU" sz="1500" dirty="0"/>
          </a:p>
        </p:txBody>
      </p:sp>
      <p:sp>
        <p:nvSpPr>
          <p:cNvPr id="18" name="Shape 18"/>
          <p:cNvSpPr/>
          <p:nvPr/>
        </p:nvSpPr>
        <p:spPr>
          <a:xfrm>
            <a:off x="2979115" y="3675888"/>
            <a:ext cx="1719072" cy="11247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Активные граждане, махалля, НКО, свободные СМИ</a:t>
            </a:r>
            <a:endParaRPr lang="ru-RU" sz="1300" dirty="0"/>
          </a:p>
        </p:txBody>
      </p:sp>
      <p:sp>
        <p:nvSpPr>
          <p:cNvPr id="19" name="Shape 19"/>
          <p:cNvSpPr/>
          <p:nvPr/>
        </p:nvSpPr>
        <p:spPr>
          <a:xfrm>
            <a:off x="5043830" y="2834640"/>
            <a:ext cx="20848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5043830" y="2834640"/>
            <a:ext cx="2084832" cy="64008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1" name="Shape 21"/>
          <p:cNvSpPr/>
          <p:nvPr/>
        </p:nvSpPr>
        <p:spPr>
          <a:xfrm>
            <a:off x="5226710" y="3017520"/>
            <a:ext cx="1719072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Экономика знаний</a:t>
            </a:r>
            <a:endParaRPr lang="ru-RU" sz="1500" dirty="0"/>
          </a:p>
        </p:txBody>
      </p:sp>
      <p:sp>
        <p:nvSpPr>
          <p:cNvPr id="22" name="Shape 22"/>
          <p:cNvSpPr/>
          <p:nvPr/>
        </p:nvSpPr>
        <p:spPr>
          <a:xfrm>
            <a:off x="5226710" y="3675888"/>
            <a:ext cx="1719072" cy="11247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Инновации, бизнес и здоровая конкуренция</a:t>
            </a:r>
            <a:endParaRPr lang="ru-RU" sz="1300" dirty="0"/>
          </a:p>
        </p:txBody>
      </p:sp>
      <p:sp>
        <p:nvSpPr>
          <p:cNvPr id="23" name="Shape 23"/>
          <p:cNvSpPr/>
          <p:nvPr/>
        </p:nvSpPr>
        <p:spPr>
          <a:xfrm>
            <a:off x="7291426" y="2834640"/>
            <a:ext cx="20848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4" name="Shape 24"/>
          <p:cNvSpPr/>
          <p:nvPr/>
        </p:nvSpPr>
        <p:spPr>
          <a:xfrm>
            <a:off x="7291426" y="2834640"/>
            <a:ext cx="2084832" cy="6400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7474306" y="3017520"/>
            <a:ext cx="1719072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Социальная справедливость</a:t>
            </a:r>
            <a:endParaRPr lang="ru-RU" sz="1500" dirty="0"/>
          </a:p>
        </p:txBody>
      </p:sp>
      <p:sp>
        <p:nvSpPr>
          <p:cNvPr id="26" name="Shape 26"/>
          <p:cNvSpPr/>
          <p:nvPr/>
        </p:nvSpPr>
        <p:spPr>
          <a:xfrm>
            <a:off x="7474306" y="3675888"/>
            <a:ext cx="1719072" cy="11247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Равные возможности и поддержка уязвимых групп</a:t>
            </a:r>
            <a:endParaRPr lang="ru-RU" sz="1300" dirty="0"/>
          </a:p>
        </p:txBody>
      </p:sp>
      <p:sp>
        <p:nvSpPr>
          <p:cNvPr id="27" name="Shape 27"/>
          <p:cNvSpPr/>
          <p:nvPr/>
        </p:nvSpPr>
        <p:spPr>
          <a:xfrm>
            <a:off x="9539021" y="2834640"/>
            <a:ext cx="20848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8" name="Shape 28"/>
          <p:cNvSpPr/>
          <p:nvPr/>
        </p:nvSpPr>
        <p:spPr>
          <a:xfrm>
            <a:off x="9539021" y="2834640"/>
            <a:ext cx="208483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9" name="Shape 29"/>
          <p:cNvSpPr/>
          <p:nvPr/>
        </p:nvSpPr>
        <p:spPr>
          <a:xfrm>
            <a:off x="9721901" y="3017520"/>
            <a:ext cx="1719072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Духовная зрелость</a:t>
            </a:r>
            <a:endParaRPr lang="ru-RU" sz="1500" dirty="0"/>
          </a:p>
        </p:txBody>
      </p:sp>
      <p:sp>
        <p:nvSpPr>
          <p:cNvPr id="30" name="Shape 30"/>
          <p:cNvSpPr/>
          <p:nvPr/>
        </p:nvSpPr>
        <p:spPr>
          <a:xfrm>
            <a:off x="9721901" y="3675888"/>
            <a:ext cx="1719072" cy="11247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Национальные ценности и открытость миру</a:t>
            </a:r>
            <a:endParaRPr lang="ru-RU" sz="1300" dirty="0"/>
          </a:p>
        </p:txBody>
      </p:sp>
      <p:sp>
        <p:nvSpPr>
          <p:cNvPr id="31" name="Shape 31"/>
          <p:cNvSpPr/>
          <p:nvPr/>
        </p:nvSpPr>
        <p:spPr>
          <a:xfrm>
            <a:off x="548640" y="5166360"/>
            <a:ext cx="11091672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2" name="Shape 32"/>
          <p:cNvSpPr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FFFFFF"/>
                </a:solidFill>
                <a:latin typeface="Arial"/>
                <a:cs typeface="Arial"/>
              </a:rPr>
              <a:t>Принцип реформ: «Не народ служит государственным органам, а государственные органы служат народу».</a:t>
            </a:r>
            <a:endParaRPr lang="ru-RU" sz="1600" dirty="0"/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 b="0" i="1" dirty="0">
                <a:solidFill>
                  <a:srgbClr val="F2B134"/>
                </a:solidFill>
                <a:latin typeface="Arial"/>
                <a:cs typeface="Arial"/>
              </a:rPr>
              <a:t>Девиз этапа: «От национального возрождения — к национальному подъёму»</a:t>
            </a:r>
            <a:endParaRPr lang="ru-RU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Исторические истоки: образование как традиция народа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5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941832" y="1600200"/>
            <a:ext cx="45720" cy="4480560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758952" y="1554480"/>
            <a:ext cx="411480" cy="411480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1371600" y="14630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IX–XII вв.</a:t>
            </a:r>
            <a:endParaRPr lang="ru-RU" sz="1600" dirty="0"/>
          </a:p>
        </p:txBody>
      </p:sp>
      <p:sp>
        <p:nvSpPr>
          <p:cNvPr id="12" name="Shape 12"/>
          <p:cNvSpPr/>
          <p:nvPr/>
        </p:nvSpPr>
        <p:spPr>
          <a:xfrm>
            <a:off x="1371600" y="184708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Первый Ренессанс: аль-Хорезми, аль-Фараби, Беруни, Ибн Сина; Академия Мамуна в Хорезме.</a:t>
            </a:r>
            <a:endParaRPr lang="ru-RU" sz="1300" dirty="0"/>
          </a:p>
        </p:txBody>
      </p:sp>
      <p:sp>
        <p:nvSpPr>
          <p:cNvPr id="13" name="Shape 13"/>
          <p:cNvSpPr/>
          <p:nvPr/>
        </p:nvSpPr>
        <p:spPr>
          <a:xfrm>
            <a:off x="758952" y="2743200"/>
            <a:ext cx="411480" cy="411480"/>
          </a:xfrm>
          <a:prstGeom prst="ellipse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1371600" y="26517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XIV–XV вв.</a:t>
            </a:r>
            <a:endParaRPr lang="ru-RU" sz="1600" dirty="0"/>
          </a:p>
        </p:txBody>
      </p:sp>
      <p:sp>
        <p:nvSpPr>
          <p:cNvPr id="15" name="Shape 15"/>
          <p:cNvSpPr/>
          <p:nvPr/>
        </p:nvSpPr>
        <p:spPr>
          <a:xfrm>
            <a:off x="1371600" y="303580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Второй Ренессанс эпохи Темуридов: медресе и обсерватория Улугбека, творчество Алишера Навои.</a:t>
            </a:r>
            <a:endParaRPr lang="ru-RU" sz="1300" dirty="0"/>
          </a:p>
        </p:txBody>
      </p:sp>
      <p:sp>
        <p:nvSpPr>
          <p:cNvPr id="16" name="Shape 16"/>
          <p:cNvSpPr/>
          <p:nvPr/>
        </p:nvSpPr>
        <p:spPr>
          <a:xfrm>
            <a:off x="758952" y="3931920"/>
            <a:ext cx="411480" cy="411480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7" name="Shape 17"/>
          <p:cNvSpPr/>
          <p:nvPr/>
        </p:nvSpPr>
        <p:spPr>
          <a:xfrm>
            <a:off x="1371600" y="38404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Конец XIX — начало XX в.</a:t>
            </a:r>
            <a:endParaRPr lang="ru-RU" sz="1600" dirty="0"/>
          </a:p>
        </p:txBody>
      </p:sp>
      <p:sp>
        <p:nvSpPr>
          <p:cNvPr id="18" name="Shape 18"/>
          <p:cNvSpPr/>
          <p:nvPr/>
        </p:nvSpPr>
        <p:spPr>
          <a:xfrm>
            <a:off x="1371600" y="422452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Джадиды (Бехбуди, Авлони, Фитрат, Мунаввар кары): новометодные школы, просвещение как путь к независимости.</a:t>
            </a:r>
            <a:endParaRPr lang="ru-RU" sz="1300" dirty="0"/>
          </a:p>
        </p:txBody>
      </p:sp>
      <p:sp>
        <p:nvSpPr>
          <p:cNvPr id="19" name="Shape 19"/>
          <p:cNvSpPr/>
          <p:nvPr/>
        </p:nvSpPr>
        <p:spPr>
          <a:xfrm>
            <a:off x="758952" y="5120640"/>
            <a:ext cx="411480" cy="411480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1371600" y="50292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XXI век</a:t>
            </a:r>
            <a:endParaRPr lang="ru-RU" sz="1600" dirty="0"/>
          </a:p>
        </p:txBody>
      </p:sp>
      <p:sp>
        <p:nvSpPr>
          <p:cNvPr id="21" name="Shape 21"/>
          <p:cNvSpPr/>
          <p:nvPr/>
        </p:nvSpPr>
        <p:spPr>
          <a:xfrm>
            <a:off x="1371600" y="5413248"/>
            <a:ext cx="539496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Идея Третьего Ренессанса: наследие предков + современные знания, наука и технологии.</a:t>
            </a:r>
            <a:endParaRPr lang="ru-RU" sz="1300" dirty="0"/>
          </a:p>
        </p:txBody>
      </p:sp>
      <p:sp>
        <p:nvSpPr>
          <p:cNvPr id="22" name="Shape 22"/>
          <p:cNvSpPr/>
          <p:nvPr/>
        </p:nvSpPr>
        <p:spPr>
          <a:xfrm>
            <a:off x="7132320" y="1463040"/>
            <a:ext cx="4507992" cy="4663440"/>
          </a:xfrm>
          <a:prstGeom prst="rect">
            <a:avLst/>
          </a:prstGeom>
          <a:solidFill>
            <a:srgbClr val="0B3C5D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3" name="Shape 23"/>
          <p:cNvSpPr/>
          <p:nvPr/>
        </p:nvSpPr>
        <p:spPr>
          <a:xfrm>
            <a:off x="7452360" y="1463040"/>
            <a:ext cx="91440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dirty="0">
                <a:solidFill>
                  <a:srgbClr val="F2B134"/>
                </a:solidFill>
                <a:latin typeface="Arial"/>
                <a:cs typeface="Arial"/>
              </a:rPr>
              <a:t>«</a:t>
            </a:r>
            <a:endParaRPr lang="ru-RU" sz="6000" dirty="0"/>
          </a:p>
        </p:txBody>
      </p:sp>
      <p:sp>
        <p:nvSpPr>
          <p:cNvPr id="24" name="Shape 24"/>
          <p:cNvSpPr/>
          <p:nvPr/>
        </p:nvSpPr>
        <p:spPr>
          <a:xfrm>
            <a:off x="7498080" y="2377440"/>
            <a:ext cx="3840480" cy="23774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1" dirty="0">
                <a:solidFill>
                  <a:srgbClr val="FFFFFF"/>
                </a:solidFill>
                <a:latin typeface="Arial"/>
                <a:cs typeface="Arial"/>
              </a:rPr>
              <a:t>Воспитание для нас — вопрос жизни или смерти, спасения или гибели, счастья или несчастья.</a:t>
            </a:r>
            <a:endParaRPr lang="ru-RU" sz="2000" dirty="0"/>
          </a:p>
        </p:txBody>
      </p:sp>
      <p:sp>
        <p:nvSpPr>
          <p:cNvPr id="25" name="Shape 25"/>
          <p:cNvSpPr/>
          <p:nvPr/>
        </p:nvSpPr>
        <p:spPr>
          <a:xfrm>
            <a:off x="7498080" y="4892040"/>
            <a:ext cx="731520" cy="4572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7498080" y="502920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2B134"/>
                </a:solidFill>
                <a:latin typeface="Arial"/>
                <a:cs typeface="Arial"/>
              </a:rPr>
              <a:t>Абдулла Авлони</a:t>
            </a:r>
            <a:endParaRPr lang="ru-RU" sz="1500" dirty="0"/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C9D6E3"/>
                </a:solidFill>
                <a:latin typeface="Arial"/>
                <a:cs typeface="Arial"/>
              </a:rPr>
              <a:t>«Тюркский Гулистан, или Нравственность», 1913</a:t>
            </a:r>
            <a:endParaRPr lang="ru-RU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Нормативно-правовая база реформ образования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6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37160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1417320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29.04.2019</a:t>
            </a:r>
            <a:endParaRPr lang="ru-RU" sz="1500" dirty="0"/>
          </a:p>
        </p:txBody>
      </p:sp>
      <p:sp>
        <p:nvSpPr>
          <p:cNvPr id="11" name="Shape 11"/>
          <p:cNvSpPr/>
          <p:nvPr/>
        </p:nvSpPr>
        <p:spPr>
          <a:xfrm>
            <a:off x="2121408" y="146304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Концепция развития системы народного образования до 2030 г.</a:t>
            </a:r>
            <a:endParaRPr lang="ru-RU" sz="1400" dirty="0"/>
          </a:p>
        </p:txBody>
      </p:sp>
      <p:sp>
        <p:nvSpPr>
          <p:cNvPr id="12" name="Shape 12"/>
          <p:cNvSpPr/>
          <p:nvPr/>
        </p:nvSpPr>
        <p:spPr>
          <a:xfrm>
            <a:off x="2121408" y="20848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Указ Президента № УП-5712</a:t>
            </a:r>
            <a:endParaRPr lang="ru-RU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260604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548640" y="2606040"/>
            <a:ext cx="1417320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08.10.2019</a:t>
            </a:r>
            <a:endParaRPr lang="ru-RU" sz="1500" dirty="0"/>
          </a:p>
        </p:txBody>
      </p:sp>
      <p:sp>
        <p:nvSpPr>
          <p:cNvPr id="15" name="Shape 15"/>
          <p:cNvSpPr/>
          <p:nvPr/>
        </p:nvSpPr>
        <p:spPr>
          <a:xfrm>
            <a:off x="2121408" y="269748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Концепция развития системы высшего образования до 2030 г.</a:t>
            </a:r>
            <a:endParaRPr lang="ru-RU" sz="1400" dirty="0"/>
          </a:p>
        </p:txBody>
      </p:sp>
      <p:sp>
        <p:nvSpPr>
          <p:cNvPr id="16" name="Shape 16"/>
          <p:cNvSpPr/>
          <p:nvPr/>
        </p:nvSpPr>
        <p:spPr>
          <a:xfrm>
            <a:off x="2121408" y="33192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Указ Президента № УП-5847</a:t>
            </a:r>
            <a:endParaRPr lang="ru-RU" sz="1200" dirty="0"/>
          </a:p>
        </p:txBody>
      </p:sp>
      <p:sp>
        <p:nvSpPr>
          <p:cNvPr id="17" name="Shape 17"/>
          <p:cNvSpPr/>
          <p:nvPr/>
        </p:nvSpPr>
        <p:spPr>
          <a:xfrm>
            <a:off x="548640" y="384048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548640" y="3840480"/>
            <a:ext cx="1417320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16.12.2019</a:t>
            </a:r>
            <a:endParaRPr lang="ru-RU" sz="1500" dirty="0"/>
          </a:p>
        </p:txBody>
      </p:sp>
      <p:sp>
        <p:nvSpPr>
          <p:cNvPr id="19" name="Shape 19"/>
          <p:cNvSpPr/>
          <p:nvPr/>
        </p:nvSpPr>
        <p:spPr>
          <a:xfrm>
            <a:off x="2121408" y="393192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Закон «О дошкольном образовании и воспитании»</a:t>
            </a:r>
            <a:endParaRPr lang="ru-RU" sz="1400" dirty="0"/>
          </a:p>
        </p:txBody>
      </p:sp>
      <p:sp>
        <p:nvSpPr>
          <p:cNvPr id="20" name="Shape 20"/>
          <p:cNvSpPr/>
          <p:nvPr/>
        </p:nvSpPr>
        <p:spPr>
          <a:xfrm>
            <a:off x="2121408" y="45537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№ ЗРУ-595</a:t>
            </a:r>
            <a:endParaRPr lang="ru-RU" sz="1200" dirty="0"/>
          </a:p>
        </p:txBody>
      </p:sp>
      <p:sp>
        <p:nvSpPr>
          <p:cNvPr id="21" name="Shape 21"/>
          <p:cNvSpPr/>
          <p:nvPr/>
        </p:nvSpPr>
        <p:spPr>
          <a:xfrm>
            <a:off x="548640" y="507492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548640" y="5074920"/>
            <a:ext cx="1417320" cy="107899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23.09.2020</a:t>
            </a:r>
            <a:endParaRPr lang="ru-RU" sz="1500" dirty="0"/>
          </a:p>
        </p:txBody>
      </p:sp>
      <p:sp>
        <p:nvSpPr>
          <p:cNvPr id="23" name="Shape 23"/>
          <p:cNvSpPr/>
          <p:nvPr/>
        </p:nvSpPr>
        <p:spPr>
          <a:xfrm>
            <a:off x="2121408" y="516636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Закон «Об образовании» — основной закон отрасли</a:t>
            </a:r>
            <a:endParaRPr lang="ru-RU" sz="1400" dirty="0"/>
          </a:p>
        </p:txBody>
      </p:sp>
      <p:sp>
        <p:nvSpPr>
          <p:cNvPr id="24" name="Shape 24"/>
          <p:cNvSpPr/>
          <p:nvPr/>
        </p:nvSpPr>
        <p:spPr>
          <a:xfrm>
            <a:off x="2121408" y="57881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№ ЗРУ-637</a:t>
            </a:r>
            <a:endParaRPr lang="ru-RU" sz="1200" dirty="0"/>
          </a:p>
        </p:txBody>
      </p:sp>
      <p:sp>
        <p:nvSpPr>
          <p:cNvPr id="25" name="Shape 25"/>
          <p:cNvSpPr/>
          <p:nvPr/>
        </p:nvSpPr>
        <p:spPr>
          <a:xfrm>
            <a:off x="6190488" y="137160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6190488" y="1371600"/>
            <a:ext cx="1417320" cy="1078992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05.10.2020</a:t>
            </a:r>
            <a:endParaRPr lang="ru-RU" sz="1500" dirty="0"/>
          </a:p>
        </p:txBody>
      </p:sp>
      <p:sp>
        <p:nvSpPr>
          <p:cNvPr id="27" name="Shape 27"/>
          <p:cNvSpPr/>
          <p:nvPr/>
        </p:nvSpPr>
        <p:spPr>
          <a:xfrm>
            <a:off x="7763256" y="146304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Стратегия «Цифровой Узбекистан — 2030»</a:t>
            </a:r>
            <a:endParaRPr lang="ru-RU" sz="1400" dirty="0"/>
          </a:p>
        </p:txBody>
      </p:sp>
      <p:sp>
        <p:nvSpPr>
          <p:cNvPr id="28" name="Shape 28"/>
          <p:cNvSpPr/>
          <p:nvPr/>
        </p:nvSpPr>
        <p:spPr>
          <a:xfrm>
            <a:off x="7763256" y="208483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Указ Президента № УП-6079</a:t>
            </a:r>
            <a:endParaRPr lang="ru-RU" sz="1200" dirty="0"/>
          </a:p>
        </p:txBody>
      </p:sp>
      <p:sp>
        <p:nvSpPr>
          <p:cNvPr id="29" name="Shape 29"/>
          <p:cNvSpPr/>
          <p:nvPr/>
        </p:nvSpPr>
        <p:spPr>
          <a:xfrm>
            <a:off x="6190488" y="260604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6190488" y="2606040"/>
            <a:ext cx="1417320" cy="1078992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28.01.2022</a:t>
            </a:r>
            <a:endParaRPr lang="ru-RU" sz="1500" dirty="0"/>
          </a:p>
        </p:txBody>
      </p:sp>
      <p:sp>
        <p:nvSpPr>
          <p:cNvPr id="31" name="Shape 31"/>
          <p:cNvSpPr/>
          <p:nvPr/>
        </p:nvSpPr>
        <p:spPr>
          <a:xfrm>
            <a:off x="7763256" y="269748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Стратегия развития Нового Узбекистана на 2022–2026 гг.</a:t>
            </a:r>
            <a:endParaRPr lang="ru-RU" sz="1400" dirty="0"/>
          </a:p>
        </p:txBody>
      </p:sp>
      <p:sp>
        <p:nvSpPr>
          <p:cNvPr id="32" name="Shape 32"/>
          <p:cNvSpPr/>
          <p:nvPr/>
        </p:nvSpPr>
        <p:spPr>
          <a:xfrm>
            <a:off x="7763256" y="33192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Указ Президента № УП-60</a:t>
            </a:r>
            <a:endParaRPr lang="ru-RU" sz="1200" dirty="0"/>
          </a:p>
        </p:txBody>
      </p:sp>
      <p:sp>
        <p:nvSpPr>
          <p:cNvPr id="33" name="Shape 33"/>
          <p:cNvSpPr/>
          <p:nvPr/>
        </p:nvSpPr>
        <p:spPr>
          <a:xfrm>
            <a:off x="6190488" y="384048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4" name="Shape 34"/>
          <p:cNvSpPr/>
          <p:nvPr/>
        </p:nvSpPr>
        <p:spPr>
          <a:xfrm>
            <a:off x="6190488" y="3840480"/>
            <a:ext cx="1417320" cy="1078992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30.04.2023</a:t>
            </a:r>
            <a:endParaRPr lang="ru-RU" sz="1500" dirty="0"/>
          </a:p>
        </p:txBody>
      </p:sp>
      <p:sp>
        <p:nvSpPr>
          <p:cNvPr id="35" name="Shape 35"/>
          <p:cNvSpPr/>
          <p:nvPr/>
        </p:nvSpPr>
        <p:spPr>
          <a:xfrm>
            <a:off x="7763256" y="393192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Конституция в новой редакции принята на референдуме</a:t>
            </a:r>
            <a:endParaRPr lang="ru-RU" sz="1400" dirty="0"/>
          </a:p>
        </p:txBody>
      </p:sp>
      <p:sp>
        <p:nvSpPr>
          <p:cNvPr id="36" name="Shape 36"/>
          <p:cNvSpPr/>
          <p:nvPr/>
        </p:nvSpPr>
        <p:spPr>
          <a:xfrm>
            <a:off x="7763256" y="45537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Вступила в силу 01.05.2023</a:t>
            </a:r>
            <a:endParaRPr lang="ru-RU" sz="1200" dirty="0"/>
          </a:p>
        </p:txBody>
      </p:sp>
      <p:sp>
        <p:nvSpPr>
          <p:cNvPr id="37" name="Shape 37"/>
          <p:cNvSpPr/>
          <p:nvPr/>
        </p:nvSpPr>
        <p:spPr>
          <a:xfrm>
            <a:off x="6190488" y="5074920"/>
            <a:ext cx="5449824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8" name="Shape 38"/>
          <p:cNvSpPr/>
          <p:nvPr/>
        </p:nvSpPr>
        <p:spPr>
          <a:xfrm>
            <a:off x="6190488" y="5074920"/>
            <a:ext cx="1417320" cy="1078992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FFFFF"/>
                </a:solidFill>
                <a:latin typeface="Arial"/>
                <a:cs typeface="Arial"/>
              </a:rPr>
              <a:t>11.09.2023</a:t>
            </a:r>
            <a:endParaRPr lang="ru-RU" sz="1500" dirty="0"/>
          </a:p>
        </p:txBody>
      </p:sp>
      <p:sp>
        <p:nvSpPr>
          <p:cNvPr id="39" name="Shape 39"/>
          <p:cNvSpPr/>
          <p:nvPr/>
        </p:nvSpPr>
        <p:spPr>
          <a:xfrm>
            <a:off x="7763256" y="5166360"/>
            <a:ext cx="3749040" cy="603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Стратегия «Узбекистан — 2030»</a:t>
            </a:r>
            <a:endParaRPr lang="ru-RU" sz="1400" dirty="0"/>
          </a:p>
        </p:txBody>
      </p:sp>
      <p:sp>
        <p:nvSpPr>
          <p:cNvPr id="40" name="Shape 40"/>
          <p:cNvSpPr/>
          <p:nvPr/>
        </p:nvSpPr>
        <p:spPr>
          <a:xfrm>
            <a:off x="7763256" y="57881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5B6B7F"/>
                </a:solidFill>
                <a:latin typeface="Arial"/>
                <a:cs typeface="Arial"/>
              </a:rPr>
              <a:t>Указ Президента № УП-158</a:t>
            </a:r>
            <a:endParaRPr lang="ru-RU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Система непрерывного образования (Закон № ЗРУ-637)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7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63040"/>
            <a:ext cx="1463040" cy="685800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2400" dirty="0"/>
          </a:p>
        </p:txBody>
      </p:sp>
      <p:sp>
        <p:nvSpPr>
          <p:cNvPr id="11" name="Shape 11"/>
          <p:cNvSpPr/>
          <p:nvPr/>
        </p:nvSpPr>
        <p:spPr>
          <a:xfrm>
            <a:off x="585216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Дошкольное образование и воспитание</a:t>
            </a:r>
            <a:endParaRPr lang="ru-RU" sz="1250" dirty="0"/>
          </a:p>
        </p:txBody>
      </p:sp>
      <p:sp>
        <p:nvSpPr>
          <p:cNvPr id="12" name="Shape 12"/>
          <p:cNvSpPr/>
          <p:nvPr/>
        </p:nvSpPr>
        <p:spPr>
          <a:xfrm>
            <a:off x="1005840" y="3794760"/>
            <a:ext cx="548640" cy="36576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640080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Детские сады, подготовка детей к школе</a:t>
            </a:r>
            <a:endParaRPr lang="ru-RU" sz="1200" dirty="0"/>
          </a:p>
        </p:txBody>
      </p:sp>
      <p:sp>
        <p:nvSpPr>
          <p:cNvPr id="14" name="Shape 14"/>
          <p:cNvSpPr/>
          <p:nvPr/>
        </p:nvSpPr>
        <p:spPr>
          <a:xfrm>
            <a:off x="2144268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2144268" y="1463040"/>
            <a:ext cx="1463040" cy="685800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2400" dirty="0"/>
          </a:p>
        </p:txBody>
      </p:sp>
      <p:sp>
        <p:nvSpPr>
          <p:cNvPr id="16" name="Shape 16"/>
          <p:cNvSpPr/>
          <p:nvPr/>
        </p:nvSpPr>
        <p:spPr>
          <a:xfrm>
            <a:off x="2180844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Общее среднее и среднее специальное</a:t>
            </a:r>
            <a:endParaRPr lang="ru-RU" sz="1250" dirty="0"/>
          </a:p>
        </p:txBody>
      </p:sp>
      <p:sp>
        <p:nvSpPr>
          <p:cNvPr id="17" name="Shape 17"/>
          <p:cNvSpPr/>
          <p:nvPr/>
        </p:nvSpPr>
        <p:spPr>
          <a:xfrm>
            <a:off x="2601468" y="3794760"/>
            <a:ext cx="548640" cy="36576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2235708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11 лет обучения; общее среднее — бесплатное</a:t>
            </a:r>
            <a:endParaRPr lang="ru-RU" sz="1200" dirty="0"/>
          </a:p>
        </p:txBody>
      </p:sp>
      <p:sp>
        <p:nvSpPr>
          <p:cNvPr id="19" name="Shape 19"/>
          <p:cNvSpPr/>
          <p:nvPr/>
        </p:nvSpPr>
        <p:spPr>
          <a:xfrm>
            <a:off x="3739896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3739896" y="1463040"/>
            <a:ext cx="1463040" cy="68580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2400" dirty="0"/>
          </a:p>
        </p:txBody>
      </p:sp>
      <p:sp>
        <p:nvSpPr>
          <p:cNvPr id="21" name="Shape 21"/>
          <p:cNvSpPr/>
          <p:nvPr/>
        </p:nvSpPr>
        <p:spPr>
          <a:xfrm>
            <a:off x="3776472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Профессио-нальное</a:t>
            </a:r>
            <a:endParaRPr lang="ru-RU" sz="1250" dirty="0"/>
          </a:p>
        </p:txBody>
      </p:sp>
      <p:sp>
        <p:nvSpPr>
          <p:cNvPr id="22" name="Shape 22"/>
          <p:cNvSpPr/>
          <p:nvPr/>
        </p:nvSpPr>
        <p:spPr>
          <a:xfrm>
            <a:off x="4197096" y="3794760"/>
            <a:ext cx="548640" cy="36576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3" name="Shape 23"/>
          <p:cNvSpPr/>
          <p:nvPr/>
        </p:nvSpPr>
        <p:spPr>
          <a:xfrm>
            <a:off x="3831336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Профшколы, колледжи, техникумы</a:t>
            </a:r>
            <a:endParaRPr lang="ru-RU" sz="1200" dirty="0"/>
          </a:p>
        </p:txBody>
      </p:sp>
      <p:sp>
        <p:nvSpPr>
          <p:cNvPr id="24" name="Shape 24"/>
          <p:cNvSpPr/>
          <p:nvPr/>
        </p:nvSpPr>
        <p:spPr>
          <a:xfrm>
            <a:off x="5335524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5335524" y="1463040"/>
            <a:ext cx="1463040" cy="685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2400" dirty="0"/>
          </a:p>
        </p:txBody>
      </p:sp>
      <p:sp>
        <p:nvSpPr>
          <p:cNvPr id="26" name="Shape 26"/>
          <p:cNvSpPr/>
          <p:nvPr/>
        </p:nvSpPr>
        <p:spPr>
          <a:xfrm>
            <a:off x="5372100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Высшее</a:t>
            </a:r>
            <a:endParaRPr lang="ru-RU" sz="1250" dirty="0"/>
          </a:p>
        </p:txBody>
      </p:sp>
      <p:sp>
        <p:nvSpPr>
          <p:cNvPr id="27" name="Shape 27"/>
          <p:cNvSpPr/>
          <p:nvPr/>
        </p:nvSpPr>
        <p:spPr>
          <a:xfrm>
            <a:off x="5792724" y="3794760"/>
            <a:ext cx="548640" cy="365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8" name="Shape 28"/>
          <p:cNvSpPr/>
          <p:nvPr/>
        </p:nvSpPr>
        <p:spPr>
          <a:xfrm>
            <a:off x="5426964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Бакалавриат и магистратура</a:t>
            </a:r>
            <a:endParaRPr lang="ru-RU" sz="1200" dirty="0"/>
          </a:p>
        </p:txBody>
      </p:sp>
      <p:sp>
        <p:nvSpPr>
          <p:cNvPr id="29" name="Shape 29"/>
          <p:cNvSpPr/>
          <p:nvPr/>
        </p:nvSpPr>
        <p:spPr>
          <a:xfrm>
            <a:off x="6931152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6931152" y="1463040"/>
            <a:ext cx="1463040" cy="685800"/>
          </a:xfrm>
          <a:prstGeom prst="rect">
            <a:avLst/>
          </a:prstGeom>
          <a:solidFill>
            <a:srgbClr val="14507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2400" dirty="0"/>
          </a:p>
        </p:txBody>
      </p:sp>
      <p:sp>
        <p:nvSpPr>
          <p:cNvPr id="31" name="Shape 31"/>
          <p:cNvSpPr/>
          <p:nvPr/>
        </p:nvSpPr>
        <p:spPr>
          <a:xfrm>
            <a:off x="6967728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Послевузовское</a:t>
            </a:r>
            <a:endParaRPr lang="ru-RU" sz="1250" dirty="0"/>
          </a:p>
        </p:txBody>
      </p:sp>
      <p:sp>
        <p:nvSpPr>
          <p:cNvPr id="32" name="Shape 32"/>
          <p:cNvSpPr/>
          <p:nvPr/>
        </p:nvSpPr>
        <p:spPr>
          <a:xfrm>
            <a:off x="7388352" y="3794760"/>
            <a:ext cx="548640" cy="36576"/>
          </a:xfrm>
          <a:prstGeom prst="rect">
            <a:avLst/>
          </a:prstGeom>
          <a:solidFill>
            <a:srgbClr val="14507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3" name="Shape 33"/>
          <p:cNvSpPr/>
          <p:nvPr/>
        </p:nvSpPr>
        <p:spPr>
          <a:xfrm>
            <a:off x="7022592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Базовая докторантура (PhD) и докторантура (DSc)</a:t>
            </a:r>
            <a:endParaRPr lang="ru-RU" sz="1200" dirty="0"/>
          </a:p>
        </p:txBody>
      </p:sp>
      <p:sp>
        <p:nvSpPr>
          <p:cNvPr id="34" name="Shape 34"/>
          <p:cNvSpPr/>
          <p:nvPr/>
        </p:nvSpPr>
        <p:spPr>
          <a:xfrm>
            <a:off x="8526780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5" name="Shape 35"/>
          <p:cNvSpPr/>
          <p:nvPr/>
        </p:nvSpPr>
        <p:spPr>
          <a:xfrm>
            <a:off x="8526780" y="1463040"/>
            <a:ext cx="1463040" cy="6858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ru-RU" sz="2400" dirty="0"/>
          </a:p>
        </p:txBody>
      </p:sp>
      <p:sp>
        <p:nvSpPr>
          <p:cNvPr id="36" name="Shape 36"/>
          <p:cNvSpPr/>
          <p:nvPr/>
        </p:nvSpPr>
        <p:spPr>
          <a:xfrm>
            <a:off x="8563356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Переподготовка и повышение квалификации</a:t>
            </a:r>
            <a:endParaRPr lang="ru-RU" sz="1250" dirty="0"/>
          </a:p>
        </p:txBody>
      </p:sp>
      <p:sp>
        <p:nvSpPr>
          <p:cNvPr id="37" name="Shape 37"/>
          <p:cNvSpPr/>
          <p:nvPr/>
        </p:nvSpPr>
        <p:spPr>
          <a:xfrm>
            <a:off x="8983980" y="3794760"/>
            <a:ext cx="548640" cy="36576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8" name="Shape 38"/>
          <p:cNvSpPr/>
          <p:nvPr/>
        </p:nvSpPr>
        <p:spPr>
          <a:xfrm>
            <a:off x="8618220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Обучение в течение всей жизни</a:t>
            </a:r>
            <a:endParaRPr lang="ru-RU" sz="1200" dirty="0"/>
          </a:p>
        </p:txBody>
      </p:sp>
      <p:sp>
        <p:nvSpPr>
          <p:cNvPr id="39" name="Shape 39"/>
          <p:cNvSpPr/>
          <p:nvPr/>
        </p:nvSpPr>
        <p:spPr>
          <a:xfrm>
            <a:off x="10122408" y="1463040"/>
            <a:ext cx="146304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40" name="Shape 40"/>
          <p:cNvSpPr/>
          <p:nvPr/>
        </p:nvSpPr>
        <p:spPr>
          <a:xfrm>
            <a:off x="10122408" y="1463040"/>
            <a:ext cx="1463040" cy="68580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lang="ru-RU" sz="2400" dirty="0"/>
          </a:p>
        </p:txBody>
      </p:sp>
      <p:sp>
        <p:nvSpPr>
          <p:cNvPr id="41" name="Shape 41"/>
          <p:cNvSpPr/>
          <p:nvPr/>
        </p:nvSpPr>
        <p:spPr>
          <a:xfrm>
            <a:off x="10158984" y="2267712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 b="1" i="0" dirty="0">
                <a:solidFill>
                  <a:srgbClr val="0B3C5D"/>
                </a:solidFill>
                <a:latin typeface="Arial"/>
                <a:cs typeface="Arial"/>
              </a:rPr>
              <a:t>Внешкольное</a:t>
            </a:r>
            <a:endParaRPr lang="ru-RU" sz="1250" dirty="0"/>
          </a:p>
        </p:txBody>
      </p:sp>
      <p:sp>
        <p:nvSpPr>
          <p:cNvPr id="42" name="Shape 42"/>
          <p:cNvSpPr/>
          <p:nvPr/>
        </p:nvSpPr>
        <p:spPr>
          <a:xfrm>
            <a:off x="10579608" y="3794760"/>
            <a:ext cx="548640" cy="36576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43" name="Shape 43"/>
          <p:cNvSpPr/>
          <p:nvPr/>
        </p:nvSpPr>
        <p:spPr>
          <a:xfrm>
            <a:off x="10213848" y="3931920"/>
            <a:ext cx="1280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0" i="0" dirty="0">
                <a:solidFill>
                  <a:srgbClr val="1F2937"/>
                </a:solidFill>
                <a:latin typeface="Arial"/>
                <a:cs typeface="Arial"/>
              </a:rPr>
              <a:t>Кружки, центры творчества и спорта</a:t>
            </a:r>
            <a:endParaRPr lang="ru-RU" sz="1200" dirty="0"/>
          </a:p>
        </p:txBody>
      </p:sp>
      <p:sp>
        <p:nvSpPr>
          <p:cNvPr id="44" name="Shape 44"/>
          <p:cNvSpPr/>
          <p:nvPr/>
        </p:nvSpPr>
        <p:spPr>
          <a:xfrm>
            <a:off x="548640" y="5532120"/>
            <a:ext cx="11091672" cy="658368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F2B134"/>
                </a:solidFill>
                <a:latin typeface="Arial"/>
                <a:cs typeface="Arial"/>
              </a:rPr>
              <a:t>Принципы: </a:t>
            </a: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непрерывность, преемственность, доступность и обучение в течение всей жизни</a:t>
            </a:r>
            <a:endParaRPr lang="ru-RU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Единство образования и воспитания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8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6304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63040"/>
            <a:ext cx="3931920" cy="731520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ОБРАЗОВАНИЕ</a:t>
            </a:r>
            <a:endParaRPr lang="ru-RU" sz="2000" dirty="0"/>
          </a:p>
        </p:txBody>
      </p:sp>
      <p:sp>
        <p:nvSpPr>
          <p:cNvPr id="11" name="Shape 11"/>
          <p:cNvSpPr/>
          <p:nvPr/>
        </p:nvSpPr>
        <p:spPr>
          <a:xfrm>
            <a:off x="777240" y="2377440"/>
            <a:ext cx="3520440" cy="2743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Знания и умения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Компетенции XXI века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Критическое мышление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Профессия и карьера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Иностранные языки и ИТ</a:t>
            </a:r>
            <a:endParaRPr lang="ru-RU" sz="1500" dirty="0"/>
          </a:p>
        </p:txBody>
      </p:sp>
      <p:sp>
        <p:nvSpPr>
          <p:cNvPr id="12" name="Shape 12"/>
          <p:cNvSpPr/>
          <p:nvPr/>
        </p:nvSpPr>
        <p:spPr>
          <a:xfrm>
            <a:off x="7708392" y="1463040"/>
            <a:ext cx="393192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7708392" y="1463040"/>
            <a:ext cx="3931920" cy="73152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ВОСПИТАНИЕ</a:t>
            </a:r>
            <a:endParaRPr lang="ru-RU" sz="2000" dirty="0"/>
          </a:p>
        </p:txBody>
      </p:sp>
      <p:sp>
        <p:nvSpPr>
          <p:cNvPr id="14" name="Shape 14"/>
          <p:cNvSpPr/>
          <p:nvPr/>
        </p:nvSpPr>
        <p:spPr>
          <a:xfrm>
            <a:off x="7936992" y="2377440"/>
            <a:ext cx="3520440" cy="2743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Ценности и мировоззрение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Патриотизм и гражданственность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Честность и ответственность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Толерантность и уважение</a:t>
            </a:r>
            <a:endParaRPr lang="ru-RU" sz="1500" dirty="0"/>
          </a:p>
          <a:p>
            <a:pPr algn="l" marL="256032" indent="-256032">
              <a:spcBef>
                <a:spcPts val="6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•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Правовая культура</a:t>
            </a:r>
            <a:endParaRPr lang="ru-RU" sz="1500" dirty="0"/>
          </a:p>
        </p:txBody>
      </p:sp>
      <p:sp>
        <p:nvSpPr>
          <p:cNvPr id="15" name="Shape 15"/>
          <p:cNvSpPr/>
          <p:nvPr/>
        </p:nvSpPr>
        <p:spPr>
          <a:xfrm>
            <a:off x="4773168" y="1783080"/>
            <a:ext cx="2651760" cy="2651760"/>
          </a:xfrm>
          <a:prstGeom prst="ellipse">
            <a:avLst/>
          </a:prstGeom>
          <a:solidFill>
            <a:srgbClr val="0B3C5D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274320" tIns="91440" rIns="274320" bIns="914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FFFFFF"/>
                </a:solidFill>
                <a:latin typeface="Arial"/>
                <a:cs typeface="Arial"/>
              </a:rPr>
              <a:t>Гармонично развитая личность</a:t>
            </a:r>
            <a:endParaRPr lang="ru-RU" sz="1800" dirty="0"/>
          </a:p>
        </p:txBody>
      </p:sp>
      <p:sp>
        <p:nvSpPr>
          <p:cNvPr id="16" name="Shape 16"/>
          <p:cNvSpPr/>
          <p:nvPr/>
        </p:nvSpPr>
        <p:spPr>
          <a:xfrm>
            <a:off x="4526280" y="1783080"/>
            <a:ext cx="274320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i="0" dirty="0">
                <a:solidFill>
                  <a:srgbClr val="0E9AA7"/>
                </a:solidFill>
                <a:latin typeface="Arial"/>
                <a:cs typeface="Arial"/>
              </a:rPr>
              <a:t>+</a:t>
            </a:r>
            <a:endParaRPr lang="ru-RU" sz="3000" dirty="0"/>
          </a:p>
        </p:txBody>
      </p:sp>
      <p:sp>
        <p:nvSpPr>
          <p:cNvPr id="17" name="Shape 17"/>
          <p:cNvSpPr/>
          <p:nvPr/>
        </p:nvSpPr>
        <p:spPr>
          <a:xfrm>
            <a:off x="7406640" y="1783080"/>
            <a:ext cx="274320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i="0" dirty="0">
                <a:solidFill>
                  <a:srgbClr val="1EB53A"/>
                </a:solidFill>
                <a:latin typeface="Arial"/>
                <a:cs typeface="Arial"/>
              </a:rPr>
              <a:t>+</a:t>
            </a:r>
            <a:endParaRPr lang="ru-RU" sz="3000" dirty="0"/>
          </a:p>
        </p:txBody>
      </p:sp>
      <p:sp>
        <p:nvSpPr>
          <p:cNvPr id="18" name="Shape 18"/>
          <p:cNvSpPr/>
          <p:nvPr/>
        </p:nvSpPr>
        <p:spPr>
          <a:xfrm>
            <a:off x="4572000" y="452628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1" dirty="0">
                <a:solidFill>
                  <a:srgbClr val="5B6B7F"/>
                </a:solidFill>
                <a:latin typeface="Arial"/>
                <a:cs typeface="Arial"/>
              </a:rPr>
              <a:t>«Баркамол авлод» — цель всей системы</a:t>
            </a:r>
            <a:endParaRPr lang="ru-RU" sz="1300" dirty="0"/>
          </a:p>
        </p:txBody>
      </p:sp>
      <p:sp>
        <p:nvSpPr>
          <p:cNvPr id="19" name="Shape 19"/>
          <p:cNvSpPr/>
          <p:nvPr/>
        </p:nvSpPr>
        <p:spPr>
          <a:xfrm>
            <a:off x="548640" y="5440680"/>
            <a:ext cx="11091672" cy="749808"/>
          </a:xfrm>
          <a:prstGeom prst="rect">
            <a:avLst/>
          </a:prstGeom>
          <a:solidFill>
            <a:srgbClr val="FDF4E1"/>
          </a:solidFill>
          <a:ln w="12700">
            <a:solidFill>
              <a:srgbClr val="F2B134"/>
            </a:solidFill>
          </a:ln>
        </p:spPr>
        <p:txBody>
          <a:bodyPr wrap="square" lIns="274320" tIns="45720" rIns="274320" bIns="4572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Знания без воспитания могут быть опасны, а воспитание без знаний — бессильно. Поэтому новое общество требует их единства.</a:t>
            </a:r>
            <a:endParaRPr lang="ru-RU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Функции образования в построении нового общества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9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3593592" cy="6400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731520" y="1636776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1400" dirty="0"/>
          </a:p>
        </p:txBody>
      </p:sp>
      <p:sp>
        <p:nvSpPr>
          <p:cNvPr id="12" name="Shape 12"/>
          <p:cNvSpPr/>
          <p:nvPr/>
        </p:nvSpPr>
        <p:spPr>
          <a:xfrm>
            <a:off x="128016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Экономическая</a:t>
            </a:r>
            <a:endParaRPr lang="ru-RU" sz="1700" dirty="0"/>
          </a:p>
        </p:txBody>
      </p:sp>
      <p:sp>
        <p:nvSpPr>
          <p:cNvPr id="13" name="Shape 13"/>
          <p:cNvSpPr/>
          <p:nvPr/>
        </p:nvSpPr>
        <p:spPr>
          <a:xfrm>
            <a:off x="73152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Подготовка конкурентоспособных кадров для экономики знаний и цифровой экономики.</a:t>
            </a:r>
            <a:endParaRPr lang="ru-RU" sz="1400" dirty="0"/>
          </a:p>
        </p:txBody>
      </p:sp>
      <p:sp>
        <p:nvSpPr>
          <p:cNvPr id="14" name="Shape 14"/>
          <p:cNvSpPr/>
          <p:nvPr/>
        </p:nvSpPr>
        <p:spPr>
          <a:xfrm>
            <a:off x="429768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4297680" y="1417320"/>
            <a:ext cx="3593592" cy="64008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4480560" y="1636776"/>
            <a:ext cx="438912" cy="438912"/>
          </a:xfrm>
          <a:prstGeom prst="ellipse">
            <a:avLst/>
          </a:prstGeom>
          <a:solidFill>
            <a:srgbClr val="0099B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1400" dirty="0"/>
          </a:p>
        </p:txBody>
      </p:sp>
      <p:sp>
        <p:nvSpPr>
          <p:cNvPr id="17" name="Shape 17"/>
          <p:cNvSpPr/>
          <p:nvPr/>
        </p:nvSpPr>
        <p:spPr>
          <a:xfrm>
            <a:off x="502920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Социальная</a:t>
            </a:r>
            <a:endParaRPr lang="ru-RU" sz="1700" dirty="0"/>
          </a:p>
        </p:txBody>
      </p:sp>
      <p:sp>
        <p:nvSpPr>
          <p:cNvPr id="18" name="Shape 18"/>
          <p:cNvSpPr/>
          <p:nvPr/>
        </p:nvSpPr>
        <p:spPr>
          <a:xfrm>
            <a:off x="448056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Равный доступ к знаниям, социальная мобильность, сокращение бедности.</a:t>
            </a:r>
            <a:endParaRPr lang="ru-RU" sz="1400" dirty="0"/>
          </a:p>
        </p:txBody>
      </p:sp>
      <p:sp>
        <p:nvSpPr>
          <p:cNvPr id="19" name="Shape 19"/>
          <p:cNvSpPr/>
          <p:nvPr/>
        </p:nvSpPr>
        <p:spPr>
          <a:xfrm>
            <a:off x="804672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8046720" y="1417320"/>
            <a:ext cx="3593592" cy="64008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1" name="Shape 21"/>
          <p:cNvSpPr/>
          <p:nvPr/>
        </p:nvSpPr>
        <p:spPr>
          <a:xfrm>
            <a:off x="8229600" y="1636776"/>
            <a:ext cx="438912" cy="438912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1400" dirty="0"/>
          </a:p>
        </p:txBody>
      </p:sp>
      <p:sp>
        <p:nvSpPr>
          <p:cNvPr id="22" name="Shape 22"/>
          <p:cNvSpPr/>
          <p:nvPr/>
        </p:nvSpPr>
        <p:spPr>
          <a:xfrm>
            <a:off x="877824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Гражданско-правовая</a:t>
            </a:r>
            <a:endParaRPr lang="ru-RU" sz="1700" dirty="0"/>
          </a:p>
        </p:txBody>
      </p:sp>
      <p:sp>
        <p:nvSpPr>
          <p:cNvPr id="23" name="Shape 23"/>
          <p:cNvSpPr/>
          <p:nvPr/>
        </p:nvSpPr>
        <p:spPr>
          <a:xfrm>
            <a:off x="822960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Формирование активного гражданина с высокой правовой культурой.</a:t>
            </a:r>
            <a:endParaRPr lang="ru-RU" sz="1400" dirty="0"/>
          </a:p>
        </p:txBody>
      </p:sp>
      <p:sp>
        <p:nvSpPr>
          <p:cNvPr id="24" name="Shape 24"/>
          <p:cNvSpPr/>
          <p:nvPr/>
        </p:nvSpPr>
        <p:spPr>
          <a:xfrm>
            <a:off x="54864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548640" y="3813048"/>
            <a:ext cx="3593592" cy="6400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731520" y="4032504"/>
            <a:ext cx="438912" cy="438912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1400" dirty="0"/>
          </a:p>
        </p:txBody>
      </p:sp>
      <p:sp>
        <p:nvSpPr>
          <p:cNvPr id="27" name="Shape 27"/>
          <p:cNvSpPr/>
          <p:nvPr/>
        </p:nvSpPr>
        <p:spPr>
          <a:xfrm>
            <a:off x="128016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Культурно-духовная</a:t>
            </a:r>
            <a:endParaRPr lang="ru-RU" sz="1700" dirty="0"/>
          </a:p>
        </p:txBody>
      </p:sp>
      <p:sp>
        <p:nvSpPr>
          <p:cNvPr id="28" name="Shape 28"/>
          <p:cNvSpPr/>
          <p:nvPr/>
        </p:nvSpPr>
        <p:spPr>
          <a:xfrm>
            <a:off x="73152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Сохранение языка, национальных традиций и исторического наследия.</a:t>
            </a:r>
            <a:endParaRPr lang="ru-RU" sz="1400" dirty="0"/>
          </a:p>
        </p:txBody>
      </p:sp>
      <p:sp>
        <p:nvSpPr>
          <p:cNvPr id="29" name="Shape 29"/>
          <p:cNvSpPr/>
          <p:nvPr/>
        </p:nvSpPr>
        <p:spPr>
          <a:xfrm>
            <a:off x="429768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4297680" y="3813048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1" name="Shape 31"/>
          <p:cNvSpPr/>
          <p:nvPr/>
        </p:nvSpPr>
        <p:spPr>
          <a:xfrm>
            <a:off x="4480560" y="4032504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1400" dirty="0"/>
          </a:p>
        </p:txBody>
      </p:sp>
      <p:sp>
        <p:nvSpPr>
          <p:cNvPr id="32" name="Shape 32"/>
          <p:cNvSpPr/>
          <p:nvPr/>
        </p:nvSpPr>
        <p:spPr>
          <a:xfrm>
            <a:off x="502920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Инновационная</a:t>
            </a:r>
            <a:endParaRPr lang="ru-RU" sz="1700" dirty="0"/>
          </a:p>
        </p:txBody>
      </p:sp>
      <p:sp>
        <p:nvSpPr>
          <p:cNvPr id="33" name="Shape 33"/>
          <p:cNvSpPr/>
          <p:nvPr/>
        </p:nvSpPr>
        <p:spPr>
          <a:xfrm>
            <a:off x="448056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Развитие науки, технологий, стартапов и исследовательского мышления.</a:t>
            </a:r>
            <a:endParaRPr lang="ru-RU" sz="1400" dirty="0"/>
          </a:p>
        </p:txBody>
      </p:sp>
      <p:sp>
        <p:nvSpPr>
          <p:cNvPr id="34" name="Shape 34"/>
          <p:cNvSpPr/>
          <p:nvPr/>
        </p:nvSpPr>
        <p:spPr>
          <a:xfrm>
            <a:off x="804672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5" name="Shape 35"/>
          <p:cNvSpPr/>
          <p:nvPr/>
        </p:nvSpPr>
        <p:spPr>
          <a:xfrm>
            <a:off x="8046720" y="3813048"/>
            <a:ext cx="3593592" cy="64008"/>
          </a:xfrm>
          <a:prstGeom prst="rect">
            <a:avLst/>
          </a:prstGeom>
          <a:solidFill>
            <a:srgbClr val="14507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6" name="Shape 36"/>
          <p:cNvSpPr/>
          <p:nvPr/>
        </p:nvSpPr>
        <p:spPr>
          <a:xfrm>
            <a:off x="8229600" y="4032504"/>
            <a:ext cx="438912" cy="438912"/>
          </a:xfrm>
          <a:prstGeom prst="ellipse">
            <a:avLst/>
          </a:prstGeom>
          <a:solidFill>
            <a:srgbClr val="14507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ru-RU" sz="1400" dirty="0"/>
          </a:p>
        </p:txBody>
      </p:sp>
      <p:sp>
        <p:nvSpPr>
          <p:cNvPr id="37" name="Shape 37"/>
          <p:cNvSpPr/>
          <p:nvPr/>
        </p:nvSpPr>
        <p:spPr>
          <a:xfrm>
            <a:off x="877824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Интеграционная</a:t>
            </a:r>
            <a:endParaRPr lang="ru-RU" sz="1700" dirty="0"/>
          </a:p>
        </p:txBody>
      </p:sp>
      <p:sp>
        <p:nvSpPr>
          <p:cNvPr id="38" name="Shape 38"/>
          <p:cNvSpPr/>
          <p:nvPr/>
        </p:nvSpPr>
        <p:spPr>
          <a:xfrm>
            <a:off x="822960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Вхождение в мировое образовательное пространство: PISA, PIRLS, TIMSS, зарубежные вузы.</a:t>
            </a:r>
            <a:endParaRPr lang="ru-RU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Приоритетные направления воспитания молодёжи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10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61264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822960" y="1554480"/>
            <a:ext cx="566928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Ключевые направления</a:t>
            </a:r>
            <a:endParaRPr lang="ru-RU" sz="1700" dirty="0"/>
          </a:p>
        </p:txBody>
      </p:sp>
      <p:sp>
        <p:nvSpPr>
          <p:cNvPr id="11" name="Shape 11"/>
          <p:cNvSpPr/>
          <p:nvPr/>
        </p:nvSpPr>
        <p:spPr>
          <a:xfrm>
            <a:off x="822960" y="2011680"/>
            <a:ext cx="5669280" cy="4069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Патриотизм, гражданственность, любовь к Родине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Духовно-нравственное воспитание на основе национальных ценностей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Правовая культура и нетерпимость к коррупции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Межнациональное согласие и религиозная толерантность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Иммунитет к деструктивным идеям, медиаграмотность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Здоровый образ жизни, экологическая культура</a:t>
            </a:r>
            <a:endParaRPr lang="ru-RU" sz="15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✔"/>
            </a:pPr>
            <a:r>
              <a:rPr lang="ru-RU" sz="1500" b="0" i="0" dirty="0">
                <a:solidFill>
                  <a:srgbClr val="1F2937"/>
                </a:solidFill>
                <a:latin typeface="Arial"/>
                <a:cs typeface="Arial"/>
              </a:rPr>
              <a:t>Трудолюбие, предприимчивость, ответственность</a:t>
            </a:r>
            <a:endParaRPr lang="ru-RU" sz="1500" dirty="0"/>
          </a:p>
        </p:txBody>
      </p:sp>
      <p:sp>
        <p:nvSpPr>
          <p:cNvPr id="12" name="Shape 12"/>
          <p:cNvSpPr/>
          <p:nvPr/>
        </p:nvSpPr>
        <p:spPr>
          <a:xfrm>
            <a:off x="6903720" y="1417320"/>
            <a:ext cx="4736592" cy="4754880"/>
          </a:xfrm>
          <a:prstGeom prst="rect">
            <a:avLst/>
          </a:prstGeom>
          <a:solidFill>
            <a:srgbClr val="0B3C5D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7178040" y="155448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F2B134"/>
                </a:solidFill>
                <a:latin typeface="Arial"/>
                <a:cs typeface="Arial"/>
              </a:rPr>
              <a:t>«Пять важных инициатив»</a:t>
            </a:r>
            <a:endParaRPr lang="ru-RU" sz="1800" dirty="0"/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200" b="0" i="1" dirty="0">
                <a:solidFill>
                  <a:srgbClr val="C9D6E3"/>
                </a:solidFill>
                <a:latin typeface="Arial"/>
                <a:cs typeface="Arial"/>
              </a:rPr>
              <a:t>выдвинуты Президентом в марте 2019 г.</a:t>
            </a:r>
            <a:endParaRPr lang="ru-RU" sz="1200" dirty="0"/>
          </a:p>
        </p:txBody>
      </p:sp>
      <p:sp>
        <p:nvSpPr>
          <p:cNvPr id="14" name="Shape 14"/>
          <p:cNvSpPr/>
          <p:nvPr/>
        </p:nvSpPr>
        <p:spPr>
          <a:xfrm>
            <a:off x="7223760" y="2468880"/>
            <a:ext cx="475488" cy="47548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1400" dirty="0"/>
          </a:p>
        </p:txBody>
      </p:sp>
      <p:sp>
        <p:nvSpPr>
          <p:cNvPr id="15" name="Shape 15"/>
          <p:cNvSpPr/>
          <p:nvPr/>
        </p:nvSpPr>
        <p:spPr>
          <a:xfrm>
            <a:off x="7863840" y="2423160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Культура и искусство</a:t>
            </a:r>
            <a:endParaRPr lang="ru-RU" sz="1500" dirty="0"/>
          </a:p>
        </p:txBody>
      </p:sp>
      <p:sp>
        <p:nvSpPr>
          <p:cNvPr id="16" name="Shape 16"/>
          <p:cNvSpPr/>
          <p:nvPr/>
        </p:nvSpPr>
        <p:spPr>
          <a:xfrm>
            <a:off x="7223760" y="3182112"/>
            <a:ext cx="475488" cy="47548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1400" dirty="0"/>
          </a:p>
        </p:txBody>
      </p:sp>
      <p:sp>
        <p:nvSpPr>
          <p:cNvPr id="17" name="Shape 17"/>
          <p:cNvSpPr/>
          <p:nvPr/>
        </p:nvSpPr>
        <p:spPr>
          <a:xfrm>
            <a:off x="7863840" y="3136392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Физкультура и спорт</a:t>
            </a:r>
            <a:endParaRPr lang="ru-RU" sz="1500" dirty="0"/>
          </a:p>
        </p:txBody>
      </p:sp>
      <p:sp>
        <p:nvSpPr>
          <p:cNvPr id="18" name="Shape 18"/>
          <p:cNvSpPr/>
          <p:nvPr/>
        </p:nvSpPr>
        <p:spPr>
          <a:xfrm>
            <a:off x="7223760" y="3895344"/>
            <a:ext cx="475488" cy="47548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1400" dirty="0"/>
          </a:p>
        </p:txBody>
      </p:sp>
      <p:sp>
        <p:nvSpPr>
          <p:cNvPr id="19" name="Shape 19"/>
          <p:cNvSpPr/>
          <p:nvPr/>
        </p:nvSpPr>
        <p:spPr>
          <a:xfrm>
            <a:off x="7863840" y="3849624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Компьютерные технологии и Интернет</a:t>
            </a:r>
            <a:endParaRPr lang="ru-RU" sz="1500" dirty="0"/>
          </a:p>
        </p:txBody>
      </p:sp>
      <p:sp>
        <p:nvSpPr>
          <p:cNvPr id="20" name="Shape 20"/>
          <p:cNvSpPr/>
          <p:nvPr/>
        </p:nvSpPr>
        <p:spPr>
          <a:xfrm>
            <a:off x="7223760" y="4608576"/>
            <a:ext cx="475488" cy="47548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1400" dirty="0"/>
          </a:p>
        </p:txBody>
      </p:sp>
      <p:sp>
        <p:nvSpPr>
          <p:cNvPr id="21" name="Shape 21"/>
          <p:cNvSpPr/>
          <p:nvPr/>
        </p:nvSpPr>
        <p:spPr>
          <a:xfrm>
            <a:off x="7863840" y="4562856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Чтение книг</a:t>
            </a:r>
            <a:endParaRPr lang="ru-RU" sz="1500" dirty="0"/>
          </a:p>
        </p:txBody>
      </p:sp>
      <p:sp>
        <p:nvSpPr>
          <p:cNvPr id="22" name="Shape 22"/>
          <p:cNvSpPr/>
          <p:nvPr/>
        </p:nvSpPr>
        <p:spPr>
          <a:xfrm>
            <a:off x="7223760" y="5321808"/>
            <a:ext cx="475488" cy="475488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1400" dirty="0"/>
          </a:p>
        </p:txBody>
      </p:sp>
      <p:sp>
        <p:nvSpPr>
          <p:cNvPr id="23" name="Shape 23"/>
          <p:cNvSpPr/>
          <p:nvPr/>
        </p:nvSpPr>
        <p:spPr>
          <a:xfrm>
            <a:off x="7863840" y="5276088"/>
            <a:ext cx="361188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dirty="0">
                <a:solidFill>
                  <a:srgbClr val="FFFFFF"/>
                </a:solidFill>
                <a:latin typeface="Arial"/>
                <a:cs typeface="Arial"/>
              </a:rPr>
              <a:t>Занятость женщин</a:t>
            </a:r>
            <a:endParaRPr lang="ru-RU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Ключевые реформы 2017–2026 годов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11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544982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5449824" cy="640080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274320" tIns="0" rIns="18288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FFFFFF"/>
                </a:solidFill>
                <a:latin typeface="Arial"/>
                <a:cs typeface="Arial"/>
              </a:rPr>
              <a:t>Дошкольное и школьное образование</a:t>
            </a:r>
            <a:endParaRPr lang="ru-RU" sz="1800" dirty="0"/>
          </a:p>
        </p:txBody>
      </p:sp>
      <p:sp>
        <p:nvSpPr>
          <p:cNvPr id="11" name="Shape 11"/>
          <p:cNvSpPr/>
          <p:nvPr/>
        </p:nvSpPr>
        <p:spPr>
          <a:xfrm>
            <a:off x="822960" y="2194560"/>
            <a:ext cx="4983480" cy="3886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Возврат к 11-летнему общему среднему образованию (2017)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Масштабное расширение сети детских садов, в том числе на основе ГЧП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Президентские, творческие и специализированные школы для одарённых детей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Новые учебные программы и учебники с упором на функциональную грамотность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0E9AA7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Рост зарплат учителей, надбавки за национальные и международные сертификаты</a:t>
            </a:r>
            <a:endParaRPr lang="ru-RU" sz="1400" dirty="0"/>
          </a:p>
        </p:txBody>
      </p:sp>
      <p:sp>
        <p:nvSpPr>
          <p:cNvPr id="12" name="Shape 12"/>
          <p:cNvSpPr/>
          <p:nvPr/>
        </p:nvSpPr>
        <p:spPr>
          <a:xfrm>
            <a:off x="6190488" y="1417320"/>
            <a:ext cx="5449824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6190488" y="1417320"/>
            <a:ext cx="5449824" cy="64008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274320" tIns="0" rIns="182880" bIns="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FFFFFF"/>
                </a:solidFill>
                <a:latin typeface="Arial"/>
                <a:cs typeface="Arial"/>
              </a:rPr>
              <a:t>Высшее образование и наука</a:t>
            </a:r>
            <a:endParaRPr lang="ru-RU" sz="1800" dirty="0"/>
          </a:p>
        </p:txBody>
      </p:sp>
      <p:sp>
        <p:nvSpPr>
          <p:cNvPr id="14" name="Shape 14"/>
          <p:cNvSpPr/>
          <p:nvPr/>
        </p:nvSpPr>
        <p:spPr>
          <a:xfrm>
            <a:off x="6464808" y="2194560"/>
            <a:ext cx="4983480" cy="3886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Резкий рост числа вузов, в том числе частных и филиалов зарубежных университетов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Академическая и финансовая самостоятельность вузов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Переход на кредитно-модульную систему обучения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Расширение приёма, заочной и вечерней форм обучения</a:t>
            </a:r>
            <a:endParaRPr lang="ru-RU" sz="1400" dirty="0"/>
          </a:p>
          <a:p>
            <a:pPr algn="l" marL="256032" indent="-256032">
              <a:spcBef>
                <a:spcPts val="900"/>
              </a:spcBef>
              <a:spcAft>
                <a:spcPts val="0"/>
              </a:spcAft>
              <a:buClr>
                <a:srgbClr val="1EB53A"/>
              </a:buClr>
              <a:buFont typeface="Arial"/>
              <a:buChar char="■"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Фонд «Эл-юрт умиди»: обучение и стажировки за рубежом</a:t>
            </a:r>
            <a:endParaRPr lang="ru-RU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Результаты реформ в цифрах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12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359359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3593592" cy="6400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731520" y="1572768"/>
            <a:ext cx="322783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Охват детей дошкольным образованием</a:t>
            </a:r>
            <a:endParaRPr lang="ru-RU" sz="1500" dirty="0"/>
          </a:p>
        </p:txBody>
      </p:sp>
      <p:sp>
        <p:nvSpPr>
          <p:cNvPr id="12" name="Shape 12"/>
          <p:cNvSpPr/>
          <p:nvPr/>
        </p:nvSpPr>
        <p:spPr>
          <a:xfrm>
            <a:off x="1143000" y="4311853"/>
            <a:ext cx="987552" cy="580187"/>
          </a:xfrm>
          <a:prstGeom prst="rect">
            <a:avLst/>
          </a:prstGeom>
          <a:solidFill>
            <a:srgbClr val="A7B4C2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914400" y="3872941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5B6B7F"/>
                </a:solidFill>
                <a:latin typeface="Arial"/>
                <a:cs typeface="Arial"/>
              </a:rPr>
              <a:t>≈27%</a:t>
            </a:r>
            <a:endParaRPr lang="ru-RU" sz="1700" dirty="0"/>
          </a:p>
        </p:txBody>
      </p:sp>
      <p:sp>
        <p:nvSpPr>
          <p:cNvPr id="14" name="Shape 14"/>
          <p:cNvSpPr/>
          <p:nvPr/>
        </p:nvSpPr>
        <p:spPr>
          <a:xfrm>
            <a:off x="105156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2017</a:t>
            </a:r>
            <a:endParaRPr lang="ru-RU" sz="1300" dirty="0"/>
          </a:p>
        </p:txBody>
      </p:sp>
      <p:sp>
        <p:nvSpPr>
          <p:cNvPr id="15" name="Shape 15"/>
          <p:cNvSpPr/>
          <p:nvPr/>
        </p:nvSpPr>
        <p:spPr>
          <a:xfrm>
            <a:off x="2560320" y="3301898"/>
            <a:ext cx="987552" cy="1590142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2331720" y="2862986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0E9AA7"/>
                </a:solidFill>
                <a:latin typeface="Arial"/>
                <a:cs typeface="Arial"/>
              </a:rPr>
              <a:t>≈74%</a:t>
            </a:r>
            <a:endParaRPr lang="ru-RU" sz="2000" dirty="0"/>
          </a:p>
        </p:txBody>
      </p:sp>
      <p:sp>
        <p:nvSpPr>
          <p:cNvPr id="17" name="Shape 17"/>
          <p:cNvSpPr/>
          <p:nvPr/>
        </p:nvSpPr>
        <p:spPr>
          <a:xfrm>
            <a:off x="246888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2023</a:t>
            </a:r>
            <a:endParaRPr lang="ru-RU" sz="1300" dirty="0"/>
          </a:p>
        </p:txBody>
      </p:sp>
      <p:sp>
        <p:nvSpPr>
          <p:cNvPr id="18" name="Shape 18"/>
          <p:cNvSpPr/>
          <p:nvPr/>
        </p:nvSpPr>
        <p:spPr>
          <a:xfrm>
            <a:off x="731520" y="4892040"/>
            <a:ext cx="3227832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1234440" y="5230368"/>
            <a:ext cx="2221992" cy="329184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15803D"/>
                </a:solidFill>
                <a:latin typeface="Arial"/>
                <a:cs typeface="Arial"/>
              </a:rPr>
              <a:t>рост в 2,7 раза</a:t>
            </a:r>
            <a:endParaRPr lang="ru-RU" sz="1200" dirty="0"/>
          </a:p>
        </p:txBody>
      </p:sp>
      <p:sp>
        <p:nvSpPr>
          <p:cNvPr id="20" name="Shape 20"/>
          <p:cNvSpPr/>
          <p:nvPr/>
        </p:nvSpPr>
        <p:spPr>
          <a:xfrm>
            <a:off x="4297680" y="1417320"/>
            <a:ext cx="359359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1" name="Shape 21"/>
          <p:cNvSpPr/>
          <p:nvPr/>
        </p:nvSpPr>
        <p:spPr>
          <a:xfrm>
            <a:off x="4297680" y="1417320"/>
            <a:ext cx="3593592" cy="64008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4480560" y="1572768"/>
            <a:ext cx="322783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Охват молодёжи высшим образованием</a:t>
            </a:r>
            <a:endParaRPr lang="ru-RU" sz="1500" dirty="0"/>
          </a:p>
        </p:txBody>
      </p:sp>
      <p:sp>
        <p:nvSpPr>
          <p:cNvPr id="23" name="Shape 23"/>
          <p:cNvSpPr/>
          <p:nvPr/>
        </p:nvSpPr>
        <p:spPr>
          <a:xfrm>
            <a:off x="4892040" y="4698644"/>
            <a:ext cx="987552" cy="193396"/>
          </a:xfrm>
          <a:prstGeom prst="rect">
            <a:avLst/>
          </a:prstGeom>
          <a:solidFill>
            <a:srgbClr val="A7B4C2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4" name="Shape 24"/>
          <p:cNvSpPr/>
          <p:nvPr/>
        </p:nvSpPr>
        <p:spPr>
          <a:xfrm>
            <a:off x="4663440" y="4259732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5B6B7F"/>
                </a:solidFill>
                <a:latin typeface="Arial"/>
                <a:cs typeface="Arial"/>
              </a:rPr>
              <a:t>≈9%</a:t>
            </a:r>
            <a:endParaRPr lang="ru-RU" sz="1700" dirty="0"/>
          </a:p>
        </p:txBody>
      </p:sp>
      <p:sp>
        <p:nvSpPr>
          <p:cNvPr id="25" name="Shape 25"/>
          <p:cNvSpPr/>
          <p:nvPr/>
        </p:nvSpPr>
        <p:spPr>
          <a:xfrm>
            <a:off x="480060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2016</a:t>
            </a:r>
            <a:endParaRPr lang="ru-RU" sz="1300" dirty="0"/>
          </a:p>
        </p:txBody>
      </p:sp>
      <p:sp>
        <p:nvSpPr>
          <p:cNvPr id="26" name="Shape 26"/>
          <p:cNvSpPr/>
          <p:nvPr/>
        </p:nvSpPr>
        <p:spPr>
          <a:xfrm>
            <a:off x="6309360" y="4075481"/>
            <a:ext cx="987552" cy="816559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7" name="Shape 27"/>
          <p:cNvSpPr/>
          <p:nvPr/>
        </p:nvSpPr>
        <p:spPr>
          <a:xfrm>
            <a:off x="6080760" y="3636569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0099B5"/>
                </a:solidFill>
                <a:latin typeface="Arial"/>
                <a:cs typeface="Arial"/>
              </a:rPr>
              <a:t>≈38%</a:t>
            </a:r>
            <a:endParaRPr lang="ru-RU" sz="2000" dirty="0"/>
          </a:p>
        </p:txBody>
      </p:sp>
      <p:sp>
        <p:nvSpPr>
          <p:cNvPr id="28" name="Shape 28"/>
          <p:cNvSpPr/>
          <p:nvPr/>
        </p:nvSpPr>
        <p:spPr>
          <a:xfrm>
            <a:off x="621792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2023</a:t>
            </a:r>
            <a:endParaRPr lang="ru-RU" sz="1300" dirty="0"/>
          </a:p>
        </p:txBody>
      </p:sp>
      <p:sp>
        <p:nvSpPr>
          <p:cNvPr id="29" name="Shape 29"/>
          <p:cNvSpPr/>
          <p:nvPr/>
        </p:nvSpPr>
        <p:spPr>
          <a:xfrm>
            <a:off x="4480560" y="4892040"/>
            <a:ext cx="3227832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4983480" y="5230368"/>
            <a:ext cx="2221992" cy="329184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15803D"/>
                </a:solidFill>
                <a:latin typeface="Arial"/>
                <a:cs typeface="Arial"/>
              </a:rPr>
              <a:t>рост в 4 раза</a:t>
            </a:r>
            <a:endParaRPr lang="ru-RU" sz="1200" dirty="0"/>
          </a:p>
        </p:txBody>
      </p:sp>
      <p:sp>
        <p:nvSpPr>
          <p:cNvPr id="31" name="Shape 31"/>
          <p:cNvSpPr/>
          <p:nvPr/>
        </p:nvSpPr>
        <p:spPr>
          <a:xfrm>
            <a:off x="8046720" y="1417320"/>
            <a:ext cx="3593592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2" name="Shape 32"/>
          <p:cNvSpPr/>
          <p:nvPr/>
        </p:nvSpPr>
        <p:spPr>
          <a:xfrm>
            <a:off x="8046720" y="1417320"/>
            <a:ext cx="3593592" cy="64008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3" name="Shape 33"/>
          <p:cNvSpPr/>
          <p:nvPr/>
        </p:nvSpPr>
        <p:spPr>
          <a:xfrm>
            <a:off x="8229600" y="1572768"/>
            <a:ext cx="3227832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Количество вузов в стране</a:t>
            </a:r>
            <a:endParaRPr lang="ru-RU" sz="1500" dirty="0"/>
          </a:p>
        </p:txBody>
      </p:sp>
      <p:sp>
        <p:nvSpPr>
          <p:cNvPr id="34" name="Shape 34"/>
          <p:cNvSpPr/>
          <p:nvPr/>
        </p:nvSpPr>
        <p:spPr>
          <a:xfrm>
            <a:off x="8641080" y="4104132"/>
            <a:ext cx="987552" cy="787908"/>
          </a:xfrm>
          <a:prstGeom prst="rect">
            <a:avLst/>
          </a:prstGeom>
          <a:solidFill>
            <a:srgbClr val="A7B4C2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5" name="Shape 35"/>
          <p:cNvSpPr/>
          <p:nvPr/>
        </p:nvSpPr>
        <p:spPr>
          <a:xfrm>
            <a:off x="8412480" y="3665220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5B6B7F"/>
                </a:solidFill>
                <a:latin typeface="Arial"/>
                <a:cs typeface="Arial"/>
              </a:rPr>
              <a:t>77</a:t>
            </a:r>
            <a:endParaRPr lang="ru-RU" sz="1700" dirty="0"/>
          </a:p>
        </p:txBody>
      </p:sp>
      <p:sp>
        <p:nvSpPr>
          <p:cNvPr id="36" name="Shape 36"/>
          <p:cNvSpPr/>
          <p:nvPr/>
        </p:nvSpPr>
        <p:spPr>
          <a:xfrm>
            <a:off x="854964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2016</a:t>
            </a:r>
            <a:endParaRPr lang="ru-RU" sz="1300" dirty="0"/>
          </a:p>
        </p:txBody>
      </p:sp>
      <p:sp>
        <p:nvSpPr>
          <p:cNvPr id="37" name="Shape 37"/>
          <p:cNvSpPr/>
          <p:nvPr/>
        </p:nvSpPr>
        <p:spPr>
          <a:xfrm>
            <a:off x="10058400" y="2743200"/>
            <a:ext cx="987552" cy="214884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8" name="Shape 38"/>
          <p:cNvSpPr/>
          <p:nvPr/>
        </p:nvSpPr>
        <p:spPr>
          <a:xfrm>
            <a:off x="9829800" y="2304288"/>
            <a:ext cx="1444752" cy="4023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1EB53A"/>
                </a:solidFill>
                <a:latin typeface="Arial"/>
                <a:cs typeface="Arial"/>
              </a:rPr>
              <a:t>210</a:t>
            </a:r>
            <a:endParaRPr lang="ru-RU" sz="2000" dirty="0"/>
          </a:p>
        </p:txBody>
      </p:sp>
      <p:sp>
        <p:nvSpPr>
          <p:cNvPr id="39" name="Shape 39"/>
          <p:cNvSpPr/>
          <p:nvPr/>
        </p:nvSpPr>
        <p:spPr>
          <a:xfrm>
            <a:off x="9966960" y="4946904"/>
            <a:ext cx="117043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5B6B7F"/>
                </a:solidFill>
                <a:latin typeface="Arial"/>
                <a:cs typeface="Arial"/>
              </a:rPr>
              <a:t>2023</a:t>
            </a:r>
            <a:endParaRPr lang="ru-RU" sz="1300" dirty="0"/>
          </a:p>
        </p:txBody>
      </p:sp>
      <p:sp>
        <p:nvSpPr>
          <p:cNvPr id="40" name="Shape 40"/>
          <p:cNvSpPr/>
          <p:nvPr/>
        </p:nvSpPr>
        <p:spPr>
          <a:xfrm>
            <a:off x="8229600" y="4892040"/>
            <a:ext cx="3227832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41" name="Shape 41"/>
          <p:cNvSpPr/>
          <p:nvPr/>
        </p:nvSpPr>
        <p:spPr>
          <a:xfrm>
            <a:off x="8732520" y="5230368"/>
            <a:ext cx="2221992" cy="329184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>
            <a:noFill/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0" dirty="0">
                <a:solidFill>
                  <a:srgbClr val="15803D"/>
                </a:solidFill>
                <a:latin typeface="Arial"/>
                <a:cs typeface="Arial"/>
              </a:rPr>
              <a:t>рост в 2,7 раза</a:t>
            </a:r>
            <a:endParaRPr lang="ru-RU" sz="1200" dirty="0"/>
          </a:p>
        </p:txBody>
      </p:sp>
      <p:sp>
        <p:nvSpPr>
          <p:cNvPr id="42" name="Shape 42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0" i="1" dirty="0">
                <a:solidFill>
                  <a:srgbClr val="5B6B7F"/>
                </a:solidFill>
                <a:latin typeface="Arial"/>
                <a:cs typeface="Arial"/>
              </a:rPr>
              <a:t>Источник: официальные данные, приводившиеся в выступлениях Президента Республики Узбекистан (2023). Значения округлены.</a:t>
            </a:r>
            <a:endParaRPr lang="ru-RU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Учитель — ключевая фигура нового общества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13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4480560" cy="4754880"/>
          </a:xfrm>
          <a:prstGeom prst="rect">
            <a:avLst/>
          </a:prstGeom>
          <a:solidFill>
            <a:srgbClr val="0B3C5D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91440" cy="475488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914400" y="1691640"/>
            <a:ext cx="3840480" cy="3108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 b="1" i="0" dirty="0">
                <a:solidFill>
                  <a:srgbClr val="FFFFFF"/>
                </a:solidFill>
                <a:latin typeface="Arial"/>
                <a:cs typeface="Arial"/>
              </a:rPr>
              <a:t>Без сильного, уважаемого и мотивированного учителя невозможны ни качественное образование, ни воспитание нового поколения.</a:t>
            </a:r>
            <a:endParaRPr lang="ru-RU" sz="1900" dirty="0"/>
          </a:p>
        </p:txBody>
      </p:sp>
      <p:sp>
        <p:nvSpPr>
          <p:cNvPr id="12" name="Shape 12"/>
          <p:cNvSpPr/>
          <p:nvPr/>
        </p:nvSpPr>
        <p:spPr>
          <a:xfrm>
            <a:off x="914400" y="4846320"/>
            <a:ext cx="3749040" cy="1051560"/>
          </a:xfrm>
          <a:prstGeom prst="rect">
            <a:avLst/>
          </a:prstGeom>
          <a:solidFill>
            <a:srgbClr val="14507A"/>
          </a:solidFill>
          <a:ln>
            <a:noFill/>
          </a:ln>
        </p:spPr>
        <p:txBody>
          <a:bodyPr wrap="square" lIns="182880" tIns="45720" rIns="91440" bIns="45720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2B134"/>
                </a:solidFill>
                <a:latin typeface="Arial"/>
                <a:cs typeface="Arial"/>
              </a:rPr>
              <a:t>1 октября</a:t>
            </a:r>
            <a:endParaRPr lang="ru-RU" sz="2000" dirty="0"/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FFFFFF"/>
                </a:solidFill>
                <a:latin typeface="Arial"/>
                <a:cs typeface="Arial"/>
              </a:rPr>
              <a:t>День учителей и наставников</a:t>
            </a:r>
            <a:endParaRPr lang="ru-RU" sz="1400" dirty="0"/>
          </a:p>
        </p:txBody>
      </p:sp>
      <p:sp>
        <p:nvSpPr>
          <p:cNvPr id="13" name="Shape 13"/>
          <p:cNvSpPr/>
          <p:nvPr/>
        </p:nvSpPr>
        <p:spPr>
          <a:xfrm>
            <a:off x="5303520" y="1417320"/>
            <a:ext cx="6336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5303520" y="1417320"/>
            <a:ext cx="82296" cy="84124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5577840" y="147218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Статус и защита</a:t>
            </a:r>
            <a:endParaRPr lang="ru-RU" sz="1500" dirty="0"/>
          </a:p>
        </p:txBody>
      </p:sp>
      <p:sp>
        <p:nvSpPr>
          <p:cNvPr id="16" name="Shape 16"/>
          <p:cNvSpPr/>
          <p:nvPr/>
        </p:nvSpPr>
        <p:spPr>
          <a:xfrm>
            <a:off x="5577840" y="181965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Повышение престижа профессии, защита чести и достоинства педагога</a:t>
            </a:r>
            <a:endParaRPr lang="ru-RU" sz="1300" dirty="0"/>
          </a:p>
        </p:txBody>
      </p:sp>
      <p:sp>
        <p:nvSpPr>
          <p:cNvPr id="17" name="Shape 17"/>
          <p:cNvSpPr/>
          <p:nvPr/>
        </p:nvSpPr>
        <p:spPr>
          <a:xfrm>
            <a:off x="5303520" y="2377440"/>
            <a:ext cx="6336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5303520" y="2377440"/>
            <a:ext cx="82296" cy="84124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5577840" y="243230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Материальная мотивация</a:t>
            </a:r>
            <a:endParaRPr lang="ru-RU" sz="1500" dirty="0"/>
          </a:p>
        </p:txBody>
      </p:sp>
      <p:sp>
        <p:nvSpPr>
          <p:cNvPr id="20" name="Shape 20"/>
          <p:cNvSpPr/>
          <p:nvPr/>
        </p:nvSpPr>
        <p:spPr>
          <a:xfrm>
            <a:off x="5577840" y="277977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Рост зарплат, надбавки за квалификацию и сертификаты</a:t>
            </a:r>
            <a:endParaRPr lang="ru-RU" sz="1300" dirty="0"/>
          </a:p>
        </p:txBody>
      </p:sp>
      <p:sp>
        <p:nvSpPr>
          <p:cNvPr id="21" name="Shape 21"/>
          <p:cNvSpPr/>
          <p:nvPr/>
        </p:nvSpPr>
        <p:spPr>
          <a:xfrm>
            <a:off x="5303520" y="3337560"/>
            <a:ext cx="6336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5303520" y="3337560"/>
            <a:ext cx="82296" cy="84124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3" name="Shape 23"/>
          <p:cNvSpPr/>
          <p:nvPr/>
        </p:nvSpPr>
        <p:spPr>
          <a:xfrm>
            <a:off x="5577840" y="339242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Профессиональный рост</a:t>
            </a:r>
            <a:endParaRPr lang="ru-RU" sz="1500" dirty="0"/>
          </a:p>
        </p:txBody>
      </p:sp>
      <p:sp>
        <p:nvSpPr>
          <p:cNvPr id="24" name="Shape 24"/>
          <p:cNvSpPr/>
          <p:nvPr/>
        </p:nvSpPr>
        <p:spPr>
          <a:xfrm>
            <a:off x="5577840" y="373989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Непрерывное повышение квалификации, наставничество</a:t>
            </a:r>
            <a:endParaRPr lang="ru-RU" sz="1300" dirty="0"/>
          </a:p>
        </p:txBody>
      </p:sp>
      <p:sp>
        <p:nvSpPr>
          <p:cNvPr id="25" name="Shape 25"/>
          <p:cNvSpPr/>
          <p:nvPr/>
        </p:nvSpPr>
        <p:spPr>
          <a:xfrm>
            <a:off x="5303520" y="4297680"/>
            <a:ext cx="6336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5303520" y="4297680"/>
            <a:ext cx="82296" cy="84124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7" name="Shape 27"/>
          <p:cNvSpPr/>
          <p:nvPr/>
        </p:nvSpPr>
        <p:spPr>
          <a:xfrm>
            <a:off x="5577840" y="435254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Новые компетенции</a:t>
            </a:r>
            <a:endParaRPr lang="ru-RU" sz="1500" dirty="0"/>
          </a:p>
        </p:txBody>
      </p:sp>
      <p:sp>
        <p:nvSpPr>
          <p:cNvPr id="28" name="Shape 28"/>
          <p:cNvSpPr/>
          <p:nvPr/>
        </p:nvSpPr>
        <p:spPr>
          <a:xfrm>
            <a:off x="5577840" y="470001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Цифровые навыки, активные методы обучения, иностранные языки</a:t>
            </a:r>
            <a:endParaRPr lang="ru-RU" sz="1300" dirty="0"/>
          </a:p>
        </p:txBody>
      </p:sp>
      <p:sp>
        <p:nvSpPr>
          <p:cNvPr id="29" name="Shape 29"/>
          <p:cNvSpPr/>
          <p:nvPr/>
        </p:nvSpPr>
        <p:spPr>
          <a:xfrm>
            <a:off x="5303520" y="5257800"/>
            <a:ext cx="633679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5303520" y="5257800"/>
            <a:ext cx="82296" cy="84124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1" name="Shape 31"/>
          <p:cNvSpPr/>
          <p:nvPr/>
        </p:nvSpPr>
        <p:spPr>
          <a:xfrm>
            <a:off x="5577840" y="5312664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solidFill>
                  <a:srgbClr val="0B3C5D"/>
                </a:solidFill>
                <a:latin typeface="Arial"/>
                <a:cs typeface="Arial"/>
              </a:rPr>
              <a:t>Воспитательная миссия</a:t>
            </a:r>
            <a:endParaRPr lang="ru-RU" sz="1500" dirty="0"/>
          </a:p>
        </p:txBody>
      </p:sp>
      <p:sp>
        <p:nvSpPr>
          <p:cNvPr id="32" name="Shape 32"/>
          <p:cNvSpPr/>
          <p:nvPr/>
        </p:nvSpPr>
        <p:spPr>
          <a:xfrm>
            <a:off x="5577840" y="5660136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Учитель как личный пример честности и гражданской позиции</a:t>
            </a:r>
            <a:endParaRPr lang="ru-RU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Триада воспитания: семья — махалля — школа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14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1828800" y="1371600"/>
            <a:ext cx="1920240" cy="1920240"/>
          </a:xfrm>
          <a:prstGeom prst="ellipse">
            <a:avLst/>
          </a:prstGeom>
          <a:solidFill>
            <a:srgbClr val="0E9AA7">
              <a:alpha val="92000"/>
            </a:srgbClr>
          </a:solidFill>
          <a:ln>
            <a:noFill/>
          </a:ln>
        </p:spPr>
        <p:txBody>
          <a:bodyPr wrap="square" lIns="0" tIns="0" rIns="0" bIns="32004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Семья</a:t>
            </a:r>
            <a:endParaRPr lang="ru-RU" sz="2000" dirty="0"/>
          </a:p>
        </p:txBody>
      </p:sp>
      <p:sp>
        <p:nvSpPr>
          <p:cNvPr id="10" name="Shape 10"/>
          <p:cNvSpPr/>
          <p:nvPr/>
        </p:nvSpPr>
        <p:spPr>
          <a:xfrm>
            <a:off x="640080" y="3794760"/>
            <a:ext cx="1920240" cy="1920240"/>
          </a:xfrm>
          <a:prstGeom prst="ellipse">
            <a:avLst/>
          </a:prstGeom>
          <a:solidFill>
            <a:srgbClr val="1EB53A">
              <a:alpha val="92000"/>
            </a:srgbClr>
          </a:solidFill>
          <a:ln>
            <a:noFill/>
          </a:ln>
        </p:spPr>
        <p:txBody>
          <a:bodyPr wrap="square" lIns="0" tIns="0" rIns="27432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Махалля</a:t>
            </a:r>
            <a:endParaRPr lang="ru-RU" sz="2000" dirty="0"/>
          </a:p>
        </p:txBody>
      </p:sp>
      <p:sp>
        <p:nvSpPr>
          <p:cNvPr id="11" name="Shape 11"/>
          <p:cNvSpPr/>
          <p:nvPr/>
        </p:nvSpPr>
        <p:spPr>
          <a:xfrm>
            <a:off x="3017520" y="3794760"/>
            <a:ext cx="1920240" cy="1920240"/>
          </a:xfrm>
          <a:prstGeom prst="ellipse">
            <a:avLst/>
          </a:prstGeom>
          <a:solidFill>
            <a:srgbClr val="0099B5">
              <a:alpha val="92000"/>
            </a:srgbClr>
          </a:solidFill>
          <a:ln>
            <a:noFill/>
          </a:ln>
        </p:spPr>
        <p:txBody>
          <a:bodyPr wrap="square" lIns="27432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i="0" dirty="0">
                <a:solidFill>
                  <a:srgbClr val="FFFFFF"/>
                </a:solidFill>
                <a:latin typeface="Arial"/>
                <a:cs typeface="Arial"/>
              </a:rPr>
              <a:t>Школа / вуз</a:t>
            </a:r>
            <a:endParaRPr lang="ru-RU" sz="1800" dirty="0"/>
          </a:p>
        </p:txBody>
      </p:sp>
      <p:sp>
        <p:nvSpPr>
          <p:cNvPr id="12" name="Shape 12"/>
          <p:cNvSpPr/>
          <p:nvPr/>
        </p:nvSpPr>
        <p:spPr>
          <a:xfrm>
            <a:off x="2148840" y="3246120"/>
            <a:ext cx="1280160" cy="1280160"/>
          </a:xfrm>
          <a:prstGeom prst="ellipse">
            <a:avLst/>
          </a:prstGeom>
          <a:solidFill>
            <a:srgbClr val="F2B134"/>
          </a:solidFill>
          <a:ln>
            <a:noFill/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Личность</a:t>
            </a:r>
            <a:endParaRPr lang="ru-RU" sz="1400" dirty="0"/>
          </a:p>
        </p:txBody>
      </p:sp>
      <p:sp>
        <p:nvSpPr>
          <p:cNvPr id="13" name="Shape 13"/>
          <p:cNvSpPr/>
          <p:nvPr/>
        </p:nvSpPr>
        <p:spPr>
          <a:xfrm>
            <a:off x="5577840" y="1371600"/>
            <a:ext cx="6062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5577840" y="1371600"/>
            <a:ext cx="91440" cy="1234440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5897880" y="14630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Семья — первая школа</a:t>
            </a:r>
            <a:endParaRPr lang="ru-RU" sz="1600" dirty="0"/>
          </a:p>
        </p:txBody>
      </p:sp>
      <p:sp>
        <p:nvSpPr>
          <p:cNvPr id="16" name="Shape 16"/>
          <p:cNvSpPr/>
          <p:nvPr/>
        </p:nvSpPr>
        <p:spPr>
          <a:xfrm>
            <a:off x="5897880" y="184708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Закладывает нравственные основы, уважение к старшим, трудолюбие и любовь к Родине.</a:t>
            </a:r>
            <a:endParaRPr lang="ru-RU" sz="1300" dirty="0"/>
          </a:p>
        </p:txBody>
      </p:sp>
      <p:sp>
        <p:nvSpPr>
          <p:cNvPr id="17" name="Shape 17"/>
          <p:cNvSpPr/>
          <p:nvPr/>
        </p:nvSpPr>
        <p:spPr>
          <a:xfrm>
            <a:off x="5577840" y="2743200"/>
            <a:ext cx="6062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5577840" y="2743200"/>
            <a:ext cx="91440" cy="123444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5897880" y="28346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Махалля — школа общественной жизни</a:t>
            </a:r>
            <a:endParaRPr lang="ru-RU" sz="1600" dirty="0"/>
          </a:p>
        </p:txBody>
      </p:sp>
      <p:sp>
        <p:nvSpPr>
          <p:cNvPr id="20" name="Shape 20"/>
          <p:cNvSpPr/>
          <p:nvPr/>
        </p:nvSpPr>
        <p:spPr>
          <a:xfrm>
            <a:off x="5897880" y="321868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Сохраняет традиции взаимопомощи, поддерживает семьи и работает с молодёжью.</a:t>
            </a:r>
            <a:endParaRPr lang="ru-RU" sz="1300" dirty="0"/>
          </a:p>
        </p:txBody>
      </p:sp>
      <p:sp>
        <p:nvSpPr>
          <p:cNvPr id="21" name="Shape 21"/>
          <p:cNvSpPr/>
          <p:nvPr/>
        </p:nvSpPr>
        <p:spPr>
          <a:xfrm>
            <a:off x="5577840" y="4114800"/>
            <a:ext cx="606247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5577840" y="4114800"/>
            <a:ext cx="91440" cy="1234440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3" name="Shape 23"/>
          <p:cNvSpPr/>
          <p:nvPr/>
        </p:nvSpPr>
        <p:spPr>
          <a:xfrm>
            <a:off x="5897880" y="42062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Школа и вуз — школа знаний</a:t>
            </a:r>
            <a:endParaRPr lang="ru-RU" sz="1600" dirty="0"/>
          </a:p>
        </p:txBody>
      </p:sp>
      <p:sp>
        <p:nvSpPr>
          <p:cNvPr id="24" name="Shape 24"/>
          <p:cNvSpPr/>
          <p:nvPr/>
        </p:nvSpPr>
        <p:spPr>
          <a:xfrm>
            <a:off x="5897880" y="4590288"/>
            <a:ext cx="5577840" cy="6858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dirty="0">
                <a:solidFill>
                  <a:srgbClr val="1F2937"/>
                </a:solidFill>
                <a:latin typeface="Arial"/>
                <a:cs typeface="Arial"/>
              </a:rPr>
              <a:t>Дают системные знания, профессию и формируют гражданскую позицию.</a:t>
            </a:r>
            <a:endParaRPr lang="ru-RU" sz="1300" dirty="0"/>
          </a:p>
        </p:txBody>
      </p:sp>
      <p:sp>
        <p:nvSpPr>
          <p:cNvPr id="25" name="Shape 25"/>
          <p:cNvSpPr/>
          <p:nvPr/>
        </p:nvSpPr>
        <p:spPr>
          <a:xfrm>
            <a:off x="5577840" y="5486400"/>
            <a:ext cx="6062472" cy="6858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182880" tIns="27432" rIns="182880" bIns="2743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i="0" dirty="0">
                <a:solidFill>
                  <a:srgbClr val="FFFFFF"/>
                </a:solidFill>
                <a:latin typeface="Arial"/>
                <a:cs typeface="Arial"/>
              </a:rPr>
              <a:t>Результат достигается только при единых требованиях и согласованных действиях всех трёх институтов.</a:t>
            </a:r>
            <a:endParaRPr lang="ru-RU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Цифровизация образования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15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5449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5449824" cy="64008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731520" y="1636776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1400" dirty="0"/>
          </a:p>
        </p:txBody>
      </p:sp>
      <p:sp>
        <p:nvSpPr>
          <p:cNvPr id="12" name="Shape 12"/>
          <p:cNvSpPr/>
          <p:nvPr/>
        </p:nvSpPr>
        <p:spPr>
          <a:xfrm>
            <a:off x="1280160" y="1600200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Стратегия «Цифровой Узбекистан — 2030»</a:t>
            </a:r>
            <a:endParaRPr lang="ru-RU" sz="1600" dirty="0"/>
          </a:p>
        </p:txBody>
      </p:sp>
      <p:sp>
        <p:nvSpPr>
          <p:cNvPr id="13" name="Shape 13"/>
          <p:cNvSpPr/>
          <p:nvPr/>
        </p:nvSpPr>
        <p:spPr>
          <a:xfrm>
            <a:off x="731520" y="2148840"/>
            <a:ext cx="5084064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Цифровая инфраструктура, подключение образовательных учреждений к Интернету, развитие цифровых навыков населения.</a:t>
            </a:r>
            <a:endParaRPr lang="ru-RU" sz="1400" dirty="0"/>
          </a:p>
        </p:txBody>
      </p:sp>
      <p:sp>
        <p:nvSpPr>
          <p:cNvPr id="14" name="Shape 14"/>
          <p:cNvSpPr/>
          <p:nvPr/>
        </p:nvSpPr>
        <p:spPr>
          <a:xfrm>
            <a:off x="6190488" y="1417320"/>
            <a:ext cx="5449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6190488" y="1417320"/>
            <a:ext cx="5449824" cy="64008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6373368" y="1636776"/>
            <a:ext cx="438912" cy="438912"/>
          </a:xfrm>
          <a:prstGeom prst="ellipse">
            <a:avLst/>
          </a:prstGeom>
          <a:solidFill>
            <a:srgbClr val="0099B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1400" dirty="0"/>
          </a:p>
        </p:txBody>
      </p:sp>
      <p:sp>
        <p:nvSpPr>
          <p:cNvPr id="17" name="Shape 17"/>
          <p:cNvSpPr/>
          <p:nvPr/>
        </p:nvSpPr>
        <p:spPr>
          <a:xfrm>
            <a:off x="6922008" y="1600200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«Один миллион узбекских программистов»</a:t>
            </a:r>
            <a:endParaRPr lang="ru-RU" sz="1600" dirty="0"/>
          </a:p>
        </p:txBody>
      </p:sp>
      <p:sp>
        <p:nvSpPr>
          <p:cNvPr id="18" name="Shape 18"/>
          <p:cNvSpPr/>
          <p:nvPr/>
        </p:nvSpPr>
        <p:spPr>
          <a:xfrm>
            <a:off x="6373368" y="2148840"/>
            <a:ext cx="5084064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Проект, запущенный в 2019 году: бесплатное онлайн-обучение молодёжи программированию и ИТ-профессиям.</a:t>
            </a:r>
            <a:endParaRPr lang="ru-RU" sz="1400" dirty="0"/>
          </a:p>
        </p:txBody>
      </p:sp>
      <p:sp>
        <p:nvSpPr>
          <p:cNvPr id="19" name="Shape 19"/>
          <p:cNvSpPr/>
          <p:nvPr/>
        </p:nvSpPr>
        <p:spPr>
          <a:xfrm>
            <a:off x="548640" y="3429000"/>
            <a:ext cx="5449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548640" y="3429000"/>
            <a:ext cx="5449824" cy="64008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1" name="Shape 21"/>
          <p:cNvSpPr/>
          <p:nvPr/>
        </p:nvSpPr>
        <p:spPr>
          <a:xfrm>
            <a:off x="731520" y="3648456"/>
            <a:ext cx="438912" cy="438912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1400" dirty="0"/>
          </a:p>
        </p:txBody>
      </p:sp>
      <p:sp>
        <p:nvSpPr>
          <p:cNvPr id="22" name="Shape 22"/>
          <p:cNvSpPr/>
          <p:nvPr/>
        </p:nvSpPr>
        <p:spPr>
          <a:xfrm>
            <a:off x="1280160" y="3611880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Цифровые сервисы</a:t>
            </a:r>
            <a:endParaRPr lang="ru-RU" sz="1600" dirty="0"/>
          </a:p>
        </p:txBody>
      </p:sp>
      <p:sp>
        <p:nvSpPr>
          <p:cNvPr id="23" name="Shape 23"/>
          <p:cNvSpPr/>
          <p:nvPr/>
        </p:nvSpPr>
        <p:spPr>
          <a:xfrm>
            <a:off x="731520" y="4160520"/>
            <a:ext cx="5084064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Электронные журналы и дневники, онлайн-уроки, электронные учебники, онлайн-подача документов в вузы.</a:t>
            </a:r>
            <a:endParaRPr lang="ru-RU" sz="1400" dirty="0"/>
          </a:p>
        </p:txBody>
      </p:sp>
      <p:sp>
        <p:nvSpPr>
          <p:cNvPr id="24" name="Shape 24"/>
          <p:cNvSpPr/>
          <p:nvPr/>
        </p:nvSpPr>
        <p:spPr>
          <a:xfrm>
            <a:off x="6190488" y="3429000"/>
            <a:ext cx="544982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6190488" y="3429000"/>
            <a:ext cx="5449824" cy="6400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6373368" y="3648456"/>
            <a:ext cx="438912" cy="438912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1400" dirty="0"/>
          </a:p>
        </p:txBody>
      </p:sp>
      <p:sp>
        <p:nvSpPr>
          <p:cNvPr id="27" name="Shape 27"/>
          <p:cNvSpPr/>
          <p:nvPr/>
        </p:nvSpPr>
        <p:spPr>
          <a:xfrm>
            <a:off x="6922008" y="3611880"/>
            <a:ext cx="4535424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IT Park и ИТ-образование</a:t>
            </a:r>
            <a:endParaRPr lang="ru-RU" sz="1600" dirty="0"/>
          </a:p>
        </p:txBody>
      </p:sp>
      <p:sp>
        <p:nvSpPr>
          <p:cNvPr id="28" name="Shape 28"/>
          <p:cNvSpPr/>
          <p:nvPr/>
        </p:nvSpPr>
        <p:spPr>
          <a:xfrm>
            <a:off x="6373368" y="4160520"/>
            <a:ext cx="5084064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ИТ-центры в регионах, школы программирования, поддержка стартапов и молодых разработчиков.</a:t>
            </a:r>
            <a:endParaRPr lang="ru-RU" sz="1400" dirty="0"/>
          </a:p>
        </p:txBody>
      </p:sp>
      <p:sp>
        <p:nvSpPr>
          <p:cNvPr id="29" name="Shape 29"/>
          <p:cNvSpPr/>
          <p:nvPr/>
        </p:nvSpPr>
        <p:spPr>
          <a:xfrm>
            <a:off x="548640" y="5486400"/>
            <a:ext cx="11091672" cy="704088"/>
          </a:xfrm>
          <a:prstGeom prst="rect">
            <a:avLst/>
          </a:prstGeom>
          <a:solidFill>
            <a:srgbClr val="FDF4E1"/>
          </a:solidFill>
          <a:ln w="12700">
            <a:solidFill>
              <a:srgbClr val="F2B134"/>
            </a:solidFill>
          </a:ln>
        </p:spPr>
        <p:txBody>
          <a:bodyPr wrap="square" lIns="274320" tIns="27432" rIns="274320" bIns="27432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B3C5D"/>
                </a:solidFill>
                <a:latin typeface="Arial"/>
                <a:cs typeface="Arial"/>
              </a:rPr>
              <a:t>Важно: </a:t>
            </a:r>
            <a:r>
              <a:rPr lang="ru-RU" sz="1400" b="0" i="0" dirty="0">
                <a:solidFill>
                  <a:srgbClr val="0B3C5D"/>
                </a:solidFill>
                <a:latin typeface="Arial"/>
                <a:cs typeface="Arial"/>
              </a:rPr>
              <a:t>цифровые технологии усиливают, но не заменяют воспитательную роль учителя и семьи; необходимы медиаграмотность и цифровая безопасность.</a:t>
            </a:r>
            <a:endParaRPr lang="ru-RU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Проблемы и вызовы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16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1" name="Shape 11"/>
          <p:cNvSpPr/>
          <p:nvPr/>
        </p:nvSpPr>
        <p:spPr>
          <a:xfrm>
            <a:off x="731520" y="1636776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12" name="Shape 12"/>
          <p:cNvSpPr/>
          <p:nvPr/>
        </p:nvSpPr>
        <p:spPr>
          <a:xfrm>
            <a:off x="128016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Качество знаний</a:t>
            </a:r>
            <a:endParaRPr lang="ru-RU" sz="1700" dirty="0"/>
          </a:p>
        </p:txBody>
      </p:sp>
      <p:sp>
        <p:nvSpPr>
          <p:cNvPr id="13" name="Shape 13"/>
          <p:cNvSpPr/>
          <p:nvPr/>
        </p:nvSpPr>
        <p:spPr>
          <a:xfrm>
            <a:off x="73152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Результаты Узбекистана в PISA 2022 (первое участие) значительно ниже среднего по странам ОЭСР.</a:t>
            </a:r>
            <a:endParaRPr lang="ru-RU" sz="1400" dirty="0"/>
          </a:p>
        </p:txBody>
      </p:sp>
      <p:sp>
        <p:nvSpPr>
          <p:cNvPr id="14" name="Shape 14"/>
          <p:cNvSpPr/>
          <p:nvPr/>
        </p:nvSpPr>
        <p:spPr>
          <a:xfrm>
            <a:off x="429768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5" name="Shape 15"/>
          <p:cNvSpPr/>
          <p:nvPr/>
        </p:nvSpPr>
        <p:spPr>
          <a:xfrm>
            <a:off x="4297680" y="1417320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4480560" y="1636776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17" name="Shape 17"/>
          <p:cNvSpPr/>
          <p:nvPr/>
        </p:nvSpPr>
        <p:spPr>
          <a:xfrm>
            <a:off x="502920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Кадровый дефицит</a:t>
            </a:r>
            <a:endParaRPr lang="ru-RU" sz="1700" dirty="0"/>
          </a:p>
        </p:txBody>
      </p:sp>
      <p:sp>
        <p:nvSpPr>
          <p:cNvPr id="18" name="Shape 18"/>
          <p:cNvSpPr/>
          <p:nvPr/>
        </p:nvSpPr>
        <p:spPr>
          <a:xfrm>
            <a:off x="448056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Нехватка квалифицированных учителей, особенно в сельской местности и по STEM-предметам.</a:t>
            </a:r>
            <a:endParaRPr lang="ru-RU" sz="1400" dirty="0"/>
          </a:p>
        </p:txBody>
      </p:sp>
      <p:sp>
        <p:nvSpPr>
          <p:cNvPr id="19" name="Shape 19"/>
          <p:cNvSpPr/>
          <p:nvPr/>
        </p:nvSpPr>
        <p:spPr>
          <a:xfrm>
            <a:off x="8046720" y="1417320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0" name="Shape 20"/>
          <p:cNvSpPr/>
          <p:nvPr/>
        </p:nvSpPr>
        <p:spPr>
          <a:xfrm>
            <a:off x="8046720" y="1417320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1" name="Shape 21"/>
          <p:cNvSpPr/>
          <p:nvPr/>
        </p:nvSpPr>
        <p:spPr>
          <a:xfrm>
            <a:off x="8229600" y="1636776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22" name="Shape 22"/>
          <p:cNvSpPr/>
          <p:nvPr/>
        </p:nvSpPr>
        <p:spPr>
          <a:xfrm>
            <a:off x="8778240" y="1600200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Неравенство</a:t>
            </a:r>
            <a:endParaRPr lang="ru-RU" sz="1700" dirty="0"/>
          </a:p>
        </p:txBody>
      </p:sp>
      <p:sp>
        <p:nvSpPr>
          <p:cNvPr id="23" name="Shape 23"/>
          <p:cNvSpPr/>
          <p:nvPr/>
        </p:nvSpPr>
        <p:spPr>
          <a:xfrm>
            <a:off x="8229600" y="2148840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Разрыв в качестве образования между городом и селом, между регионами.</a:t>
            </a:r>
            <a:endParaRPr lang="ru-RU" sz="1400" dirty="0"/>
          </a:p>
        </p:txBody>
      </p:sp>
      <p:sp>
        <p:nvSpPr>
          <p:cNvPr id="24" name="Shape 24"/>
          <p:cNvSpPr/>
          <p:nvPr/>
        </p:nvSpPr>
        <p:spPr>
          <a:xfrm>
            <a:off x="54864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5" name="Shape 25"/>
          <p:cNvSpPr/>
          <p:nvPr/>
        </p:nvSpPr>
        <p:spPr>
          <a:xfrm>
            <a:off x="548640" y="3813048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731520" y="4032504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27" name="Shape 27"/>
          <p:cNvSpPr/>
          <p:nvPr/>
        </p:nvSpPr>
        <p:spPr>
          <a:xfrm>
            <a:off x="128016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Инфраструктура</a:t>
            </a:r>
            <a:endParaRPr lang="ru-RU" sz="1700" dirty="0"/>
          </a:p>
        </p:txBody>
      </p:sp>
      <p:sp>
        <p:nvSpPr>
          <p:cNvPr id="28" name="Shape 28"/>
          <p:cNvSpPr/>
          <p:nvPr/>
        </p:nvSpPr>
        <p:spPr>
          <a:xfrm>
            <a:off x="73152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Переполненность школ и обучение в несколько смен в ряде регионов.</a:t>
            </a:r>
            <a:endParaRPr lang="ru-RU" sz="1400" dirty="0"/>
          </a:p>
        </p:txBody>
      </p:sp>
      <p:sp>
        <p:nvSpPr>
          <p:cNvPr id="29" name="Shape 29"/>
          <p:cNvSpPr/>
          <p:nvPr/>
        </p:nvSpPr>
        <p:spPr>
          <a:xfrm>
            <a:off x="429768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4297680" y="3813048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1" name="Shape 31"/>
          <p:cNvSpPr/>
          <p:nvPr/>
        </p:nvSpPr>
        <p:spPr>
          <a:xfrm>
            <a:off x="4480560" y="4032504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32" name="Shape 32"/>
          <p:cNvSpPr/>
          <p:nvPr/>
        </p:nvSpPr>
        <p:spPr>
          <a:xfrm>
            <a:off x="502920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Рынок труда</a:t>
            </a:r>
            <a:endParaRPr lang="ru-RU" sz="1700" dirty="0"/>
          </a:p>
        </p:txBody>
      </p:sp>
      <p:sp>
        <p:nvSpPr>
          <p:cNvPr id="33" name="Shape 33"/>
          <p:cNvSpPr/>
          <p:nvPr/>
        </p:nvSpPr>
        <p:spPr>
          <a:xfrm>
            <a:off x="448056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Несоответствие подготовки выпускников требованиям работодателей.</a:t>
            </a:r>
            <a:endParaRPr lang="ru-RU" sz="1400" dirty="0"/>
          </a:p>
        </p:txBody>
      </p:sp>
      <p:sp>
        <p:nvSpPr>
          <p:cNvPr id="34" name="Shape 34"/>
          <p:cNvSpPr/>
          <p:nvPr/>
        </p:nvSpPr>
        <p:spPr>
          <a:xfrm>
            <a:off x="8046720" y="3813048"/>
            <a:ext cx="3593592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5" name="Shape 35"/>
          <p:cNvSpPr/>
          <p:nvPr/>
        </p:nvSpPr>
        <p:spPr>
          <a:xfrm>
            <a:off x="8046720" y="3813048"/>
            <a:ext cx="3593592" cy="64008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6" name="Shape 36"/>
          <p:cNvSpPr/>
          <p:nvPr/>
        </p:nvSpPr>
        <p:spPr>
          <a:xfrm>
            <a:off x="8229600" y="4032504"/>
            <a:ext cx="438912" cy="438912"/>
          </a:xfrm>
          <a:prstGeom prst="ellipse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FFFFFF"/>
                </a:solidFill>
                <a:latin typeface="Arial"/>
                <a:cs typeface="Arial"/>
              </a:rPr>
              <a:t>!</a:t>
            </a:r>
            <a:endParaRPr lang="ru-RU" sz="1400" dirty="0"/>
          </a:p>
        </p:txBody>
      </p:sp>
      <p:sp>
        <p:nvSpPr>
          <p:cNvPr id="37" name="Shape 37"/>
          <p:cNvSpPr/>
          <p:nvPr/>
        </p:nvSpPr>
        <p:spPr>
          <a:xfrm>
            <a:off x="8778240" y="3995928"/>
            <a:ext cx="2679192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Информационные угрозы</a:t>
            </a:r>
            <a:endParaRPr lang="ru-RU" sz="1700" dirty="0"/>
          </a:p>
        </p:txBody>
      </p:sp>
      <p:sp>
        <p:nvSpPr>
          <p:cNvPr id="38" name="Shape 38"/>
          <p:cNvSpPr/>
          <p:nvPr/>
        </p:nvSpPr>
        <p:spPr>
          <a:xfrm>
            <a:off x="8229600" y="4544568"/>
            <a:ext cx="3227832" cy="1344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Деструктивный контент, зависимость от гаджетов, снижение интереса к чтению.</a:t>
            </a:r>
            <a:endParaRPr lang="ru-RU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Пути решения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17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4173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749808" y="18013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2000" dirty="0"/>
          </a:p>
        </p:txBody>
      </p:sp>
      <p:sp>
        <p:nvSpPr>
          <p:cNvPr id="11" name="Shape 11"/>
          <p:cNvSpPr/>
          <p:nvPr/>
        </p:nvSpPr>
        <p:spPr>
          <a:xfrm>
            <a:off x="1645920" y="15544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Сильный учитель</a:t>
            </a:r>
            <a:endParaRPr lang="ru-RU" sz="1700" dirty="0"/>
          </a:p>
        </p:txBody>
      </p:sp>
      <p:sp>
        <p:nvSpPr>
          <p:cNvPr id="12" name="Shape 12"/>
          <p:cNvSpPr/>
          <p:nvPr/>
        </p:nvSpPr>
        <p:spPr>
          <a:xfrm>
            <a:off x="1645920" y="19659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Зарплата, статус, наставничество и качественная подготовка педагогов.</a:t>
            </a:r>
            <a:endParaRPr lang="ru-RU" sz="1400" dirty="0"/>
          </a:p>
        </p:txBody>
      </p:sp>
      <p:sp>
        <p:nvSpPr>
          <p:cNvPr id="13" name="Shape 13"/>
          <p:cNvSpPr/>
          <p:nvPr/>
        </p:nvSpPr>
        <p:spPr>
          <a:xfrm>
            <a:off x="548640" y="30175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4" name="Shape 14"/>
          <p:cNvSpPr/>
          <p:nvPr/>
        </p:nvSpPr>
        <p:spPr>
          <a:xfrm>
            <a:off x="749808" y="34015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2000" dirty="0"/>
          </a:p>
        </p:txBody>
      </p:sp>
      <p:sp>
        <p:nvSpPr>
          <p:cNvPr id="15" name="Shape 15"/>
          <p:cNvSpPr/>
          <p:nvPr/>
        </p:nvSpPr>
        <p:spPr>
          <a:xfrm>
            <a:off x="1645920" y="31546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Современное содержание</a:t>
            </a:r>
            <a:endParaRPr lang="ru-RU" sz="1700" dirty="0"/>
          </a:p>
        </p:txBody>
      </p:sp>
      <p:sp>
        <p:nvSpPr>
          <p:cNvPr id="16" name="Shape 16"/>
          <p:cNvSpPr/>
          <p:nvPr/>
        </p:nvSpPr>
        <p:spPr>
          <a:xfrm>
            <a:off x="1645920" y="35661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Функциональная грамотность, STEM, критическое мышление, иностранные языки.</a:t>
            </a:r>
            <a:endParaRPr lang="ru-RU" sz="1400" dirty="0"/>
          </a:p>
        </p:txBody>
      </p:sp>
      <p:sp>
        <p:nvSpPr>
          <p:cNvPr id="17" name="Shape 17"/>
          <p:cNvSpPr/>
          <p:nvPr/>
        </p:nvSpPr>
        <p:spPr>
          <a:xfrm>
            <a:off x="548640" y="46177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8" name="Shape 18"/>
          <p:cNvSpPr/>
          <p:nvPr/>
        </p:nvSpPr>
        <p:spPr>
          <a:xfrm>
            <a:off x="749808" y="50017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2000" dirty="0"/>
          </a:p>
        </p:txBody>
      </p:sp>
      <p:sp>
        <p:nvSpPr>
          <p:cNvPr id="19" name="Shape 19"/>
          <p:cNvSpPr/>
          <p:nvPr/>
        </p:nvSpPr>
        <p:spPr>
          <a:xfrm>
            <a:off x="1645920" y="4754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Равный доступ</a:t>
            </a:r>
            <a:endParaRPr lang="ru-RU" sz="1700" dirty="0"/>
          </a:p>
        </p:txBody>
      </p:sp>
      <p:sp>
        <p:nvSpPr>
          <p:cNvPr id="20" name="Shape 20"/>
          <p:cNvSpPr/>
          <p:nvPr/>
        </p:nvSpPr>
        <p:spPr>
          <a:xfrm>
            <a:off x="1645920" y="51663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Новые школы и детсады, поддержка сельских школ, инклюзивное образование.</a:t>
            </a:r>
            <a:endParaRPr lang="ru-RU" sz="1400" dirty="0"/>
          </a:p>
        </p:txBody>
      </p:sp>
      <p:sp>
        <p:nvSpPr>
          <p:cNvPr id="21" name="Shape 21"/>
          <p:cNvSpPr/>
          <p:nvPr/>
        </p:nvSpPr>
        <p:spPr>
          <a:xfrm>
            <a:off x="6190488" y="14173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6391656" y="18013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2000" dirty="0"/>
          </a:p>
        </p:txBody>
      </p:sp>
      <p:sp>
        <p:nvSpPr>
          <p:cNvPr id="23" name="Shape 23"/>
          <p:cNvSpPr/>
          <p:nvPr/>
        </p:nvSpPr>
        <p:spPr>
          <a:xfrm>
            <a:off x="7287768" y="15544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Связь с экономикой</a:t>
            </a:r>
            <a:endParaRPr lang="ru-RU" sz="1700" dirty="0"/>
          </a:p>
        </p:txBody>
      </p:sp>
      <p:sp>
        <p:nvSpPr>
          <p:cNvPr id="24" name="Shape 24"/>
          <p:cNvSpPr/>
          <p:nvPr/>
        </p:nvSpPr>
        <p:spPr>
          <a:xfrm>
            <a:off x="7287768" y="19659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Дуальное обучение, партнёрство вузов и работодателей, профориентация.</a:t>
            </a:r>
            <a:endParaRPr lang="ru-RU" sz="1400" dirty="0"/>
          </a:p>
        </p:txBody>
      </p:sp>
      <p:sp>
        <p:nvSpPr>
          <p:cNvPr id="25" name="Shape 25"/>
          <p:cNvSpPr/>
          <p:nvPr/>
        </p:nvSpPr>
        <p:spPr>
          <a:xfrm>
            <a:off x="6190488" y="30175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6" name="Shape 26"/>
          <p:cNvSpPr/>
          <p:nvPr/>
        </p:nvSpPr>
        <p:spPr>
          <a:xfrm>
            <a:off x="6391656" y="34015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2000" dirty="0"/>
          </a:p>
        </p:txBody>
      </p:sp>
      <p:sp>
        <p:nvSpPr>
          <p:cNvPr id="27" name="Shape 27"/>
          <p:cNvSpPr/>
          <p:nvPr/>
        </p:nvSpPr>
        <p:spPr>
          <a:xfrm>
            <a:off x="7287768" y="31546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Системное воспитание</a:t>
            </a:r>
            <a:endParaRPr lang="ru-RU" sz="1700" dirty="0"/>
          </a:p>
        </p:txBody>
      </p:sp>
      <p:sp>
        <p:nvSpPr>
          <p:cNvPr id="28" name="Shape 28"/>
          <p:cNvSpPr/>
          <p:nvPr/>
        </p:nvSpPr>
        <p:spPr>
          <a:xfrm>
            <a:off x="7287768" y="35661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Работа с семьёй и махаллей, медиаграмотность, развитие чтения.</a:t>
            </a:r>
            <a:endParaRPr lang="ru-RU" sz="1400" dirty="0"/>
          </a:p>
        </p:txBody>
      </p:sp>
      <p:sp>
        <p:nvSpPr>
          <p:cNvPr id="29" name="Shape 29"/>
          <p:cNvSpPr/>
          <p:nvPr/>
        </p:nvSpPr>
        <p:spPr>
          <a:xfrm>
            <a:off x="6190488" y="4617720"/>
            <a:ext cx="5449824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0" name="Shape 30"/>
          <p:cNvSpPr/>
          <p:nvPr/>
        </p:nvSpPr>
        <p:spPr>
          <a:xfrm>
            <a:off x="6391656" y="5001768"/>
            <a:ext cx="676656" cy="676656"/>
          </a:xfrm>
          <a:prstGeom prst="ellipse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i="0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ru-RU" sz="2000" dirty="0"/>
          </a:p>
        </p:txBody>
      </p:sp>
      <p:sp>
        <p:nvSpPr>
          <p:cNvPr id="31" name="Shape 31"/>
          <p:cNvSpPr/>
          <p:nvPr/>
        </p:nvSpPr>
        <p:spPr>
          <a:xfrm>
            <a:off x="7287768" y="4754880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i="0" dirty="0">
                <a:solidFill>
                  <a:srgbClr val="0B3C5D"/>
                </a:solidFill>
                <a:latin typeface="Arial"/>
                <a:cs typeface="Arial"/>
              </a:rPr>
              <a:t>Прозрачность и мониторинг</a:t>
            </a:r>
            <a:endParaRPr lang="ru-RU" sz="1700" dirty="0"/>
          </a:p>
        </p:txBody>
      </p:sp>
      <p:sp>
        <p:nvSpPr>
          <p:cNvPr id="32" name="Shape 32"/>
          <p:cNvSpPr/>
          <p:nvPr/>
        </p:nvSpPr>
        <p:spPr>
          <a:xfrm>
            <a:off x="7287768" y="516636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PISA, PIRLS, TIMSS, открытые данные, антикоррупционные механизмы.</a:t>
            </a:r>
            <a:endParaRPr lang="ru-RU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Выводы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18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822960" cy="822960"/>
          </a:xfrm>
          <a:prstGeom prst="rect">
            <a:avLst/>
          </a:prstGeom>
          <a:solidFill>
            <a:srgbClr val="0E9AA7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ru-RU" sz="2200" dirty="0"/>
          </a:p>
        </p:txBody>
      </p:sp>
      <p:sp>
        <p:nvSpPr>
          <p:cNvPr id="11" name="Shape 11"/>
          <p:cNvSpPr/>
          <p:nvPr/>
        </p:nvSpPr>
        <p:spPr>
          <a:xfrm>
            <a:off x="1600200" y="141732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0B3C5D"/>
                </a:solidFill>
                <a:latin typeface="Arial"/>
                <a:cs typeface="Arial"/>
              </a:rPr>
              <a:t>Образование и воспитание — стратегический фундамент Нового Узбекистана и идеи Третьего Ренессанса.</a:t>
            </a:r>
            <a:endParaRPr lang="ru-RU" sz="1600" dirty="0"/>
          </a:p>
        </p:txBody>
      </p:sp>
      <p:sp>
        <p:nvSpPr>
          <p:cNvPr id="12" name="Shape 12"/>
          <p:cNvSpPr/>
          <p:nvPr/>
        </p:nvSpPr>
        <p:spPr>
          <a:xfrm>
            <a:off x="548640" y="233172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3" name="Shape 13"/>
          <p:cNvSpPr/>
          <p:nvPr/>
        </p:nvSpPr>
        <p:spPr>
          <a:xfrm>
            <a:off x="548640" y="2331720"/>
            <a:ext cx="822960" cy="822960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ru-RU" sz="2200" dirty="0"/>
          </a:p>
        </p:txBody>
      </p:sp>
      <p:sp>
        <p:nvSpPr>
          <p:cNvPr id="14" name="Shape 14"/>
          <p:cNvSpPr/>
          <p:nvPr/>
        </p:nvSpPr>
        <p:spPr>
          <a:xfrm>
            <a:off x="1600200" y="237744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0B3C5D"/>
                </a:solidFill>
                <a:latin typeface="Arial"/>
                <a:cs typeface="Arial"/>
              </a:rPr>
              <a:t>Реформы с 2017 года создали современную правовую базу и значительно расширили доступ к образованию.</a:t>
            </a:r>
            <a:endParaRPr lang="ru-RU" sz="1600" dirty="0"/>
          </a:p>
        </p:txBody>
      </p:sp>
      <p:sp>
        <p:nvSpPr>
          <p:cNvPr id="15" name="Shape 15"/>
          <p:cNvSpPr/>
          <p:nvPr/>
        </p:nvSpPr>
        <p:spPr>
          <a:xfrm>
            <a:off x="548640" y="329184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6" name="Shape 16"/>
          <p:cNvSpPr/>
          <p:nvPr/>
        </p:nvSpPr>
        <p:spPr>
          <a:xfrm>
            <a:off x="548640" y="3291840"/>
            <a:ext cx="822960" cy="82296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ru-RU" sz="2200" dirty="0"/>
          </a:p>
        </p:txBody>
      </p:sp>
      <p:sp>
        <p:nvSpPr>
          <p:cNvPr id="17" name="Shape 17"/>
          <p:cNvSpPr/>
          <p:nvPr/>
        </p:nvSpPr>
        <p:spPr>
          <a:xfrm>
            <a:off x="1600200" y="333756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0" dirty="0">
                <a:solidFill>
                  <a:srgbClr val="0B3C5D"/>
                </a:solidFill>
                <a:latin typeface="Arial"/>
                <a:cs typeface="Arial"/>
              </a:rPr>
              <a:t>Главная задача следующего этапа — переход от количества к качеству образования.</a:t>
            </a:r>
            <a:endParaRPr lang="ru-RU" sz="1600" dirty="0"/>
          </a:p>
        </p:txBody>
      </p:sp>
      <p:sp>
        <p:nvSpPr>
          <p:cNvPr id="18" name="Shape 18"/>
          <p:cNvSpPr/>
          <p:nvPr/>
        </p:nvSpPr>
        <p:spPr>
          <a:xfrm>
            <a:off x="548640" y="425196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9" name="Shape 19"/>
          <p:cNvSpPr/>
          <p:nvPr/>
        </p:nvSpPr>
        <p:spPr>
          <a:xfrm>
            <a:off x="548640" y="4251960"/>
            <a:ext cx="822960" cy="82296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ru-RU" sz="2200" dirty="0"/>
          </a:p>
        </p:txBody>
      </p:sp>
      <p:sp>
        <p:nvSpPr>
          <p:cNvPr id="20" name="Shape 20"/>
          <p:cNvSpPr/>
          <p:nvPr/>
        </p:nvSpPr>
        <p:spPr>
          <a:xfrm>
            <a:off x="1600200" y="429768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0B3C5D"/>
                </a:solidFill>
                <a:latin typeface="Arial"/>
                <a:cs typeface="Arial"/>
              </a:rPr>
              <a:t>Воспитание должно формировать патриотичного, ответственного, толерантного и критически мыслящего гражданина.</a:t>
            </a:r>
            <a:endParaRPr lang="ru-RU" sz="1600" dirty="0"/>
          </a:p>
        </p:txBody>
      </p:sp>
      <p:sp>
        <p:nvSpPr>
          <p:cNvPr id="21" name="Shape 21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22" name="Shape 22"/>
          <p:cNvSpPr/>
          <p:nvPr/>
        </p:nvSpPr>
        <p:spPr>
          <a:xfrm>
            <a:off x="548640" y="5212080"/>
            <a:ext cx="822960" cy="822960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i="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ru-RU" sz="2200" dirty="0"/>
          </a:p>
        </p:txBody>
      </p:sp>
      <p:sp>
        <p:nvSpPr>
          <p:cNvPr id="23" name="Shape 23"/>
          <p:cNvSpPr/>
          <p:nvPr/>
        </p:nvSpPr>
        <p:spPr>
          <a:xfrm>
            <a:off x="1600200" y="5257800"/>
            <a:ext cx="987552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dirty="0">
                <a:solidFill>
                  <a:srgbClr val="0B3C5D"/>
                </a:solidFill>
                <a:latin typeface="Arial"/>
                <a:cs typeface="Arial"/>
              </a:rPr>
              <a:t>Успех возможен только при единстве усилий государства, учителя, семьи, махалли и самой молодёжи.</a:t>
            </a:r>
            <a:endParaRPr lang="ru-RU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548640" y="914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dirty="0">
                <a:solidFill>
                  <a:srgbClr val="FFFFFF"/>
                </a:solidFill>
                <a:latin typeface="Arial"/>
                <a:cs typeface="Arial"/>
              </a:rPr>
              <a:t>Список источников</a:t>
            </a:r>
            <a:endParaRPr lang="ru-RU" sz="2800" dirty="0"/>
          </a:p>
        </p:txBody>
      </p:sp>
      <p:sp>
        <p:nvSpPr>
          <p:cNvPr id="4" name="Shape 4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5" name="Shape 5"/>
          <p:cNvSpPr/>
          <p:nvPr/>
        </p:nvSpPr>
        <p:spPr>
          <a:xfrm>
            <a:off x="0" y="1060704"/>
            <a:ext cx="12191695" cy="19202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0" y="1079906"/>
            <a:ext cx="12191695" cy="54864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7" name="Shape 7"/>
          <p:cNvSpPr/>
          <p:nvPr/>
        </p:nvSpPr>
        <p:spPr>
          <a:xfrm>
            <a:off x="548640" y="6446520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i="0" dirty="0">
                <a:solidFill>
                  <a:srgbClr val="5B6B7F"/>
                </a:solidFill>
                <a:latin typeface="Arial"/>
                <a:cs typeface="Arial"/>
              </a:rPr>
              <a:t>Роль образования и воспитания в построении нового общества в Узбекистане</a:t>
            </a:r>
            <a:endParaRPr lang="ru-RU" sz="1000" dirty="0"/>
          </a:p>
        </p:txBody>
      </p:sp>
      <p:sp>
        <p:nvSpPr>
          <p:cNvPr id="8" name="Shape 8"/>
          <p:cNvSpPr/>
          <p:nvPr/>
        </p:nvSpPr>
        <p:spPr>
          <a:xfrm>
            <a:off x="10424160" y="6446520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i="0" dirty="0">
                <a:solidFill>
                  <a:srgbClr val="5B6B7F"/>
                </a:solidFill>
                <a:latin typeface="Arial"/>
                <a:cs typeface="Arial"/>
              </a:rPr>
              <a:t>19 / 20</a:t>
            </a:r>
            <a:endParaRPr lang="ru-RU" sz="1000" dirty="0"/>
          </a:p>
        </p:txBody>
      </p:sp>
      <p:sp>
        <p:nvSpPr>
          <p:cNvPr id="9" name="Shape 9"/>
          <p:cNvSpPr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A"/>
            </a:solidFill>
          </a:ln>
          <a:effectLst>
            <a:outerShdw blurRad="63500" dist="19050" dir="5400000" algn="t" rotWithShape="0">
              <a:srgbClr val="0B3C5D">
                <a:alpha val="16000"/>
              </a:srgbClr>
            </a:outerShdw>
          </a:effectLst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10" name="Shape 10"/>
          <p:cNvSpPr/>
          <p:nvPr/>
        </p:nvSpPr>
        <p:spPr>
          <a:xfrm>
            <a:off x="868680" y="1508760"/>
            <a:ext cx="10515600" cy="4617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1.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Конституция Республики Узбекистан (новая редакция, 2023).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2.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Закон РУз «Об образовании» от 23.09.2020 № ЗРУ-637.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3.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Закон РУз «О дошкольном образовании и воспитании» от 16.12.2019 № ЗРУ-595.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4.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Указ Президента РУз от 29.04.2019 № УП-5712 (Концепция развития народного образования до 2030 г.).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5.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Указ Президента РУз от 08.10.2019 № УП-5847 (Концепция развития высшего образования до 2030 г.).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6.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Указ Президента РУз от 05.10.2020 № УП-6079 («Цифровой Узбекистан — 2030»).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7.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Указ Президента РУз от 28.01.2022 № УП-60 (Стратегия развития Нового Узбекистана на 2022–2026 гг.).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8.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Указ Президента РУз от 11.09.2023 № УП-158 (Стратегия «Узбекистан — 2030»).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9.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Авлони А. «Тюркский Гулистан, или Нравственность». — 1913.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10.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OECD. PISA 2022 Results. — Paris: OECD Publishing, 2023.</a:t>
            </a:r>
            <a:endParaRPr lang="ru-RU" sz="1400" dirty="0"/>
          </a:p>
          <a:p>
            <a:pPr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400" b="1" i="0" dirty="0">
                <a:solidFill>
                  <a:srgbClr val="0E9AA7"/>
                </a:solidFill>
                <a:latin typeface="Arial"/>
                <a:cs typeface="Arial"/>
              </a:rPr>
              <a:t>11.  </a:t>
            </a:r>
            <a:r>
              <a:rPr lang="ru-RU" sz="1400" b="0" i="0" dirty="0">
                <a:solidFill>
                  <a:srgbClr val="1F2937"/>
                </a:solidFill>
                <a:latin typeface="Arial"/>
                <a:cs typeface="Arial"/>
              </a:rPr>
              <a:t>Официальные ресурсы: lex.uz, president.uz, uzedu.uz, edu.uz.</a:t>
            </a:r>
            <a:endParaRPr lang="ru-RU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E9AA7">
              <a:alpha val="20000"/>
            </a:srgbClr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3" name="Shape 3"/>
          <p:cNvSpPr/>
          <p:nvPr/>
        </p:nvSpPr>
        <p:spPr>
          <a:xfrm>
            <a:off x="9326880" y="3657600"/>
            <a:ext cx="4114800" cy="4114800"/>
          </a:xfrm>
          <a:prstGeom prst="ellipse">
            <a:avLst/>
          </a:prstGeom>
          <a:solidFill>
            <a:srgbClr val="1EB53A">
              <a:alpha val="18000"/>
            </a:srgbClr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4" name="Shape 4"/>
          <p:cNvSpPr/>
          <p:nvPr/>
        </p:nvSpPr>
        <p:spPr>
          <a:xfrm>
            <a:off x="731520" y="2011680"/>
            <a:ext cx="10725912" cy="10972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b="1" i="0" dirty="0">
                <a:solidFill>
                  <a:srgbClr val="FFFFFF"/>
                </a:solidFill>
                <a:latin typeface="Arial"/>
                <a:cs typeface="Arial"/>
              </a:rPr>
              <a:t>Спасибо за внимание!</a:t>
            </a:r>
            <a:endParaRPr lang="ru-RU" sz="4800" dirty="0"/>
          </a:p>
        </p:txBody>
      </p:sp>
      <p:sp>
        <p:nvSpPr>
          <p:cNvPr id="5" name="Shape 5"/>
          <p:cNvSpPr/>
          <p:nvPr/>
        </p:nvSpPr>
        <p:spPr>
          <a:xfrm>
            <a:off x="5458968" y="3246120"/>
            <a:ext cx="1280160" cy="54864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6" name="Shape 6"/>
          <p:cNvSpPr/>
          <p:nvPr/>
        </p:nvSpPr>
        <p:spPr>
          <a:xfrm>
            <a:off x="731520" y="3474720"/>
            <a:ext cx="10725912" cy="128016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 rtlCol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0" i="1" dirty="0">
                <a:solidFill>
                  <a:srgbClr val="F2B134"/>
                </a:solidFill>
                <a:latin typeface="Arial"/>
                <a:cs typeface="Arial"/>
              </a:rPr>
              <a:t>«Будущее страны создаётся в классах сегодня»</a:t>
            </a:r>
            <a:endParaRPr lang="ru-RU" sz="2200" dirty="0"/>
          </a:p>
          <a:p>
            <a:pPr algn="ctr">
              <a:spcBef>
                <a:spcPts val="1400"/>
              </a:spcBef>
              <a:spcAft>
                <a:spcPts val="0"/>
              </a:spcAft>
              <a:buNone/>
            </a:pPr>
            <a:r>
              <a:rPr lang="ru-RU" sz="1800" b="0" i="0" dirty="0">
                <a:solidFill>
                  <a:srgbClr val="C9D6E3"/>
                </a:solidFill>
                <a:latin typeface="Arial"/>
                <a:cs typeface="Arial"/>
              </a:rPr>
              <a:t>Готов(а) ответить на ваши вопросы</a:t>
            </a:r>
            <a:endParaRPr lang="ru-RU" sz="1800" dirty="0"/>
          </a:p>
        </p:txBody>
      </p:sp>
      <p:sp>
        <p:nvSpPr>
          <p:cNvPr id="7" name="Shape 7"/>
          <p:cNvSpPr/>
          <p:nvPr/>
        </p:nvSpPr>
        <p:spPr>
          <a:xfrm>
            <a:off x="0" y="6492240"/>
            <a:ext cx="12191695" cy="91440"/>
          </a:xfrm>
          <a:prstGeom prst="rect">
            <a:avLst/>
          </a:prstGeom>
          <a:solidFill>
            <a:srgbClr val="0099B5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8" name="Shape 8"/>
          <p:cNvSpPr/>
          <p:nvPr/>
        </p:nvSpPr>
        <p:spPr>
          <a:xfrm>
            <a:off x="0" y="6583680"/>
            <a:ext cx="12191695" cy="32004"/>
          </a:xfrm>
          <a:prstGeom prst="rect">
            <a:avLst/>
          </a:prstGeom>
          <a:solidFill>
            <a:srgbClr val="CE1126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  <p:sp>
        <p:nvSpPr>
          <p:cNvPr id="9" name="Shape 9"/>
          <p:cNvSpPr/>
          <p:nvPr/>
        </p:nvSpPr>
        <p:spPr>
          <a:xfrm>
            <a:off x="0" y="6615684"/>
            <a:ext cx="12191695" cy="91440"/>
          </a:xfrm>
          <a:prstGeom prst="rect">
            <a:avLst/>
          </a:prstGeom>
          <a:solidFill>
            <a:srgbClr val="1EB53A"/>
          </a:solidFill>
          <a:ln>
            <a:noFill/>
          </a:ln>
        </p:spPr>
        <p:txBody>
          <a:bodyPr wrap="square" lIns="91440" tIns="45720" rIns="91440" bIns="45720" anchor="t" rtlCol="0">
            <a:noAutofit/>
          </a:bodyPr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zbekistan">
  <a:themeElements>
    <a:clrScheme name="Uzbekistan">
      <a:dk1>
        <a:srgbClr val="1F2937"/>
      </a:dk1>
      <a:lt1>
        <a:srgbClr val="FFFFFF"/>
      </a:lt1>
      <a:dk2>
        <a:srgbClr val="0B3C5D"/>
      </a:dk2>
      <a:lt2>
        <a:srgbClr val="F4F7FB"/>
      </a:lt2>
      <a:accent1>
        <a:srgbClr val="0E9AA7"/>
      </a:accent1>
      <a:accent2>
        <a:srgbClr val="1EB53A"/>
      </a:accent2>
      <a:accent3>
        <a:srgbClr val="F2B134"/>
      </a:accent3>
      <a:accent4>
        <a:srgbClr val="0099B5"/>
      </a:accent4>
      <a:accent5>
        <a:srgbClr val="CE1126"/>
      </a:accent5>
      <a:accent6>
        <a:srgbClr val="5B6B7F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20</Slides>
  <PresentationFormat>Широкоэкранный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Роль и место образования и воспитания в построении нового общества в Узбекистане</dc:title>
  <dc:creator>Автор</dc:creator>
  <cp:lastModifiedBy>Автор</cp:lastModifiedBy>
  <dcterms:created xsi:type="dcterms:W3CDTF">2026-09-26T09:00:00Z</dcterms:created>
  <dcterms:modified xsi:type="dcterms:W3CDTF">2026-09-26T09:00:00Z</dcterms:modified>
</cp:coreProperties>
</file>