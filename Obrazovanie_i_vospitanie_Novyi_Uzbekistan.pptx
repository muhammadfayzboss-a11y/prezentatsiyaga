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theme" Target="theme/theme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>
        <a:defRPr sz="2000">
          <a:solidFill>
            <a:schemeClr val="tx1"/>
          </a:solidFill>
          <a:latin typeface="+mn-lt"/>
        </a:defRPr>
      </a:lvl1pPr>
    </p:bodyStyle>
    <p:otherStyle>
      <a:lvl1pPr>
        <a:defRPr sz="1800">
          <a:solidFill>
            <a:schemeClr val="tx1"/>
          </a:solidFill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412480" y="-1554480"/>
            <a:ext cx="5303520" cy="5303520"/>
          </a:xfrm>
          <a:prstGeom prst="ellipse">
            <a:avLst/>
          </a:prstGeom>
          <a:solidFill>
            <a:srgbClr val="0E9AA7">
              <a:alpha val="22000"/>
            </a:srgbClr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9509760" y="4023360"/>
            <a:ext cx="3840480" cy="3840480"/>
          </a:xfrm>
          <a:prstGeom prst="ellipse">
            <a:avLst/>
          </a:prstGeom>
          <a:solidFill>
            <a:srgbClr val="1EB53A">
              <a:alpha val="18000"/>
            </a:srgbClr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4" name="Shape 4"/>
          <p:cNvSpPr/>
          <p:nvPr/>
        </p:nvSpPr>
        <p:spPr>
          <a:xfrm>
            <a:off x="731520" y="914400"/>
            <a:ext cx="822960" cy="54864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73152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F2B134"/>
                </a:solidFill>
                <a:latin typeface="Arial"/>
                <a:cs typeface="Arial"/>
              </a:rPr>
              <a:t>ПРЕЗЕНТАЦИЯ</a:t>
            </a:r>
            <a:endParaRPr lang="ru-RU" sz="1400" dirty="0" noProof="1"/>
          </a:p>
        </p:txBody>
      </p:sp>
      <p:sp>
        <p:nvSpPr>
          <p:cNvPr id="6" name="Shape 6"/>
          <p:cNvSpPr/>
          <p:nvPr/>
        </p:nvSpPr>
        <p:spPr>
          <a:xfrm>
            <a:off x="731520" y="1463040"/>
            <a:ext cx="9326880" cy="2103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i="0" dirty="0" noProof="1">
                <a:solidFill>
                  <a:srgbClr val="FFFFFF"/>
                </a:solidFill>
                <a:latin typeface="Arial"/>
                <a:cs typeface="Arial"/>
              </a:rPr>
              <a:t>Роль и место образования и воспитания в построении нового общества в Узбекистане</a:t>
            </a:r>
            <a:endParaRPr lang="ru-RU" sz="3600" dirty="0" noProof="1"/>
          </a:p>
        </p:txBody>
      </p:sp>
      <p:sp>
        <p:nvSpPr>
          <p:cNvPr id="7" name="Shape 7"/>
          <p:cNvSpPr/>
          <p:nvPr/>
        </p:nvSpPr>
        <p:spPr>
          <a:xfrm>
            <a:off x="731520" y="3611880"/>
            <a:ext cx="932688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1" dirty="0" noProof="1">
                <a:solidFill>
                  <a:srgbClr val="F2B134"/>
                </a:solidFill>
                <a:latin typeface="Arial"/>
                <a:cs typeface="Arial"/>
              </a:rPr>
              <a:t>Образование и воспитание — фундамент Нового Узбекистана</a:t>
            </a:r>
            <a:endParaRPr lang="ru-RU" sz="2000" dirty="0" noProof="1"/>
          </a:p>
        </p:txBody>
      </p:sp>
      <p:sp>
        <p:nvSpPr>
          <p:cNvPr id="8" name="Shape 8"/>
          <p:cNvSpPr/>
          <p:nvPr/>
        </p:nvSpPr>
        <p:spPr>
          <a:xfrm>
            <a:off x="731520" y="4315968"/>
            <a:ext cx="6309360" cy="18288"/>
          </a:xfrm>
          <a:prstGeom prst="rect">
            <a:avLst/>
          </a:prstGeom>
          <a:solidFill>
            <a:srgbClr val="C9D6E3">
              <a:alpha val="60000"/>
            </a:srgbClr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9" name="Shape 9"/>
          <p:cNvSpPr/>
          <p:nvPr/>
        </p:nvSpPr>
        <p:spPr>
          <a:xfrm>
            <a:off x="731520" y="45262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C9D6E3"/>
                </a:solidFill>
                <a:latin typeface="Arial"/>
                <a:cs typeface="Arial"/>
              </a:rPr>
              <a:t>Выполнил(а):</a:t>
            </a:r>
            <a:endParaRPr lang="ru-RU" sz="1500" dirty="0" noProof="1"/>
          </a:p>
        </p:txBody>
      </p:sp>
      <p:sp>
        <p:nvSpPr>
          <p:cNvPr id="10" name="Shape 10"/>
          <p:cNvSpPr/>
          <p:nvPr/>
        </p:nvSpPr>
        <p:spPr>
          <a:xfrm>
            <a:off x="2743200" y="4864608"/>
            <a:ext cx="4297680" cy="13716"/>
          </a:xfrm>
          <a:prstGeom prst="rect">
            <a:avLst/>
          </a:prstGeom>
          <a:solidFill>
            <a:srgbClr val="C9D6E3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731520" y="500176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C9D6E3"/>
                </a:solidFill>
                <a:latin typeface="Arial"/>
                <a:cs typeface="Arial"/>
              </a:rPr>
              <a:t>Группа:</a:t>
            </a:r>
            <a:endParaRPr lang="ru-RU" sz="1500" dirty="0" noProof="1"/>
          </a:p>
        </p:txBody>
      </p:sp>
      <p:sp>
        <p:nvSpPr>
          <p:cNvPr id="12" name="Shape 12"/>
          <p:cNvSpPr/>
          <p:nvPr/>
        </p:nvSpPr>
        <p:spPr>
          <a:xfrm>
            <a:off x="2743200" y="5340096"/>
            <a:ext cx="4297680" cy="13716"/>
          </a:xfrm>
          <a:prstGeom prst="rect">
            <a:avLst/>
          </a:prstGeom>
          <a:solidFill>
            <a:srgbClr val="C9D6E3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3" name="Shape 13"/>
          <p:cNvSpPr/>
          <p:nvPr/>
        </p:nvSpPr>
        <p:spPr>
          <a:xfrm>
            <a:off x="731520" y="5477256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C9D6E3"/>
                </a:solidFill>
                <a:latin typeface="Arial"/>
                <a:cs typeface="Arial"/>
              </a:rPr>
              <a:t>Преподаватель:</a:t>
            </a:r>
            <a:endParaRPr lang="ru-RU" sz="1500" dirty="0" noProof="1"/>
          </a:p>
        </p:txBody>
      </p:sp>
      <p:sp>
        <p:nvSpPr>
          <p:cNvPr id="14" name="Shape 14"/>
          <p:cNvSpPr/>
          <p:nvPr/>
        </p:nvSpPr>
        <p:spPr>
          <a:xfrm>
            <a:off x="2743200" y="5815584"/>
            <a:ext cx="4297680" cy="13716"/>
          </a:xfrm>
          <a:prstGeom prst="rect">
            <a:avLst/>
          </a:prstGeom>
          <a:solidFill>
            <a:srgbClr val="C9D6E3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5" name="Shape 15"/>
          <p:cNvSpPr/>
          <p:nvPr/>
        </p:nvSpPr>
        <p:spPr>
          <a:xfrm>
            <a:off x="731520" y="598932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C9D6E3"/>
                </a:solidFill>
                <a:latin typeface="Arial"/>
                <a:cs typeface="Arial"/>
              </a:rPr>
              <a:t>2026 год</a:t>
            </a:r>
            <a:endParaRPr lang="ru-RU" sz="1300" dirty="0" noProof="1"/>
          </a:p>
        </p:txBody>
      </p:sp>
      <p:sp>
        <p:nvSpPr>
          <p:cNvPr id="16" name="Shape 16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7" name="Shape 17"/>
          <p:cNvSpPr/>
          <p:nvPr/>
        </p:nvSpPr>
        <p:spPr>
          <a:xfrm>
            <a:off x="0" y="6583680"/>
            <a:ext cx="12191695" cy="32004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8" name="Shape 18"/>
          <p:cNvSpPr/>
          <p:nvPr/>
        </p:nvSpPr>
        <p:spPr>
          <a:xfrm>
            <a:off x="0" y="6615684"/>
            <a:ext cx="12191695" cy="91440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План презентации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2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417320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704088" y="1554480"/>
            <a:ext cx="512064" cy="512064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ru-RU" sz="1600" dirty="0" noProof="1"/>
          </a:p>
        </p:txBody>
      </p:sp>
      <p:sp>
        <p:nvSpPr>
          <p:cNvPr id="11" name="Shape 11"/>
          <p:cNvSpPr/>
          <p:nvPr/>
        </p:nvSpPr>
        <p:spPr>
          <a:xfrm>
            <a:off x="1371600" y="1472184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Актуальность темы</a:t>
            </a:r>
            <a:endParaRPr lang="ru-RU" sz="1700" dirty="0" noProof="1"/>
          </a:p>
        </p:txBody>
      </p:sp>
      <p:sp>
        <p:nvSpPr>
          <p:cNvPr id="12" name="Shape 12"/>
          <p:cNvSpPr/>
          <p:nvPr/>
        </p:nvSpPr>
        <p:spPr>
          <a:xfrm>
            <a:off x="548640" y="2368296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3" name="Shape 13"/>
          <p:cNvSpPr/>
          <p:nvPr/>
        </p:nvSpPr>
        <p:spPr>
          <a:xfrm>
            <a:off x="704088" y="2505456"/>
            <a:ext cx="512064" cy="512064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ru-RU" sz="1600" dirty="0" noProof="1"/>
          </a:p>
        </p:txBody>
      </p:sp>
      <p:sp>
        <p:nvSpPr>
          <p:cNvPr id="14" name="Shape 14"/>
          <p:cNvSpPr/>
          <p:nvPr/>
        </p:nvSpPr>
        <p:spPr>
          <a:xfrm>
            <a:off x="1371600" y="2423160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«Новое общество»: понятие и признаки</a:t>
            </a:r>
            <a:endParaRPr lang="ru-RU" sz="1700" dirty="0" noProof="1"/>
          </a:p>
        </p:txBody>
      </p:sp>
      <p:sp>
        <p:nvSpPr>
          <p:cNvPr id="15" name="Shape 15"/>
          <p:cNvSpPr/>
          <p:nvPr/>
        </p:nvSpPr>
        <p:spPr>
          <a:xfrm>
            <a:off x="548640" y="3319272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6" name="Shape 16"/>
          <p:cNvSpPr/>
          <p:nvPr/>
        </p:nvSpPr>
        <p:spPr>
          <a:xfrm>
            <a:off x="704088" y="3456432"/>
            <a:ext cx="512064" cy="512064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ru-RU" sz="1600" dirty="0" noProof="1"/>
          </a:p>
        </p:txBody>
      </p:sp>
      <p:sp>
        <p:nvSpPr>
          <p:cNvPr id="17" name="Shape 17"/>
          <p:cNvSpPr/>
          <p:nvPr/>
        </p:nvSpPr>
        <p:spPr>
          <a:xfrm>
            <a:off x="1371600" y="3374136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Исторические истоки просвещения</a:t>
            </a:r>
            <a:endParaRPr lang="ru-RU" sz="1700" dirty="0" noProof="1"/>
          </a:p>
        </p:txBody>
      </p:sp>
      <p:sp>
        <p:nvSpPr>
          <p:cNvPr id="18" name="Shape 18"/>
          <p:cNvSpPr/>
          <p:nvPr/>
        </p:nvSpPr>
        <p:spPr>
          <a:xfrm>
            <a:off x="548640" y="4270248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9" name="Shape 19"/>
          <p:cNvSpPr/>
          <p:nvPr/>
        </p:nvSpPr>
        <p:spPr>
          <a:xfrm>
            <a:off x="704088" y="4407408"/>
            <a:ext cx="512064" cy="512064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lang="ru-RU" sz="1600" dirty="0" noProof="1"/>
          </a:p>
        </p:txBody>
      </p:sp>
      <p:sp>
        <p:nvSpPr>
          <p:cNvPr id="20" name="Shape 20"/>
          <p:cNvSpPr/>
          <p:nvPr/>
        </p:nvSpPr>
        <p:spPr>
          <a:xfrm>
            <a:off x="1371600" y="4325112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Нормативно-правовая база реформ</a:t>
            </a:r>
            <a:endParaRPr lang="ru-RU" sz="1700" dirty="0" noProof="1"/>
          </a:p>
        </p:txBody>
      </p:sp>
      <p:sp>
        <p:nvSpPr>
          <p:cNvPr id="21" name="Shape 21"/>
          <p:cNvSpPr/>
          <p:nvPr/>
        </p:nvSpPr>
        <p:spPr>
          <a:xfrm>
            <a:off x="548640" y="5221224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2" name="Shape 22"/>
          <p:cNvSpPr/>
          <p:nvPr/>
        </p:nvSpPr>
        <p:spPr>
          <a:xfrm>
            <a:off x="704088" y="5358384"/>
            <a:ext cx="512064" cy="512064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lang="ru-RU" sz="1600" dirty="0" noProof="1"/>
          </a:p>
        </p:txBody>
      </p:sp>
      <p:sp>
        <p:nvSpPr>
          <p:cNvPr id="23" name="Shape 23"/>
          <p:cNvSpPr/>
          <p:nvPr/>
        </p:nvSpPr>
        <p:spPr>
          <a:xfrm>
            <a:off x="1371600" y="5276088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Система непрерывного образования</a:t>
            </a:r>
            <a:endParaRPr lang="ru-RU" sz="1700" dirty="0" noProof="1"/>
          </a:p>
        </p:txBody>
      </p:sp>
      <p:sp>
        <p:nvSpPr>
          <p:cNvPr id="24" name="Shape 24"/>
          <p:cNvSpPr/>
          <p:nvPr/>
        </p:nvSpPr>
        <p:spPr>
          <a:xfrm>
            <a:off x="6190488" y="1417320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5" name="Shape 25"/>
          <p:cNvSpPr/>
          <p:nvPr/>
        </p:nvSpPr>
        <p:spPr>
          <a:xfrm>
            <a:off x="6345936" y="1554480"/>
            <a:ext cx="512064" cy="512064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6</a:t>
            </a:r>
            <a:endParaRPr lang="ru-RU" sz="1600" dirty="0" noProof="1"/>
          </a:p>
        </p:txBody>
      </p:sp>
      <p:sp>
        <p:nvSpPr>
          <p:cNvPr id="26" name="Shape 26"/>
          <p:cNvSpPr/>
          <p:nvPr/>
        </p:nvSpPr>
        <p:spPr>
          <a:xfrm>
            <a:off x="7013448" y="1472184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Единство образования и воспитания</a:t>
            </a:r>
            <a:endParaRPr lang="ru-RU" sz="1700" dirty="0" noProof="1"/>
          </a:p>
        </p:txBody>
      </p:sp>
      <p:sp>
        <p:nvSpPr>
          <p:cNvPr id="27" name="Shape 27"/>
          <p:cNvSpPr/>
          <p:nvPr/>
        </p:nvSpPr>
        <p:spPr>
          <a:xfrm>
            <a:off x="6190488" y="2368296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8" name="Shape 28"/>
          <p:cNvSpPr/>
          <p:nvPr/>
        </p:nvSpPr>
        <p:spPr>
          <a:xfrm>
            <a:off x="6345936" y="2505456"/>
            <a:ext cx="512064" cy="512064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lang="ru-RU" sz="1600" dirty="0" noProof="1"/>
          </a:p>
        </p:txBody>
      </p:sp>
      <p:sp>
        <p:nvSpPr>
          <p:cNvPr id="29" name="Shape 29"/>
          <p:cNvSpPr/>
          <p:nvPr/>
        </p:nvSpPr>
        <p:spPr>
          <a:xfrm>
            <a:off x="7013448" y="2423160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Функции образования и воспитания</a:t>
            </a:r>
            <a:endParaRPr lang="ru-RU" sz="1700" dirty="0" noProof="1"/>
          </a:p>
        </p:txBody>
      </p:sp>
      <p:sp>
        <p:nvSpPr>
          <p:cNvPr id="30" name="Shape 30"/>
          <p:cNvSpPr/>
          <p:nvPr/>
        </p:nvSpPr>
        <p:spPr>
          <a:xfrm>
            <a:off x="6190488" y="3319272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1" name="Shape 31"/>
          <p:cNvSpPr/>
          <p:nvPr/>
        </p:nvSpPr>
        <p:spPr>
          <a:xfrm>
            <a:off x="6345936" y="3456432"/>
            <a:ext cx="512064" cy="512064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8</a:t>
            </a:r>
            <a:endParaRPr lang="ru-RU" sz="1600" dirty="0" noProof="1"/>
          </a:p>
        </p:txBody>
      </p:sp>
      <p:sp>
        <p:nvSpPr>
          <p:cNvPr id="32" name="Shape 32"/>
          <p:cNvSpPr/>
          <p:nvPr/>
        </p:nvSpPr>
        <p:spPr>
          <a:xfrm>
            <a:off x="7013448" y="3374136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Реформы и результаты в цифрах</a:t>
            </a:r>
            <a:endParaRPr lang="ru-RU" sz="1700" dirty="0" noProof="1"/>
          </a:p>
        </p:txBody>
      </p:sp>
      <p:sp>
        <p:nvSpPr>
          <p:cNvPr id="33" name="Shape 33"/>
          <p:cNvSpPr/>
          <p:nvPr/>
        </p:nvSpPr>
        <p:spPr>
          <a:xfrm>
            <a:off x="6190488" y="4270248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4" name="Shape 34"/>
          <p:cNvSpPr/>
          <p:nvPr/>
        </p:nvSpPr>
        <p:spPr>
          <a:xfrm>
            <a:off x="6345936" y="4407408"/>
            <a:ext cx="512064" cy="512064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9</a:t>
            </a:r>
            <a:endParaRPr lang="ru-RU" sz="1600" dirty="0" noProof="1"/>
          </a:p>
        </p:txBody>
      </p:sp>
      <p:sp>
        <p:nvSpPr>
          <p:cNvPr id="35" name="Shape 35"/>
          <p:cNvSpPr/>
          <p:nvPr/>
        </p:nvSpPr>
        <p:spPr>
          <a:xfrm>
            <a:off x="7013448" y="4325112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Учитель, семья, махалля, цифровизация</a:t>
            </a:r>
            <a:endParaRPr lang="ru-RU" sz="1700" dirty="0" noProof="1"/>
          </a:p>
        </p:txBody>
      </p:sp>
      <p:sp>
        <p:nvSpPr>
          <p:cNvPr id="36" name="Shape 36"/>
          <p:cNvSpPr/>
          <p:nvPr/>
        </p:nvSpPr>
        <p:spPr>
          <a:xfrm>
            <a:off x="6190488" y="5221224"/>
            <a:ext cx="544982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7" name="Shape 37"/>
          <p:cNvSpPr/>
          <p:nvPr/>
        </p:nvSpPr>
        <p:spPr>
          <a:xfrm>
            <a:off x="6345936" y="5358384"/>
            <a:ext cx="512064" cy="512064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FFFFFF"/>
                </a:solidFill>
                <a:latin typeface="Arial"/>
                <a:cs typeface="Arial"/>
              </a:rPr>
              <a:t>10</a:t>
            </a:r>
            <a:endParaRPr lang="ru-RU" sz="1600" dirty="0" noProof="1"/>
          </a:p>
        </p:txBody>
      </p:sp>
      <p:sp>
        <p:nvSpPr>
          <p:cNvPr id="38" name="Shape 38"/>
          <p:cNvSpPr/>
          <p:nvPr/>
        </p:nvSpPr>
        <p:spPr>
          <a:xfrm>
            <a:off x="7013448" y="5276088"/>
            <a:ext cx="4480560" cy="6766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Проблемы, пути решения и выводы</a:t>
            </a:r>
            <a:endParaRPr lang="ru-RU" sz="1700" dirty="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Актуальность темы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3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67208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82296" cy="109728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822960" y="1463040"/>
            <a:ext cx="630936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Молодая и растущая страна</a:t>
            </a:r>
            <a:endParaRPr lang="ru-RU" sz="1600" dirty="0" noProof="1"/>
          </a:p>
        </p:txBody>
      </p:sp>
      <p:sp>
        <p:nvSpPr>
          <p:cNvPr id="12" name="Shape 12"/>
          <p:cNvSpPr/>
          <p:nvPr/>
        </p:nvSpPr>
        <p:spPr>
          <a:xfrm>
            <a:off x="822960" y="1810512"/>
            <a:ext cx="6309360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Население превысило 38 млн человек (на 01.04.2026), в школах учатся 6,87 млн детей (2025/2026 учебный год).</a:t>
            </a:r>
            <a:endParaRPr lang="ru-RU" sz="1300" dirty="0" noProof="1"/>
          </a:p>
        </p:txBody>
      </p:sp>
      <p:sp>
        <p:nvSpPr>
          <p:cNvPr id="13" name="Shape 13"/>
          <p:cNvSpPr/>
          <p:nvPr/>
        </p:nvSpPr>
        <p:spPr>
          <a:xfrm>
            <a:off x="548640" y="2587752"/>
            <a:ext cx="67208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4" name="Shape 14"/>
          <p:cNvSpPr/>
          <p:nvPr/>
        </p:nvSpPr>
        <p:spPr>
          <a:xfrm>
            <a:off x="548640" y="2587752"/>
            <a:ext cx="82296" cy="109728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5" name="Shape 15"/>
          <p:cNvSpPr/>
          <p:nvPr/>
        </p:nvSpPr>
        <p:spPr>
          <a:xfrm>
            <a:off x="822960" y="2679192"/>
            <a:ext cx="630936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Экономика знаний</a:t>
            </a:r>
            <a:endParaRPr lang="ru-RU" sz="1600" dirty="0" noProof="1"/>
          </a:p>
        </p:txBody>
      </p:sp>
      <p:sp>
        <p:nvSpPr>
          <p:cNvPr id="16" name="Shape 16"/>
          <p:cNvSpPr/>
          <p:nvPr/>
        </p:nvSpPr>
        <p:spPr>
          <a:xfrm>
            <a:off x="822960" y="3026664"/>
            <a:ext cx="6309360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Конкурентоспособность страны определяют не природные ресурсы, а человеческий капитал, наука и инновации.</a:t>
            </a:r>
            <a:endParaRPr lang="ru-RU" sz="1300" dirty="0" noProof="1"/>
          </a:p>
        </p:txBody>
      </p:sp>
      <p:sp>
        <p:nvSpPr>
          <p:cNvPr id="17" name="Shape 17"/>
          <p:cNvSpPr/>
          <p:nvPr/>
        </p:nvSpPr>
        <p:spPr>
          <a:xfrm>
            <a:off x="548640" y="3803904"/>
            <a:ext cx="67208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8" name="Shape 18"/>
          <p:cNvSpPr/>
          <p:nvPr/>
        </p:nvSpPr>
        <p:spPr>
          <a:xfrm>
            <a:off x="548640" y="3803904"/>
            <a:ext cx="82296" cy="109728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9" name="Shape 19"/>
          <p:cNvSpPr/>
          <p:nvPr/>
        </p:nvSpPr>
        <p:spPr>
          <a:xfrm>
            <a:off x="822960" y="3895344"/>
            <a:ext cx="630936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Конституционная гарантия</a:t>
            </a:r>
            <a:endParaRPr lang="ru-RU" sz="1600" dirty="0" noProof="1"/>
          </a:p>
        </p:txBody>
      </p:sp>
      <p:sp>
        <p:nvSpPr>
          <p:cNvPr id="20" name="Shape 20"/>
          <p:cNvSpPr/>
          <p:nvPr/>
        </p:nvSpPr>
        <p:spPr>
          <a:xfrm>
            <a:off x="822960" y="4242816"/>
            <a:ext cx="6309360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Ст. 50 Конституции (2023) закрепляет право каждого на образование; общее среднее образование — обязательное и бесплатное.</a:t>
            </a:r>
            <a:endParaRPr lang="ru-RU" sz="1300" dirty="0" noProof="1"/>
          </a:p>
        </p:txBody>
      </p:sp>
      <p:sp>
        <p:nvSpPr>
          <p:cNvPr id="21" name="Shape 21"/>
          <p:cNvSpPr/>
          <p:nvPr/>
        </p:nvSpPr>
        <p:spPr>
          <a:xfrm>
            <a:off x="548640" y="5020056"/>
            <a:ext cx="672084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2" name="Shape 22"/>
          <p:cNvSpPr/>
          <p:nvPr/>
        </p:nvSpPr>
        <p:spPr>
          <a:xfrm>
            <a:off x="548640" y="5020056"/>
            <a:ext cx="82296" cy="109728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3" name="Shape 23"/>
          <p:cNvSpPr/>
          <p:nvPr/>
        </p:nvSpPr>
        <p:spPr>
          <a:xfrm>
            <a:off x="822960" y="5111496"/>
            <a:ext cx="630936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Стратегическая цель</a:t>
            </a:r>
            <a:endParaRPr lang="ru-RU" sz="1600" dirty="0" noProof="1"/>
          </a:p>
        </p:txBody>
      </p:sp>
      <p:sp>
        <p:nvSpPr>
          <p:cNvPr id="24" name="Shape 24"/>
          <p:cNvSpPr/>
          <p:nvPr/>
        </p:nvSpPr>
        <p:spPr>
          <a:xfrm>
            <a:off x="822960" y="5458968"/>
            <a:ext cx="6309360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Концепция развития народного образования (УП-5712) ставит задачу к 2030 году войти в число 30 ведущих стран мира в рейтинге PISA.</a:t>
            </a:r>
            <a:endParaRPr lang="ru-RU" sz="1300" dirty="0" noProof="1"/>
          </a:p>
        </p:txBody>
      </p:sp>
      <p:sp>
        <p:nvSpPr>
          <p:cNvPr id="25" name="Shape 25"/>
          <p:cNvSpPr/>
          <p:nvPr/>
        </p:nvSpPr>
        <p:spPr>
          <a:xfrm>
            <a:off x="7498080" y="1371600"/>
            <a:ext cx="4142232" cy="4754880"/>
          </a:xfrm>
          <a:prstGeom prst="rect">
            <a:avLst/>
          </a:prstGeom>
          <a:solidFill>
            <a:srgbClr val="0B3C5D"/>
          </a:solidFill>
          <a:ln>
            <a:noFill/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6" name="Shape 26"/>
          <p:cNvSpPr/>
          <p:nvPr/>
        </p:nvSpPr>
        <p:spPr>
          <a:xfrm>
            <a:off x="7498080" y="1371600"/>
            <a:ext cx="4142232" cy="73152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7" name="Shape 27"/>
          <p:cNvSpPr/>
          <p:nvPr/>
        </p:nvSpPr>
        <p:spPr>
          <a:xfrm>
            <a:off x="7818120" y="1645920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F2B134"/>
                </a:solidFill>
                <a:latin typeface="Arial"/>
                <a:cs typeface="Arial"/>
              </a:rPr>
              <a:t>ГЛАВНАЯ ИДЕЯ</a:t>
            </a:r>
            <a:endParaRPr lang="ru-RU" sz="1400" dirty="0" noProof="1"/>
          </a:p>
        </p:txBody>
      </p:sp>
      <p:sp>
        <p:nvSpPr>
          <p:cNvPr id="28" name="Shape 28"/>
          <p:cNvSpPr/>
          <p:nvPr/>
        </p:nvSpPr>
        <p:spPr>
          <a:xfrm>
            <a:off x="7818120" y="2103120"/>
            <a:ext cx="3520440" cy="3840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900" b="1" i="0" dirty="0" noProof="1">
                <a:solidFill>
                  <a:srgbClr val="FFFFFF"/>
                </a:solidFill>
                <a:latin typeface="Arial"/>
                <a:cs typeface="Arial"/>
              </a:rPr>
              <a:t>Образование и воспитание — не просто отрасль социальной сферы, а стратегический фундамент нового общества.</a:t>
            </a:r>
            <a:endParaRPr lang="ru-RU" sz="1900" dirty="0" noProof="1"/>
          </a:p>
          <a:p>
            <a:pPr algn="l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C9D6E3"/>
                </a:solidFill>
                <a:latin typeface="Arial"/>
                <a:cs typeface="Arial"/>
              </a:rPr>
              <a:t>От них зависят экономика, безопасность, культура и духовное здоровье нации.</a:t>
            </a:r>
            <a:endParaRPr lang="ru-RU" sz="1500" dirty="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Что такое «новое общество» в Узбекистане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4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11091672" cy="1005840"/>
          </a:xfrm>
          <a:prstGeom prst="rect">
            <a:avLst/>
          </a:prstGeom>
          <a:solidFill>
            <a:srgbClr val="E6F4F5"/>
          </a:solidFill>
          <a:ln w="12700">
            <a:solidFill>
              <a:srgbClr val="0E9AA7"/>
            </a:solidFill>
          </a:ln>
        </p:spPr>
        <p:txBody>
          <a:bodyPr wrap="square" lIns="274320" tIns="45720" rIns="274320" bIns="45720" anchor="ctr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Статья 1 Конституции (2023): </a:t>
            </a: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Узбекистан — суверенное, демократическое, правовое, социальное и светское государство с республиканской формой правления.</a:t>
            </a:r>
            <a:endParaRPr lang="ru-RU" sz="1600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2606040"/>
            <a:ext cx="208483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548640" y="2606040"/>
            <a:ext cx="2084832" cy="64008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2" name="Shape 12"/>
          <p:cNvSpPr/>
          <p:nvPr/>
        </p:nvSpPr>
        <p:spPr>
          <a:xfrm>
            <a:off x="731520" y="2788920"/>
            <a:ext cx="1719072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Правовое государство</a:t>
            </a:r>
            <a:endParaRPr lang="ru-RU" sz="1600" dirty="0" noProof="1"/>
          </a:p>
        </p:txBody>
      </p:sp>
      <p:sp>
        <p:nvSpPr>
          <p:cNvPr id="13" name="Shape 13"/>
          <p:cNvSpPr/>
          <p:nvPr/>
        </p:nvSpPr>
        <p:spPr>
          <a:xfrm>
            <a:off x="731520" y="3447288"/>
            <a:ext cx="1719072" cy="12618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Верховенство закона, защита прав и свобод человека</a:t>
            </a:r>
            <a:endParaRPr lang="ru-RU" sz="1400" dirty="0" noProof="1"/>
          </a:p>
        </p:txBody>
      </p:sp>
      <p:sp>
        <p:nvSpPr>
          <p:cNvPr id="14" name="Shape 14"/>
          <p:cNvSpPr/>
          <p:nvPr/>
        </p:nvSpPr>
        <p:spPr>
          <a:xfrm>
            <a:off x="2796235" y="2606040"/>
            <a:ext cx="208483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5" name="Shape 15"/>
          <p:cNvSpPr/>
          <p:nvPr/>
        </p:nvSpPr>
        <p:spPr>
          <a:xfrm>
            <a:off x="2796235" y="2606040"/>
            <a:ext cx="2084832" cy="64008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6" name="Shape 16"/>
          <p:cNvSpPr/>
          <p:nvPr/>
        </p:nvSpPr>
        <p:spPr>
          <a:xfrm>
            <a:off x="2979115" y="2788920"/>
            <a:ext cx="1719072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Гражданское общество</a:t>
            </a:r>
            <a:endParaRPr lang="ru-RU" sz="1600" dirty="0" noProof="1"/>
          </a:p>
        </p:txBody>
      </p:sp>
      <p:sp>
        <p:nvSpPr>
          <p:cNvPr id="17" name="Shape 17"/>
          <p:cNvSpPr/>
          <p:nvPr/>
        </p:nvSpPr>
        <p:spPr>
          <a:xfrm>
            <a:off x="2979115" y="3447288"/>
            <a:ext cx="1719072" cy="12618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Активные граждане, махалля, общественные организации</a:t>
            </a:r>
            <a:endParaRPr lang="ru-RU" sz="1400" dirty="0" noProof="1"/>
          </a:p>
        </p:txBody>
      </p:sp>
      <p:sp>
        <p:nvSpPr>
          <p:cNvPr id="18" name="Shape 18"/>
          <p:cNvSpPr/>
          <p:nvPr/>
        </p:nvSpPr>
        <p:spPr>
          <a:xfrm>
            <a:off x="5043830" y="2606040"/>
            <a:ext cx="208483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9" name="Shape 19"/>
          <p:cNvSpPr/>
          <p:nvPr/>
        </p:nvSpPr>
        <p:spPr>
          <a:xfrm>
            <a:off x="5043830" y="2606040"/>
            <a:ext cx="2084832" cy="64008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0" name="Shape 20"/>
          <p:cNvSpPr/>
          <p:nvPr/>
        </p:nvSpPr>
        <p:spPr>
          <a:xfrm>
            <a:off x="5226710" y="2788920"/>
            <a:ext cx="1719072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Экономика знаний</a:t>
            </a:r>
            <a:endParaRPr lang="ru-RU" sz="1600" dirty="0" noProof="1"/>
          </a:p>
        </p:txBody>
      </p:sp>
      <p:sp>
        <p:nvSpPr>
          <p:cNvPr id="21" name="Shape 21"/>
          <p:cNvSpPr/>
          <p:nvPr/>
        </p:nvSpPr>
        <p:spPr>
          <a:xfrm>
            <a:off x="5226710" y="3447288"/>
            <a:ext cx="1719072" cy="12618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Инновации, стартапы, здоровая конкуренция</a:t>
            </a:r>
            <a:endParaRPr lang="ru-RU" sz="1400" dirty="0" noProof="1"/>
          </a:p>
        </p:txBody>
      </p:sp>
      <p:sp>
        <p:nvSpPr>
          <p:cNvPr id="22" name="Shape 22"/>
          <p:cNvSpPr/>
          <p:nvPr/>
        </p:nvSpPr>
        <p:spPr>
          <a:xfrm>
            <a:off x="7291426" y="2606040"/>
            <a:ext cx="208483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3" name="Shape 23"/>
          <p:cNvSpPr/>
          <p:nvPr/>
        </p:nvSpPr>
        <p:spPr>
          <a:xfrm>
            <a:off x="7291426" y="2606040"/>
            <a:ext cx="2084832" cy="64008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4" name="Shape 24"/>
          <p:cNvSpPr/>
          <p:nvPr/>
        </p:nvSpPr>
        <p:spPr>
          <a:xfrm>
            <a:off x="7474306" y="2788920"/>
            <a:ext cx="1719072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Социальное государство</a:t>
            </a:r>
            <a:endParaRPr lang="ru-RU" sz="1600" dirty="0" noProof="1"/>
          </a:p>
        </p:txBody>
      </p:sp>
      <p:sp>
        <p:nvSpPr>
          <p:cNvPr id="25" name="Shape 25"/>
          <p:cNvSpPr/>
          <p:nvPr/>
        </p:nvSpPr>
        <p:spPr>
          <a:xfrm>
            <a:off x="7474306" y="3447288"/>
            <a:ext cx="1719072" cy="12618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Равные возможности, поддержка семей и уязвимых групп</a:t>
            </a:r>
            <a:endParaRPr lang="ru-RU" sz="1400" dirty="0" noProof="1"/>
          </a:p>
        </p:txBody>
      </p:sp>
      <p:sp>
        <p:nvSpPr>
          <p:cNvPr id="26" name="Shape 26"/>
          <p:cNvSpPr/>
          <p:nvPr/>
        </p:nvSpPr>
        <p:spPr>
          <a:xfrm>
            <a:off x="9539021" y="2606040"/>
            <a:ext cx="208483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7" name="Shape 27"/>
          <p:cNvSpPr/>
          <p:nvPr/>
        </p:nvSpPr>
        <p:spPr>
          <a:xfrm>
            <a:off x="9539021" y="2606040"/>
            <a:ext cx="2084832" cy="64008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8" name="Shape 28"/>
          <p:cNvSpPr/>
          <p:nvPr/>
        </p:nvSpPr>
        <p:spPr>
          <a:xfrm>
            <a:off x="9721901" y="2788920"/>
            <a:ext cx="1719072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Духовная зрелость</a:t>
            </a:r>
            <a:endParaRPr lang="ru-RU" sz="1600" dirty="0" noProof="1"/>
          </a:p>
        </p:txBody>
      </p:sp>
      <p:sp>
        <p:nvSpPr>
          <p:cNvPr id="29" name="Shape 29"/>
          <p:cNvSpPr/>
          <p:nvPr/>
        </p:nvSpPr>
        <p:spPr>
          <a:xfrm>
            <a:off x="9721901" y="3447288"/>
            <a:ext cx="1719072" cy="126187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Национальные ценности и открытость миру</a:t>
            </a:r>
            <a:endParaRPr lang="ru-RU" sz="1400" dirty="0" noProof="1"/>
          </a:p>
        </p:txBody>
      </p:sp>
      <p:sp>
        <p:nvSpPr>
          <p:cNvPr id="30" name="Shape 30"/>
          <p:cNvSpPr/>
          <p:nvPr/>
        </p:nvSpPr>
        <p:spPr>
          <a:xfrm>
            <a:off x="548640" y="5074920"/>
            <a:ext cx="11091672" cy="114300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1" name="Shape 31"/>
          <p:cNvSpPr/>
          <p:nvPr/>
        </p:nvSpPr>
        <p:spPr>
          <a:xfrm>
            <a:off x="822960" y="5120640"/>
            <a:ext cx="10543032" cy="10515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2B134"/>
                </a:solidFill>
                <a:latin typeface="Arial"/>
                <a:cs typeface="Arial"/>
              </a:rPr>
              <a:t>Принцип реформ: </a:t>
            </a:r>
            <a:r>
              <a:rPr lang="ru-RU" sz="1500" b="0" i="0" dirty="0" noProof="1">
                <a:solidFill>
                  <a:srgbClr val="FFFFFF"/>
                </a:solidFill>
                <a:latin typeface="Arial"/>
                <a:cs typeface="Arial"/>
              </a:rPr>
              <a:t>«Не народ должен служить государственным органам, а государственные органы должны служить народу»</a:t>
            </a:r>
            <a:endParaRPr lang="ru-RU" sz="1500" dirty="0" noProof="1"/>
          </a:p>
          <a:p>
            <a:pPr algn="ctr"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F2B134"/>
                </a:solidFill>
                <a:latin typeface="Arial"/>
                <a:cs typeface="Arial"/>
              </a:rPr>
              <a:t>Девиз этапа: </a:t>
            </a:r>
            <a:r>
              <a:rPr lang="ru-RU" sz="1400" b="0" i="1" dirty="0" noProof="1">
                <a:solidFill>
                  <a:srgbClr val="C9D6E3"/>
                </a:solidFill>
                <a:latin typeface="Arial"/>
                <a:cs typeface="Arial"/>
              </a:rPr>
              <a:t>«Milliy tiklanishdan — milliy yuksalish sari» (от национального возрождения — к национальному подъёму)</a:t>
            </a:r>
            <a:endParaRPr lang="ru-RU" sz="1400" dirty="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Исторические истоки: традиция просвещения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5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941832" y="1691640"/>
            <a:ext cx="45720" cy="356616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758952" y="1490472"/>
            <a:ext cx="411480" cy="411480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1371600" y="1417320"/>
            <a:ext cx="5440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IX–XII века</a:t>
            </a:r>
            <a:endParaRPr lang="ru-RU" sz="1600" dirty="0" noProof="1"/>
          </a:p>
        </p:txBody>
      </p:sp>
      <p:sp>
        <p:nvSpPr>
          <p:cNvPr id="12" name="Shape 12"/>
          <p:cNvSpPr/>
          <p:nvPr/>
        </p:nvSpPr>
        <p:spPr>
          <a:xfrm>
            <a:off x="1371600" y="1819656"/>
            <a:ext cx="544068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Первый Ренессанс: аль-Хорезми, аль-Фараби, аль-Беруни, Ибн Сина; Академия Мамуна в Хорезме.</a:t>
            </a:r>
            <a:endParaRPr lang="ru-RU" sz="1300" dirty="0" noProof="1"/>
          </a:p>
        </p:txBody>
      </p:sp>
      <p:sp>
        <p:nvSpPr>
          <p:cNvPr id="13" name="Shape 13"/>
          <p:cNvSpPr/>
          <p:nvPr/>
        </p:nvSpPr>
        <p:spPr>
          <a:xfrm>
            <a:off x="758952" y="2679192"/>
            <a:ext cx="411480" cy="411480"/>
          </a:xfrm>
          <a:prstGeom prst="ellipse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4" name="Shape 14"/>
          <p:cNvSpPr/>
          <p:nvPr/>
        </p:nvSpPr>
        <p:spPr>
          <a:xfrm>
            <a:off x="1371600" y="2606040"/>
            <a:ext cx="5440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XIV–XV века</a:t>
            </a:r>
            <a:endParaRPr lang="ru-RU" sz="1600" dirty="0" noProof="1"/>
          </a:p>
        </p:txBody>
      </p:sp>
      <p:sp>
        <p:nvSpPr>
          <p:cNvPr id="15" name="Shape 15"/>
          <p:cNvSpPr/>
          <p:nvPr/>
        </p:nvSpPr>
        <p:spPr>
          <a:xfrm>
            <a:off x="1371600" y="3008376"/>
            <a:ext cx="544068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Второй Ренессанс эпохи Темуридов: медресе и обсерватория Улугбека, творчество Алишера Навои.</a:t>
            </a:r>
            <a:endParaRPr lang="ru-RU" sz="1300" dirty="0" noProof="1"/>
          </a:p>
        </p:txBody>
      </p:sp>
      <p:sp>
        <p:nvSpPr>
          <p:cNvPr id="16" name="Shape 16"/>
          <p:cNvSpPr/>
          <p:nvPr/>
        </p:nvSpPr>
        <p:spPr>
          <a:xfrm>
            <a:off x="758952" y="3867912"/>
            <a:ext cx="411480" cy="411480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7" name="Shape 17"/>
          <p:cNvSpPr/>
          <p:nvPr/>
        </p:nvSpPr>
        <p:spPr>
          <a:xfrm>
            <a:off x="1371600" y="3794760"/>
            <a:ext cx="5440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Конец XIX — начало XX века</a:t>
            </a:r>
            <a:endParaRPr lang="ru-RU" sz="1600" dirty="0" noProof="1"/>
          </a:p>
        </p:txBody>
      </p:sp>
      <p:sp>
        <p:nvSpPr>
          <p:cNvPr id="18" name="Shape 18"/>
          <p:cNvSpPr/>
          <p:nvPr/>
        </p:nvSpPr>
        <p:spPr>
          <a:xfrm>
            <a:off x="1371600" y="4197096"/>
            <a:ext cx="544068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Джадиды (Бехбуди, Авлони, Фитрат, Мунаввар кары): новометодные школы, газеты, театр; просвещение как путь к прогрессу.</a:t>
            </a:r>
            <a:endParaRPr lang="ru-RU" sz="1300" dirty="0" noProof="1"/>
          </a:p>
        </p:txBody>
      </p:sp>
      <p:sp>
        <p:nvSpPr>
          <p:cNvPr id="19" name="Shape 19"/>
          <p:cNvSpPr/>
          <p:nvPr/>
        </p:nvSpPr>
        <p:spPr>
          <a:xfrm>
            <a:off x="758952" y="5056632"/>
            <a:ext cx="411480" cy="411480"/>
          </a:xfrm>
          <a:prstGeom prst="ellipse">
            <a:avLst/>
          </a:prstGeom>
          <a:solidFill>
            <a:srgbClr val="F2B134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0" name="Shape 20"/>
          <p:cNvSpPr/>
          <p:nvPr/>
        </p:nvSpPr>
        <p:spPr>
          <a:xfrm>
            <a:off x="1371600" y="4983480"/>
            <a:ext cx="5440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XXI век</a:t>
            </a:r>
            <a:endParaRPr lang="ru-RU" sz="1600" dirty="0" noProof="1"/>
          </a:p>
        </p:txBody>
      </p:sp>
      <p:sp>
        <p:nvSpPr>
          <p:cNvPr id="21" name="Shape 21"/>
          <p:cNvSpPr/>
          <p:nvPr/>
        </p:nvSpPr>
        <p:spPr>
          <a:xfrm>
            <a:off x="1371600" y="5385816"/>
            <a:ext cx="544068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Идея Третьего Ренессанса: наследие предков, современные знания, наука и технологии.</a:t>
            </a:r>
            <a:endParaRPr lang="ru-RU" sz="1300" dirty="0" noProof="1"/>
          </a:p>
        </p:txBody>
      </p:sp>
      <p:sp>
        <p:nvSpPr>
          <p:cNvPr id="22" name="Shape 22"/>
          <p:cNvSpPr/>
          <p:nvPr/>
        </p:nvSpPr>
        <p:spPr>
          <a:xfrm>
            <a:off x="7132320" y="1371600"/>
            <a:ext cx="4507992" cy="4800600"/>
          </a:xfrm>
          <a:prstGeom prst="rect">
            <a:avLst/>
          </a:prstGeom>
          <a:solidFill>
            <a:srgbClr val="0B3C5D"/>
          </a:solidFill>
          <a:ln>
            <a:noFill/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3" name="Shape 23"/>
          <p:cNvSpPr/>
          <p:nvPr/>
        </p:nvSpPr>
        <p:spPr>
          <a:xfrm>
            <a:off x="7452360" y="1463040"/>
            <a:ext cx="914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1" i="0" dirty="0" noProof="1">
                <a:solidFill>
                  <a:srgbClr val="F2B134"/>
                </a:solidFill>
                <a:latin typeface="Arial"/>
                <a:cs typeface="Arial"/>
              </a:rPr>
              <a:t>«</a:t>
            </a:r>
            <a:endParaRPr lang="ru-RU" sz="6000" dirty="0" noProof="1"/>
          </a:p>
        </p:txBody>
      </p:sp>
      <p:sp>
        <p:nvSpPr>
          <p:cNvPr id="24" name="Shape 24"/>
          <p:cNvSpPr/>
          <p:nvPr/>
        </p:nvSpPr>
        <p:spPr>
          <a:xfrm>
            <a:off x="7498080" y="2377440"/>
            <a:ext cx="3886200" cy="23774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1" dirty="0" noProof="1">
                <a:solidFill>
                  <a:srgbClr val="FFFFFF"/>
                </a:solidFill>
                <a:latin typeface="Arial"/>
                <a:cs typeface="Arial"/>
              </a:rPr>
              <a:t>Воспитание для нас — вопрос жизни или смерти, спасения или гибели, счастья или несчастья.</a:t>
            </a:r>
            <a:endParaRPr lang="ru-RU" sz="2000" dirty="0" noProof="1"/>
          </a:p>
        </p:txBody>
      </p:sp>
      <p:sp>
        <p:nvSpPr>
          <p:cNvPr id="25" name="Shape 25"/>
          <p:cNvSpPr/>
          <p:nvPr/>
        </p:nvSpPr>
        <p:spPr>
          <a:xfrm>
            <a:off x="7498080" y="4892040"/>
            <a:ext cx="731520" cy="45720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6" name="Shape 26"/>
          <p:cNvSpPr/>
          <p:nvPr/>
        </p:nvSpPr>
        <p:spPr>
          <a:xfrm>
            <a:off x="7498080" y="5029200"/>
            <a:ext cx="388620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2B134"/>
                </a:solidFill>
                <a:latin typeface="Arial"/>
                <a:cs typeface="Arial"/>
              </a:rPr>
              <a:t>Абдулла Авлони</a:t>
            </a:r>
            <a:endParaRPr lang="ru-RU" sz="1500" dirty="0" noProof="1"/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C9D6E3"/>
                </a:solidFill>
                <a:latin typeface="Arial"/>
                <a:cs typeface="Arial"/>
              </a:rPr>
              <a:t>«Тюркский Гулистан, или Нравственность», 1913</a:t>
            </a:r>
            <a:endParaRPr lang="ru-RU" sz="1200" dirty="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Нормативно-правовая база реформ образования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6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5449824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1417320" cy="109728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29.04.2019</a:t>
            </a:r>
            <a:endParaRPr lang="ru-RU" sz="1500" dirty="0" noProof="1"/>
          </a:p>
        </p:txBody>
      </p:sp>
      <p:sp>
        <p:nvSpPr>
          <p:cNvPr id="11" name="Shape 11"/>
          <p:cNvSpPr/>
          <p:nvPr/>
        </p:nvSpPr>
        <p:spPr>
          <a:xfrm>
            <a:off x="2121408" y="1463040"/>
            <a:ext cx="375818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Концепция развития системы народного образования до 2030 года</a:t>
            </a:r>
            <a:endParaRPr lang="ru-RU" sz="1400" dirty="0" noProof="1"/>
          </a:p>
        </p:txBody>
      </p:sp>
      <p:sp>
        <p:nvSpPr>
          <p:cNvPr id="12" name="Shape 12"/>
          <p:cNvSpPr/>
          <p:nvPr/>
        </p:nvSpPr>
        <p:spPr>
          <a:xfrm>
            <a:off x="2121408" y="2103120"/>
            <a:ext cx="37581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5B6B7F"/>
                </a:solidFill>
                <a:latin typeface="Arial"/>
                <a:cs typeface="Arial"/>
              </a:rPr>
              <a:t>Указ Президента № УП-5712</a:t>
            </a:r>
            <a:endParaRPr lang="ru-RU" sz="1200" dirty="0" noProof="1"/>
          </a:p>
        </p:txBody>
      </p:sp>
      <p:sp>
        <p:nvSpPr>
          <p:cNvPr id="13" name="Shape 13"/>
          <p:cNvSpPr/>
          <p:nvPr/>
        </p:nvSpPr>
        <p:spPr>
          <a:xfrm>
            <a:off x="548640" y="2587752"/>
            <a:ext cx="5449824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4" name="Shape 14"/>
          <p:cNvSpPr/>
          <p:nvPr/>
        </p:nvSpPr>
        <p:spPr>
          <a:xfrm>
            <a:off x="548640" y="2587752"/>
            <a:ext cx="1417320" cy="109728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08.10.2019</a:t>
            </a:r>
            <a:endParaRPr lang="ru-RU" sz="1500" dirty="0" noProof="1"/>
          </a:p>
        </p:txBody>
      </p:sp>
      <p:sp>
        <p:nvSpPr>
          <p:cNvPr id="15" name="Shape 15"/>
          <p:cNvSpPr/>
          <p:nvPr/>
        </p:nvSpPr>
        <p:spPr>
          <a:xfrm>
            <a:off x="2121408" y="2679192"/>
            <a:ext cx="375818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Концепция развития системы высшего образования до 2030 года</a:t>
            </a:r>
            <a:endParaRPr lang="ru-RU" sz="1400" dirty="0" noProof="1"/>
          </a:p>
        </p:txBody>
      </p:sp>
      <p:sp>
        <p:nvSpPr>
          <p:cNvPr id="16" name="Shape 16"/>
          <p:cNvSpPr/>
          <p:nvPr/>
        </p:nvSpPr>
        <p:spPr>
          <a:xfrm>
            <a:off x="2121408" y="3319272"/>
            <a:ext cx="37581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5B6B7F"/>
                </a:solidFill>
                <a:latin typeface="Arial"/>
                <a:cs typeface="Arial"/>
              </a:rPr>
              <a:t>Указ Президента № УП-5847</a:t>
            </a:r>
            <a:endParaRPr lang="ru-RU" sz="1200" dirty="0" noProof="1"/>
          </a:p>
        </p:txBody>
      </p:sp>
      <p:sp>
        <p:nvSpPr>
          <p:cNvPr id="17" name="Shape 17"/>
          <p:cNvSpPr/>
          <p:nvPr/>
        </p:nvSpPr>
        <p:spPr>
          <a:xfrm>
            <a:off x="548640" y="3803904"/>
            <a:ext cx="5449824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8" name="Shape 18"/>
          <p:cNvSpPr/>
          <p:nvPr/>
        </p:nvSpPr>
        <p:spPr>
          <a:xfrm>
            <a:off x="548640" y="3803904"/>
            <a:ext cx="1417320" cy="109728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16.12.2019</a:t>
            </a:r>
            <a:endParaRPr lang="ru-RU" sz="1500" dirty="0" noProof="1"/>
          </a:p>
        </p:txBody>
      </p:sp>
      <p:sp>
        <p:nvSpPr>
          <p:cNvPr id="19" name="Shape 19"/>
          <p:cNvSpPr/>
          <p:nvPr/>
        </p:nvSpPr>
        <p:spPr>
          <a:xfrm>
            <a:off x="2121408" y="3895344"/>
            <a:ext cx="375818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Закон «О дошкольном образовании и воспитании»</a:t>
            </a:r>
            <a:endParaRPr lang="ru-RU" sz="1400" dirty="0" noProof="1"/>
          </a:p>
        </p:txBody>
      </p:sp>
      <p:sp>
        <p:nvSpPr>
          <p:cNvPr id="20" name="Shape 20"/>
          <p:cNvSpPr/>
          <p:nvPr/>
        </p:nvSpPr>
        <p:spPr>
          <a:xfrm>
            <a:off x="2121408" y="4535424"/>
            <a:ext cx="37581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5B6B7F"/>
                </a:solidFill>
                <a:latin typeface="Arial"/>
                <a:cs typeface="Arial"/>
              </a:rPr>
              <a:t>№ ЗРУ-595</a:t>
            </a:r>
            <a:endParaRPr lang="ru-RU" sz="1200" dirty="0" noProof="1"/>
          </a:p>
        </p:txBody>
      </p:sp>
      <p:sp>
        <p:nvSpPr>
          <p:cNvPr id="21" name="Shape 21"/>
          <p:cNvSpPr/>
          <p:nvPr/>
        </p:nvSpPr>
        <p:spPr>
          <a:xfrm>
            <a:off x="548640" y="5020056"/>
            <a:ext cx="5449824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2" name="Shape 22"/>
          <p:cNvSpPr/>
          <p:nvPr/>
        </p:nvSpPr>
        <p:spPr>
          <a:xfrm>
            <a:off x="548640" y="5020056"/>
            <a:ext cx="1417320" cy="109728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23.09.2020</a:t>
            </a:r>
            <a:endParaRPr lang="ru-RU" sz="1500" dirty="0" noProof="1"/>
          </a:p>
        </p:txBody>
      </p:sp>
      <p:sp>
        <p:nvSpPr>
          <p:cNvPr id="23" name="Shape 23"/>
          <p:cNvSpPr/>
          <p:nvPr/>
        </p:nvSpPr>
        <p:spPr>
          <a:xfrm>
            <a:off x="2121408" y="5111496"/>
            <a:ext cx="375818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Закон «Об образовании» — основной закон отрасли</a:t>
            </a:r>
            <a:endParaRPr lang="ru-RU" sz="1400" dirty="0" noProof="1"/>
          </a:p>
        </p:txBody>
      </p:sp>
      <p:sp>
        <p:nvSpPr>
          <p:cNvPr id="24" name="Shape 24"/>
          <p:cNvSpPr/>
          <p:nvPr/>
        </p:nvSpPr>
        <p:spPr>
          <a:xfrm>
            <a:off x="2121408" y="5751576"/>
            <a:ext cx="37581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5B6B7F"/>
                </a:solidFill>
                <a:latin typeface="Arial"/>
                <a:cs typeface="Arial"/>
              </a:rPr>
              <a:t>№ ЗРУ-637</a:t>
            </a:r>
            <a:endParaRPr lang="ru-RU" sz="1200" dirty="0" noProof="1"/>
          </a:p>
        </p:txBody>
      </p:sp>
      <p:sp>
        <p:nvSpPr>
          <p:cNvPr id="25" name="Shape 25"/>
          <p:cNvSpPr/>
          <p:nvPr/>
        </p:nvSpPr>
        <p:spPr>
          <a:xfrm>
            <a:off x="6190488" y="1371600"/>
            <a:ext cx="5449824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6" name="Shape 26"/>
          <p:cNvSpPr/>
          <p:nvPr/>
        </p:nvSpPr>
        <p:spPr>
          <a:xfrm>
            <a:off x="6190488" y="1371600"/>
            <a:ext cx="1417320" cy="1097280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05.10.2020</a:t>
            </a:r>
            <a:endParaRPr lang="ru-RU" sz="1500" dirty="0" noProof="1"/>
          </a:p>
        </p:txBody>
      </p:sp>
      <p:sp>
        <p:nvSpPr>
          <p:cNvPr id="27" name="Shape 27"/>
          <p:cNvSpPr/>
          <p:nvPr/>
        </p:nvSpPr>
        <p:spPr>
          <a:xfrm>
            <a:off x="7763256" y="1463040"/>
            <a:ext cx="375818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Стратегия «Цифровой Узбекистан — 2030»</a:t>
            </a:r>
            <a:endParaRPr lang="ru-RU" sz="1400" dirty="0" noProof="1"/>
          </a:p>
        </p:txBody>
      </p:sp>
      <p:sp>
        <p:nvSpPr>
          <p:cNvPr id="28" name="Shape 28"/>
          <p:cNvSpPr/>
          <p:nvPr/>
        </p:nvSpPr>
        <p:spPr>
          <a:xfrm>
            <a:off x="7763256" y="2103120"/>
            <a:ext cx="37581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5B6B7F"/>
                </a:solidFill>
                <a:latin typeface="Arial"/>
                <a:cs typeface="Arial"/>
              </a:rPr>
              <a:t>Указ Президента № УП-6079</a:t>
            </a:r>
            <a:endParaRPr lang="ru-RU" sz="1200" dirty="0" noProof="1"/>
          </a:p>
        </p:txBody>
      </p:sp>
      <p:sp>
        <p:nvSpPr>
          <p:cNvPr id="29" name="Shape 29"/>
          <p:cNvSpPr/>
          <p:nvPr/>
        </p:nvSpPr>
        <p:spPr>
          <a:xfrm>
            <a:off x="6190488" y="2587752"/>
            <a:ext cx="5449824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0" name="Shape 30"/>
          <p:cNvSpPr/>
          <p:nvPr/>
        </p:nvSpPr>
        <p:spPr>
          <a:xfrm>
            <a:off x="6190488" y="2587752"/>
            <a:ext cx="1417320" cy="1097280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28.01.2022</a:t>
            </a:r>
            <a:endParaRPr lang="ru-RU" sz="1500" dirty="0" noProof="1"/>
          </a:p>
        </p:txBody>
      </p:sp>
      <p:sp>
        <p:nvSpPr>
          <p:cNvPr id="31" name="Shape 31"/>
          <p:cNvSpPr/>
          <p:nvPr/>
        </p:nvSpPr>
        <p:spPr>
          <a:xfrm>
            <a:off x="7763256" y="2679192"/>
            <a:ext cx="375818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Стратегия развития Нового Узбекистана на 2022–2026 годы</a:t>
            </a:r>
            <a:endParaRPr lang="ru-RU" sz="1400" dirty="0" noProof="1"/>
          </a:p>
        </p:txBody>
      </p:sp>
      <p:sp>
        <p:nvSpPr>
          <p:cNvPr id="32" name="Shape 32"/>
          <p:cNvSpPr/>
          <p:nvPr/>
        </p:nvSpPr>
        <p:spPr>
          <a:xfrm>
            <a:off x="7763256" y="3319272"/>
            <a:ext cx="37581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5B6B7F"/>
                </a:solidFill>
                <a:latin typeface="Arial"/>
                <a:cs typeface="Arial"/>
              </a:rPr>
              <a:t>Указ Президента № УП-60</a:t>
            </a:r>
            <a:endParaRPr lang="ru-RU" sz="1200" dirty="0" noProof="1"/>
          </a:p>
        </p:txBody>
      </p:sp>
      <p:sp>
        <p:nvSpPr>
          <p:cNvPr id="33" name="Shape 33"/>
          <p:cNvSpPr/>
          <p:nvPr/>
        </p:nvSpPr>
        <p:spPr>
          <a:xfrm>
            <a:off x="6190488" y="3803904"/>
            <a:ext cx="5449824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4" name="Shape 34"/>
          <p:cNvSpPr/>
          <p:nvPr/>
        </p:nvSpPr>
        <p:spPr>
          <a:xfrm>
            <a:off x="6190488" y="3803904"/>
            <a:ext cx="1417320" cy="1097280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30.04.2023</a:t>
            </a:r>
            <a:endParaRPr lang="ru-RU" sz="1500" dirty="0" noProof="1"/>
          </a:p>
        </p:txBody>
      </p:sp>
      <p:sp>
        <p:nvSpPr>
          <p:cNvPr id="35" name="Shape 35"/>
          <p:cNvSpPr/>
          <p:nvPr/>
        </p:nvSpPr>
        <p:spPr>
          <a:xfrm>
            <a:off x="7763256" y="3895344"/>
            <a:ext cx="375818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Новая редакция Конституции принята на референдуме</a:t>
            </a:r>
            <a:endParaRPr lang="ru-RU" sz="1400" dirty="0" noProof="1"/>
          </a:p>
        </p:txBody>
      </p:sp>
      <p:sp>
        <p:nvSpPr>
          <p:cNvPr id="36" name="Shape 36"/>
          <p:cNvSpPr/>
          <p:nvPr/>
        </p:nvSpPr>
        <p:spPr>
          <a:xfrm>
            <a:off x="7763256" y="4535424"/>
            <a:ext cx="37581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5B6B7F"/>
                </a:solidFill>
                <a:latin typeface="Arial"/>
                <a:cs typeface="Arial"/>
              </a:rPr>
              <a:t>Ст. 50 — право каждого на образование</a:t>
            </a:r>
            <a:endParaRPr lang="ru-RU" sz="1200" dirty="0" noProof="1"/>
          </a:p>
        </p:txBody>
      </p:sp>
      <p:sp>
        <p:nvSpPr>
          <p:cNvPr id="37" name="Shape 37"/>
          <p:cNvSpPr/>
          <p:nvPr/>
        </p:nvSpPr>
        <p:spPr>
          <a:xfrm>
            <a:off x="6190488" y="5020056"/>
            <a:ext cx="5449824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8" name="Shape 38"/>
          <p:cNvSpPr/>
          <p:nvPr/>
        </p:nvSpPr>
        <p:spPr>
          <a:xfrm>
            <a:off x="6190488" y="5020056"/>
            <a:ext cx="1417320" cy="1097280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11.09.2023</a:t>
            </a:r>
            <a:endParaRPr lang="ru-RU" sz="1500" dirty="0" noProof="1"/>
          </a:p>
        </p:txBody>
      </p:sp>
      <p:sp>
        <p:nvSpPr>
          <p:cNvPr id="39" name="Shape 39"/>
          <p:cNvSpPr/>
          <p:nvPr/>
        </p:nvSpPr>
        <p:spPr>
          <a:xfrm>
            <a:off x="7763256" y="5111496"/>
            <a:ext cx="3758184" cy="6217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Стратегия «Узбекистан — 2030»</a:t>
            </a:r>
            <a:endParaRPr lang="ru-RU" sz="1400" dirty="0" noProof="1"/>
          </a:p>
        </p:txBody>
      </p:sp>
      <p:sp>
        <p:nvSpPr>
          <p:cNvPr id="40" name="Shape 40"/>
          <p:cNvSpPr/>
          <p:nvPr/>
        </p:nvSpPr>
        <p:spPr>
          <a:xfrm>
            <a:off x="7763256" y="5751576"/>
            <a:ext cx="3758184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5B6B7F"/>
                </a:solidFill>
                <a:latin typeface="Arial"/>
                <a:cs typeface="Arial"/>
              </a:rPr>
              <a:t>Указ Президента № УП-158</a:t>
            </a:r>
            <a:endParaRPr lang="ru-RU" sz="1200" dirty="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Система непрерывного образования (ЗРУ-637)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7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5449824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777240" cy="1042416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 noProof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ru-RU" sz="2400" dirty="0" noProof="1"/>
          </a:p>
        </p:txBody>
      </p:sp>
      <p:sp>
        <p:nvSpPr>
          <p:cNvPr id="11" name="Shape 11"/>
          <p:cNvSpPr/>
          <p:nvPr/>
        </p:nvSpPr>
        <p:spPr>
          <a:xfrm>
            <a:off x="1481328" y="1463040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Дошкольное образование и воспитание</a:t>
            </a:r>
            <a:endParaRPr lang="ru-RU" sz="1400" dirty="0" noProof="1"/>
          </a:p>
        </p:txBody>
      </p:sp>
      <p:sp>
        <p:nvSpPr>
          <p:cNvPr id="12" name="Shape 12"/>
          <p:cNvSpPr/>
          <p:nvPr/>
        </p:nvSpPr>
        <p:spPr>
          <a:xfrm>
            <a:off x="1481328" y="1901952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Детские сады; подготовка детей к школе</a:t>
            </a:r>
            <a:endParaRPr lang="ru-RU" sz="1300" dirty="0" noProof="1"/>
          </a:p>
        </p:txBody>
      </p:sp>
      <p:sp>
        <p:nvSpPr>
          <p:cNvPr id="13" name="Shape 13"/>
          <p:cNvSpPr/>
          <p:nvPr/>
        </p:nvSpPr>
        <p:spPr>
          <a:xfrm>
            <a:off x="548640" y="2560320"/>
            <a:ext cx="5449824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4" name="Shape 14"/>
          <p:cNvSpPr/>
          <p:nvPr/>
        </p:nvSpPr>
        <p:spPr>
          <a:xfrm>
            <a:off x="548640" y="2560320"/>
            <a:ext cx="777240" cy="1042416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 noProof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ru-RU" sz="2400" dirty="0" noProof="1"/>
          </a:p>
        </p:txBody>
      </p:sp>
      <p:sp>
        <p:nvSpPr>
          <p:cNvPr id="15" name="Shape 15"/>
          <p:cNvSpPr/>
          <p:nvPr/>
        </p:nvSpPr>
        <p:spPr>
          <a:xfrm>
            <a:off x="1481328" y="2651760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Общее среднее и среднее специальное</a:t>
            </a:r>
            <a:endParaRPr lang="ru-RU" sz="1400" dirty="0" noProof="1"/>
          </a:p>
        </p:txBody>
      </p:sp>
      <p:sp>
        <p:nvSpPr>
          <p:cNvPr id="16" name="Shape 16"/>
          <p:cNvSpPr/>
          <p:nvPr/>
        </p:nvSpPr>
        <p:spPr>
          <a:xfrm>
            <a:off x="1481328" y="3090672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Школа (I–XI классы) и академические лицеи</a:t>
            </a:r>
            <a:endParaRPr lang="ru-RU" sz="1300" dirty="0" noProof="1"/>
          </a:p>
        </p:txBody>
      </p:sp>
      <p:sp>
        <p:nvSpPr>
          <p:cNvPr id="17" name="Shape 17"/>
          <p:cNvSpPr/>
          <p:nvPr/>
        </p:nvSpPr>
        <p:spPr>
          <a:xfrm>
            <a:off x="548640" y="3749040"/>
            <a:ext cx="5449824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8" name="Shape 18"/>
          <p:cNvSpPr/>
          <p:nvPr/>
        </p:nvSpPr>
        <p:spPr>
          <a:xfrm>
            <a:off x="548640" y="3749040"/>
            <a:ext cx="777240" cy="1042416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 noProof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ru-RU" sz="2400" dirty="0" noProof="1"/>
          </a:p>
        </p:txBody>
      </p:sp>
      <p:sp>
        <p:nvSpPr>
          <p:cNvPr id="19" name="Shape 19"/>
          <p:cNvSpPr/>
          <p:nvPr/>
        </p:nvSpPr>
        <p:spPr>
          <a:xfrm>
            <a:off x="1481328" y="3840480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Профессиональное образование</a:t>
            </a:r>
            <a:endParaRPr lang="ru-RU" sz="1400" dirty="0" noProof="1"/>
          </a:p>
        </p:txBody>
      </p:sp>
      <p:sp>
        <p:nvSpPr>
          <p:cNvPr id="20" name="Shape 20"/>
          <p:cNvSpPr/>
          <p:nvPr/>
        </p:nvSpPr>
        <p:spPr>
          <a:xfrm>
            <a:off x="1481328" y="4279392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Профессиональные школы, колледжи, техникумы</a:t>
            </a:r>
            <a:endParaRPr lang="ru-RU" sz="1300" dirty="0" noProof="1"/>
          </a:p>
        </p:txBody>
      </p:sp>
      <p:sp>
        <p:nvSpPr>
          <p:cNvPr id="21" name="Shape 21"/>
          <p:cNvSpPr/>
          <p:nvPr/>
        </p:nvSpPr>
        <p:spPr>
          <a:xfrm>
            <a:off x="548640" y="4937760"/>
            <a:ext cx="5449824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2" name="Shape 22"/>
          <p:cNvSpPr/>
          <p:nvPr/>
        </p:nvSpPr>
        <p:spPr>
          <a:xfrm>
            <a:off x="548640" y="4937760"/>
            <a:ext cx="777240" cy="1042416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 noProof="1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lang="ru-RU" sz="2400" dirty="0" noProof="1"/>
          </a:p>
        </p:txBody>
      </p:sp>
      <p:sp>
        <p:nvSpPr>
          <p:cNvPr id="23" name="Shape 23"/>
          <p:cNvSpPr/>
          <p:nvPr/>
        </p:nvSpPr>
        <p:spPr>
          <a:xfrm>
            <a:off x="1481328" y="5029200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Высшее образование</a:t>
            </a:r>
            <a:endParaRPr lang="ru-RU" sz="1400" dirty="0" noProof="1"/>
          </a:p>
        </p:txBody>
      </p:sp>
      <p:sp>
        <p:nvSpPr>
          <p:cNvPr id="24" name="Shape 24"/>
          <p:cNvSpPr/>
          <p:nvPr/>
        </p:nvSpPr>
        <p:spPr>
          <a:xfrm>
            <a:off x="1481328" y="5468112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Бакалавриат и магистратура</a:t>
            </a:r>
            <a:endParaRPr lang="ru-RU" sz="1300" dirty="0" noProof="1"/>
          </a:p>
        </p:txBody>
      </p:sp>
      <p:sp>
        <p:nvSpPr>
          <p:cNvPr id="25" name="Shape 25"/>
          <p:cNvSpPr/>
          <p:nvPr/>
        </p:nvSpPr>
        <p:spPr>
          <a:xfrm>
            <a:off x="6190488" y="1371600"/>
            <a:ext cx="5449824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6" name="Shape 26"/>
          <p:cNvSpPr/>
          <p:nvPr/>
        </p:nvSpPr>
        <p:spPr>
          <a:xfrm>
            <a:off x="6190488" y="1371600"/>
            <a:ext cx="777240" cy="1042416"/>
          </a:xfrm>
          <a:prstGeom prst="rect">
            <a:avLst/>
          </a:prstGeom>
          <a:solidFill>
            <a:srgbClr val="14507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 noProof="1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lang="ru-RU" sz="2400" dirty="0" noProof="1"/>
          </a:p>
        </p:txBody>
      </p:sp>
      <p:sp>
        <p:nvSpPr>
          <p:cNvPr id="27" name="Shape 27"/>
          <p:cNvSpPr/>
          <p:nvPr/>
        </p:nvSpPr>
        <p:spPr>
          <a:xfrm>
            <a:off x="7123176" y="1463040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Послевузовское образование</a:t>
            </a:r>
            <a:endParaRPr lang="ru-RU" sz="1400" dirty="0" noProof="1"/>
          </a:p>
        </p:txBody>
      </p:sp>
      <p:sp>
        <p:nvSpPr>
          <p:cNvPr id="28" name="Shape 28"/>
          <p:cNvSpPr/>
          <p:nvPr/>
        </p:nvSpPr>
        <p:spPr>
          <a:xfrm>
            <a:off x="7123176" y="1901952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Базовая докторантура (PhD) и докторантура (DSc)</a:t>
            </a:r>
            <a:endParaRPr lang="ru-RU" sz="1300" dirty="0" noProof="1"/>
          </a:p>
        </p:txBody>
      </p:sp>
      <p:sp>
        <p:nvSpPr>
          <p:cNvPr id="29" name="Shape 29"/>
          <p:cNvSpPr/>
          <p:nvPr/>
        </p:nvSpPr>
        <p:spPr>
          <a:xfrm>
            <a:off x="6190488" y="2560320"/>
            <a:ext cx="5449824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0" name="Shape 30"/>
          <p:cNvSpPr/>
          <p:nvPr/>
        </p:nvSpPr>
        <p:spPr>
          <a:xfrm>
            <a:off x="6190488" y="2560320"/>
            <a:ext cx="777240" cy="1042416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 noProof="1">
                <a:solidFill>
                  <a:srgbClr val="FFFFFF"/>
                </a:solidFill>
                <a:latin typeface="Arial"/>
                <a:cs typeface="Arial"/>
              </a:rPr>
              <a:t>6</a:t>
            </a:r>
            <a:endParaRPr lang="ru-RU" sz="2400" dirty="0" noProof="1"/>
          </a:p>
        </p:txBody>
      </p:sp>
      <p:sp>
        <p:nvSpPr>
          <p:cNvPr id="31" name="Shape 31"/>
          <p:cNvSpPr/>
          <p:nvPr/>
        </p:nvSpPr>
        <p:spPr>
          <a:xfrm>
            <a:off x="7123176" y="2651760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Переподготовка и повышение квалификации</a:t>
            </a:r>
            <a:endParaRPr lang="ru-RU" sz="1400" dirty="0" noProof="1"/>
          </a:p>
        </p:txBody>
      </p:sp>
      <p:sp>
        <p:nvSpPr>
          <p:cNvPr id="32" name="Shape 32"/>
          <p:cNvSpPr/>
          <p:nvPr/>
        </p:nvSpPr>
        <p:spPr>
          <a:xfrm>
            <a:off x="7123176" y="3090672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Обучение в течение всей жизни</a:t>
            </a:r>
            <a:endParaRPr lang="ru-RU" sz="1300" dirty="0" noProof="1"/>
          </a:p>
        </p:txBody>
      </p:sp>
      <p:sp>
        <p:nvSpPr>
          <p:cNvPr id="33" name="Shape 33"/>
          <p:cNvSpPr/>
          <p:nvPr/>
        </p:nvSpPr>
        <p:spPr>
          <a:xfrm>
            <a:off x="6190488" y="3749040"/>
            <a:ext cx="5449824" cy="1042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4" name="Shape 34"/>
          <p:cNvSpPr/>
          <p:nvPr/>
        </p:nvSpPr>
        <p:spPr>
          <a:xfrm>
            <a:off x="6190488" y="3749040"/>
            <a:ext cx="777240" cy="1042416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 noProof="1">
                <a:solidFill>
                  <a:srgbClr val="FFFFFF"/>
                </a:solidFill>
                <a:latin typeface="Arial"/>
                <a:cs typeface="Arial"/>
              </a:rPr>
              <a:t>7</a:t>
            </a:r>
            <a:endParaRPr lang="ru-RU" sz="2400" dirty="0" noProof="1"/>
          </a:p>
        </p:txBody>
      </p:sp>
      <p:sp>
        <p:nvSpPr>
          <p:cNvPr id="35" name="Shape 35"/>
          <p:cNvSpPr/>
          <p:nvPr/>
        </p:nvSpPr>
        <p:spPr>
          <a:xfrm>
            <a:off x="7123176" y="3840480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Внешкольное образование</a:t>
            </a:r>
            <a:endParaRPr lang="ru-RU" sz="1400" dirty="0" noProof="1"/>
          </a:p>
        </p:txBody>
      </p:sp>
      <p:sp>
        <p:nvSpPr>
          <p:cNvPr id="36" name="Shape 36"/>
          <p:cNvSpPr/>
          <p:nvPr/>
        </p:nvSpPr>
        <p:spPr>
          <a:xfrm>
            <a:off x="7123176" y="4279392"/>
            <a:ext cx="4407408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Кружки, центры творчества, спортивные школы</a:t>
            </a:r>
            <a:endParaRPr lang="ru-RU" sz="1300" dirty="0" noProof="1"/>
          </a:p>
        </p:txBody>
      </p:sp>
      <p:sp>
        <p:nvSpPr>
          <p:cNvPr id="37" name="Shape 37"/>
          <p:cNvSpPr/>
          <p:nvPr/>
        </p:nvSpPr>
        <p:spPr>
          <a:xfrm>
            <a:off x="6190488" y="4937760"/>
            <a:ext cx="5449824" cy="1042416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228600" tIns="45720" rIns="228600" bIns="45720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50" b="1" i="0" dirty="0" noProof="1">
                <a:solidFill>
                  <a:srgbClr val="F2B134"/>
                </a:solidFill>
                <a:latin typeface="Arial"/>
                <a:cs typeface="Arial"/>
              </a:rPr>
              <a:t>Гарантия государства: </a:t>
            </a:r>
            <a:r>
              <a:rPr lang="ru-RU" sz="1350" b="0" i="0" dirty="0" noProof="1">
                <a:solidFill>
                  <a:srgbClr val="FFFFFF"/>
                </a:solidFill>
                <a:latin typeface="Arial"/>
                <a:cs typeface="Arial"/>
              </a:rPr>
              <a:t>общее среднее образование (11 лет) — обязательное и бесплатное (ст. 50 Конституции).</a:t>
            </a:r>
            <a:endParaRPr lang="ru-RU" sz="1350" dirty="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Единство образования и воспитания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8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393192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3931920" cy="73152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FFFFFF"/>
                </a:solidFill>
                <a:latin typeface="Arial"/>
                <a:cs typeface="Arial"/>
              </a:rPr>
              <a:t>ОБРАЗОВАНИЕ</a:t>
            </a:r>
            <a:endParaRPr lang="ru-RU" sz="2000" dirty="0" noProof="1"/>
          </a:p>
        </p:txBody>
      </p:sp>
      <p:sp>
        <p:nvSpPr>
          <p:cNvPr id="11" name="Shape 11"/>
          <p:cNvSpPr/>
          <p:nvPr/>
        </p:nvSpPr>
        <p:spPr>
          <a:xfrm>
            <a:off x="777240" y="2286000"/>
            <a:ext cx="3520440" cy="2834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Знания и умения</a:t>
            </a:r>
            <a:endParaRPr lang="ru-RU" sz="1600" dirty="0" noProof="1"/>
          </a:p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Компетенции XXI века</a:t>
            </a:r>
            <a:endParaRPr lang="ru-RU" sz="1600" dirty="0" noProof="1"/>
          </a:p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Критическое мышление</a:t>
            </a:r>
            <a:endParaRPr lang="ru-RU" sz="1600" dirty="0" noProof="1"/>
          </a:p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Профессия и карьера</a:t>
            </a:r>
            <a:endParaRPr lang="ru-RU" sz="1600" dirty="0" noProof="1"/>
          </a:p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Иностранные языки и цифровые навыки</a:t>
            </a:r>
            <a:endParaRPr lang="ru-RU" sz="1600" dirty="0" noProof="1"/>
          </a:p>
        </p:txBody>
      </p:sp>
      <p:sp>
        <p:nvSpPr>
          <p:cNvPr id="12" name="Shape 12"/>
          <p:cNvSpPr/>
          <p:nvPr/>
        </p:nvSpPr>
        <p:spPr>
          <a:xfrm>
            <a:off x="7708392" y="1371600"/>
            <a:ext cx="393192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3" name="Shape 13"/>
          <p:cNvSpPr/>
          <p:nvPr/>
        </p:nvSpPr>
        <p:spPr>
          <a:xfrm>
            <a:off x="7708392" y="1371600"/>
            <a:ext cx="3931920" cy="731520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FFFFFF"/>
                </a:solidFill>
                <a:latin typeface="Arial"/>
                <a:cs typeface="Arial"/>
              </a:rPr>
              <a:t>ВОСПИТАНИЕ</a:t>
            </a:r>
            <a:endParaRPr lang="ru-RU" sz="2000" dirty="0" noProof="1"/>
          </a:p>
        </p:txBody>
      </p:sp>
      <p:sp>
        <p:nvSpPr>
          <p:cNvPr id="14" name="Shape 14"/>
          <p:cNvSpPr/>
          <p:nvPr/>
        </p:nvSpPr>
        <p:spPr>
          <a:xfrm>
            <a:off x="7936992" y="2286000"/>
            <a:ext cx="3520440" cy="2834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Ценности и мировоззрение</a:t>
            </a:r>
            <a:endParaRPr lang="ru-RU" sz="1600" dirty="0" noProof="1"/>
          </a:p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Патриотизм и гражданственность</a:t>
            </a:r>
            <a:endParaRPr lang="ru-RU" sz="1600" dirty="0" noProof="1"/>
          </a:p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Честность и ответственность</a:t>
            </a:r>
            <a:endParaRPr lang="ru-RU" sz="1600" dirty="0" noProof="1"/>
          </a:p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Толерантность и уважение</a:t>
            </a:r>
            <a:endParaRPr lang="ru-RU" sz="1600" dirty="0" noProof="1"/>
          </a:p>
          <a:p>
            <a:pPr algn="l" marL="274320" indent="-274320">
              <a:spcBef>
                <a:spcPts val="8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Правовая культура</a:t>
            </a:r>
            <a:endParaRPr lang="ru-RU" sz="1600" dirty="0" noProof="1"/>
          </a:p>
        </p:txBody>
      </p:sp>
      <p:sp>
        <p:nvSpPr>
          <p:cNvPr id="15" name="Shape 15"/>
          <p:cNvSpPr/>
          <p:nvPr/>
        </p:nvSpPr>
        <p:spPr>
          <a:xfrm>
            <a:off x="4818888" y="1691640"/>
            <a:ext cx="2560320" cy="2560320"/>
          </a:xfrm>
          <a:prstGeom prst="ellipse">
            <a:avLst/>
          </a:prstGeom>
          <a:solidFill>
            <a:srgbClr val="0B3C5D"/>
          </a:solidFill>
          <a:ln>
            <a:noFill/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274320" tIns="91440" rIns="274320" bIns="9144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 noProof="1">
                <a:solidFill>
                  <a:srgbClr val="FFFFFF"/>
                </a:solidFill>
                <a:latin typeface="Arial"/>
                <a:cs typeface="Arial"/>
              </a:rPr>
              <a:t>Гармонично развитая личность</a:t>
            </a:r>
            <a:endParaRPr lang="ru-RU" sz="1800" dirty="0" noProof="1"/>
          </a:p>
        </p:txBody>
      </p:sp>
      <p:sp>
        <p:nvSpPr>
          <p:cNvPr id="16" name="Shape 16"/>
          <p:cNvSpPr/>
          <p:nvPr/>
        </p:nvSpPr>
        <p:spPr>
          <a:xfrm>
            <a:off x="4480560" y="2606040"/>
            <a:ext cx="33832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0E9AA7"/>
                </a:solidFill>
                <a:latin typeface="Arial"/>
                <a:cs typeface="Arial"/>
              </a:rPr>
              <a:t>+</a:t>
            </a:r>
            <a:endParaRPr lang="ru-RU" sz="2800" dirty="0" noProof="1"/>
          </a:p>
        </p:txBody>
      </p:sp>
      <p:sp>
        <p:nvSpPr>
          <p:cNvPr id="17" name="Shape 17"/>
          <p:cNvSpPr/>
          <p:nvPr/>
        </p:nvSpPr>
        <p:spPr>
          <a:xfrm>
            <a:off x="7379208" y="2606040"/>
            <a:ext cx="329184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1EB53A"/>
                </a:solidFill>
                <a:latin typeface="Arial"/>
                <a:cs typeface="Arial"/>
              </a:rPr>
              <a:t>+</a:t>
            </a:r>
            <a:endParaRPr lang="ru-RU" sz="2800" dirty="0" noProof="1"/>
          </a:p>
        </p:txBody>
      </p:sp>
      <p:sp>
        <p:nvSpPr>
          <p:cNvPr id="18" name="Shape 18"/>
          <p:cNvSpPr/>
          <p:nvPr/>
        </p:nvSpPr>
        <p:spPr>
          <a:xfrm>
            <a:off x="4572000" y="4434840"/>
            <a:ext cx="306324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1" dirty="0" noProof="1">
                <a:solidFill>
                  <a:srgbClr val="5B6B7F"/>
                </a:solidFill>
                <a:latin typeface="Arial"/>
                <a:cs typeface="Arial"/>
              </a:rPr>
              <a:t>Цель — «баркамол авлод», гармонично развитое поколение</a:t>
            </a:r>
            <a:endParaRPr lang="ru-RU" sz="1300" dirty="0" noProof="1"/>
          </a:p>
        </p:txBody>
      </p:sp>
      <p:sp>
        <p:nvSpPr>
          <p:cNvPr id="19" name="Shape 19"/>
          <p:cNvSpPr/>
          <p:nvPr/>
        </p:nvSpPr>
        <p:spPr>
          <a:xfrm>
            <a:off x="548640" y="5486400"/>
            <a:ext cx="11091672" cy="731520"/>
          </a:xfrm>
          <a:prstGeom prst="rect">
            <a:avLst/>
          </a:prstGeom>
          <a:solidFill>
            <a:srgbClr val="FDF4E1"/>
          </a:solidFill>
          <a:ln w="12700">
            <a:solidFill>
              <a:srgbClr val="F2B134"/>
            </a:solidFill>
          </a:ln>
        </p:spPr>
        <p:txBody>
          <a:bodyPr wrap="square" lIns="274320" tIns="45720" rIns="274320" bIns="4572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Знания без воспитания могут быть опасны, а воспитание без знаний бессильно: новому обществу нужно их единство.</a:t>
            </a:r>
            <a:endParaRPr lang="ru-RU" sz="1500" dirty="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Функции образования в построении нового общества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9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3593592" cy="64008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ru-RU" sz="1500" dirty="0" noProof="1"/>
          </a:p>
        </p:txBody>
      </p:sp>
      <p:sp>
        <p:nvSpPr>
          <p:cNvPr id="12" name="Shape 12"/>
          <p:cNvSpPr/>
          <p:nvPr/>
        </p:nvSpPr>
        <p:spPr>
          <a:xfrm>
            <a:off x="1325880" y="155448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Экономическая</a:t>
            </a:r>
            <a:endParaRPr lang="ru-RU" sz="1600" dirty="0" noProof="1"/>
          </a:p>
        </p:txBody>
      </p:sp>
      <p:sp>
        <p:nvSpPr>
          <p:cNvPr id="13" name="Shape 13"/>
          <p:cNvSpPr/>
          <p:nvPr/>
        </p:nvSpPr>
        <p:spPr>
          <a:xfrm>
            <a:off x="731520" y="210312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Подготовка конкурентоспособных кадров для экономики знаний и цифровой экономики.</a:t>
            </a:r>
            <a:endParaRPr lang="ru-RU" sz="1500" dirty="0" noProof="1"/>
          </a:p>
        </p:txBody>
      </p:sp>
      <p:sp>
        <p:nvSpPr>
          <p:cNvPr id="14" name="Shape 14"/>
          <p:cNvSpPr/>
          <p:nvPr/>
        </p:nvSpPr>
        <p:spPr>
          <a:xfrm>
            <a:off x="4297680" y="137160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5" name="Shape 15"/>
          <p:cNvSpPr/>
          <p:nvPr/>
        </p:nvSpPr>
        <p:spPr>
          <a:xfrm>
            <a:off x="4297680" y="1371600"/>
            <a:ext cx="3593592" cy="64008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6" name="Shape 16"/>
          <p:cNvSpPr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0099B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ru-RU" sz="1500" dirty="0" noProof="1"/>
          </a:p>
        </p:txBody>
      </p:sp>
      <p:sp>
        <p:nvSpPr>
          <p:cNvPr id="17" name="Shape 17"/>
          <p:cNvSpPr/>
          <p:nvPr/>
        </p:nvSpPr>
        <p:spPr>
          <a:xfrm>
            <a:off x="5074920" y="155448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Социальная</a:t>
            </a:r>
            <a:endParaRPr lang="ru-RU" sz="1600" dirty="0" noProof="1"/>
          </a:p>
        </p:txBody>
      </p:sp>
      <p:sp>
        <p:nvSpPr>
          <p:cNvPr id="18" name="Shape 18"/>
          <p:cNvSpPr/>
          <p:nvPr/>
        </p:nvSpPr>
        <p:spPr>
          <a:xfrm>
            <a:off x="4480560" y="210312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Равный доступ к знаниям, социальная мобильность, сокращение бедности.</a:t>
            </a:r>
            <a:endParaRPr lang="ru-RU" sz="1500" dirty="0" noProof="1"/>
          </a:p>
        </p:txBody>
      </p:sp>
      <p:sp>
        <p:nvSpPr>
          <p:cNvPr id="19" name="Shape 19"/>
          <p:cNvSpPr/>
          <p:nvPr/>
        </p:nvSpPr>
        <p:spPr>
          <a:xfrm>
            <a:off x="8046720" y="137160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0" name="Shape 20"/>
          <p:cNvSpPr/>
          <p:nvPr/>
        </p:nvSpPr>
        <p:spPr>
          <a:xfrm>
            <a:off x="8046720" y="1371600"/>
            <a:ext cx="3593592" cy="64008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1" name="Shape 21"/>
          <p:cNvSpPr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ru-RU" sz="1500" dirty="0" noProof="1"/>
          </a:p>
        </p:txBody>
      </p:sp>
      <p:sp>
        <p:nvSpPr>
          <p:cNvPr id="22" name="Shape 22"/>
          <p:cNvSpPr/>
          <p:nvPr/>
        </p:nvSpPr>
        <p:spPr>
          <a:xfrm>
            <a:off x="8823960" y="155448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Гражданско-правовая</a:t>
            </a:r>
            <a:endParaRPr lang="ru-RU" sz="1600" dirty="0" noProof="1"/>
          </a:p>
        </p:txBody>
      </p:sp>
      <p:sp>
        <p:nvSpPr>
          <p:cNvPr id="23" name="Shape 23"/>
          <p:cNvSpPr/>
          <p:nvPr/>
        </p:nvSpPr>
        <p:spPr>
          <a:xfrm>
            <a:off x="8229600" y="210312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Формирование активного гражданина с высокой правовой культурой.</a:t>
            </a:r>
            <a:endParaRPr lang="ru-RU" sz="1500" dirty="0" noProof="1"/>
          </a:p>
        </p:txBody>
      </p:sp>
      <p:sp>
        <p:nvSpPr>
          <p:cNvPr id="24" name="Shape 24"/>
          <p:cNvSpPr/>
          <p:nvPr/>
        </p:nvSpPr>
        <p:spPr>
          <a:xfrm>
            <a:off x="548640" y="379476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5" name="Shape 25"/>
          <p:cNvSpPr/>
          <p:nvPr/>
        </p:nvSpPr>
        <p:spPr>
          <a:xfrm>
            <a:off x="548640" y="3794760"/>
            <a:ext cx="3593592" cy="64008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6" name="Shape 26"/>
          <p:cNvSpPr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F2B134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lang="ru-RU" sz="1500" dirty="0" noProof="1"/>
          </a:p>
        </p:txBody>
      </p:sp>
      <p:sp>
        <p:nvSpPr>
          <p:cNvPr id="27" name="Shape 27"/>
          <p:cNvSpPr/>
          <p:nvPr/>
        </p:nvSpPr>
        <p:spPr>
          <a:xfrm>
            <a:off x="1325880" y="397764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Культурно-духовная</a:t>
            </a:r>
            <a:endParaRPr lang="ru-RU" sz="1600" dirty="0" noProof="1"/>
          </a:p>
        </p:txBody>
      </p:sp>
      <p:sp>
        <p:nvSpPr>
          <p:cNvPr id="28" name="Shape 28"/>
          <p:cNvSpPr/>
          <p:nvPr/>
        </p:nvSpPr>
        <p:spPr>
          <a:xfrm>
            <a:off x="731520" y="452628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Сохранение родного языка, национальных традиций и исторического наследия.</a:t>
            </a:r>
            <a:endParaRPr lang="ru-RU" sz="1500" dirty="0" noProof="1"/>
          </a:p>
        </p:txBody>
      </p:sp>
      <p:sp>
        <p:nvSpPr>
          <p:cNvPr id="29" name="Shape 29"/>
          <p:cNvSpPr/>
          <p:nvPr/>
        </p:nvSpPr>
        <p:spPr>
          <a:xfrm>
            <a:off x="4297680" y="379476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0" name="Shape 30"/>
          <p:cNvSpPr/>
          <p:nvPr/>
        </p:nvSpPr>
        <p:spPr>
          <a:xfrm>
            <a:off x="4297680" y="3794760"/>
            <a:ext cx="3593592" cy="64008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1" name="Shape 31"/>
          <p:cNvSpPr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CE112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lang="ru-RU" sz="1500" dirty="0" noProof="1"/>
          </a:p>
        </p:txBody>
      </p:sp>
      <p:sp>
        <p:nvSpPr>
          <p:cNvPr id="32" name="Shape 32"/>
          <p:cNvSpPr/>
          <p:nvPr/>
        </p:nvSpPr>
        <p:spPr>
          <a:xfrm>
            <a:off x="5074920" y="397764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Инновационная</a:t>
            </a:r>
            <a:endParaRPr lang="ru-RU" sz="1600" dirty="0" noProof="1"/>
          </a:p>
        </p:txBody>
      </p:sp>
      <p:sp>
        <p:nvSpPr>
          <p:cNvPr id="33" name="Shape 33"/>
          <p:cNvSpPr/>
          <p:nvPr/>
        </p:nvSpPr>
        <p:spPr>
          <a:xfrm>
            <a:off x="4480560" y="452628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Развитие науки, технологий, стартапов и исследовательского мышления.</a:t>
            </a:r>
            <a:endParaRPr lang="ru-RU" sz="1500" dirty="0" noProof="1"/>
          </a:p>
        </p:txBody>
      </p:sp>
      <p:sp>
        <p:nvSpPr>
          <p:cNvPr id="34" name="Shape 34"/>
          <p:cNvSpPr/>
          <p:nvPr/>
        </p:nvSpPr>
        <p:spPr>
          <a:xfrm>
            <a:off x="8046720" y="379476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5" name="Shape 35"/>
          <p:cNvSpPr/>
          <p:nvPr/>
        </p:nvSpPr>
        <p:spPr>
          <a:xfrm>
            <a:off x="8046720" y="3794760"/>
            <a:ext cx="3593592" cy="64008"/>
          </a:xfrm>
          <a:prstGeom prst="rect">
            <a:avLst/>
          </a:prstGeom>
          <a:solidFill>
            <a:srgbClr val="14507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6" name="Shape 36"/>
          <p:cNvSpPr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507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6</a:t>
            </a:r>
            <a:endParaRPr lang="ru-RU" sz="1500" dirty="0" noProof="1"/>
          </a:p>
        </p:txBody>
      </p:sp>
      <p:sp>
        <p:nvSpPr>
          <p:cNvPr id="37" name="Shape 37"/>
          <p:cNvSpPr/>
          <p:nvPr/>
        </p:nvSpPr>
        <p:spPr>
          <a:xfrm>
            <a:off x="8823960" y="397764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Интеграционная</a:t>
            </a:r>
            <a:endParaRPr lang="ru-RU" sz="1600" dirty="0" noProof="1"/>
          </a:p>
        </p:txBody>
      </p:sp>
      <p:sp>
        <p:nvSpPr>
          <p:cNvPr id="38" name="Shape 38"/>
          <p:cNvSpPr/>
          <p:nvPr/>
        </p:nvSpPr>
        <p:spPr>
          <a:xfrm>
            <a:off x="8229600" y="452628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Участие в PISA, PIRLS и TIMSS, филиалы зарубежных вузов, академическая мобильность.</a:t>
            </a:r>
            <a:endParaRPr lang="ru-RU" sz="1500" dirty="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Приоритетные направления воспитания молодёжи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10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612648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822960" y="1508760"/>
            <a:ext cx="566928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Ключевые направления</a:t>
            </a:r>
            <a:endParaRPr lang="ru-RU" sz="1700" dirty="0" noProof="1"/>
          </a:p>
        </p:txBody>
      </p:sp>
      <p:sp>
        <p:nvSpPr>
          <p:cNvPr id="11" name="Shape 11"/>
          <p:cNvSpPr/>
          <p:nvPr/>
        </p:nvSpPr>
        <p:spPr>
          <a:xfrm>
            <a:off x="822960" y="2011680"/>
            <a:ext cx="5669280" cy="4069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 marL="274320" indent="-274320">
              <a:spcBef>
                <a:spcPts val="10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Патриотизм, гражданственность, любовь к Родине</a:t>
            </a:r>
            <a:endParaRPr lang="ru-RU" sz="1600" dirty="0" noProof="1"/>
          </a:p>
          <a:p>
            <a:pPr algn="l" marL="274320" indent="-274320">
              <a:spcBef>
                <a:spcPts val="10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Духовно-нравственное воспитание на основе национальных ценностей</a:t>
            </a:r>
            <a:endParaRPr lang="ru-RU" sz="1600" dirty="0" noProof="1"/>
          </a:p>
          <a:p>
            <a:pPr algn="l" marL="274320" indent="-274320">
              <a:spcBef>
                <a:spcPts val="10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Правовая культура и нетерпимость к коррупции</a:t>
            </a:r>
            <a:endParaRPr lang="ru-RU" sz="1600" dirty="0" noProof="1"/>
          </a:p>
          <a:p>
            <a:pPr algn="l" marL="274320" indent="-274320">
              <a:spcBef>
                <a:spcPts val="10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Межнациональное согласие и религиозная толерантность</a:t>
            </a:r>
            <a:endParaRPr lang="ru-RU" sz="1600" dirty="0" noProof="1"/>
          </a:p>
          <a:p>
            <a:pPr algn="l" marL="274320" indent="-274320">
              <a:spcBef>
                <a:spcPts val="10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Иммунитет к деструктивным идеям, медиаграмотность</a:t>
            </a:r>
            <a:endParaRPr lang="ru-RU" sz="1600" dirty="0" noProof="1"/>
          </a:p>
          <a:p>
            <a:pPr algn="l" marL="274320" indent="-274320">
              <a:spcBef>
                <a:spcPts val="10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Здоровый образ жизни и экологическая культура</a:t>
            </a:r>
            <a:endParaRPr lang="ru-RU" sz="1600" dirty="0" noProof="1"/>
          </a:p>
          <a:p>
            <a:pPr algn="l" marL="274320" indent="-274320">
              <a:spcBef>
                <a:spcPts val="10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600" b="0" i="0" dirty="0" noProof="1">
                <a:solidFill>
                  <a:srgbClr val="1F2937"/>
                </a:solidFill>
                <a:latin typeface="Arial"/>
                <a:cs typeface="Arial"/>
              </a:rPr>
              <a:t>Трудолюбие, предприимчивость, ответственность</a:t>
            </a:r>
            <a:endParaRPr lang="ru-RU" sz="1600" dirty="0" noProof="1"/>
          </a:p>
        </p:txBody>
      </p:sp>
      <p:sp>
        <p:nvSpPr>
          <p:cNvPr id="12" name="Shape 12"/>
          <p:cNvSpPr/>
          <p:nvPr/>
        </p:nvSpPr>
        <p:spPr>
          <a:xfrm>
            <a:off x="6903720" y="1371600"/>
            <a:ext cx="4736592" cy="4846320"/>
          </a:xfrm>
          <a:prstGeom prst="rect">
            <a:avLst/>
          </a:prstGeom>
          <a:solidFill>
            <a:srgbClr val="0B3C5D"/>
          </a:solidFill>
          <a:ln>
            <a:noFill/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3" name="Shape 13"/>
          <p:cNvSpPr/>
          <p:nvPr/>
        </p:nvSpPr>
        <p:spPr>
          <a:xfrm>
            <a:off x="7178040" y="1508760"/>
            <a:ext cx="4206240" cy="7772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 noProof="1">
                <a:solidFill>
                  <a:srgbClr val="F2B134"/>
                </a:solidFill>
                <a:latin typeface="Arial"/>
                <a:cs typeface="Arial"/>
              </a:rPr>
              <a:t>«Пять важных инициатив»</a:t>
            </a:r>
            <a:endParaRPr lang="ru-RU" sz="1800" dirty="0" noProof="1"/>
          </a:p>
          <a:p>
            <a:pPr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200" b="0" i="1" dirty="0" noProof="1">
                <a:solidFill>
                  <a:srgbClr val="C9D6E3"/>
                </a:solidFill>
                <a:latin typeface="Arial"/>
                <a:cs typeface="Arial"/>
              </a:rPr>
              <a:t>выдвинуты Президентом в марте 2019 года</a:t>
            </a:r>
            <a:endParaRPr lang="ru-RU" sz="1200" dirty="0" noProof="1"/>
          </a:p>
        </p:txBody>
      </p:sp>
      <p:sp>
        <p:nvSpPr>
          <p:cNvPr id="14" name="Shape 14"/>
          <p:cNvSpPr/>
          <p:nvPr/>
        </p:nvSpPr>
        <p:spPr>
          <a:xfrm>
            <a:off x="7223760" y="2468880"/>
            <a:ext cx="475488" cy="475488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ru-RU" sz="1400" dirty="0" noProof="1"/>
          </a:p>
        </p:txBody>
      </p:sp>
      <p:sp>
        <p:nvSpPr>
          <p:cNvPr id="15" name="Shape 15"/>
          <p:cNvSpPr/>
          <p:nvPr/>
        </p:nvSpPr>
        <p:spPr>
          <a:xfrm>
            <a:off x="7863840" y="2423160"/>
            <a:ext cx="36118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FFFFFF"/>
                </a:solidFill>
                <a:latin typeface="Arial"/>
                <a:cs typeface="Arial"/>
              </a:rPr>
              <a:t>Культура и искусство</a:t>
            </a:r>
            <a:endParaRPr lang="ru-RU" sz="1500" dirty="0" noProof="1"/>
          </a:p>
        </p:txBody>
      </p:sp>
      <p:sp>
        <p:nvSpPr>
          <p:cNvPr id="16" name="Shape 16"/>
          <p:cNvSpPr/>
          <p:nvPr/>
        </p:nvSpPr>
        <p:spPr>
          <a:xfrm>
            <a:off x="7223760" y="3200400"/>
            <a:ext cx="475488" cy="475488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ru-RU" sz="1400" dirty="0" noProof="1"/>
          </a:p>
        </p:txBody>
      </p:sp>
      <p:sp>
        <p:nvSpPr>
          <p:cNvPr id="17" name="Shape 17"/>
          <p:cNvSpPr/>
          <p:nvPr/>
        </p:nvSpPr>
        <p:spPr>
          <a:xfrm>
            <a:off x="7863840" y="3154680"/>
            <a:ext cx="36118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FFFFFF"/>
                </a:solidFill>
                <a:latin typeface="Arial"/>
                <a:cs typeface="Arial"/>
              </a:rPr>
              <a:t>Физкультура и спорт</a:t>
            </a:r>
            <a:endParaRPr lang="ru-RU" sz="1500" dirty="0" noProof="1"/>
          </a:p>
        </p:txBody>
      </p:sp>
      <p:sp>
        <p:nvSpPr>
          <p:cNvPr id="18" name="Shape 18"/>
          <p:cNvSpPr/>
          <p:nvPr/>
        </p:nvSpPr>
        <p:spPr>
          <a:xfrm>
            <a:off x="7223760" y="3931920"/>
            <a:ext cx="475488" cy="475488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ru-RU" sz="1400" dirty="0" noProof="1"/>
          </a:p>
        </p:txBody>
      </p:sp>
      <p:sp>
        <p:nvSpPr>
          <p:cNvPr id="19" name="Shape 19"/>
          <p:cNvSpPr/>
          <p:nvPr/>
        </p:nvSpPr>
        <p:spPr>
          <a:xfrm>
            <a:off x="7863840" y="3886200"/>
            <a:ext cx="36118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FFFFFF"/>
                </a:solidFill>
                <a:latin typeface="Arial"/>
                <a:cs typeface="Arial"/>
              </a:rPr>
              <a:t>Компьютерные технологии и Интернет</a:t>
            </a:r>
            <a:endParaRPr lang="ru-RU" sz="1500" dirty="0" noProof="1"/>
          </a:p>
        </p:txBody>
      </p:sp>
      <p:sp>
        <p:nvSpPr>
          <p:cNvPr id="20" name="Shape 20"/>
          <p:cNvSpPr/>
          <p:nvPr/>
        </p:nvSpPr>
        <p:spPr>
          <a:xfrm>
            <a:off x="7223760" y="4663440"/>
            <a:ext cx="475488" cy="475488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lang="ru-RU" sz="1400" dirty="0" noProof="1"/>
          </a:p>
        </p:txBody>
      </p:sp>
      <p:sp>
        <p:nvSpPr>
          <p:cNvPr id="21" name="Shape 21"/>
          <p:cNvSpPr/>
          <p:nvPr/>
        </p:nvSpPr>
        <p:spPr>
          <a:xfrm>
            <a:off x="7863840" y="4617720"/>
            <a:ext cx="36118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FFFFFF"/>
                </a:solidFill>
                <a:latin typeface="Arial"/>
                <a:cs typeface="Arial"/>
              </a:rPr>
              <a:t>Чтение книг</a:t>
            </a:r>
            <a:endParaRPr lang="ru-RU" sz="1500" dirty="0" noProof="1"/>
          </a:p>
        </p:txBody>
      </p:sp>
      <p:sp>
        <p:nvSpPr>
          <p:cNvPr id="22" name="Shape 22"/>
          <p:cNvSpPr/>
          <p:nvPr/>
        </p:nvSpPr>
        <p:spPr>
          <a:xfrm>
            <a:off x="7223760" y="5394960"/>
            <a:ext cx="475488" cy="475488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lang="ru-RU" sz="1400" dirty="0" noProof="1"/>
          </a:p>
        </p:txBody>
      </p:sp>
      <p:sp>
        <p:nvSpPr>
          <p:cNvPr id="23" name="Shape 23"/>
          <p:cNvSpPr/>
          <p:nvPr/>
        </p:nvSpPr>
        <p:spPr>
          <a:xfrm>
            <a:off x="7863840" y="5349240"/>
            <a:ext cx="36118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FFFFFF"/>
                </a:solidFill>
                <a:latin typeface="Arial"/>
                <a:cs typeface="Arial"/>
              </a:rPr>
              <a:t>Занятость женщин</a:t>
            </a:r>
            <a:endParaRPr lang="ru-RU" sz="1500" dirty="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Ключевые реформы образования с 2017 года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11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5449824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5449824" cy="658368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274320" tIns="0" rIns="182880" bIns="0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 noProof="1">
                <a:solidFill>
                  <a:srgbClr val="FFFFFF"/>
                </a:solidFill>
                <a:latin typeface="Arial"/>
                <a:cs typeface="Arial"/>
              </a:rPr>
              <a:t>Дошкольное и школьное образование</a:t>
            </a:r>
            <a:endParaRPr lang="ru-RU" sz="1800" dirty="0" noProof="1"/>
          </a:p>
        </p:txBody>
      </p:sp>
      <p:sp>
        <p:nvSpPr>
          <p:cNvPr id="11" name="Shape 11"/>
          <p:cNvSpPr/>
          <p:nvPr/>
        </p:nvSpPr>
        <p:spPr>
          <a:xfrm>
            <a:off x="822960" y="2194560"/>
            <a:ext cx="4937760" cy="3931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Переход к 11-летнему общему среднему образованию (с 2017/2018 учебного года)</a:t>
            </a:r>
            <a:endParaRPr lang="ru-RU" sz="1550" dirty="0" noProof="1"/>
          </a:p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Массовое строительство детских садов, развитие частных и семейных садов (ГЧП)</a:t>
            </a:r>
            <a:endParaRPr lang="ru-RU" sz="1550" dirty="0" noProof="1"/>
          </a:p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Президентские, творческие и специализированные школы для одарённых детей</a:t>
            </a:r>
            <a:endParaRPr lang="ru-RU" sz="1550" dirty="0" noProof="1"/>
          </a:p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Новые учебные программы и учебники с упором на функциональную грамотность</a:t>
            </a:r>
            <a:endParaRPr lang="ru-RU" sz="1550" dirty="0" noProof="1"/>
          </a:p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0E9AA7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Рост зарплат учителей, надбавки за национальные и международные сертификаты</a:t>
            </a:r>
            <a:endParaRPr lang="ru-RU" sz="1550" dirty="0" noProof="1"/>
          </a:p>
        </p:txBody>
      </p:sp>
      <p:sp>
        <p:nvSpPr>
          <p:cNvPr id="12" name="Shape 12"/>
          <p:cNvSpPr/>
          <p:nvPr/>
        </p:nvSpPr>
        <p:spPr>
          <a:xfrm>
            <a:off x="6190488" y="1371600"/>
            <a:ext cx="5449824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3" name="Shape 13"/>
          <p:cNvSpPr/>
          <p:nvPr/>
        </p:nvSpPr>
        <p:spPr>
          <a:xfrm>
            <a:off x="6190488" y="1371600"/>
            <a:ext cx="5449824" cy="658368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274320" tIns="0" rIns="182880" bIns="0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 noProof="1">
                <a:solidFill>
                  <a:srgbClr val="FFFFFF"/>
                </a:solidFill>
                <a:latin typeface="Arial"/>
                <a:cs typeface="Arial"/>
              </a:rPr>
              <a:t>Высшее образование и наука</a:t>
            </a:r>
            <a:endParaRPr lang="ru-RU" sz="1800" dirty="0" noProof="1"/>
          </a:p>
        </p:txBody>
      </p:sp>
      <p:sp>
        <p:nvSpPr>
          <p:cNvPr id="14" name="Shape 14"/>
          <p:cNvSpPr/>
          <p:nvPr/>
        </p:nvSpPr>
        <p:spPr>
          <a:xfrm>
            <a:off x="6464808" y="2194560"/>
            <a:ext cx="4937760" cy="3931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Рост числа вузов: государственные, частные и филиалы зарубежных университетов</a:t>
            </a:r>
            <a:endParaRPr lang="ru-RU" sz="1550" dirty="0" noProof="1"/>
          </a:p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Академическая и финансовая самостоятельность государственных вузов</a:t>
            </a:r>
            <a:endParaRPr lang="ru-RU" sz="1550" dirty="0" noProof="1"/>
          </a:p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Переход на кредитно-модульную систему обучения</a:t>
            </a:r>
            <a:endParaRPr lang="ru-RU" sz="1550" dirty="0" noProof="1"/>
          </a:p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Расширение приёма, развитие заочной и вечерней форм обучения</a:t>
            </a:r>
            <a:endParaRPr lang="ru-RU" sz="1550" dirty="0" noProof="1"/>
          </a:p>
          <a:p>
            <a:pPr algn="l" marL="274320" indent="-274320">
              <a:spcBef>
                <a:spcPts val="1400"/>
              </a:spcBef>
              <a:spcAft>
                <a:spcPts val="0"/>
              </a:spcAft>
              <a:buClr>
                <a:srgbClr val="1EB53A"/>
              </a:buClr>
              <a:buFont typeface="Arial"/>
              <a:buChar char="•"/>
            </a:pPr>
            <a:r>
              <a:rPr lang="ru-RU" sz="1550" b="0" i="0" dirty="0" noProof="1">
                <a:solidFill>
                  <a:srgbClr val="1F2937"/>
                </a:solidFill>
                <a:latin typeface="Arial"/>
                <a:cs typeface="Arial"/>
              </a:rPr>
              <a:t>Фонд «Эл-юрт умиди»: обучение и стажировки молодёжи за рубежом</a:t>
            </a:r>
            <a:endParaRPr lang="ru-RU" sz="1550" dirty="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Результаты реформ в цифрах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12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3657600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3657600" cy="64008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731520" y="1554480"/>
            <a:ext cx="32918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Охват детей организованным обучением за год до школы</a:t>
            </a:r>
            <a:endParaRPr lang="ru-RU" sz="1500" dirty="0" noProof="1"/>
          </a:p>
        </p:txBody>
      </p:sp>
      <p:sp>
        <p:nvSpPr>
          <p:cNvPr id="12" name="Shape 12"/>
          <p:cNvSpPr/>
          <p:nvPr/>
        </p:nvSpPr>
        <p:spPr>
          <a:xfrm>
            <a:off x="1280160" y="4394606"/>
            <a:ext cx="822960" cy="588874"/>
          </a:xfrm>
          <a:prstGeom prst="rect">
            <a:avLst/>
          </a:prstGeom>
          <a:solidFill>
            <a:srgbClr val="A7B4C2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3" name="Shape 13"/>
          <p:cNvSpPr/>
          <p:nvPr/>
        </p:nvSpPr>
        <p:spPr>
          <a:xfrm>
            <a:off x="1005840" y="3937406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5B6B7F"/>
                </a:solidFill>
                <a:latin typeface="Arial"/>
                <a:cs typeface="Arial"/>
              </a:rPr>
              <a:t>28%</a:t>
            </a:r>
            <a:endParaRPr lang="ru-RU" sz="1600" dirty="0" noProof="1"/>
          </a:p>
        </p:txBody>
      </p:sp>
      <p:sp>
        <p:nvSpPr>
          <p:cNvPr id="14" name="Shape 14"/>
          <p:cNvSpPr/>
          <p:nvPr/>
        </p:nvSpPr>
        <p:spPr>
          <a:xfrm>
            <a:off x="1005840" y="504748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dirty="0" noProof="1">
                <a:solidFill>
                  <a:srgbClr val="5B6B7F"/>
                </a:solidFill>
                <a:latin typeface="Arial"/>
                <a:cs typeface="Arial"/>
              </a:rPr>
              <a:t>2016</a:t>
            </a:r>
            <a:endParaRPr lang="ru-RU" sz="1200" dirty="0" noProof="1"/>
          </a:p>
        </p:txBody>
      </p:sp>
      <p:sp>
        <p:nvSpPr>
          <p:cNvPr id="15" name="Shape 15"/>
          <p:cNvSpPr/>
          <p:nvPr/>
        </p:nvSpPr>
        <p:spPr>
          <a:xfrm>
            <a:off x="2651760" y="3216859"/>
            <a:ext cx="822960" cy="1766621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6" name="Shape 16"/>
          <p:cNvSpPr/>
          <p:nvPr/>
        </p:nvSpPr>
        <p:spPr>
          <a:xfrm>
            <a:off x="2377440" y="2759659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0E9AA7"/>
                </a:solidFill>
                <a:latin typeface="Arial"/>
                <a:cs typeface="Arial"/>
              </a:rPr>
              <a:t>84%</a:t>
            </a:r>
            <a:endParaRPr lang="ru-RU" sz="2000" dirty="0" noProof="1"/>
          </a:p>
        </p:txBody>
      </p:sp>
      <p:sp>
        <p:nvSpPr>
          <p:cNvPr id="17" name="Shape 17"/>
          <p:cNvSpPr/>
          <p:nvPr/>
        </p:nvSpPr>
        <p:spPr>
          <a:xfrm>
            <a:off x="2377440" y="504748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dirty="0" noProof="1">
                <a:solidFill>
                  <a:srgbClr val="5B6B7F"/>
                </a:solidFill>
                <a:latin typeface="Arial"/>
                <a:cs typeface="Arial"/>
              </a:rPr>
              <a:t>2024</a:t>
            </a:r>
            <a:endParaRPr lang="ru-RU" sz="1200" dirty="0" noProof="1"/>
          </a:p>
        </p:txBody>
      </p:sp>
      <p:sp>
        <p:nvSpPr>
          <p:cNvPr id="18" name="Shape 18"/>
          <p:cNvSpPr/>
          <p:nvPr/>
        </p:nvSpPr>
        <p:spPr>
          <a:xfrm>
            <a:off x="731520" y="4983480"/>
            <a:ext cx="329184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9" name="Shape 19"/>
          <p:cNvSpPr/>
          <p:nvPr/>
        </p:nvSpPr>
        <p:spPr>
          <a:xfrm>
            <a:off x="731520" y="5349240"/>
            <a:ext cx="32918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1" dirty="0" noProof="1">
                <a:solidFill>
                  <a:srgbClr val="5B6B7F"/>
                </a:solidFill>
                <a:latin typeface="Arial"/>
                <a:cs typeface="Arial"/>
              </a:rPr>
              <a:t>Источник: ЮНЕСКО, GEM Report 2026</a:t>
            </a:r>
            <a:endParaRPr lang="ru-RU" sz="1000" dirty="0" noProof="1"/>
          </a:p>
        </p:txBody>
      </p:sp>
      <p:sp>
        <p:nvSpPr>
          <p:cNvPr id="20" name="Shape 20"/>
          <p:cNvSpPr/>
          <p:nvPr/>
        </p:nvSpPr>
        <p:spPr>
          <a:xfrm>
            <a:off x="4361688" y="1371600"/>
            <a:ext cx="3657600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1" name="Shape 21"/>
          <p:cNvSpPr/>
          <p:nvPr/>
        </p:nvSpPr>
        <p:spPr>
          <a:xfrm>
            <a:off x="4361688" y="1371600"/>
            <a:ext cx="3657600" cy="64008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2" name="Shape 22"/>
          <p:cNvSpPr/>
          <p:nvPr/>
        </p:nvSpPr>
        <p:spPr>
          <a:xfrm>
            <a:off x="4544568" y="1554480"/>
            <a:ext cx="32918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Количество вузов в Узбекистане</a:t>
            </a:r>
            <a:endParaRPr lang="ru-RU" sz="1500" dirty="0" noProof="1"/>
          </a:p>
        </p:txBody>
      </p:sp>
      <p:sp>
        <p:nvSpPr>
          <p:cNvPr id="23" name="Shape 23"/>
          <p:cNvSpPr/>
          <p:nvPr/>
        </p:nvSpPr>
        <p:spPr>
          <a:xfrm>
            <a:off x="4853178" y="4320334"/>
            <a:ext cx="685800" cy="663146"/>
          </a:xfrm>
          <a:prstGeom prst="rect">
            <a:avLst/>
          </a:prstGeom>
          <a:solidFill>
            <a:srgbClr val="A7B4C2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4" name="Shape 24"/>
          <p:cNvSpPr/>
          <p:nvPr/>
        </p:nvSpPr>
        <p:spPr>
          <a:xfrm>
            <a:off x="4578858" y="3863134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5B6B7F"/>
                </a:solidFill>
                <a:latin typeface="Arial"/>
                <a:cs typeface="Arial"/>
              </a:rPr>
              <a:t>70</a:t>
            </a:r>
            <a:endParaRPr lang="ru-RU" sz="1600" dirty="0" noProof="1"/>
          </a:p>
        </p:txBody>
      </p:sp>
      <p:sp>
        <p:nvSpPr>
          <p:cNvPr id="25" name="Shape 25"/>
          <p:cNvSpPr/>
          <p:nvPr/>
        </p:nvSpPr>
        <p:spPr>
          <a:xfrm>
            <a:off x="4578858" y="5047488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dirty="0" noProof="1">
                <a:solidFill>
                  <a:srgbClr val="5B6B7F"/>
                </a:solidFill>
                <a:latin typeface="Arial"/>
                <a:cs typeface="Arial"/>
              </a:rPr>
              <a:t>2016/17</a:t>
            </a:r>
            <a:endParaRPr lang="ru-RU" sz="1200" dirty="0" noProof="1"/>
          </a:p>
        </p:txBody>
      </p:sp>
      <p:sp>
        <p:nvSpPr>
          <p:cNvPr id="26" name="Shape 26"/>
          <p:cNvSpPr/>
          <p:nvPr/>
        </p:nvSpPr>
        <p:spPr>
          <a:xfrm>
            <a:off x="5847588" y="3780344"/>
            <a:ext cx="685800" cy="1203136"/>
          </a:xfrm>
          <a:prstGeom prst="rect">
            <a:avLst/>
          </a:prstGeom>
          <a:solidFill>
            <a:srgbClr val="A7B4C2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7" name="Shape 27"/>
          <p:cNvSpPr/>
          <p:nvPr/>
        </p:nvSpPr>
        <p:spPr>
          <a:xfrm>
            <a:off x="5573268" y="3323144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5B6B7F"/>
                </a:solidFill>
                <a:latin typeface="Arial"/>
                <a:cs typeface="Arial"/>
              </a:rPr>
              <a:t>127</a:t>
            </a:r>
            <a:endParaRPr lang="ru-RU" sz="1600" dirty="0" noProof="1"/>
          </a:p>
        </p:txBody>
      </p:sp>
      <p:sp>
        <p:nvSpPr>
          <p:cNvPr id="28" name="Shape 28"/>
          <p:cNvSpPr/>
          <p:nvPr/>
        </p:nvSpPr>
        <p:spPr>
          <a:xfrm>
            <a:off x="5573268" y="5047488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dirty="0" noProof="1">
                <a:solidFill>
                  <a:srgbClr val="5B6B7F"/>
                </a:solidFill>
                <a:latin typeface="Arial"/>
                <a:cs typeface="Arial"/>
              </a:rPr>
              <a:t>2020/21</a:t>
            </a:r>
            <a:endParaRPr lang="ru-RU" sz="1200" dirty="0" noProof="1"/>
          </a:p>
        </p:txBody>
      </p:sp>
      <p:sp>
        <p:nvSpPr>
          <p:cNvPr id="29" name="Shape 29"/>
          <p:cNvSpPr/>
          <p:nvPr/>
        </p:nvSpPr>
        <p:spPr>
          <a:xfrm>
            <a:off x="6841998" y="2880360"/>
            <a:ext cx="685800" cy="2103120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0" name="Shape 30"/>
          <p:cNvSpPr/>
          <p:nvPr/>
        </p:nvSpPr>
        <p:spPr>
          <a:xfrm>
            <a:off x="6567678" y="242316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b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1EB53A"/>
                </a:solidFill>
                <a:latin typeface="Arial"/>
                <a:cs typeface="Arial"/>
              </a:rPr>
              <a:t>222</a:t>
            </a:r>
            <a:endParaRPr lang="ru-RU" sz="2000" dirty="0" noProof="1"/>
          </a:p>
        </p:txBody>
      </p:sp>
      <p:sp>
        <p:nvSpPr>
          <p:cNvPr id="31" name="Shape 31"/>
          <p:cNvSpPr/>
          <p:nvPr/>
        </p:nvSpPr>
        <p:spPr>
          <a:xfrm>
            <a:off x="6567678" y="5047488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dirty="0" noProof="1">
                <a:solidFill>
                  <a:srgbClr val="5B6B7F"/>
                </a:solidFill>
                <a:latin typeface="Arial"/>
                <a:cs typeface="Arial"/>
              </a:rPr>
              <a:t>2024/25</a:t>
            </a:r>
            <a:endParaRPr lang="ru-RU" sz="1200" dirty="0" noProof="1"/>
          </a:p>
        </p:txBody>
      </p:sp>
      <p:sp>
        <p:nvSpPr>
          <p:cNvPr id="32" name="Shape 32"/>
          <p:cNvSpPr/>
          <p:nvPr/>
        </p:nvSpPr>
        <p:spPr>
          <a:xfrm>
            <a:off x="4544568" y="4983480"/>
            <a:ext cx="329184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3" name="Shape 33"/>
          <p:cNvSpPr/>
          <p:nvPr/>
        </p:nvSpPr>
        <p:spPr>
          <a:xfrm>
            <a:off x="4544568" y="5349240"/>
            <a:ext cx="32918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1" dirty="0" noProof="1">
                <a:solidFill>
                  <a:srgbClr val="5B6B7F"/>
                </a:solidFill>
                <a:latin typeface="Arial"/>
                <a:cs typeface="Arial"/>
              </a:rPr>
              <a:t>Источники: Нацкомстат РУз; Томский ГУ (2025)</a:t>
            </a:r>
            <a:endParaRPr lang="ru-RU" sz="1000" dirty="0" noProof="1"/>
          </a:p>
        </p:txBody>
      </p:sp>
      <p:sp>
        <p:nvSpPr>
          <p:cNvPr id="34" name="Shape 34"/>
          <p:cNvSpPr/>
          <p:nvPr/>
        </p:nvSpPr>
        <p:spPr>
          <a:xfrm>
            <a:off x="8174736" y="1371600"/>
            <a:ext cx="3465576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5" name="Shape 35"/>
          <p:cNvSpPr/>
          <p:nvPr/>
        </p:nvSpPr>
        <p:spPr>
          <a:xfrm>
            <a:off x="8174736" y="1371600"/>
            <a:ext cx="82296" cy="137160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6" name="Shape 36"/>
          <p:cNvSpPr/>
          <p:nvPr/>
        </p:nvSpPr>
        <p:spPr>
          <a:xfrm>
            <a:off x="8412480" y="1463040"/>
            <a:ext cx="310896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 noProof="1">
                <a:solidFill>
                  <a:srgbClr val="0E9AA7"/>
                </a:solidFill>
                <a:latin typeface="Arial"/>
                <a:cs typeface="Arial"/>
              </a:rPr>
              <a:t>78%</a:t>
            </a:r>
            <a:endParaRPr lang="ru-RU" sz="3000" dirty="0" noProof="1"/>
          </a:p>
        </p:txBody>
      </p:sp>
      <p:sp>
        <p:nvSpPr>
          <p:cNvPr id="37" name="Shape 37"/>
          <p:cNvSpPr/>
          <p:nvPr/>
        </p:nvSpPr>
        <p:spPr>
          <a:xfrm>
            <a:off x="8412480" y="205740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0" i="0" dirty="0" noProof="1">
                <a:solidFill>
                  <a:srgbClr val="1F2937"/>
                </a:solidFill>
                <a:latin typeface="Arial"/>
                <a:cs typeface="Arial"/>
              </a:rPr>
              <a:t>охват детей дошкольным образованием (gov.uz)</a:t>
            </a:r>
            <a:endParaRPr lang="ru-RU" sz="1250" dirty="0" noProof="1"/>
          </a:p>
        </p:txBody>
      </p:sp>
      <p:sp>
        <p:nvSpPr>
          <p:cNvPr id="38" name="Shape 38"/>
          <p:cNvSpPr/>
          <p:nvPr/>
        </p:nvSpPr>
        <p:spPr>
          <a:xfrm>
            <a:off x="8174736" y="2857500"/>
            <a:ext cx="3465576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9" name="Shape 39"/>
          <p:cNvSpPr/>
          <p:nvPr/>
        </p:nvSpPr>
        <p:spPr>
          <a:xfrm>
            <a:off x="8174736" y="2857500"/>
            <a:ext cx="82296" cy="1371600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40" name="Shape 40"/>
          <p:cNvSpPr/>
          <p:nvPr/>
        </p:nvSpPr>
        <p:spPr>
          <a:xfrm>
            <a:off x="8412480" y="2948940"/>
            <a:ext cx="310896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 noProof="1">
                <a:solidFill>
                  <a:srgbClr val="0099B5"/>
                </a:solidFill>
                <a:latin typeface="Arial"/>
                <a:cs typeface="Arial"/>
              </a:rPr>
              <a:t>6,87 млн</a:t>
            </a:r>
            <a:endParaRPr lang="ru-RU" sz="3000" dirty="0" noProof="1"/>
          </a:p>
        </p:txBody>
      </p:sp>
      <p:sp>
        <p:nvSpPr>
          <p:cNvPr id="41" name="Shape 41"/>
          <p:cNvSpPr/>
          <p:nvPr/>
        </p:nvSpPr>
        <p:spPr>
          <a:xfrm>
            <a:off x="8412480" y="354330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0" i="0" dirty="0" noProof="1">
                <a:solidFill>
                  <a:srgbClr val="1F2937"/>
                </a:solidFill>
                <a:latin typeface="Arial"/>
                <a:cs typeface="Arial"/>
              </a:rPr>
              <a:t>учащихся школ в 2025/2026 учебном году</a:t>
            </a:r>
            <a:endParaRPr lang="ru-RU" sz="1250" dirty="0" noProof="1"/>
          </a:p>
        </p:txBody>
      </p:sp>
      <p:sp>
        <p:nvSpPr>
          <p:cNvPr id="42" name="Shape 42"/>
          <p:cNvSpPr/>
          <p:nvPr/>
        </p:nvSpPr>
        <p:spPr>
          <a:xfrm>
            <a:off x="8174736" y="4343400"/>
            <a:ext cx="3465576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43" name="Shape 43"/>
          <p:cNvSpPr/>
          <p:nvPr/>
        </p:nvSpPr>
        <p:spPr>
          <a:xfrm>
            <a:off x="8174736" y="4343400"/>
            <a:ext cx="82296" cy="13716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44" name="Shape 44"/>
          <p:cNvSpPr/>
          <p:nvPr/>
        </p:nvSpPr>
        <p:spPr>
          <a:xfrm>
            <a:off x="8412480" y="4434840"/>
            <a:ext cx="310896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i="0" dirty="0" noProof="1">
                <a:solidFill>
                  <a:srgbClr val="15803D"/>
                </a:solidFill>
                <a:latin typeface="Arial"/>
                <a:cs typeface="Arial"/>
              </a:rPr>
              <a:t>1,2 млн</a:t>
            </a:r>
            <a:endParaRPr lang="ru-RU" sz="3000" dirty="0" noProof="1"/>
          </a:p>
        </p:txBody>
      </p:sp>
      <p:sp>
        <p:nvSpPr>
          <p:cNvPr id="45" name="Shape 45"/>
          <p:cNvSpPr/>
          <p:nvPr/>
        </p:nvSpPr>
        <p:spPr>
          <a:xfrm>
            <a:off x="8412480" y="502920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0" i="0" dirty="0" noProof="1">
                <a:solidFill>
                  <a:srgbClr val="1F2937"/>
                </a:solidFill>
                <a:latin typeface="Arial"/>
                <a:cs typeface="Arial"/>
              </a:rPr>
              <a:t>новых мест в детских садах за последние 5 лет</a:t>
            </a:r>
            <a:endParaRPr lang="ru-RU" sz="1250" dirty="0" noProof="1"/>
          </a:p>
        </p:txBody>
      </p:sp>
      <p:sp>
        <p:nvSpPr>
          <p:cNvPr id="46" name="Shape 46"/>
          <p:cNvSpPr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0" i="1" dirty="0" noProof="1">
                <a:solidFill>
                  <a:srgbClr val="5B6B7F"/>
                </a:solidFill>
                <a:latin typeface="Arial"/>
                <a:cs typeface="Arial"/>
              </a:rPr>
              <a:t>Источники: gov.uz; Национальный комитет по статистике РУз; ЮНЕСКО, Global Education Monitoring Report 2026.</a:t>
            </a:r>
            <a:endParaRPr lang="ru-RU" sz="1100" dirty="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Учитель — ключевая фигура нового общества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13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4480560" cy="4846320"/>
          </a:xfrm>
          <a:prstGeom prst="rect">
            <a:avLst/>
          </a:prstGeom>
          <a:solidFill>
            <a:srgbClr val="0B3C5D"/>
          </a:solidFill>
          <a:ln>
            <a:noFill/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91440" cy="4846320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914400" y="1645920"/>
            <a:ext cx="3886200" cy="21945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900" b="1" i="0" dirty="0" noProof="1">
                <a:solidFill>
                  <a:srgbClr val="FFFFFF"/>
                </a:solidFill>
                <a:latin typeface="Arial"/>
                <a:cs typeface="Arial"/>
              </a:rPr>
              <a:t>Без сильного, уважаемого и мотивированного учителя невозможны ни качественное образование, ни воспитание нового поколения.</a:t>
            </a:r>
            <a:endParaRPr lang="ru-RU" sz="1900" dirty="0" noProof="1"/>
          </a:p>
        </p:txBody>
      </p:sp>
      <p:sp>
        <p:nvSpPr>
          <p:cNvPr id="12" name="Shape 12"/>
          <p:cNvSpPr/>
          <p:nvPr/>
        </p:nvSpPr>
        <p:spPr>
          <a:xfrm>
            <a:off x="914400" y="3703320"/>
            <a:ext cx="38862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C9D6E3"/>
                </a:solidFill>
                <a:latin typeface="Arial"/>
                <a:cs typeface="Arial"/>
              </a:rPr>
              <a:t>В школах и детских садах работают около 700 тыс. педагогов и воспитателей.</a:t>
            </a:r>
            <a:endParaRPr lang="ru-RU" sz="1400" dirty="0" noProof="1"/>
          </a:p>
        </p:txBody>
      </p:sp>
      <p:sp>
        <p:nvSpPr>
          <p:cNvPr id="13" name="Shape 13"/>
          <p:cNvSpPr/>
          <p:nvPr/>
        </p:nvSpPr>
        <p:spPr>
          <a:xfrm>
            <a:off x="914400" y="4892040"/>
            <a:ext cx="3840480" cy="1051560"/>
          </a:xfrm>
          <a:prstGeom prst="rect">
            <a:avLst/>
          </a:prstGeom>
          <a:solidFill>
            <a:srgbClr val="14507A"/>
          </a:solidFill>
          <a:ln>
            <a:noFill/>
          </a:ln>
        </p:spPr>
        <p:txBody>
          <a:bodyPr wrap="square" lIns="182880" tIns="45720" rIns="91440" bIns="45720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F2B134"/>
                </a:solidFill>
                <a:latin typeface="Arial"/>
                <a:cs typeface="Arial"/>
              </a:rPr>
              <a:t>1 октября</a:t>
            </a:r>
            <a:endParaRPr lang="ru-RU" sz="2000" dirty="0" noProof="1"/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FFFFFF"/>
                </a:solidFill>
                <a:latin typeface="Arial"/>
                <a:cs typeface="Arial"/>
              </a:rPr>
              <a:t>День учителей и наставников</a:t>
            </a:r>
            <a:endParaRPr lang="ru-RU" sz="1400" dirty="0" noProof="1"/>
          </a:p>
        </p:txBody>
      </p:sp>
      <p:sp>
        <p:nvSpPr>
          <p:cNvPr id="14" name="Shape 14"/>
          <p:cNvSpPr/>
          <p:nvPr/>
        </p:nvSpPr>
        <p:spPr>
          <a:xfrm>
            <a:off x="5303520" y="1371600"/>
            <a:ext cx="633679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5" name="Shape 15"/>
          <p:cNvSpPr/>
          <p:nvPr/>
        </p:nvSpPr>
        <p:spPr>
          <a:xfrm>
            <a:off x="5303520" y="1371600"/>
            <a:ext cx="82296" cy="877824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6" name="Shape 16"/>
          <p:cNvSpPr/>
          <p:nvPr/>
        </p:nvSpPr>
        <p:spPr>
          <a:xfrm>
            <a:off x="5577840" y="1426464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Статус и защита</a:t>
            </a:r>
            <a:endParaRPr lang="ru-RU" sz="1500" dirty="0" noProof="1"/>
          </a:p>
        </p:txBody>
      </p:sp>
      <p:sp>
        <p:nvSpPr>
          <p:cNvPr id="17" name="Shape 17"/>
          <p:cNvSpPr/>
          <p:nvPr/>
        </p:nvSpPr>
        <p:spPr>
          <a:xfrm>
            <a:off x="5577840" y="1773936"/>
            <a:ext cx="594360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Престиж профессии, защита чести и достоинства педагога</a:t>
            </a:r>
            <a:endParaRPr lang="ru-RU" sz="1300" dirty="0" noProof="1"/>
          </a:p>
        </p:txBody>
      </p:sp>
      <p:sp>
        <p:nvSpPr>
          <p:cNvPr id="18" name="Shape 18"/>
          <p:cNvSpPr/>
          <p:nvPr/>
        </p:nvSpPr>
        <p:spPr>
          <a:xfrm>
            <a:off x="5303520" y="2340864"/>
            <a:ext cx="633679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9" name="Shape 19"/>
          <p:cNvSpPr/>
          <p:nvPr/>
        </p:nvSpPr>
        <p:spPr>
          <a:xfrm>
            <a:off x="5303520" y="2340864"/>
            <a:ext cx="82296" cy="877824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0" name="Shape 20"/>
          <p:cNvSpPr/>
          <p:nvPr/>
        </p:nvSpPr>
        <p:spPr>
          <a:xfrm>
            <a:off x="5577840" y="2395728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Материальная мотивация</a:t>
            </a:r>
            <a:endParaRPr lang="ru-RU" sz="1500" dirty="0" noProof="1"/>
          </a:p>
        </p:txBody>
      </p:sp>
      <p:sp>
        <p:nvSpPr>
          <p:cNvPr id="21" name="Shape 21"/>
          <p:cNvSpPr/>
          <p:nvPr/>
        </p:nvSpPr>
        <p:spPr>
          <a:xfrm>
            <a:off x="5577840" y="2743200"/>
            <a:ext cx="594360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Рост зарплат, надбавки за квалификацию и сертификаты</a:t>
            </a:r>
            <a:endParaRPr lang="ru-RU" sz="1300" dirty="0" noProof="1"/>
          </a:p>
        </p:txBody>
      </p:sp>
      <p:sp>
        <p:nvSpPr>
          <p:cNvPr id="22" name="Shape 22"/>
          <p:cNvSpPr/>
          <p:nvPr/>
        </p:nvSpPr>
        <p:spPr>
          <a:xfrm>
            <a:off x="5303520" y="3310128"/>
            <a:ext cx="633679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3" name="Shape 23"/>
          <p:cNvSpPr/>
          <p:nvPr/>
        </p:nvSpPr>
        <p:spPr>
          <a:xfrm>
            <a:off x="5303520" y="3310128"/>
            <a:ext cx="82296" cy="877824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4" name="Shape 24"/>
          <p:cNvSpPr/>
          <p:nvPr/>
        </p:nvSpPr>
        <p:spPr>
          <a:xfrm>
            <a:off x="5577840" y="3364992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Профессиональный рост</a:t>
            </a:r>
            <a:endParaRPr lang="ru-RU" sz="1500" dirty="0" noProof="1"/>
          </a:p>
        </p:txBody>
      </p:sp>
      <p:sp>
        <p:nvSpPr>
          <p:cNvPr id="25" name="Shape 25"/>
          <p:cNvSpPr/>
          <p:nvPr/>
        </p:nvSpPr>
        <p:spPr>
          <a:xfrm>
            <a:off x="5577840" y="3712464"/>
            <a:ext cx="594360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Непрерывное повышение квалификации, наставничество</a:t>
            </a:r>
            <a:endParaRPr lang="ru-RU" sz="1300" dirty="0" noProof="1"/>
          </a:p>
        </p:txBody>
      </p:sp>
      <p:sp>
        <p:nvSpPr>
          <p:cNvPr id="26" name="Shape 26"/>
          <p:cNvSpPr/>
          <p:nvPr/>
        </p:nvSpPr>
        <p:spPr>
          <a:xfrm>
            <a:off x="5303520" y="4279392"/>
            <a:ext cx="633679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7" name="Shape 27"/>
          <p:cNvSpPr/>
          <p:nvPr/>
        </p:nvSpPr>
        <p:spPr>
          <a:xfrm>
            <a:off x="5303520" y="4279392"/>
            <a:ext cx="82296" cy="877824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8" name="Shape 28"/>
          <p:cNvSpPr/>
          <p:nvPr/>
        </p:nvSpPr>
        <p:spPr>
          <a:xfrm>
            <a:off x="5577840" y="4334256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Новые компетенции</a:t>
            </a:r>
            <a:endParaRPr lang="ru-RU" sz="1500" dirty="0" noProof="1"/>
          </a:p>
        </p:txBody>
      </p:sp>
      <p:sp>
        <p:nvSpPr>
          <p:cNvPr id="29" name="Shape 29"/>
          <p:cNvSpPr/>
          <p:nvPr/>
        </p:nvSpPr>
        <p:spPr>
          <a:xfrm>
            <a:off x="5577840" y="4681728"/>
            <a:ext cx="594360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Цифровые навыки, активные методы обучения, иностранные языки</a:t>
            </a:r>
            <a:endParaRPr lang="ru-RU" sz="1300" dirty="0" noProof="1"/>
          </a:p>
        </p:txBody>
      </p:sp>
      <p:sp>
        <p:nvSpPr>
          <p:cNvPr id="30" name="Shape 30"/>
          <p:cNvSpPr/>
          <p:nvPr/>
        </p:nvSpPr>
        <p:spPr>
          <a:xfrm>
            <a:off x="5303520" y="5248656"/>
            <a:ext cx="6336792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1" name="Shape 31"/>
          <p:cNvSpPr/>
          <p:nvPr/>
        </p:nvSpPr>
        <p:spPr>
          <a:xfrm>
            <a:off x="5303520" y="5248656"/>
            <a:ext cx="82296" cy="877824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2" name="Shape 32"/>
          <p:cNvSpPr/>
          <p:nvPr/>
        </p:nvSpPr>
        <p:spPr>
          <a:xfrm>
            <a:off x="5577840" y="5303520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Воспитательная миссия</a:t>
            </a:r>
            <a:endParaRPr lang="ru-RU" sz="1500" dirty="0" noProof="1"/>
          </a:p>
        </p:txBody>
      </p:sp>
      <p:sp>
        <p:nvSpPr>
          <p:cNvPr id="33" name="Shape 33"/>
          <p:cNvSpPr/>
          <p:nvPr/>
        </p:nvSpPr>
        <p:spPr>
          <a:xfrm>
            <a:off x="5577840" y="5650992"/>
            <a:ext cx="594360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Учитель как личный пример честности и гражданской позиции</a:t>
            </a:r>
            <a:endParaRPr lang="ru-RU" sz="1300" dirty="0" noProof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Триада воспитания: семья — махалля — школа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14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1755648" y="1695274"/>
            <a:ext cx="2340864" cy="2340864"/>
          </a:xfrm>
          <a:prstGeom prst="ellipse">
            <a:avLst/>
          </a:prstGeom>
          <a:solidFill>
            <a:srgbClr val="0E9AA7">
              <a:alpha val="80000"/>
            </a:srgbClr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1069848" y="2883115"/>
            <a:ext cx="2340864" cy="2340864"/>
          </a:xfrm>
          <a:prstGeom prst="ellipse">
            <a:avLst/>
          </a:prstGeom>
          <a:solidFill>
            <a:srgbClr val="1EB53A">
              <a:alpha val="80000"/>
            </a:srgbClr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2441448" y="2883115"/>
            <a:ext cx="2340864" cy="2340864"/>
          </a:xfrm>
          <a:prstGeom prst="ellipse">
            <a:avLst/>
          </a:prstGeom>
          <a:solidFill>
            <a:srgbClr val="0099B5">
              <a:alpha val="80000"/>
            </a:srgbClr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2" name="Shape 12"/>
          <p:cNvSpPr/>
          <p:nvPr/>
        </p:nvSpPr>
        <p:spPr>
          <a:xfrm>
            <a:off x="2194560" y="2088466"/>
            <a:ext cx="14630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 noProof="1">
                <a:solidFill>
                  <a:srgbClr val="FFFFFF"/>
                </a:solidFill>
                <a:latin typeface="Arial"/>
                <a:cs typeface="Arial"/>
              </a:rPr>
              <a:t>Семья</a:t>
            </a:r>
            <a:endParaRPr lang="ru-RU" sz="1800" dirty="0" noProof="1"/>
          </a:p>
        </p:txBody>
      </p:sp>
      <p:sp>
        <p:nvSpPr>
          <p:cNvPr id="13" name="Shape 13"/>
          <p:cNvSpPr/>
          <p:nvPr/>
        </p:nvSpPr>
        <p:spPr>
          <a:xfrm>
            <a:off x="1017786" y="4126699"/>
            <a:ext cx="14630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 noProof="1">
                <a:solidFill>
                  <a:srgbClr val="FFFFFF"/>
                </a:solidFill>
                <a:latin typeface="Arial"/>
                <a:cs typeface="Arial"/>
              </a:rPr>
              <a:t>Махалля</a:t>
            </a:r>
            <a:endParaRPr lang="ru-RU" sz="1800" dirty="0" noProof="1"/>
          </a:p>
        </p:txBody>
      </p:sp>
      <p:sp>
        <p:nvSpPr>
          <p:cNvPr id="14" name="Shape 14"/>
          <p:cNvSpPr/>
          <p:nvPr/>
        </p:nvSpPr>
        <p:spPr>
          <a:xfrm>
            <a:off x="3371334" y="4126699"/>
            <a:ext cx="14630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 noProof="1">
                <a:solidFill>
                  <a:srgbClr val="FFFFFF"/>
                </a:solidFill>
                <a:latin typeface="Arial"/>
                <a:cs typeface="Arial"/>
              </a:rPr>
              <a:t>Школа</a:t>
            </a:r>
            <a:endParaRPr lang="ru-RU" sz="1800" dirty="0" noProof="1"/>
          </a:p>
        </p:txBody>
      </p:sp>
      <p:sp>
        <p:nvSpPr>
          <p:cNvPr id="15" name="Shape 15"/>
          <p:cNvSpPr/>
          <p:nvPr/>
        </p:nvSpPr>
        <p:spPr>
          <a:xfrm>
            <a:off x="2377440" y="3108960"/>
            <a:ext cx="1097280" cy="1097280"/>
          </a:xfrm>
          <a:prstGeom prst="ellipse">
            <a:avLst/>
          </a:prstGeom>
          <a:solidFill>
            <a:srgbClr val="F2B134"/>
          </a:solidFill>
          <a:ln>
            <a:noFill/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i="0" dirty="0" noProof="1">
                <a:solidFill>
                  <a:srgbClr val="0B3C5D"/>
                </a:solidFill>
                <a:latin typeface="Arial"/>
                <a:cs typeface="Arial"/>
              </a:rPr>
              <a:t>Личность</a:t>
            </a:r>
            <a:endParaRPr lang="ru-RU" sz="1300" dirty="0" noProof="1"/>
          </a:p>
        </p:txBody>
      </p:sp>
      <p:sp>
        <p:nvSpPr>
          <p:cNvPr id="16" name="Shape 16"/>
          <p:cNvSpPr/>
          <p:nvPr/>
        </p:nvSpPr>
        <p:spPr>
          <a:xfrm>
            <a:off x="5577840" y="1371600"/>
            <a:ext cx="6062472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7" name="Shape 17"/>
          <p:cNvSpPr/>
          <p:nvPr/>
        </p:nvSpPr>
        <p:spPr>
          <a:xfrm>
            <a:off x="5577840" y="1371600"/>
            <a:ext cx="91440" cy="1216152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8" name="Shape 18"/>
          <p:cNvSpPr/>
          <p:nvPr/>
        </p:nvSpPr>
        <p:spPr>
          <a:xfrm>
            <a:off x="5897880" y="1463040"/>
            <a:ext cx="5577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Семья — первая школа</a:t>
            </a:r>
            <a:endParaRPr lang="ru-RU" sz="1600" dirty="0" noProof="1"/>
          </a:p>
        </p:txBody>
      </p:sp>
      <p:sp>
        <p:nvSpPr>
          <p:cNvPr id="19" name="Shape 19"/>
          <p:cNvSpPr/>
          <p:nvPr/>
        </p:nvSpPr>
        <p:spPr>
          <a:xfrm>
            <a:off x="5897880" y="1847088"/>
            <a:ext cx="55778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Закладывает нравственные основы, уважение к старшим, трудолюбие и любовь к Родине.</a:t>
            </a:r>
            <a:endParaRPr lang="ru-RU" sz="1300" dirty="0" noProof="1"/>
          </a:p>
        </p:txBody>
      </p:sp>
      <p:sp>
        <p:nvSpPr>
          <p:cNvPr id="20" name="Shape 20"/>
          <p:cNvSpPr/>
          <p:nvPr/>
        </p:nvSpPr>
        <p:spPr>
          <a:xfrm>
            <a:off x="5577840" y="2715768"/>
            <a:ext cx="6062472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1" name="Shape 21"/>
          <p:cNvSpPr/>
          <p:nvPr/>
        </p:nvSpPr>
        <p:spPr>
          <a:xfrm>
            <a:off x="5577840" y="2715768"/>
            <a:ext cx="91440" cy="1216152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2" name="Shape 22"/>
          <p:cNvSpPr/>
          <p:nvPr/>
        </p:nvSpPr>
        <p:spPr>
          <a:xfrm>
            <a:off x="5897880" y="2807208"/>
            <a:ext cx="5577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Махалля — школа общественной жизни</a:t>
            </a:r>
            <a:endParaRPr lang="ru-RU" sz="1600" dirty="0" noProof="1"/>
          </a:p>
        </p:txBody>
      </p:sp>
      <p:sp>
        <p:nvSpPr>
          <p:cNvPr id="23" name="Shape 23"/>
          <p:cNvSpPr/>
          <p:nvPr/>
        </p:nvSpPr>
        <p:spPr>
          <a:xfrm>
            <a:off x="5897880" y="3191256"/>
            <a:ext cx="55778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Сохраняет традиции взаимопомощи, поддерживает семьи и работает с молодёжью.</a:t>
            </a:r>
            <a:endParaRPr lang="ru-RU" sz="1300" dirty="0" noProof="1"/>
          </a:p>
        </p:txBody>
      </p:sp>
      <p:sp>
        <p:nvSpPr>
          <p:cNvPr id="24" name="Shape 24"/>
          <p:cNvSpPr/>
          <p:nvPr/>
        </p:nvSpPr>
        <p:spPr>
          <a:xfrm>
            <a:off x="5577840" y="4059936"/>
            <a:ext cx="6062472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5" name="Shape 25"/>
          <p:cNvSpPr/>
          <p:nvPr/>
        </p:nvSpPr>
        <p:spPr>
          <a:xfrm>
            <a:off x="5577840" y="4059936"/>
            <a:ext cx="91440" cy="1216152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6" name="Shape 26"/>
          <p:cNvSpPr/>
          <p:nvPr/>
        </p:nvSpPr>
        <p:spPr>
          <a:xfrm>
            <a:off x="5897880" y="4151376"/>
            <a:ext cx="5577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Школа и вуз — школа знаний</a:t>
            </a:r>
            <a:endParaRPr lang="ru-RU" sz="1600" dirty="0" noProof="1"/>
          </a:p>
        </p:txBody>
      </p:sp>
      <p:sp>
        <p:nvSpPr>
          <p:cNvPr id="27" name="Shape 27"/>
          <p:cNvSpPr/>
          <p:nvPr/>
        </p:nvSpPr>
        <p:spPr>
          <a:xfrm>
            <a:off x="5897880" y="4535424"/>
            <a:ext cx="557784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 noProof="1">
                <a:solidFill>
                  <a:srgbClr val="1F2937"/>
                </a:solidFill>
                <a:latin typeface="Arial"/>
                <a:cs typeface="Arial"/>
              </a:rPr>
              <a:t>Дают системные знания, профессию и формируют гражданскую позицию.</a:t>
            </a:r>
            <a:endParaRPr lang="ru-RU" sz="1300" dirty="0" noProof="1"/>
          </a:p>
        </p:txBody>
      </p:sp>
      <p:sp>
        <p:nvSpPr>
          <p:cNvPr id="28" name="Shape 28"/>
          <p:cNvSpPr/>
          <p:nvPr/>
        </p:nvSpPr>
        <p:spPr>
          <a:xfrm>
            <a:off x="548640" y="5532120"/>
            <a:ext cx="11091672" cy="68580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274320" tIns="27432" rIns="274320" bIns="27432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FFFFFF"/>
                </a:solidFill>
                <a:latin typeface="Arial"/>
                <a:cs typeface="Arial"/>
              </a:rPr>
              <a:t>Результат достигается только при единых требованиях и согласованных действиях всех трёх институтов.</a:t>
            </a:r>
            <a:endParaRPr lang="ru-RU" sz="1400" dirty="0" noProof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Цифровизация образования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15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5449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5449824" cy="64008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731520" y="1609344"/>
            <a:ext cx="457200" cy="457200"/>
          </a:xfrm>
          <a:prstGeom prst="ellipse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ru-RU" sz="1500" dirty="0" noProof="1"/>
          </a:p>
        </p:txBody>
      </p:sp>
      <p:sp>
        <p:nvSpPr>
          <p:cNvPr id="12" name="Shape 12"/>
          <p:cNvSpPr/>
          <p:nvPr/>
        </p:nvSpPr>
        <p:spPr>
          <a:xfrm>
            <a:off x="1325880" y="1554480"/>
            <a:ext cx="4489704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Стратегия «Цифровой Узбекистан — 2030»</a:t>
            </a:r>
            <a:endParaRPr lang="ru-RU" sz="1500" dirty="0" noProof="1"/>
          </a:p>
        </p:txBody>
      </p:sp>
      <p:sp>
        <p:nvSpPr>
          <p:cNvPr id="13" name="Shape 13"/>
          <p:cNvSpPr/>
          <p:nvPr/>
        </p:nvSpPr>
        <p:spPr>
          <a:xfrm>
            <a:off x="731520" y="2212848"/>
            <a:ext cx="5084064" cy="8961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Указ № УП-6079 (2020): цифровая инфраструктура, электронные сервисы в образовании, цифровые навыки населения.</a:t>
            </a:r>
            <a:endParaRPr lang="ru-RU" sz="1500" dirty="0" noProof="1"/>
          </a:p>
        </p:txBody>
      </p:sp>
      <p:sp>
        <p:nvSpPr>
          <p:cNvPr id="14" name="Shape 14"/>
          <p:cNvSpPr/>
          <p:nvPr/>
        </p:nvSpPr>
        <p:spPr>
          <a:xfrm>
            <a:off x="6190488" y="1371600"/>
            <a:ext cx="5449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5" name="Shape 15"/>
          <p:cNvSpPr/>
          <p:nvPr/>
        </p:nvSpPr>
        <p:spPr>
          <a:xfrm>
            <a:off x="6190488" y="1371600"/>
            <a:ext cx="5449824" cy="64008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6" name="Shape 16"/>
          <p:cNvSpPr/>
          <p:nvPr/>
        </p:nvSpPr>
        <p:spPr>
          <a:xfrm>
            <a:off x="6373368" y="1609344"/>
            <a:ext cx="457200" cy="457200"/>
          </a:xfrm>
          <a:prstGeom prst="ellipse">
            <a:avLst/>
          </a:prstGeom>
          <a:solidFill>
            <a:srgbClr val="0099B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ru-RU" sz="1500" dirty="0" noProof="1"/>
          </a:p>
        </p:txBody>
      </p:sp>
      <p:sp>
        <p:nvSpPr>
          <p:cNvPr id="17" name="Shape 17"/>
          <p:cNvSpPr/>
          <p:nvPr/>
        </p:nvSpPr>
        <p:spPr>
          <a:xfrm>
            <a:off x="6967728" y="1554480"/>
            <a:ext cx="4489704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«Один миллион узбекских программистов»</a:t>
            </a:r>
            <a:endParaRPr lang="ru-RU" sz="1500" dirty="0" noProof="1"/>
          </a:p>
        </p:txBody>
      </p:sp>
      <p:sp>
        <p:nvSpPr>
          <p:cNvPr id="18" name="Shape 18"/>
          <p:cNvSpPr/>
          <p:nvPr/>
        </p:nvSpPr>
        <p:spPr>
          <a:xfrm>
            <a:off x="6373368" y="2212848"/>
            <a:ext cx="5084064" cy="8961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Проект с 2019 года совместно с ОАЭ: более 2,5 млн регистраций и 1,5 млн пройденных курсов (данные Минцифры).</a:t>
            </a:r>
            <a:endParaRPr lang="ru-RU" sz="1500" dirty="0" noProof="1"/>
          </a:p>
        </p:txBody>
      </p:sp>
      <p:sp>
        <p:nvSpPr>
          <p:cNvPr id="19" name="Shape 19"/>
          <p:cNvSpPr/>
          <p:nvPr/>
        </p:nvSpPr>
        <p:spPr>
          <a:xfrm>
            <a:off x="548640" y="3401568"/>
            <a:ext cx="5449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0" name="Shape 20"/>
          <p:cNvSpPr/>
          <p:nvPr/>
        </p:nvSpPr>
        <p:spPr>
          <a:xfrm>
            <a:off x="548640" y="3401568"/>
            <a:ext cx="5449824" cy="64008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1" name="Shape 21"/>
          <p:cNvSpPr/>
          <p:nvPr/>
        </p:nvSpPr>
        <p:spPr>
          <a:xfrm>
            <a:off x="731520" y="3639312"/>
            <a:ext cx="457200" cy="457200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ru-RU" sz="1500" dirty="0" noProof="1"/>
          </a:p>
        </p:txBody>
      </p:sp>
      <p:sp>
        <p:nvSpPr>
          <p:cNvPr id="22" name="Shape 22"/>
          <p:cNvSpPr/>
          <p:nvPr/>
        </p:nvSpPr>
        <p:spPr>
          <a:xfrm>
            <a:off x="1325880" y="3584448"/>
            <a:ext cx="4489704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«Пять миллионов лидеров ИИ»</a:t>
            </a:r>
            <a:endParaRPr lang="ru-RU" sz="1500" dirty="0" noProof="1"/>
          </a:p>
        </p:txBody>
      </p:sp>
      <p:sp>
        <p:nvSpPr>
          <p:cNvPr id="23" name="Shape 23"/>
          <p:cNvSpPr/>
          <p:nvPr/>
        </p:nvSpPr>
        <p:spPr>
          <a:xfrm>
            <a:off x="731520" y="4242816"/>
            <a:ext cx="5084064" cy="8961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Проект запущен 28 ноября 2025 года: массовое обучение основам искусственного интеллекта.</a:t>
            </a:r>
            <a:endParaRPr lang="ru-RU" sz="1500" dirty="0" noProof="1"/>
          </a:p>
        </p:txBody>
      </p:sp>
      <p:sp>
        <p:nvSpPr>
          <p:cNvPr id="24" name="Shape 24"/>
          <p:cNvSpPr/>
          <p:nvPr/>
        </p:nvSpPr>
        <p:spPr>
          <a:xfrm>
            <a:off x="6190488" y="3401568"/>
            <a:ext cx="5449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5" name="Shape 25"/>
          <p:cNvSpPr/>
          <p:nvPr/>
        </p:nvSpPr>
        <p:spPr>
          <a:xfrm>
            <a:off x="6190488" y="3401568"/>
            <a:ext cx="5449824" cy="64008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6" name="Shape 26"/>
          <p:cNvSpPr/>
          <p:nvPr/>
        </p:nvSpPr>
        <p:spPr>
          <a:xfrm>
            <a:off x="6373368" y="3639312"/>
            <a:ext cx="457200" cy="457200"/>
          </a:xfrm>
          <a:prstGeom prst="ellipse">
            <a:avLst/>
          </a:prstGeom>
          <a:solidFill>
            <a:srgbClr val="F2B134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lang="ru-RU" sz="1500" dirty="0" noProof="1"/>
          </a:p>
        </p:txBody>
      </p:sp>
      <p:sp>
        <p:nvSpPr>
          <p:cNvPr id="27" name="Shape 27"/>
          <p:cNvSpPr/>
          <p:nvPr/>
        </p:nvSpPr>
        <p:spPr>
          <a:xfrm>
            <a:off x="6967728" y="3584448"/>
            <a:ext cx="4489704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0B3C5D"/>
                </a:solidFill>
                <a:latin typeface="Arial"/>
                <a:cs typeface="Arial"/>
              </a:rPr>
              <a:t>IOI 2026 в Ташкенте</a:t>
            </a:r>
            <a:endParaRPr lang="ru-RU" sz="1500" dirty="0" noProof="1"/>
          </a:p>
        </p:txBody>
      </p:sp>
      <p:sp>
        <p:nvSpPr>
          <p:cNvPr id="28" name="Shape 28"/>
          <p:cNvSpPr/>
          <p:nvPr/>
        </p:nvSpPr>
        <p:spPr>
          <a:xfrm>
            <a:off x="6373368" y="4242816"/>
            <a:ext cx="5084064" cy="8961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0" i="0" dirty="0" noProof="1">
                <a:solidFill>
                  <a:srgbClr val="1F2937"/>
                </a:solidFill>
                <a:latin typeface="Arial"/>
                <a:cs typeface="Arial"/>
              </a:rPr>
              <a:t>38-я Международная олимпиада по информатике прошла с 9 по 16 августа 2026 г. — впервые в Центральной Азии.</a:t>
            </a:r>
            <a:endParaRPr lang="ru-RU" sz="1500" dirty="0" noProof="1"/>
          </a:p>
        </p:txBody>
      </p:sp>
      <p:sp>
        <p:nvSpPr>
          <p:cNvPr id="29" name="Shape 29"/>
          <p:cNvSpPr/>
          <p:nvPr/>
        </p:nvSpPr>
        <p:spPr>
          <a:xfrm>
            <a:off x="548640" y="5486400"/>
            <a:ext cx="11091672" cy="731520"/>
          </a:xfrm>
          <a:prstGeom prst="rect">
            <a:avLst/>
          </a:prstGeom>
          <a:solidFill>
            <a:srgbClr val="FDF4E1"/>
          </a:solidFill>
          <a:ln w="12700">
            <a:solidFill>
              <a:srgbClr val="F2B134"/>
            </a:solidFill>
          </a:ln>
        </p:spPr>
        <p:txBody>
          <a:bodyPr wrap="square" lIns="274320" tIns="27432" rIns="274320" bIns="27432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B3C5D"/>
                </a:solidFill>
                <a:latin typeface="Arial"/>
                <a:cs typeface="Arial"/>
              </a:rPr>
              <a:t>Важно: </a:t>
            </a:r>
            <a:r>
              <a:rPr lang="ru-RU" sz="1400" b="0" i="0" dirty="0" noProof="1">
                <a:solidFill>
                  <a:srgbClr val="0B3C5D"/>
                </a:solidFill>
                <a:latin typeface="Arial"/>
                <a:cs typeface="Arial"/>
              </a:rPr>
              <a:t>цифровые технологии усиливают, но не заменяют воспитательную роль учителя и семьи; нужны медиаграмотность и цифровая безопасность.</a:t>
            </a:r>
            <a:endParaRPr lang="ru-RU" sz="1400" dirty="0" noProof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Проблемы и вызовы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16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3593592" cy="64008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1" name="Shape 1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CE112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!</a:t>
            </a:r>
            <a:endParaRPr lang="ru-RU" sz="1500" dirty="0" noProof="1"/>
          </a:p>
        </p:txBody>
      </p:sp>
      <p:sp>
        <p:nvSpPr>
          <p:cNvPr id="12" name="Shape 12"/>
          <p:cNvSpPr/>
          <p:nvPr/>
        </p:nvSpPr>
        <p:spPr>
          <a:xfrm>
            <a:off x="1325880" y="155448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Качество знаний</a:t>
            </a:r>
            <a:endParaRPr lang="ru-RU" sz="1600" dirty="0" noProof="1"/>
          </a:p>
        </p:txBody>
      </p:sp>
      <p:sp>
        <p:nvSpPr>
          <p:cNvPr id="13" name="Shape 13"/>
          <p:cNvSpPr/>
          <p:nvPr/>
        </p:nvSpPr>
        <p:spPr>
          <a:xfrm>
            <a:off x="731520" y="210312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PISA 2022 (первое участие): результаты ниже среднего по ОЭСР. TIMSS 2023: 443 балла по математике в 4 классе, 50-е место из 58 стран.</a:t>
            </a:r>
            <a:endParaRPr lang="ru-RU" sz="1400" dirty="0" noProof="1"/>
          </a:p>
        </p:txBody>
      </p:sp>
      <p:sp>
        <p:nvSpPr>
          <p:cNvPr id="14" name="Shape 14"/>
          <p:cNvSpPr/>
          <p:nvPr/>
        </p:nvSpPr>
        <p:spPr>
          <a:xfrm>
            <a:off x="4297680" y="137160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5" name="Shape 15"/>
          <p:cNvSpPr/>
          <p:nvPr/>
        </p:nvSpPr>
        <p:spPr>
          <a:xfrm>
            <a:off x="4297680" y="1371600"/>
            <a:ext cx="3593592" cy="64008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6" name="Shape 16"/>
          <p:cNvSpPr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CE112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!</a:t>
            </a:r>
            <a:endParaRPr lang="ru-RU" sz="1500" dirty="0" noProof="1"/>
          </a:p>
        </p:txBody>
      </p:sp>
      <p:sp>
        <p:nvSpPr>
          <p:cNvPr id="17" name="Shape 17"/>
          <p:cNvSpPr/>
          <p:nvPr/>
        </p:nvSpPr>
        <p:spPr>
          <a:xfrm>
            <a:off x="5074920" y="155448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Кадровый дефицит</a:t>
            </a:r>
            <a:endParaRPr lang="ru-RU" sz="1600" dirty="0" noProof="1"/>
          </a:p>
        </p:txBody>
      </p:sp>
      <p:sp>
        <p:nvSpPr>
          <p:cNvPr id="18" name="Shape 18"/>
          <p:cNvSpPr/>
          <p:nvPr/>
        </p:nvSpPr>
        <p:spPr>
          <a:xfrm>
            <a:off x="4480560" y="210312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Нехватка квалифицированных учителей, особенно в сельской местности и по STEM-предметам.</a:t>
            </a:r>
            <a:endParaRPr lang="ru-RU" sz="1400" dirty="0" noProof="1"/>
          </a:p>
        </p:txBody>
      </p:sp>
      <p:sp>
        <p:nvSpPr>
          <p:cNvPr id="19" name="Shape 19"/>
          <p:cNvSpPr/>
          <p:nvPr/>
        </p:nvSpPr>
        <p:spPr>
          <a:xfrm>
            <a:off x="8046720" y="137160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0" name="Shape 20"/>
          <p:cNvSpPr/>
          <p:nvPr/>
        </p:nvSpPr>
        <p:spPr>
          <a:xfrm>
            <a:off x="8046720" y="1371600"/>
            <a:ext cx="3593592" cy="64008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1" name="Shape 21"/>
          <p:cNvSpPr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CE112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!</a:t>
            </a:r>
            <a:endParaRPr lang="ru-RU" sz="1500" dirty="0" noProof="1"/>
          </a:p>
        </p:txBody>
      </p:sp>
      <p:sp>
        <p:nvSpPr>
          <p:cNvPr id="22" name="Shape 22"/>
          <p:cNvSpPr/>
          <p:nvPr/>
        </p:nvSpPr>
        <p:spPr>
          <a:xfrm>
            <a:off x="8823960" y="155448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Неравенство</a:t>
            </a:r>
            <a:endParaRPr lang="ru-RU" sz="1600" dirty="0" noProof="1"/>
          </a:p>
        </p:txBody>
      </p:sp>
      <p:sp>
        <p:nvSpPr>
          <p:cNvPr id="23" name="Shape 23"/>
          <p:cNvSpPr/>
          <p:nvPr/>
        </p:nvSpPr>
        <p:spPr>
          <a:xfrm>
            <a:off x="8229600" y="210312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Разрыв в качестве образования между городом и селом, между регионами.</a:t>
            </a:r>
            <a:endParaRPr lang="ru-RU" sz="1400" dirty="0" noProof="1"/>
          </a:p>
        </p:txBody>
      </p:sp>
      <p:sp>
        <p:nvSpPr>
          <p:cNvPr id="24" name="Shape 24"/>
          <p:cNvSpPr/>
          <p:nvPr/>
        </p:nvSpPr>
        <p:spPr>
          <a:xfrm>
            <a:off x="548640" y="379476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5" name="Shape 25"/>
          <p:cNvSpPr/>
          <p:nvPr/>
        </p:nvSpPr>
        <p:spPr>
          <a:xfrm>
            <a:off x="548640" y="3794760"/>
            <a:ext cx="3593592" cy="64008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6" name="Shape 26"/>
          <p:cNvSpPr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CE112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!</a:t>
            </a:r>
            <a:endParaRPr lang="ru-RU" sz="1500" dirty="0" noProof="1"/>
          </a:p>
        </p:txBody>
      </p:sp>
      <p:sp>
        <p:nvSpPr>
          <p:cNvPr id="27" name="Shape 27"/>
          <p:cNvSpPr/>
          <p:nvPr/>
        </p:nvSpPr>
        <p:spPr>
          <a:xfrm>
            <a:off x="1325880" y="397764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Инфраструктура</a:t>
            </a:r>
            <a:endParaRPr lang="ru-RU" sz="1600" dirty="0" noProof="1"/>
          </a:p>
        </p:txBody>
      </p:sp>
      <p:sp>
        <p:nvSpPr>
          <p:cNvPr id="28" name="Shape 28"/>
          <p:cNvSpPr/>
          <p:nvPr/>
        </p:nvSpPr>
        <p:spPr>
          <a:xfrm>
            <a:off x="731520" y="452628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Переполненность школ и обучение в несколько смен в ряде регионов.</a:t>
            </a:r>
            <a:endParaRPr lang="ru-RU" sz="1400" dirty="0" noProof="1"/>
          </a:p>
        </p:txBody>
      </p:sp>
      <p:sp>
        <p:nvSpPr>
          <p:cNvPr id="29" name="Shape 29"/>
          <p:cNvSpPr/>
          <p:nvPr/>
        </p:nvSpPr>
        <p:spPr>
          <a:xfrm>
            <a:off x="4297680" y="379476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0" name="Shape 30"/>
          <p:cNvSpPr/>
          <p:nvPr/>
        </p:nvSpPr>
        <p:spPr>
          <a:xfrm>
            <a:off x="4297680" y="3794760"/>
            <a:ext cx="3593592" cy="64008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1" name="Shape 31"/>
          <p:cNvSpPr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CE112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!</a:t>
            </a:r>
            <a:endParaRPr lang="ru-RU" sz="1500" dirty="0" noProof="1"/>
          </a:p>
        </p:txBody>
      </p:sp>
      <p:sp>
        <p:nvSpPr>
          <p:cNvPr id="32" name="Shape 32"/>
          <p:cNvSpPr/>
          <p:nvPr/>
        </p:nvSpPr>
        <p:spPr>
          <a:xfrm>
            <a:off x="5074920" y="397764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Рынок труда</a:t>
            </a:r>
            <a:endParaRPr lang="ru-RU" sz="1600" dirty="0" noProof="1"/>
          </a:p>
        </p:txBody>
      </p:sp>
      <p:sp>
        <p:nvSpPr>
          <p:cNvPr id="33" name="Shape 33"/>
          <p:cNvSpPr/>
          <p:nvPr/>
        </p:nvSpPr>
        <p:spPr>
          <a:xfrm>
            <a:off x="4480560" y="452628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Несоответствие подготовки выпускников требованиям работодателей.</a:t>
            </a:r>
            <a:endParaRPr lang="ru-RU" sz="1400" dirty="0" noProof="1"/>
          </a:p>
        </p:txBody>
      </p:sp>
      <p:sp>
        <p:nvSpPr>
          <p:cNvPr id="34" name="Shape 34"/>
          <p:cNvSpPr/>
          <p:nvPr/>
        </p:nvSpPr>
        <p:spPr>
          <a:xfrm>
            <a:off x="8046720" y="3794760"/>
            <a:ext cx="35935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5" name="Shape 35"/>
          <p:cNvSpPr/>
          <p:nvPr/>
        </p:nvSpPr>
        <p:spPr>
          <a:xfrm>
            <a:off x="8046720" y="3794760"/>
            <a:ext cx="3593592" cy="64008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6" name="Shape 36"/>
          <p:cNvSpPr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CE112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 noProof="1">
                <a:solidFill>
                  <a:srgbClr val="FFFFFF"/>
                </a:solidFill>
                <a:latin typeface="Arial"/>
                <a:cs typeface="Arial"/>
              </a:rPr>
              <a:t>!</a:t>
            </a:r>
            <a:endParaRPr lang="ru-RU" sz="1500" dirty="0" noProof="1"/>
          </a:p>
        </p:txBody>
      </p:sp>
      <p:sp>
        <p:nvSpPr>
          <p:cNvPr id="37" name="Shape 37"/>
          <p:cNvSpPr/>
          <p:nvPr/>
        </p:nvSpPr>
        <p:spPr>
          <a:xfrm>
            <a:off x="8823960" y="3977640"/>
            <a:ext cx="2633472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Цифровые угрозы</a:t>
            </a:r>
            <a:endParaRPr lang="ru-RU" sz="1600" dirty="0" noProof="1"/>
          </a:p>
        </p:txBody>
      </p:sp>
      <p:sp>
        <p:nvSpPr>
          <p:cNvPr id="38" name="Shape 38"/>
          <p:cNvSpPr/>
          <p:nvPr/>
        </p:nvSpPr>
        <p:spPr>
          <a:xfrm>
            <a:off x="8229600" y="4526280"/>
            <a:ext cx="322783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Деструктивный контент, зависимость от гаджетов, снижение интереса к чтению.</a:t>
            </a:r>
            <a:endParaRPr lang="ru-RU" sz="1400" dirty="0" noProof="1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Пути решения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17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5449824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749808" y="1764792"/>
            <a:ext cx="676656" cy="676656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ru-RU" sz="2000" dirty="0" noProof="1"/>
          </a:p>
        </p:txBody>
      </p:sp>
      <p:sp>
        <p:nvSpPr>
          <p:cNvPr id="11" name="Shape 11"/>
          <p:cNvSpPr/>
          <p:nvPr/>
        </p:nvSpPr>
        <p:spPr>
          <a:xfrm>
            <a:off x="1645920" y="1499616"/>
            <a:ext cx="4206240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Сильный учитель</a:t>
            </a:r>
            <a:endParaRPr lang="ru-RU" sz="1700" dirty="0" noProof="1"/>
          </a:p>
        </p:txBody>
      </p:sp>
      <p:sp>
        <p:nvSpPr>
          <p:cNvPr id="12" name="Shape 12"/>
          <p:cNvSpPr/>
          <p:nvPr/>
        </p:nvSpPr>
        <p:spPr>
          <a:xfrm>
            <a:off x="1645920" y="1920240"/>
            <a:ext cx="4206240" cy="8412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Достойная зарплата, статус, наставничество и качественная подготовка педагогов.</a:t>
            </a:r>
            <a:endParaRPr lang="ru-RU" sz="1400" dirty="0" noProof="1"/>
          </a:p>
        </p:txBody>
      </p:sp>
      <p:sp>
        <p:nvSpPr>
          <p:cNvPr id="13" name="Shape 13"/>
          <p:cNvSpPr/>
          <p:nvPr/>
        </p:nvSpPr>
        <p:spPr>
          <a:xfrm>
            <a:off x="548640" y="2990088"/>
            <a:ext cx="5449824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4" name="Shape 14"/>
          <p:cNvSpPr/>
          <p:nvPr/>
        </p:nvSpPr>
        <p:spPr>
          <a:xfrm>
            <a:off x="749808" y="3383280"/>
            <a:ext cx="676656" cy="676656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ru-RU" sz="2000" dirty="0" noProof="1"/>
          </a:p>
        </p:txBody>
      </p:sp>
      <p:sp>
        <p:nvSpPr>
          <p:cNvPr id="15" name="Shape 15"/>
          <p:cNvSpPr/>
          <p:nvPr/>
        </p:nvSpPr>
        <p:spPr>
          <a:xfrm>
            <a:off x="1645920" y="3118104"/>
            <a:ext cx="4206240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Современное содержание</a:t>
            </a:r>
            <a:endParaRPr lang="ru-RU" sz="1700" dirty="0" noProof="1"/>
          </a:p>
        </p:txBody>
      </p:sp>
      <p:sp>
        <p:nvSpPr>
          <p:cNvPr id="16" name="Shape 16"/>
          <p:cNvSpPr/>
          <p:nvPr/>
        </p:nvSpPr>
        <p:spPr>
          <a:xfrm>
            <a:off x="1645920" y="3538728"/>
            <a:ext cx="4206240" cy="8412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Функциональная грамотность, STEM, критическое мышление, иностранные языки.</a:t>
            </a:r>
            <a:endParaRPr lang="ru-RU" sz="1400" dirty="0" noProof="1"/>
          </a:p>
        </p:txBody>
      </p:sp>
      <p:sp>
        <p:nvSpPr>
          <p:cNvPr id="17" name="Shape 17"/>
          <p:cNvSpPr/>
          <p:nvPr/>
        </p:nvSpPr>
        <p:spPr>
          <a:xfrm>
            <a:off x="548640" y="4608576"/>
            <a:ext cx="5449824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8" name="Shape 18"/>
          <p:cNvSpPr/>
          <p:nvPr/>
        </p:nvSpPr>
        <p:spPr>
          <a:xfrm>
            <a:off x="749808" y="5001768"/>
            <a:ext cx="676656" cy="676656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ru-RU" sz="2000" dirty="0" noProof="1"/>
          </a:p>
        </p:txBody>
      </p:sp>
      <p:sp>
        <p:nvSpPr>
          <p:cNvPr id="19" name="Shape 19"/>
          <p:cNvSpPr/>
          <p:nvPr/>
        </p:nvSpPr>
        <p:spPr>
          <a:xfrm>
            <a:off x="1645920" y="4736592"/>
            <a:ext cx="4206240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Равный доступ</a:t>
            </a:r>
            <a:endParaRPr lang="ru-RU" sz="1700" dirty="0" noProof="1"/>
          </a:p>
        </p:txBody>
      </p:sp>
      <p:sp>
        <p:nvSpPr>
          <p:cNvPr id="20" name="Shape 20"/>
          <p:cNvSpPr/>
          <p:nvPr/>
        </p:nvSpPr>
        <p:spPr>
          <a:xfrm>
            <a:off x="1645920" y="5157216"/>
            <a:ext cx="4206240" cy="8412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Новые школы и детские сады, поддержка сельских школ, инклюзивное образование.</a:t>
            </a:r>
            <a:endParaRPr lang="ru-RU" sz="1400" dirty="0" noProof="1"/>
          </a:p>
        </p:txBody>
      </p:sp>
      <p:sp>
        <p:nvSpPr>
          <p:cNvPr id="21" name="Shape 21"/>
          <p:cNvSpPr/>
          <p:nvPr/>
        </p:nvSpPr>
        <p:spPr>
          <a:xfrm>
            <a:off x="6190488" y="1371600"/>
            <a:ext cx="5449824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2" name="Shape 22"/>
          <p:cNvSpPr/>
          <p:nvPr/>
        </p:nvSpPr>
        <p:spPr>
          <a:xfrm>
            <a:off x="6391656" y="1764792"/>
            <a:ext cx="676656" cy="676656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lang="ru-RU" sz="2000" dirty="0" noProof="1"/>
          </a:p>
        </p:txBody>
      </p:sp>
      <p:sp>
        <p:nvSpPr>
          <p:cNvPr id="23" name="Shape 23"/>
          <p:cNvSpPr/>
          <p:nvPr/>
        </p:nvSpPr>
        <p:spPr>
          <a:xfrm>
            <a:off x="7287768" y="1499616"/>
            <a:ext cx="4206240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Связь с экономикой</a:t>
            </a:r>
            <a:endParaRPr lang="ru-RU" sz="1700" dirty="0" noProof="1"/>
          </a:p>
        </p:txBody>
      </p:sp>
      <p:sp>
        <p:nvSpPr>
          <p:cNvPr id="24" name="Shape 24"/>
          <p:cNvSpPr/>
          <p:nvPr/>
        </p:nvSpPr>
        <p:spPr>
          <a:xfrm>
            <a:off x="7287768" y="1920240"/>
            <a:ext cx="4206240" cy="8412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Дуальное обучение, партнёрство вузов и работодателей, профориентация.</a:t>
            </a:r>
            <a:endParaRPr lang="ru-RU" sz="1400" dirty="0" noProof="1"/>
          </a:p>
        </p:txBody>
      </p:sp>
      <p:sp>
        <p:nvSpPr>
          <p:cNvPr id="25" name="Shape 25"/>
          <p:cNvSpPr/>
          <p:nvPr/>
        </p:nvSpPr>
        <p:spPr>
          <a:xfrm>
            <a:off x="6190488" y="2990088"/>
            <a:ext cx="5449824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6" name="Shape 26"/>
          <p:cNvSpPr/>
          <p:nvPr/>
        </p:nvSpPr>
        <p:spPr>
          <a:xfrm>
            <a:off x="6391656" y="3383280"/>
            <a:ext cx="676656" cy="676656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lang="ru-RU" sz="2000" dirty="0" noProof="1"/>
          </a:p>
        </p:txBody>
      </p:sp>
      <p:sp>
        <p:nvSpPr>
          <p:cNvPr id="27" name="Shape 27"/>
          <p:cNvSpPr/>
          <p:nvPr/>
        </p:nvSpPr>
        <p:spPr>
          <a:xfrm>
            <a:off x="7287768" y="3118104"/>
            <a:ext cx="4206240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Системное воспитание</a:t>
            </a:r>
            <a:endParaRPr lang="ru-RU" sz="1700" dirty="0" noProof="1"/>
          </a:p>
        </p:txBody>
      </p:sp>
      <p:sp>
        <p:nvSpPr>
          <p:cNvPr id="28" name="Shape 28"/>
          <p:cNvSpPr/>
          <p:nvPr/>
        </p:nvSpPr>
        <p:spPr>
          <a:xfrm>
            <a:off x="7287768" y="3538728"/>
            <a:ext cx="4206240" cy="8412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Работа с семьёй и махаллей, медиаграмотность, развитие культуры чтения.</a:t>
            </a:r>
            <a:endParaRPr lang="ru-RU" sz="1400" dirty="0" noProof="1"/>
          </a:p>
        </p:txBody>
      </p:sp>
      <p:sp>
        <p:nvSpPr>
          <p:cNvPr id="29" name="Shape 29"/>
          <p:cNvSpPr/>
          <p:nvPr/>
        </p:nvSpPr>
        <p:spPr>
          <a:xfrm>
            <a:off x="6190488" y="4608576"/>
            <a:ext cx="5449824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0" name="Shape 30"/>
          <p:cNvSpPr/>
          <p:nvPr/>
        </p:nvSpPr>
        <p:spPr>
          <a:xfrm>
            <a:off x="6391656" y="5001768"/>
            <a:ext cx="676656" cy="676656"/>
          </a:xfrm>
          <a:prstGeom prst="ellipse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 noProof="1">
                <a:solidFill>
                  <a:srgbClr val="FFFFFF"/>
                </a:solidFill>
                <a:latin typeface="Arial"/>
                <a:cs typeface="Arial"/>
              </a:rPr>
              <a:t>6</a:t>
            </a:r>
            <a:endParaRPr lang="ru-RU" sz="2000" dirty="0" noProof="1"/>
          </a:p>
        </p:txBody>
      </p:sp>
      <p:sp>
        <p:nvSpPr>
          <p:cNvPr id="31" name="Shape 31"/>
          <p:cNvSpPr/>
          <p:nvPr/>
        </p:nvSpPr>
        <p:spPr>
          <a:xfrm>
            <a:off x="7287768" y="4736592"/>
            <a:ext cx="4206240" cy="4023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 noProof="1">
                <a:solidFill>
                  <a:srgbClr val="0B3C5D"/>
                </a:solidFill>
                <a:latin typeface="Arial"/>
                <a:cs typeface="Arial"/>
              </a:rPr>
              <a:t>Прозрачность и мониторинг</a:t>
            </a:r>
            <a:endParaRPr lang="ru-RU" sz="1700" dirty="0" noProof="1"/>
          </a:p>
        </p:txBody>
      </p:sp>
      <p:sp>
        <p:nvSpPr>
          <p:cNvPr id="32" name="Shape 32"/>
          <p:cNvSpPr/>
          <p:nvPr/>
        </p:nvSpPr>
        <p:spPr>
          <a:xfrm>
            <a:off x="7287768" y="5157216"/>
            <a:ext cx="4206240" cy="8412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Международные исследования (PISA, PIRLS, TIMSS), открытые данные, борьба с коррупцией.</a:t>
            </a:r>
            <a:endParaRPr lang="ru-RU" sz="1400" dirty="0" noProof="1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Выводы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18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1109167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371600"/>
            <a:ext cx="822960" cy="822960"/>
          </a:xfrm>
          <a:prstGeom prst="rect">
            <a:avLst/>
          </a:prstGeom>
          <a:solidFill>
            <a:srgbClr val="0E9AA7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 noProof="1">
                <a:solidFill>
                  <a:srgbClr val="FFFFFF"/>
                </a:solidFill>
                <a:latin typeface="Arial"/>
                <a:cs typeface="Arial"/>
              </a:rPr>
              <a:t>1</a:t>
            </a:r>
            <a:endParaRPr lang="ru-RU" sz="2200" dirty="0" noProof="1"/>
          </a:p>
        </p:txBody>
      </p:sp>
      <p:sp>
        <p:nvSpPr>
          <p:cNvPr id="11" name="Shape 11"/>
          <p:cNvSpPr/>
          <p:nvPr/>
        </p:nvSpPr>
        <p:spPr>
          <a:xfrm>
            <a:off x="1600200" y="1417320"/>
            <a:ext cx="987552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 noProof="1">
                <a:solidFill>
                  <a:srgbClr val="0B3C5D"/>
                </a:solidFill>
                <a:latin typeface="Arial"/>
                <a:cs typeface="Arial"/>
              </a:rPr>
              <a:t>Образование и воспитание — стратегический фундамент Нового Узбекистана и идеи Третьего Ренессанса.</a:t>
            </a:r>
            <a:endParaRPr lang="ru-RU" sz="1600" dirty="0" noProof="1"/>
          </a:p>
        </p:txBody>
      </p:sp>
      <p:sp>
        <p:nvSpPr>
          <p:cNvPr id="12" name="Shape 12"/>
          <p:cNvSpPr/>
          <p:nvPr/>
        </p:nvSpPr>
        <p:spPr>
          <a:xfrm>
            <a:off x="548640" y="2331720"/>
            <a:ext cx="1109167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3" name="Shape 13"/>
          <p:cNvSpPr/>
          <p:nvPr/>
        </p:nvSpPr>
        <p:spPr>
          <a:xfrm>
            <a:off x="548640" y="2331720"/>
            <a:ext cx="822960" cy="822960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 noProof="1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lang="ru-RU" sz="2200" dirty="0" noProof="1"/>
          </a:p>
        </p:txBody>
      </p:sp>
      <p:sp>
        <p:nvSpPr>
          <p:cNvPr id="14" name="Shape 14"/>
          <p:cNvSpPr/>
          <p:nvPr/>
        </p:nvSpPr>
        <p:spPr>
          <a:xfrm>
            <a:off x="1600200" y="2377440"/>
            <a:ext cx="987552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 noProof="1">
                <a:solidFill>
                  <a:srgbClr val="0B3C5D"/>
                </a:solidFill>
                <a:latin typeface="Arial"/>
                <a:cs typeface="Arial"/>
              </a:rPr>
              <a:t>Реформы с 2017 года создали современную правовую базу и значительно расширили доступ к образованию.</a:t>
            </a:r>
            <a:endParaRPr lang="ru-RU" sz="1600" dirty="0" noProof="1"/>
          </a:p>
        </p:txBody>
      </p:sp>
      <p:sp>
        <p:nvSpPr>
          <p:cNvPr id="15" name="Shape 15"/>
          <p:cNvSpPr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6" name="Shape 16"/>
          <p:cNvSpPr/>
          <p:nvPr/>
        </p:nvSpPr>
        <p:spPr>
          <a:xfrm>
            <a:off x="548640" y="3291840"/>
            <a:ext cx="822960" cy="822960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 noProof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lang="ru-RU" sz="2200" dirty="0" noProof="1"/>
          </a:p>
        </p:txBody>
      </p:sp>
      <p:sp>
        <p:nvSpPr>
          <p:cNvPr id="17" name="Shape 17"/>
          <p:cNvSpPr/>
          <p:nvPr/>
        </p:nvSpPr>
        <p:spPr>
          <a:xfrm>
            <a:off x="1600200" y="3337560"/>
            <a:ext cx="987552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i="0" dirty="0" noProof="1">
                <a:solidFill>
                  <a:srgbClr val="0B3C5D"/>
                </a:solidFill>
                <a:latin typeface="Arial"/>
                <a:cs typeface="Arial"/>
              </a:rPr>
              <a:t>Главная задача следующего этапа — переход от количества к качеству образования.</a:t>
            </a:r>
            <a:endParaRPr lang="ru-RU" sz="1600" dirty="0" noProof="1"/>
          </a:p>
        </p:txBody>
      </p:sp>
      <p:sp>
        <p:nvSpPr>
          <p:cNvPr id="18" name="Shape 18"/>
          <p:cNvSpPr/>
          <p:nvPr/>
        </p:nvSpPr>
        <p:spPr>
          <a:xfrm>
            <a:off x="548640" y="4251960"/>
            <a:ext cx="1109167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9" name="Shape 19"/>
          <p:cNvSpPr/>
          <p:nvPr/>
        </p:nvSpPr>
        <p:spPr>
          <a:xfrm>
            <a:off x="548640" y="4251960"/>
            <a:ext cx="822960" cy="822960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 noProof="1">
                <a:solidFill>
                  <a:srgbClr val="FFFFFF"/>
                </a:solidFill>
                <a:latin typeface="Arial"/>
                <a:cs typeface="Arial"/>
              </a:rPr>
              <a:t>4</a:t>
            </a:r>
            <a:endParaRPr lang="ru-RU" sz="2200" dirty="0" noProof="1"/>
          </a:p>
        </p:txBody>
      </p:sp>
      <p:sp>
        <p:nvSpPr>
          <p:cNvPr id="20" name="Shape 20"/>
          <p:cNvSpPr/>
          <p:nvPr/>
        </p:nvSpPr>
        <p:spPr>
          <a:xfrm>
            <a:off x="1600200" y="4297680"/>
            <a:ext cx="987552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 noProof="1">
                <a:solidFill>
                  <a:srgbClr val="0B3C5D"/>
                </a:solidFill>
                <a:latin typeface="Arial"/>
                <a:cs typeface="Arial"/>
              </a:rPr>
              <a:t>Воспитание должно формировать патриотичного, ответственного, толерантного и критически мыслящего гражданина.</a:t>
            </a:r>
            <a:endParaRPr lang="ru-RU" sz="1600" dirty="0" noProof="1"/>
          </a:p>
        </p:txBody>
      </p:sp>
      <p:sp>
        <p:nvSpPr>
          <p:cNvPr id="21" name="Shape 21"/>
          <p:cNvSpPr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22" name="Shape 22"/>
          <p:cNvSpPr/>
          <p:nvPr/>
        </p:nvSpPr>
        <p:spPr>
          <a:xfrm>
            <a:off x="548640" y="5212080"/>
            <a:ext cx="822960" cy="822960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 noProof="1">
                <a:solidFill>
                  <a:srgbClr val="FFFFFF"/>
                </a:solidFill>
                <a:latin typeface="Arial"/>
                <a:cs typeface="Arial"/>
              </a:rPr>
              <a:t>5</a:t>
            </a:r>
            <a:endParaRPr lang="ru-RU" sz="2200" dirty="0" noProof="1"/>
          </a:p>
        </p:txBody>
      </p:sp>
      <p:sp>
        <p:nvSpPr>
          <p:cNvPr id="23" name="Shape 23"/>
          <p:cNvSpPr/>
          <p:nvPr/>
        </p:nvSpPr>
        <p:spPr>
          <a:xfrm>
            <a:off x="1600200" y="5257800"/>
            <a:ext cx="987552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dirty="0" noProof="1">
                <a:solidFill>
                  <a:srgbClr val="0B3C5D"/>
                </a:solidFill>
                <a:latin typeface="Arial"/>
                <a:cs typeface="Arial"/>
              </a:rPr>
              <a:t>Успех возможен только при единстве усилий государства, учителя, семьи, махалли и самой молодёжи.</a:t>
            </a:r>
            <a:endParaRPr lang="ru-RU" sz="1600" dirty="0" noProof="1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3C5D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548640" y="91440"/>
            <a:ext cx="11091672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i="0" dirty="0" noProof="1">
                <a:solidFill>
                  <a:srgbClr val="FFFFFF"/>
                </a:solidFill>
                <a:latin typeface="Arial"/>
                <a:cs typeface="Arial"/>
              </a:rPr>
              <a:t>Список источников</a:t>
            </a:r>
            <a:endParaRPr lang="ru-RU" sz="2800" dirty="0" noProof="1"/>
          </a:p>
        </p:txBody>
      </p:sp>
      <p:sp>
        <p:nvSpPr>
          <p:cNvPr id="4" name="Shape 4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5" name="Shape 5"/>
          <p:cNvSpPr/>
          <p:nvPr/>
        </p:nvSpPr>
        <p:spPr>
          <a:xfrm>
            <a:off x="0" y="1060704"/>
            <a:ext cx="12191695" cy="19202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0" y="1079906"/>
            <a:ext cx="12191695" cy="54864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7" name="Shape 7"/>
          <p:cNvSpPr/>
          <p:nvPr/>
        </p:nvSpPr>
        <p:spPr>
          <a:xfrm>
            <a:off x="548640" y="644652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i="0" dirty="0" noProof="1">
                <a:solidFill>
                  <a:srgbClr val="5B6B7F"/>
                </a:solidFill>
                <a:latin typeface="Arial"/>
                <a:cs typeface="Arial"/>
              </a:rPr>
              <a:t>Роль образования и воспитания в построении нового общества в Узбекистане</a:t>
            </a:r>
            <a:endParaRPr lang="ru-RU" sz="1000" dirty="0" noProof="1"/>
          </a:p>
        </p:txBody>
      </p:sp>
      <p:sp>
        <p:nvSpPr>
          <p:cNvPr id="8" name="Shape 8"/>
          <p:cNvSpPr/>
          <p:nvPr/>
        </p:nvSpPr>
        <p:spPr>
          <a:xfrm>
            <a:off x="10424160" y="6446520"/>
            <a:ext cx="1216152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i="0" dirty="0" noProof="1">
                <a:solidFill>
                  <a:srgbClr val="5B6B7F"/>
                </a:solidFill>
                <a:latin typeface="Arial"/>
                <a:cs typeface="Arial"/>
              </a:rPr>
              <a:t>19 / 20</a:t>
            </a:r>
            <a:endParaRPr lang="ru-RU" sz="1000" dirty="0" noProof="1"/>
          </a:p>
        </p:txBody>
      </p:sp>
      <p:sp>
        <p:nvSpPr>
          <p:cNvPr id="9" name="Shape 9"/>
          <p:cNvSpPr/>
          <p:nvPr/>
        </p:nvSpPr>
        <p:spPr>
          <a:xfrm>
            <a:off x="548640" y="1371600"/>
            <a:ext cx="11091672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1EA"/>
            </a:solidFill>
          </a:ln>
          <a:effectLst>
            <a:outerShdw blurRad="63500" dist="19050" dir="5400000" algn="t" rotWithShape="0">
              <a:srgbClr val="0B3C5D">
                <a:alpha val="16000"/>
              </a:srgbClr>
            </a:outerShdw>
          </a:effectLst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10" name="Shape 10"/>
          <p:cNvSpPr/>
          <p:nvPr/>
        </p:nvSpPr>
        <p:spPr>
          <a:xfrm>
            <a:off x="548640" y="1481328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wrap="square" lIns="274320" tIns="0" rIns="91440" bIns="0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Нормативные правовые акты</a:t>
            </a:r>
            <a:endParaRPr lang="ru-RU" sz="1400" dirty="0" noProof="1"/>
          </a:p>
        </p:txBody>
      </p:sp>
      <p:sp>
        <p:nvSpPr>
          <p:cNvPr id="11" name="Shape 11"/>
          <p:cNvSpPr/>
          <p:nvPr/>
        </p:nvSpPr>
        <p:spPr>
          <a:xfrm>
            <a:off x="6126480" y="1481328"/>
            <a:ext cx="5486400" cy="329184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anchor="ctr" rtlCol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Литература, статистика, интернет-ресурсы</a:t>
            </a:r>
            <a:endParaRPr lang="ru-RU" sz="1400" dirty="0" noProof="1"/>
          </a:p>
        </p:txBody>
      </p:sp>
      <p:sp>
        <p:nvSpPr>
          <p:cNvPr id="12" name="Shape 12"/>
          <p:cNvSpPr/>
          <p:nvPr/>
        </p:nvSpPr>
        <p:spPr>
          <a:xfrm>
            <a:off x="822960" y="1874520"/>
            <a:ext cx="5166360" cy="4251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1.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Конституция Республики Узбекистан (ред. от 30.04.2023).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2.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Закон РУз «Об образовании» от 23.09.2020 № ЗРУ-637.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3.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Закон РУз «О дошкольном образовании и воспитании» от 16.12.2019 № ЗРУ-595.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4.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Указ Президента РУз от 29.04.2019 № УП-5712.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5.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Указ Президента РУз от 08.10.2019 № УП-5847.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6.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Указ Президента РУз от 05.10.2020 № УП-6079.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7.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Указ Президента РУз от 28.01.2022 № УП-60.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8.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Указ Президента РУз от 11.09.2023 № УП-158.</a:t>
            </a:r>
            <a:endParaRPr lang="ru-RU" sz="1400" dirty="0" noProof="1"/>
          </a:p>
        </p:txBody>
      </p:sp>
      <p:sp>
        <p:nvSpPr>
          <p:cNvPr id="13" name="Shape 13"/>
          <p:cNvSpPr/>
          <p:nvPr/>
        </p:nvSpPr>
        <p:spPr>
          <a:xfrm>
            <a:off x="6217920" y="1874520"/>
            <a:ext cx="5257800" cy="4251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9.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Авлони А. Тюркский Гулистан, или Нравственность. — Ташкент, 1913.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10.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OECD. PISA 2022 Results. Country Note: Uzbekistan. — 2023.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11.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Результаты TIMSS 2023 в Узбекистане // gazeta.uz, 06.12.2024.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12.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UNESCO. Global Education Monitoring Report 2026: Uzbekistan.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13.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Портал gov.uz: раздел «Образование и инновации».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14.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Национальный комитет по статистике РУз (stat.uz).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15.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Обзор рынка высшего образования Узбекистана (2016–2025), eurasian-studies.tsu.ru.</a:t>
            </a:r>
            <a:endParaRPr lang="ru-RU" sz="1400" dirty="0" noProof="1"/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400" b="1" i="0" dirty="0" noProof="1">
                <a:solidFill>
                  <a:srgbClr val="0E9AA7"/>
                </a:solidFill>
                <a:latin typeface="Arial"/>
                <a:cs typeface="Arial"/>
              </a:rPr>
              <a:t>16. </a:t>
            </a:r>
            <a:r>
              <a:rPr lang="ru-RU" sz="1400" b="0" i="0" dirty="0" noProof="1">
                <a:solidFill>
                  <a:srgbClr val="1F2937"/>
                </a:solidFill>
                <a:latin typeface="Arial"/>
                <a:cs typeface="Arial"/>
              </a:rPr>
              <a:t>ioi2026.uz; Министерство цифровых технологий РУз; lex.uz.</a:t>
            </a:r>
            <a:endParaRPr lang="ru-RU" sz="1400" dirty="0" noProof="1"/>
          </a:p>
        </p:txBody>
      </p:sp>
      <p:sp>
        <p:nvSpPr>
          <p:cNvPr id="14" name="Shape 14"/>
          <p:cNvSpPr/>
          <p:nvPr/>
        </p:nvSpPr>
        <p:spPr>
          <a:xfrm>
            <a:off x="6089904" y="1554480"/>
            <a:ext cx="13716" cy="4480560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0E9AA7">
              <a:alpha val="20000"/>
            </a:srgbClr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3" name="Shape 3"/>
          <p:cNvSpPr/>
          <p:nvPr/>
        </p:nvSpPr>
        <p:spPr>
          <a:xfrm>
            <a:off x="9326880" y="3657600"/>
            <a:ext cx="4114800" cy="4114800"/>
          </a:xfrm>
          <a:prstGeom prst="ellipse">
            <a:avLst/>
          </a:prstGeom>
          <a:solidFill>
            <a:srgbClr val="1EB53A">
              <a:alpha val="18000"/>
            </a:srgbClr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4" name="Shape 4"/>
          <p:cNvSpPr/>
          <p:nvPr/>
        </p:nvSpPr>
        <p:spPr>
          <a:xfrm>
            <a:off x="731520" y="1920240"/>
            <a:ext cx="10725912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i="0" dirty="0" noProof="1">
                <a:solidFill>
                  <a:srgbClr val="FFFFFF"/>
                </a:solidFill>
                <a:latin typeface="Arial"/>
                <a:cs typeface="Arial"/>
              </a:rPr>
              <a:t>Спасибо за внимание!</a:t>
            </a:r>
            <a:endParaRPr lang="ru-RU" sz="4800" dirty="0" noProof="1"/>
          </a:p>
        </p:txBody>
      </p:sp>
      <p:sp>
        <p:nvSpPr>
          <p:cNvPr id="5" name="Shape 5"/>
          <p:cNvSpPr/>
          <p:nvPr/>
        </p:nvSpPr>
        <p:spPr>
          <a:xfrm>
            <a:off x="5458968" y="3200400"/>
            <a:ext cx="1280160" cy="54864"/>
          </a:xfrm>
          <a:prstGeom prst="rect">
            <a:avLst/>
          </a:prstGeom>
          <a:solidFill>
            <a:srgbClr val="F2B134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6" name="Shape 6"/>
          <p:cNvSpPr/>
          <p:nvPr/>
        </p:nvSpPr>
        <p:spPr>
          <a:xfrm>
            <a:off x="731520" y="3429000"/>
            <a:ext cx="10725912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 rtlCol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1" dirty="0" noProof="1">
                <a:solidFill>
                  <a:srgbClr val="F2B134"/>
                </a:solidFill>
                <a:latin typeface="Arial"/>
                <a:cs typeface="Arial"/>
              </a:rPr>
              <a:t>Образование и воспитание — фундамент Нового Узбекистана</a:t>
            </a:r>
            <a:endParaRPr lang="ru-RU" sz="2200" dirty="0" noProof="1"/>
          </a:p>
          <a:p>
            <a:pPr algn="ctr">
              <a:spcBef>
                <a:spcPts val="1400"/>
              </a:spcBef>
              <a:spcAft>
                <a:spcPts val="0"/>
              </a:spcAft>
              <a:buNone/>
            </a:pPr>
            <a:r>
              <a:rPr lang="ru-RU" sz="1800" b="0" i="0" dirty="0" noProof="1">
                <a:solidFill>
                  <a:srgbClr val="C9D6E3"/>
                </a:solidFill>
                <a:latin typeface="Arial"/>
                <a:cs typeface="Arial"/>
              </a:rPr>
              <a:t>Готов(а) ответить на ваши вопросы</a:t>
            </a:r>
            <a:endParaRPr lang="ru-RU" sz="1800" dirty="0" noProof="1"/>
          </a:p>
        </p:txBody>
      </p:sp>
      <p:sp>
        <p:nvSpPr>
          <p:cNvPr id="7" name="Shape 7"/>
          <p:cNvSpPr/>
          <p:nvPr/>
        </p:nvSpPr>
        <p:spPr>
          <a:xfrm>
            <a:off x="0" y="6492240"/>
            <a:ext cx="12191695" cy="91440"/>
          </a:xfrm>
          <a:prstGeom prst="rect">
            <a:avLst/>
          </a:prstGeom>
          <a:solidFill>
            <a:srgbClr val="0099B5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8" name="Shape 8"/>
          <p:cNvSpPr/>
          <p:nvPr/>
        </p:nvSpPr>
        <p:spPr>
          <a:xfrm>
            <a:off x="0" y="6583680"/>
            <a:ext cx="12191695" cy="32004"/>
          </a:xfrm>
          <a:prstGeom prst="rect">
            <a:avLst/>
          </a:prstGeom>
          <a:solidFill>
            <a:srgbClr val="CE1126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  <p:sp>
        <p:nvSpPr>
          <p:cNvPr id="9" name="Shape 9"/>
          <p:cNvSpPr/>
          <p:nvPr/>
        </p:nvSpPr>
        <p:spPr>
          <a:xfrm>
            <a:off x="0" y="6615684"/>
            <a:ext cx="12191695" cy="91440"/>
          </a:xfrm>
          <a:prstGeom prst="rect">
            <a:avLst/>
          </a:prstGeom>
          <a:solidFill>
            <a:srgbClr val="1EB53A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endParaRPr lang="ru-RU" dirty="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zbekistan">
  <a:themeElements>
    <a:clrScheme name="Uzbekistan">
      <a:dk1>
        <a:srgbClr val="1F2937"/>
      </a:dk1>
      <a:lt1>
        <a:srgbClr val="FFFFFF"/>
      </a:lt1>
      <a:dk2>
        <a:srgbClr val="0B3C5D"/>
      </a:dk2>
      <a:lt2>
        <a:srgbClr val="F4F7FB"/>
      </a:lt2>
      <a:accent1>
        <a:srgbClr val="0E9AA7"/>
      </a:accent1>
      <a:accent2>
        <a:srgbClr val="1EB53A"/>
      </a:accent2>
      <a:accent3>
        <a:srgbClr val="F2B134"/>
      </a:accent3>
      <a:accent4>
        <a:srgbClr val="0099B5"/>
      </a:accent4>
      <a:accent5>
        <a:srgbClr val="CE1126"/>
      </a:accent5>
      <a:accent6>
        <a:srgbClr val="5B6B7F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20</Slides>
  <PresentationFormat>Широкоэкранный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Роль и место образования и воспитания в построении нового общества в Узбекистане</dc:title>
  <dc:language>ru-RU</dc:language>
  <dc:creator>Автор</dc:creator>
  <cp:lastModifiedBy>Автор</cp:lastModifiedBy>
  <cp:revision>2</cp:revision>
  <dcterms:created xsi:type="dcterms:W3CDTF">2026-09-26T09:00:00Z</dcterms:created>
  <dcterms:modified xsi:type="dcterms:W3CDTF">2026-09-26T14:00:00Z</dcterms:modified>
</cp:coreProperties>
</file>